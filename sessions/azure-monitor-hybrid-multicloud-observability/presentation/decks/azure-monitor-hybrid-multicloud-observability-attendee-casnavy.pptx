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1.xml" ContentType="application/vnd.openxmlformats-officedocument.presentationml.tags+xml"/>
  <Override PartName="/ppt/notesSlides/notesSlide40.xml" ContentType="application/vnd.openxmlformats-officedocument.presentationml.notesSlide+xml"/>
  <Override PartName="/ppt/tags/tag2.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3.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C85604-4861-4D63-A4C3-F37AE94C1195}"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691FEA-A84D-408B-A0F6-3F1C538FC592}" type="slidenum">
              <a:rPr lang="en-US" smtClean="0"/>
              <a:t>‹#›</a:t>
            </a:fld>
            <a:endParaRPr lang="en-US"/>
          </a:p>
        </p:txBody>
      </p:sp>
    </p:spTree>
    <p:extLst>
      <p:ext uri="{BB962C8B-B14F-4D97-AF65-F5344CB8AC3E}">
        <p14:creationId xmlns:p14="http://schemas.microsoft.com/office/powerpoint/2010/main" val="4150664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session is about observing a complete service rather than a single site. The example service runs across Azure, AWS and an on-premises private cloud, and the goal is one view of its health that follows the service through all three places. The session builds that view step by step, from evidence routes to a health model and a verified recovery.</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1</a:t>
            </a:fld>
            <a:endParaRPr lang="en-US"/>
          </a:p>
        </p:txBody>
      </p:sp>
    </p:spTree>
    <p:extLst>
      <p:ext uri="{BB962C8B-B14F-4D97-AF65-F5344CB8AC3E}">
        <p14:creationId xmlns:p14="http://schemas.microsoft.com/office/powerpoint/2010/main" val="13335918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event is made possible by its sponsors, shown on the organizer's sponsor slide. Their support keeps community conferences like this one running and open to the people who attend them. The final sponsor artwork is supplied by the event organizer.</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2</a:t>
            </a:fld>
            <a:endParaRPr lang="en-US"/>
          </a:p>
        </p:txBody>
      </p:sp>
    </p:spTree>
    <p:extLst>
      <p:ext uri="{BB962C8B-B14F-4D97-AF65-F5344CB8AC3E}">
        <p14:creationId xmlns:p14="http://schemas.microsoft.com/office/powerpoint/2010/main" val="1043837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Kristopher Turner presents this session. Their work focuses on hybrid operations across Azure, on-premises private clouds and AWS. The examples come from a real environment built for the event.</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3</a:t>
            </a:fld>
            <a:endParaRPr lang="en-US"/>
          </a:p>
        </p:txBody>
      </p:sp>
    </p:spTree>
    <p:extLst>
      <p:ext uri="{BB962C8B-B14F-4D97-AF65-F5344CB8AC3E}">
        <p14:creationId xmlns:p14="http://schemas.microsoft.com/office/powerpoint/2010/main" val="3416792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session opens with a real team meeting. The presenter's team runs the lab environments, some of them treated as production. A corporate monitoring solution is shared with lab environments other teams manage, so the team receives a flood of alerts for things it does not own. In the meeting someone proposed another monitoring solution just for the team's own labs, and the thinking stayed on-premises, across the two datacenters, even though the labs already extend into Azure and AWS. The presenter's pushback was that the team needed more than monitoring: it needed observability, starting from the whole service rather than one site, with the Azure and AWS parts in the same single pane of glass from the start. The rest of the session is that answer, worked through on one example service.</a:t>
            </a:r>
          </a:p>
          <a:p>
            <a:endParaRPr lang="en-US"/>
          </a:p>
          <a:p>
            <a:r>
              <a:rPr lang="en-US"/>
              <a:t>[Sources]</a:t>
            </a:r>
          </a:p>
          <a:p>
            <a:r>
              <a:rPr lang="en-US"/>
              <a:t>- Presenter account of the team meeting (anonymised).</a:t>
            </a:r>
          </a:p>
        </p:txBody>
      </p:sp>
      <p:sp>
        <p:nvSpPr>
          <p:cNvPr id="4" name="Slide Number Placeholder 3"/>
          <p:cNvSpPr>
            <a:spLocks noGrp="1"/>
          </p:cNvSpPr>
          <p:nvPr>
            <p:ph type="sldNum" sz="quarter" idx="5"/>
          </p:nvPr>
        </p:nvSpPr>
        <p:spPr/>
        <p:txBody>
          <a:bodyPr/>
          <a:lstStyle/>
          <a:p>
            <a:fld id="{59691FEA-A84D-408B-A0F6-3F1C538FC592}" type="slidenum">
              <a:rPr lang="en-US" smtClean="0"/>
              <a:t>4</a:t>
            </a:fld>
            <a:endParaRPr lang="en-US"/>
          </a:p>
        </p:txBody>
      </p:sp>
    </p:spTree>
    <p:extLst>
      <p:ext uri="{BB962C8B-B14F-4D97-AF65-F5344CB8AC3E}">
        <p14:creationId xmlns:p14="http://schemas.microsoft.com/office/powerpoint/2010/main" val="590671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meeting proposed a monitoring tool for the team's on-premises labs: is the server up, across two datacenters, as another source of alerts. The presenter asked the team to consider a bigger question with the same data: can the people using our labs do their work right now, and if not, why not? That question covers every lab wherever it runs (on-premises, Azure, AWS), in one single pane of glass, and ends with impact, an owner and proof of recovery. This is the session's working definition of observability: understanding the health, dependencies and impact of a whole service from its evidence, then using that to investigate, act and prove recovery. Most estates are hybrid (Flexera 2026: 73% hybrid, 88% more than one cloud), so the whole service is almost always in more than one place. Monitoring tells you a server is up; observability tells you whether the customer was served, wherever the service runs.</a:t>
            </a:r>
          </a:p>
          <a:p>
            <a:endParaRPr lang="en-US"/>
          </a:p>
          <a:p>
            <a:r>
              <a:rPr lang="en-US"/>
              <a:t>[Sources]</a:t>
            </a:r>
          </a:p>
          <a:p>
            <a:r>
              <a:rPr lang="en-US"/>
              <a:t>- Presenter account of the team meeting (anonymised).</a:t>
            </a:r>
          </a:p>
          <a:p>
            <a:r>
              <a:rPr lang="en-US"/>
              <a:t>- Flexera 2026 State of the Cloud (presenter-verified figures).</a:t>
            </a:r>
          </a:p>
        </p:txBody>
      </p:sp>
      <p:sp>
        <p:nvSpPr>
          <p:cNvPr id="4" name="Slide Number Placeholder 3"/>
          <p:cNvSpPr>
            <a:spLocks noGrp="1"/>
          </p:cNvSpPr>
          <p:nvPr>
            <p:ph type="sldNum" sz="quarter" idx="5"/>
          </p:nvPr>
        </p:nvSpPr>
        <p:spPr/>
        <p:txBody>
          <a:bodyPr/>
          <a:lstStyle/>
          <a:p>
            <a:fld id="{59691FEA-A84D-408B-A0F6-3F1C538FC592}" type="slidenum">
              <a:rPr lang="en-US" smtClean="0"/>
              <a:t>5</a:t>
            </a:fld>
            <a:endParaRPr lang="en-US"/>
          </a:p>
        </p:txBody>
      </p:sp>
    </p:spTree>
    <p:extLst>
      <p:ext uri="{BB962C8B-B14F-4D97-AF65-F5344CB8AC3E}">
        <p14:creationId xmlns:p14="http://schemas.microsoft.com/office/powerpoint/2010/main" val="994605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Monitoring and observability are often used as synonyms. In this session they mean different things. Monitoring collects and presents signals: it builds views, applies thresholds and raises alerts. Observability uses those signals to explain and operate a service: it knows the service boundary, the dependencies, the impact on customers, the owner, a bounded action and a verified recovery.
The link between them is context. The same measurements become explanatory when they carry enough information to say which service, which dependency and which customer operation they describe. Monitoring is a prerequisite, not a lesser form. Observability depends on good measurements and adds what is needed to reach a decision and prove its result. The line under the two columns maps each piece of that definition to the section of the session that builds it, so the six sections are the definition proved on one example service.</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6</a:t>
            </a:fld>
            <a:endParaRPr lang="en-US"/>
          </a:p>
        </p:txBody>
      </p:sp>
    </p:spTree>
    <p:extLst>
      <p:ext uri="{BB962C8B-B14F-4D97-AF65-F5344CB8AC3E}">
        <p14:creationId xmlns:p14="http://schemas.microsoft.com/office/powerpoint/2010/main" val="2861347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observability practice can grow into twenty areas: infrastructure, cloud platforms, application performance, distributed tracing, logs, metrics and telemetry, network, digital experience, databases and data platforms, Kubernetes and containers, security, availability and reliability, alerting and events, incidents and operations, dashboards and reporting, automation and remediation, configuration and assets, integrations, governance, and the platform architecture itself. In one sentence: metrics, logs, traces, events, topology, user experience and security telemetry, connected to alerting, dashboards, incident response, automation, governance and reporting, across on-premises, private cloud, public cloud, edge and hybrid. This session walks eleven of the twenty on one real-shaped service, IIC Hybrid Orders; the other nine are part of the practice but not today. The field manual carries the same map as an appendix, marked covered today, next and later. Each tile on the slide names the area's main items; the field manual appendix lists what every area includes in full, with its status for this session.</a:t>
            </a:r>
          </a:p>
          <a:p>
            <a:endParaRPr lang="en-US"/>
          </a:p>
          <a:p>
            <a:r>
              <a:rPr lang="en-US"/>
              <a:t>[Sources]</a:t>
            </a:r>
          </a:p>
          <a:p>
            <a:r>
              <a:rPr lang="en-US"/>
              <a:t>- Composite of common observability-platform capability lists (presenter-supplied, 2026-10-01).</a:t>
            </a:r>
          </a:p>
        </p:txBody>
      </p:sp>
      <p:sp>
        <p:nvSpPr>
          <p:cNvPr id="4" name="Slide Number Placeholder 3"/>
          <p:cNvSpPr>
            <a:spLocks noGrp="1"/>
          </p:cNvSpPr>
          <p:nvPr>
            <p:ph type="sldNum" sz="quarter" idx="5"/>
          </p:nvPr>
        </p:nvSpPr>
        <p:spPr/>
        <p:txBody>
          <a:bodyPr/>
          <a:lstStyle/>
          <a:p>
            <a:fld id="{59691FEA-A84D-408B-A0F6-3F1C538FC592}" type="slidenum">
              <a:rPr lang="en-US" smtClean="0"/>
              <a:t>7</a:t>
            </a:fld>
            <a:endParaRPr lang="en-US"/>
          </a:p>
        </p:txBody>
      </p:sp>
    </p:spTree>
    <p:extLst>
      <p:ext uri="{BB962C8B-B14F-4D97-AF65-F5344CB8AC3E}">
        <p14:creationId xmlns:p14="http://schemas.microsoft.com/office/powerpoint/2010/main" val="3341875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session has six sections, each built on one example service, IIC Hybrid Orders, and each answering part of the meeting the session opened with. One defines the service and what working means. Two shows how the parts Microsoft doesn't host become visible to Azure Monitor. Three follows a failing order from the customer down. Four turns evidence into health with Azure Monitor Health Models. Five covers alerts with context and proving recovery with fresh orders. Six covers what the evidence costs and how to keep the view useful. Each section has its own colour; every slide in a section carries that colour as a tag in its title band, and each section opens with an intro slide and includes a demonstration.</a:t>
            </a:r>
          </a:p>
          <a:p>
            <a:endParaRPr lang="en-US"/>
          </a:p>
          <a:p>
            <a:r>
              <a:rPr lang="en-US"/>
              <a:t>[Sources]</a:t>
            </a:r>
          </a:p>
          <a:p>
            <a:r>
              <a:rPr lang="en-US"/>
              <a:t>- Session structure.</a:t>
            </a:r>
          </a:p>
        </p:txBody>
      </p:sp>
      <p:sp>
        <p:nvSpPr>
          <p:cNvPr id="4" name="Slide Number Placeholder 3"/>
          <p:cNvSpPr>
            <a:spLocks noGrp="1"/>
          </p:cNvSpPr>
          <p:nvPr>
            <p:ph type="sldNum" sz="quarter" idx="5"/>
          </p:nvPr>
        </p:nvSpPr>
        <p:spPr/>
        <p:txBody>
          <a:bodyPr/>
          <a:lstStyle/>
          <a:p>
            <a:fld id="{59691FEA-A84D-408B-A0F6-3F1C538FC592}" type="slidenum">
              <a:rPr lang="en-US" smtClean="0"/>
              <a:t>8</a:t>
            </a:fld>
            <a:endParaRPr lang="en-US"/>
          </a:p>
        </p:txBody>
      </p:sp>
    </p:spTree>
    <p:extLst>
      <p:ext uri="{BB962C8B-B14F-4D97-AF65-F5344CB8AC3E}">
        <p14:creationId xmlns:p14="http://schemas.microsoft.com/office/powerpoint/2010/main" val="473173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1 of 6, Define the service, answers one question: What does our example service depend on, and what does "working" mean? It covers the three customer commitments, the architecture across Azure, on-premises and AWS, and what one order depends on. It is here because you can't monitor a service until you have agreed what it is and what success looks like. Its part of observability is service boundary and dependencies. The section opens with this intro slide so you know the question before the content, and every slide in it carries the same colour tag in its title band.</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9</a:t>
            </a:fld>
            <a:endParaRPr lang="en-US"/>
          </a:p>
        </p:txBody>
      </p:sp>
    </p:spTree>
    <p:extLst>
      <p:ext uri="{BB962C8B-B14F-4D97-AF65-F5344CB8AC3E}">
        <p14:creationId xmlns:p14="http://schemas.microsoft.com/office/powerpoint/2010/main" val="2576949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example application is IIC Hybrid Orders. Infinite Improbability Corp is fictional, but the services are real: Azure Front Door, Azure Container Apps, Azure Functions and Azure Service Bus, Amazon EKS and EC2, and a Linux worker on an on-premises private cloud. The application runs across all three environments.
Before collecting any data, the session defines what working means as three commitments. Customers can open the portal, proven by a response from either the Azure or the AWS portal origin. Customers can complete an order, proven by an order that completes inside its time target. Operators can observe the service, proven by fresh evidence arriving from every cloud. Working is a customer outcome with a time target, not a server that shows green. These commitments later become the top level of the health model. The order commitment is measurable: an order must complete within 45 seconds, the coordinator's configured timeout, with both workers answering.</a:t>
            </a:r>
          </a:p>
          <a:p>
            <a:endParaRPr lang="en-US"/>
          </a:p>
          <a:p>
            <a:r>
              <a:rPr lang="en-US"/>
              <a:t>[Sources]</a:t>
            </a:r>
          </a:p>
          <a:p>
            <a:r>
              <a:rPr lang="en-US"/>
              <a:t>- https://learn.microsoft.com/en-us/azure/azure-monitor/health-models/health-modeling</a:t>
            </a:r>
          </a:p>
        </p:txBody>
      </p:sp>
      <p:sp>
        <p:nvSpPr>
          <p:cNvPr id="4" name="Slide Number Placeholder 3"/>
          <p:cNvSpPr>
            <a:spLocks noGrp="1"/>
          </p:cNvSpPr>
          <p:nvPr>
            <p:ph type="sldNum" sz="quarter" idx="5"/>
          </p:nvPr>
        </p:nvSpPr>
        <p:spPr/>
        <p:txBody>
          <a:bodyPr/>
          <a:lstStyle/>
          <a:p>
            <a:fld id="{59691FEA-A84D-408B-A0F6-3F1C538FC592}" type="slidenum">
              <a:rPr lang="en-US" smtClean="0"/>
              <a:t>10</a:t>
            </a:fld>
            <a:endParaRPr lang="en-US"/>
          </a:p>
        </p:txBody>
      </p:sp>
    </p:spTree>
    <p:extLst>
      <p:ext uri="{BB962C8B-B14F-4D97-AF65-F5344CB8AC3E}">
        <p14:creationId xmlns:p14="http://schemas.microsoft.com/office/powerpoint/2010/main" val="3215529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IIC Hybrid Orders spans three boundaries. In Azure, Front Door with a WAF policy is the public entry point and routes customers to one of two portal copies: one on Azure Container Apps and one on an Amazon EKS cluster behind an AWS Application Load Balancer. Both portals call an Azure Functions coordinator, which assigns a correlation ID and places work on Azure Service Bus. An on-premises validation worker on an SCVMM-managed Hyper-V VM and an AWS fulfillment worker on EC2 pull that work over outbound TLS, with no inbound publication and no cross-cloud VPN.
The order completes only when both workers answer, so AWS is inside the order path. The monitoring behind the application is covered in section 2, one evidence route at a time.</a:t>
            </a:r>
          </a:p>
          <a:p>
            <a:endParaRPr lang="en-US"/>
          </a:p>
          <a:p>
            <a:r>
              <a:rPr lang="en-US"/>
              <a:t>[Sources]</a:t>
            </a:r>
          </a:p>
          <a:p>
            <a:r>
              <a:rPr lang="en-US"/>
              <a:t>- https://learn.microsoft.com/en-us/azure/frontdoor/front-door-overview</a:t>
            </a:r>
          </a:p>
          <a:p>
            <a:r>
              <a:rPr lang="en-US"/>
              <a:t>- https://learn.microsoft.com/en-us/azure/service-bus-messaging/service-bus-messaging-overview</a:t>
            </a:r>
          </a:p>
          <a:p>
            <a:r>
              <a:rPr lang="en-US"/>
              <a:t>- https://learn.microsoft.com/en-us/azure/azure-arc/multicloud-connector/overview</a:t>
            </a:r>
          </a:p>
          <a:p>
            <a:r>
              <a:rPr lang="en-US"/>
              <a:t>- https://learn.microsoft.com/en-us/azure/azure-arc/servers/overview</a:t>
            </a:r>
          </a:p>
          <a:p>
            <a:r>
              <a:rPr lang="en-US"/>
              <a:t>- https://learn.microsoft.com/en-us/azure/azure-arc/kubernetes/overview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11</a:t>
            </a:fld>
            <a:endParaRPr lang="en-US"/>
          </a:p>
        </p:txBody>
      </p:sp>
    </p:spTree>
    <p:extLst>
      <p:ext uri="{BB962C8B-B14F-4D97-AF65-F5344CB8AC3E}">
        <p14:creationId xmlns:p14="http://schemas.microsoft.com/office/powerpoint/2010/main" val="3286473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answers the first half of the section question: what does one order depend on, and which of those parts are required? An IIC order passes through a portal (served from either Azure Container Apps or EKS in AWS), the coordinator (Azure Functions with Service Bus), the validation worker on-premises and the fulfillment worker in AWS. Every part after the customer is required: the coordinator waits for both workers, so there is no optional step.
A dependency is part of the service definition. If any one of these parts is missing there is no order, so the service has to be defined as the whole chain, four parts in three places, rather than as the servers in one estate. Two of the four required parts are not hosted by Microsoft. What happens when a required part fails is shown in section 3 with a controlled fault on the AWS worker.</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12</a:t>
            </a:fld>
            <a:endParaRPr lang="en-US"/>
          </a:p>
        </p:txBody>
      </p:sp>
    </p:spTree>
    <p:extLst>
      <p:ext uri="{BB962C8B-B14F-4D97-AF65-F5344CB8AC3E}">
        <p14:creationId xmlns:p14="http://schemas.microsoft.com/office/powerpoint/2010/main" val="6044161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2 of 6, See the parts Microsoft doesn't host, answers one question: The architecture shows what should exist. Can we actually see every part of it? It covers how Azure Arc makes an on-premises or AWS machine visible to Azure Monitor, where the evidence lands, and how one order is followed across all three places by one ID. It is here because a server connected to Arc is not the same as evidence arriving, and every later view depends on it. Its part of observability is the evidence that everything else depends on. The section opens with this intro slide so you know the question before the content, and every slide in it carries the same colour tag in its title band.</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13</a:t>
            </a:fld>
            <a:endParaRPr lang="en-US"/>
          </a:p>
        </p:txBody>
      </p:sp>
    </p:spTree>
    <p:extLst>
      <p:ext uri="{BB962C8B-B14F-4D97-AF65-F5344CB8AC3E}">
        <p14:creationId xmlns:p14="http://schemas.microsoft.com/office/powerpoint/2010/main" val="3376988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part of the service becomes visible to Azure Monitor the same way. The coordinator in Azure is already an Azure resource. The on-premises validation worker and the AWS fulfillment worker become Azure resources through Azure Arc, which gives each machine an identity in Azure but no evidence by itself. The Azure Monitor Agent then sends heartbeat, performance and log data, and each worker sends a record for every order stage it handles. Everything lands in one Log Analytics workspace, so evidence from Azure, on-premises and AWS sits side by side. The configuration behind this (data collection rules, associations, the logs ingestion API, managed identities and the roles they need) is in the field manual. The check that matters: connected is not the same as collected, so confirm evidence is arriving from every part, every day.</a:t>
            </a:r>
          </a:p>
          <a:p>
            <a:endParaRPr lang="en-US"/>
          </a:p>
          <a:p>
            <a:r>
              <a:rPr lang="en-US"/>
              <a:t>[Sources]</a:t>
            </a:r>
          </a:p>
          <a:p>
            <a:r>
              <a:rPr lang="en-US"/>
              <a:t>- lab/design/HYBRID-APPLICATION-HEALTH-DESIGN.md, collection section</a:t>
            </a:r>
          </a:p>
          <a:p>
            <a:r>
              <a:rPr lang="en-US"/>
              <a:t>- Microsoft Learn: Azure Arc-enabled servers overview</a:t>
            </a:r>
          </a:p>
          <a:p>
            <a:r>
              <a:rPr lang="en-US"/>
              <a:t>- Microsoft Learn: Azure Monitor Agent overview</a:t>
            </a:r>
          </a:p>
          <a:p>
            <a:r>
              <a:rPr lang="en-US"/>
              <a:t>- Microsoft Learn: Logs ingestion API</a:t>
            </a:r>
          </a:p>
        </p:txBody>
      </p:sp>
      <p:sp>
        <p:nvSpPr>
          <p:cNvPr id="4" name="Slide Number Placeholder 3"/>
          <p:cNvSpPr>
            <a:spLocks noGrp="1"/>
          </p:cNvSpPr>
          <p:nvPr>
            <p:ph type="sldNum" sz="quarter" idx="5"/>
          </p:nvPr>
        </p:nvSpPr>
        <p:spPr/>
        <p:txBody>
          <a:bodyPr/>
          <a:lstStyle/>
          <a:p>
            <a:fld id="{59691FEA-A84D-408B-A0F6-3F1C538FC592}" type="slidenum">
              <a:rPr lang="en-US" smtClean="0"/>
              <a:t>14</a:t>
            </a:fld>
            <a:endParaRPr lang="en-US"/>
          </a:p>
        </p:txBody>
      </p:sp>
    </p:spTree>
    <p:extLst>
      <p:ext uri="{BB962C8B-B14F-4D97-AF65-F5344CB8AC3E}">
        <p14:creationId xmlns:p14="http://schemas.microsoft.com/office/powerpoint/2010/main" val="25973604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IIC Hybrid Orders, every stage of an order writes one record to the Cas26Service_CL table with the same CorrelationId, a GUID assigned by the coordinator. The customer-visible order number, such as IIC-000042, is for display only. An order's timeline reads: the portal origin that served the customer, the coordinator accepting the order, the on-premises worker validating it, the AWS worker fulfilling it, and the coordinator completing it.
Each record carries the cloud, component, stage, success flag and duration, so a single query filtered on the correlation ID shows which environment was slow or failed. The order is complete only when the coordinator writes a successful Completed record, and any failed stage fails the order.</a:t>
            </a:r>
          </a:p>
          <a:p>
            <a:endParaRPr lang="en-US"/>
          </a:p>
          <a:p>
            <a:r>
              <a:rPr lang="en-US"/>
              <a:t>[Sources]</a:t>
            </a:r>
          </a:p>
          <a:p>
            <a:r>
              <a:rPr lang="en-US"/>
              <a:t>- https://learn.microsoft.com/en-us/azure/azure-monitor/logs/logs-ingestion-api-overview</a:t>
            </a:r>
          </a:p>
          <a:p>
            <a:r>
              <a:rPr lang="en-US"/>
              <a:t>- https://learn.microsoft.com/en-us/azure/azure-monitor/data-collection/data-collection-rule-overview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15</a:t>
            </a:fld>
            <a:endParaRPr lang="en-US"/>
          </a:p>
        </p:txBody>
      </p:sp>
    </p:spTree>
    <p:extLst>
      <p:ext uri="{BB962C8B-B14F-4D97-AF65-F5344CB8AC3E}">
        <p14:creationId xmlns:p14="http://schemas.microsoft.com/office/powerpoint/2010/main" val="41386663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runbook M01, proves each evidence route instead of assuming it from Arc registration. It selects the machines and a time window, confirms that each machine has the expected data collection rule association, queries Heartbeat and Perf for the Arc-connected AWS machines, checks the direct-ingestion route for stage records into Cas26Service_CL, and verifies freshness and the identity used.
A route is proven when the expected resource appears with a current timestamp in the expected destination. Typical failures are a missing association, the wrong scope, stale data or a query the identity is not authorised to run, and each points to a different fix.</a:t>
            </a:r>
          </a:p>
          <a:p>
            <a:endParaRPr lang="en-US"/>
          </a:p>
          <a:p>
            <a:r>
              <a:rPr lang="en-US"/>
              <a:t>[Sources]</a:t>
            </a:r>
          </a:p>
          <a:p>
            <a:r>
              <a:rPr lang="en-US"/>
              <a:t>- https://learn.microsoft.com/en-us/azure/azure-monitor/data-collection/data-collection-rule-associations</a:t>
            </a:r>
          </a:p>
          <a:p>
            <a:r>
              <a:rPr lang="en-US"/>
              <a:t>- https://learn.microsoft.com/en-us/azure/azure-monitor/agents/azure-monitor-agent-overview</a:t>
            </a:r>
          </a:p>
          <a:p>
            <a:r>
              <a:rPr lang="en-US"/>
              <a:t>- https://learn.microsoft.com/en-us/azure/azure-monitor/logs/logs-ingestion-api-overview</a:t>
            </a:r>
          </a:p>
          <a:p>
            <a:r>
              <a:rPr lang="en-US"/>
              <a:t>- https://learn.microsoft.com/en-us/azure/azure-monitor/logs/data-ingestion-time</a:t>
            </a:r>
          </a:p>
        </p:txBody>
      </p:sp>
      <p:sp>
        <p:nvSpPr>
          <p:cNvPr id="4" name="Slide Number Placeholder 3"/>
          <p:cNvSpPr>
            <a:spLocks noGrp="1"/>
          </p:cNvSpPr>
          <p:nvPr>
            <p:ph type="sldNum" sz="quarter" idx="5"/>
          </p:nvPr>
        </p:nvSpPr>
        <p:spPr/>
        <p:txBody>
          <a:bodyPr/>
          <a:lstStyle/>
          <a:p>
            <a:fld id="{59691FEA-A84D-408B-A0F6-3F1C538FC592}" type="slidenum">
              <a:rPr lang="en-US" smtClean="0"/>
              <a:t>16</a:t>
            </a:fld>
            <a:endParaRPr lang="en-US"/>
          </a:p>
        </p:txBody>
      </p:sp>
    </p:spTree>
    <p:extLst>
      <p:ext uri="{BB962C8B-B14F-4D97-AF65-F5344CB8AC3E}">
        <p14:creationId xmlns:p14="http://schemas.microsoft.com/office/powerpoint/2010/main" val="14665495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3 of 6, When an order fails, answers one question: When an order fails, where do we look first? It covers why a healthy server can hide a failing service, how to read the service view, a baseline order, a controlled fault in AWS, and investigating from the customer down. It is here because a green server can hide a failing service, so investigation has to start from the customer. Its part of observability is impact, explained from the customer down. The section opens with this intro slide so you know the question before the content, and every slide in it carries the same colour tag in its title band.</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17</a:t>
            </a:fld>
            <a:endParaRPr lang="en-US"/>
          </a:p>
        </p:txBody>
      </p:sp>
    </p:spTree>
    <p:extLst>
      <p:ext uri="{BB962C8B-B14F-4D97-AF65-F5344CB8AC3E}">
        <p14:creationId xmlns:p14="http://schemas.microsoft.com/office/powerpoint/2010/main" val="1284495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view of one resource answers questions about that resource. In the example, the on-premises validation worker shows normal CPU and a fresh heartbeat, and both are accurate. The same view cannot say whether orders completed, which portal origin served customers, or whether the AWS fulfillment worker is answering, and the customer outcome depends on all three.
A whole-service view brings together the customer outcome, both portal origins, both workers, the freshness of each evidence source and the owner of each part, because it reads evidence from every environment the order passes through. Resource views remain useful for component owners. They should not be used as the answer to a question about the whole service.</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18</a:t>
            </a:fld>
            <a:endParaRPr lang="en-US"/>
          </a:p>
        </p:txBody>
      </p:sp>
    </p:spTree>
    <p:extLst>
      <p:ext uri="{BB962C8B-B14F-4D97-AF65-F5344CB8AC3E}">
        <p14:creationId xmlns:p14="http://schemas.microsoft.com/office/powerpoint/2010/main" val="4271740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service view is easier to use under pressure when everyone reads it in the same order. First, the customer outcome: order success, latency against the target and the last good order. Second, overall health: the modelled state, the freshness of its evidence and the affected commitment. Third, the components and dependencies, such as both portal origins, the coordinator and both workers. Fourth, evidence freshness: the latest timestamp per source and any late sources, which make that part of the view unknown rather than healthy. Fifth, drill-down from a correlation ID to the signal that changed state, its owner and its runbook.
The workbook presents this information; it does not calculate health. The health state comes from the Azure Monitor health model, and the workbook places it next to the raw evidence. The health states shown in this view come from the Azure Monitor health model, which the session explains in detail later.</a:t>
            </a:r>
          </a:p>
          <a:p>
            <a:endParaRPr lang="en-US"/>
          </a:p>
          <a:p>
            <a:r>
              <a:rPr lang="en-US"/>
              <a:t>[Sources]</a:t>
            </a:r>
          </a:p>
          <a:p>
            <a:r>
              <a:rPr lang="en-US"/>
              <a:t>- https://learn.microsoft.com/en-us/azure/azure-monitor/visualize/workbooks-overview</a:t>
            </a:r>
          </a:p>
          <a:p>
            <a:r>
              <a:rPr lang="en-US"/>
              <a:t>- https://learn.microsoft.com/en-us/azure/azure-monitor/health-models/overview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19</a:t>
            </a:fld>
            <a:endParaRPr lang="en-US"/>
          </a:p>
        </p:txBody>
      </p:sp>
    </p:spTree>
    <p:extLst>
      <p:ext uri="{BB962C8B-B14F-4D97-AF65-F5344CB8AC3E}">
        <p14:creationId xmlns:p14="http://schemas.microsoft.com/office/powerpoint/2010/main" val="28323599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stage 1 of runbook M02, places one healthy baseline order. A single demo-tagged order is sent through the Front Door endpoint, and its correlation ID, time and serving portal origin are recorded. Its stage records are then read from Cas26Service_CL by that correlation ID, and the same order is located in the service workbook.
The evidence must show an order that completed inside its time target, every stage present across Azure, on-premises and AWS, and a workbook with fresh data. The baseline is the comparison point for the later fault and for proving recovery with a new order.</a:t>
            </a:r>
          </a:p>
          <a:p>
            <a:endParaRPr lang="en-US"/>
          </a:p>
          <a:p>
            <a:r>
              <a:rPr lang="en-US"/>
              <a:t>[Sources]</a:t>
            </a:r>
          </a:p>
          <a:p>
            <a:r>
              <a:rPr lang="en-US"/>
              <a:t>- https://learn.microsoft.com/en-us/azure/azure-monitor/logs/logs-ingestion-api-overview</a:t>
            </a:r>
          </a:p>
          <a:p>
            <a:r>
              <a:rPr lang="en-US"/>
              <a:t>- https://learn.microsoft.com/en-us/azure/azure-monitor/visualize/workbooks-overview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20</a:t>
            </a:fld>
            <a:endParaRPr lang="en-US"/>
          </a:p>
        </p:txBody>
      </p:sp>
    </p:spTree>
    <p:extLst>
      <p:ext uri="{BB962C8B-B14F-4D97-AF65-F5344CB8AC3E}">
        <p14:creationId xmlns:p14="http://schemas.microsoft.com/office/powerpoint/2010/main" val="40241969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stage 2 of runbook M02, reads the service view around the baseline order. The view is read in a fixed order: customer outcome, overall health, components and dependencies, evidence freshness and drill-down. The baseline order's stages are opened by correlation ID and compared with the raw records, both portal origins are checked, and the freshness and owner of each source are noted.
The evidence must show that the outcome, component states and freshness in the view agree with the raw stage records. When they disagree, the raw records win and the view needs fixing.</a:t>
            </a:r>
          </a:p>
          <a:p>
            <a:endParaRPr lang="en-US"/>
          </a:p>
          <a:p>
            <a:r>
              <a:rPr lang="en-US"/>
              <a:t>[Sources]</a:t>
            </a:r>
          </a:p>
          <a:p>
            <a:r>
              <a:rPr lang="en-US"/>
              <a:t>- https://learn.microsoft.com/en-us/azure/azure-monitor/visualize/workbooks-overview</a:t>
            </a:r>
          </a:p>
          <a:p>
            <a:r>
              <a:rPr lang="en-US"/>
              <a:t>- https://learn.microsoft.com/en-us/azure/azure-monitor/health-models/overview</a:t>
            </a:r>
          </a:p>
          <a:p>
            <a:r>
              <a:rPr lang="en-US"/>
              <a:t>- https://learn.microsoft.com/en-us/azure/azure-monitor/health-models/concepts</a:t>
            </a:r>
          </a:p>
        </p:txBody>
      </p:sp>
      <p:sp>
        <p:nvSpPr>
          <p:cNvPr id="4" name="Slide Number Placeholder 3"/>
          <p:cNvSpPr>
            <a:spLocks noGrp="1"/>
          </p:cNvSpPr>
          <p:nvPr>
            <p:ph type="sldNum" sz="quarter" idx="5"/>
          </p:nvPr>
        </p:nvSpPr>
        <p:spPr/>
        <p:txBody>
          <a:bodyPr/>
          <a:lstStyle/>
          <a:p>
            <a:fld id="{59691FEA-A84D-408B-A0F6-3F1C538FC592}" type="slidenum">
              <a:rPr lang="en-US" smtClean="0"/>
              <a:t>21</a:t>
            </a:fld>
            <a:endParaRPr lang="en-US"/>
          </a:p>
        </p:txBody>
      </p:sp>
    </p:spTree>
    <p:extLst>
      <p:ext uri="{BB962C8B-B14F-4D97-AF65-F5344CB8AC3E}">
        <p14:creationId xmlns:p14="http://schemas.microsoft.com/office/powerpoint/2010/main" val="5236452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reliable investigation starts from customer impact and narrows toward specific evidence. First, confirm the impact: which operation is affected and since when. Second, scope a failing order by its correlation ID and the resources involved. Third, compare its stage records across the coordinator, the on-premises worker and the AWS worker, and against a healthy baseline order. Fourth, inspect the dependencies, including the modelled health of the relevant branch and the freshness of its evidence. Fifth, decide on an owner and a bounded action.
At each step, the claim should go no further than the evidence supports. Two observations that appear together are not a cause; a cause needs a test or further evidence that connects them. An investigation must separate a failed component from lost visibility: a Failed stage record with fresh heartbeats points at the worker, while a missing stage record calls for checking dispatch and the queue before concluding that visibility was lost.</a:t>
            </a:r>
          </a:p>
          <a:p>
            <a:endParaRPr lang="en-US"/>
          </a:p>
          <a:p>
            <a:r>
              <a:rPr lang="en-US"/>
              <a:t>[Sources]</a:t>
            </a:r>
          </a:p>
          <a:p>
            <a:r>
              <a:rPr lang="en-US"/>
              <a:t>- https://learn.microsoft.com/en-us/azure/azure-monitor/health-models/concepts</a:t>
            </a:r>
          </a:p>
        </p:txBody>
      </p:sp>
      <p:sp>
        <p:nvSpPr>
          <p:cNvPr id="4" name="Slide Number Placeholder 3"/>
          <p:cNvSpPr>
            <a:spLocks noGrp="1"/>
          </p:cNvSpPr>
          <p:nvPr>
            <p:ph type="sldNum" sz="quarter" idx="5"/>
          </p:nvPr>
        </p:nvSpPr>
        <p:spPr/>
        <p:txBody>
          <a:bodyPr/>
          <a:lstStyle/>
          <a:p>
            <a:fld id="{59691FEA-A84D-408B-A0F6-3F1C538FC592}" type="slidenum">
              <a:rPr lang="en-US" smtClean="0"/>
              <a:t>22</a:t>
            </a:fld>
            <a:endParaRPr lang="en-US"/>
          </a:p>
        </p:txBody>
      </p:sp>
    </p:spTree>
    <p:extLst>
      <p:ext uri="{BB962C8B-B14F-4D97-AF65-F5344CB8AC3E}">
        <p14:creationId xmlns:p14="http://schemas.microsoft.com/office/powerpoint/2010/main" val="39598168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injects a controlled, reversible fault into the IIC Hybrid Orders application. The AWS fulfillment worker is set to Fail mode, fault name marvin, by writing one CAS26-owned state file. The fault applies only to orders placed with the demo tag, and it never stops a service, machine or host.
A fresh demo-tagged order is then placed and its stage records are read by correlation ID. The expected evidence is a failed AWS stage with FailureMode marvin, a failed order, and worker heartbeats that remain fresh. Because the AWS worker is a required part of the order path, its failure is the cause of the failed order, and the correlated records show it. Healthy machines did not mean a working service.
The fault is cleared later, and recovery is proven with a new order. The fault, named marvin, is a demo-only switch on the AWS worker: it fails only demo-tagged orders and expires automatically.</a:t>
            </a:r>
          </a:p>
          <a:p>
            <a:endParaRPr lang="en-US"/>
          </a:p>
          <a:p>
            <a:r>
              <a:rPr lang="en-US"/>
              <a:t>[Sources]</a:t>
            </a:r>
          </a:p>
          <a:p>
            <a:r>
              <a:rPr lang="en-US"/>
              <a:t>- https://learn.microsoft.com/en-us/azure/azure-monitor/logs/log-query-overview</a:t>
            </a:r>
          </a:p>
          <a:p>
            <a:r>
              <a:rPr lang="en-US"/>
              <a:t>- https://learn.microsoft.com/en-us/azure/azure-monitor/agents/azure-monitor-agent-overview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23</a:t>
            </a:fld>
            <a:endParaRPr lang="en-US"/>
          </a:p>
        </p:txBody>
      </p:sp>
    </p:spTree>
    <p:extLst>
      <p:ext uri="{BB962C8B-B14F-4D97-AF65-F5344CB8AC3E}">
        <p14:creationId xmlns:p14="http://schemas.microsoft.com/office/powerpoint/2010/main" val="7268129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4 of 6, Model health with Azure Monitor Health Models, answers one question: How does evidence become a health state the whole team can trust? It covers sCOM's service model reintroduced for a hybrid estate; what a health model is made of; how health rolls up; what happens when evidence goes quiet; the live IIC model. It is here because a health model turns records into one answer about the service, instead of a wall of alerts. Its part of observability is explanation the whole team can trust. The section opens with this intro slide so you know the question before the content, and every slide in it carries the same colour tag in its title band.</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24</a:t>
            </a:fld>
            <a:endParaRPr lang="en-US"/>
          </a:p>
        </p:txBody>
      </p:sp>
    </p:spTree>
    <p:extLst>
      <p:ext uri="{BB962C8B-B14F-4D97-AF65-F5344CB8AC3E}">
        <p14:creationId xmlns:p14="http://schemas.microsoft.com/office/powerpoint/2010/main" val="12838050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you ran System Center Operations Manager, you already modelled services: a distributed application grouped components, monitors watched events and counters, and health rolled up from the components to the service. Azure Monitor Health Models reintroduces that idea for a hybrid estate. The service is a health model, one Azure resource. The parts are entities, which can be Azure resources, Arc-enabled machines in your datacenter or in AWS, or connector resources. Signals read data Azure Monitor already collects, so there are no management packs. Health propagates from entities to the service. What is different: it uses existing data, missing data is a designed state (Unknown) rather than an error, it raises one alert per state change instead of one per monitor, and it is still in preview.</a:t>
            </a:r>
          </a:p>
          <a:p>
            <a:endParaRPr lang="en-US"/>
          </a:p>
          <a:p>
            <a:r>
              <a:rPr lang="en-US"/>
              <a:t>[Sources]</a:t>
            </a:r>
          </a:p>
          <a:p>
            <a:r>
              <a:rPr lang="en-US"/>
              <a:t>- Microsoft Learn: Azure Monitor Health Models overview (preview)</a:t>
            </a:r>
          </a:p>
          <a:p>
            <a:r>
              <a:rPr lang="en-US"/>
              <a:t>- Microsoft Learn: SCOM distributed applications</a:t>
            </a:r>
          </a:p>
        </p:txBody>
      </p:sp>
      <p:sp>
        <p:nvSpPr>
          <p:cNvPr id="4" name="Slide Number Placeholder 3"/>
          <p:cNvSpPr>
            <a:spLocks noGrp="1"/>
          </p:cNvSpPr>
          <p:nvPr>
            <p:ph type="sldNum" sz="quarter" idx="5"/>
          </p:nvPr>
        </p:nvSpPr>
        <p:spPr/>
        <p:txBody>
          <a:bodyPr/>
          <a:lstStyle/>
          <a:p>
            <a:fld id="{59691FEA-A84D-408B-A0F6-3F1C538FC592}" type="slidenum">
              <a:rPr lang="en-US" smtClean="0"/>
              <a:t>25</a:t>
            </a:fld>
            <a:endParaRPr lang="en-US"/>
          </a:p>
        </p:txBody>
      </p:sp>
    </p:spTree>
    <p:extLst>
      <p:ext uri="{BB962C8B-B14F-4D97-AF65-F5344CB8AC3E}">
        <p14:creationId xmlns:p14="http://schemas.microsoft.com/office/powerpoint/2010/main" val="25769687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health model has four layers: the service (the outcome being protected), its commitments and components (the entities), the signals that measure each entity, and the state those signals produce. One signal end to end for the AWS fulfillment entity: the evidence is stage success and latency from the order records; the window is a lookback period with enough samples; the rule is a pair of thresholds on the failure rate, one for Degraded and one for Unhealthy; the result is a state of Healthy, Degraded, Unhealthy or Unknown. Every coloured state must trace back to a signal, a window and a rule, or nobody can explain it. The service view shows results; the model defines what they mean.</a:t>
            </a:r>
          </a:p>
          <a:p>
            <a:endParaRPr lang="en-US"/>
          </a:p>
          <a:p>
            <a:r>
              <a:rPr lang="en-US"/>
              <a:t>[Sources]</a:t>
            </a:r>
          </a:p>
          <a:p>
            <a:r>
              <a:rPr lang="en-US"/>
              <a:t>- lab/design/HYBRID-APPLICATION-HEALTH-DESIGN.md, Health Model section</a:t>
            </a:r>
          </a:p>
          <a:p>
            <a:r>
              <a:rPr lang="en-US"/>
              <a:t>- Live model hm-tplabs-cas26-service-cus-01</a:t>
            </a:r>
          </a:p>
          <a:p>
            <a:r>
              <a:rPr lang="en-US"/>
              <a:t>- Microsoft Learn: Health Models signals</a:t>
            </a:r>
          </a:p>
        </p:txBody>
      </p:sp>
      <p:sp>
        <p:nvSpPr>
          <p:cNvPr id="4" name="Slide Number Placeholder 3"/>
          <p:cNvSpPr>
            <a:spLocks noGrp="1"/>
          </p:cNvSpPr>
          <p:nvPr>
            <p:ph type="sldNum" sz="quarter" idx="5"/>
          </p:nvPr>
        </p:nvSpPr>
        <p:spPr/>
        <p:txBody>
          <a:bodyPr/>
          <a:lstStyle/>
          <a:p>
            <a:fld id="{59691FEA-A84D-408B-A0F6-3F1C538FC592}" type="slidenum">
              <a:rPr lang="en-US" smtClean="0"/>
              <a:t>26</a:t>
            </a:fld>
            <a:endParaRPr lang="en-US"/>
          </a:p>
        </p:txBody>
      </p:sp>
    </p:spTree>
    <p:extLst>
      <p:ext uri="{BB962C8B-B14F-4D97-AF65-F5344CB8AC3E}">
        <p14:creationId xmlns:p14="http://schemas.microsoft.com/office/powerpoint/2010/main" val="10151115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live IIC model has nine entities under one root, IIC Hybrid Orders, which takes the worst state of its children. Under it are the three commitments. The portal has two origins, Container Apps in Azure and EKS in AWS, which are redundant (impact Limited): one origin down makes the commitment Degraded, not Unhealthy. Completing an order needs the coordinator, on-premises validation and AWS fulfillment, which are required (impact Standard): any one Unhealthy makes the commitment Unhealthy. Observing the service has its own signals on the stalest evidence source, and lost evidence makes it Unknown rather than down. The controlled fault from section 3 therefore reads: AWS fulfillment Unhealthy, the order commitment Unhealthy, the service Unhealthy. Deciding what is required and what is redundant is how health rolls up.</a:t>
            </a:r>
          </a:p>
          <a:p>
            <a:endParaRPr lang="en-US"/>
          </a:p>
          <a:p>
            <a:r>
              <a:rPr lang="en-US"/>
              <a:t>[Sources]</a:t>
            </a:r>
          </a:p>
          <a:p>
            <a:r>
              <a:rPr lang="en-US"/>
              <a:t>- Live model hm-tplabs-cas26-service-cus-01 read back 2026-10-01</a:t>
            </a:r>
          </a:p>
          <a:p>
            <a:r>
              <a:rPr lang="en-US"/>
              <a:t>- Microsoft Learn: Health Models entity impact and aggregation (Microsoft.CloudHealth 2026-05-01-preview)</a:t>
            </a:r>
          </a:p>
        </p:txBody>
      </p:sp>
      <p:sp>
        <p:nvSpPr>
          <p:cNvPr id="4" name="Slide Number Placeholder 3"/>
          <p:cNvSpPr>
            <a:spLocks noGrp="1"/>
          </p:cNvSpPr>
          <p:nvPr>
            <p:ph type="sldNum" sz="quarter" idx="5"/>
          </p:nvPr>
        </p:nvSpPr>
        <p:spPr/>
        <p:txBody>
          <a:bodyPr/>
          <a:lstStyle/>
          <a:p>
            <a:fld id="{59691FEA-A84D-408B-A0F6-3F1C538FC592}" type="slidenum">
              <a:rPr lang="en-US" smtClean="0"/>
              <a:t>27</a:t>
            </a:fld>
            <a:endParaRPr lang="en-US"/>
          </a:p>
        </p:txBody>
      </p:sp>
    </p:spTree>
    <p:extLst>
      <p:ext uri="{BB962C8B-B14F-4D97-AF65-F5344CB8AC3E}">
        <p14:creationId xmlns:p14="http://schemas.microsoft.com/office/powerpoint/2010/main" val="39467755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Before a rule runs, a health model should ask whether the evidence is fresh and whether there is enough of it. If so, it evaluates the rule and produces a known state; if not, the state is Unknown, which is never Healthy. No evidence is not good news. For estates with several datacenters and branch or edge sites, each site is its own entity under one parent. A disconnected site shows Unknown, and with a threshold rule on the parent (Unhealthy only if more than half the sites are unhealthy; Unknown sites ignored by default) the remaining sites keep the commitment healthy. The service also tracks its stalest evidence source and alerts when one goes quiet. Unknown is an operating state, not another shade of green.</a:t>
            </a:r>
          </a:p>
          <a:p>
            <a:endParaRPr lang="en-US"/>
          </a:p>
          <a:p>
            <a:r>
              <a:rPr lang="en-US"/>
              <a:t>[Sources]</a:t>
            </a:r>
          </a:p>
          <a:p>
            <a:r>
              <a:rPr lang="en-US"/>
              <a:t>- Microsoft Learn: Health Models signal evaluation and Unknown</a:t>
            </a:r>
          </a:p>
          <a:p>
            <a:r>
              <a:rPr lang="en-US"/>
              <a:t>- Live observability entity signal (Degraded above 5 min, Unhealthy above 15 min)</a:t>
            </a:r>
          </a:p>
        </p:txBody>
      </p:sp>
      <p:sp>
        <p:nvSpPr>
          <p:cNvPr id="4" name="Slide Number Placeholder 3"/>
          <p:cNvSpPr>
            <a:spLocks noGrp="1"/>
          </p:cNvSpPr>
          <p:nvPr>
            <p:ph type="sldNum" sz="quarter" idx="5"/>
          </p:nvPr>
        </p:nvSpPr>
        <p:spPr/>
        <p:txBody>
          <a:bodyPr/>
          <a:lstStyle/>
          <a:p>
            <a:fld id="{59691FEA-A84D-408B-A0F6-3F1C538FC592}" type="slidenum">
              <a:rPr lang="en-US" smtClean="0"/>
              <a:t>28</a:t>
            </a:fld>
            <a:endParaRPr lang="en-US"/>
          </a:p>
        </p:txBody>
      </p:sp>
    </p:spTree>
    <p:extLst>
      <p:ext uri="{BB962C8B-B14F-4D97-AF65-F5344CB8AC3E}">
        <p14:creationId xmlns:p14="http://schemas.microsoft.com/office/powerpoint/2010/main" val="27668638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reads a health model's configuration in a fixed order: the model, its entities and relationship direction, one signal's query, window and thresholds, and finally the aggregation and missing-data behaviour. The goal is that every coloured state can be traced to a named signal and rule.
In the lab, the health model hm-tplabs-cas26-service-cus-01 holds the full IIC Hybrid Orders tree: the service, its three commitments and their components.
A useful review habit: if any threshold cannot be explained in one sentence, or any state has no signal behind it, record that as a gap in the model.</a:t>
            </a:r>
          </a:p>
          <a:p>
            <a:endParaRPr lang="en-US"/>
          </a:p>
          <a:p>
            <a:r>
              <a:rPr lang="en-US"/>
              <a:t>[Sources]</a:t>
            </a:r>
          </a:p>
          <a:p>
            <a:r>
              <a:rPr lang="en-US"/>
              <a:t>- https://learn.microsoft.com/en-us/azure/azure-monitor/health-models/designer</a:t>
            </a:r>
          </a:p>
          <a:p>
            <a:r>
              <a:rPr lang="en-US"/>
              <a:t>- https://learn.microsoft.com/en-us/azure/azure-monitor/health-models/signals</a:t>
            </a:r>
          </a:p>
          <a:p>
            <a:r>
              <a:rPr lang="en-US"/>
              <a:t>- https://learn.microsoft.com/en-us/azure/azure-monitor/health-models/rollup</a:t>
            </a:r>
          </a:p>
        </p:txBody>
      </p:sp>
      <p:sp>
        <p:nvSpPr>
          <p:cNvPr id="4" name="Slide Number Placeholder 3"/>
          <p:cNvSpPr>
            <a:spLocks noGrp="1"/>
          </p:cNvSpPr>
          <p:nvPr>
            <p:ph type="sldNum" sz="quarter" idx="5"/>
          </p:nvPr>
        </p:nvSpPr>
        <p:spPr/>
        <p:txBody>
          <a:bodyPr/>
          <a:lstStyle/>
          <a:p>
            <a:fld id="{59691FEA-A84D-408B-A0F6-3F1C538FC592}" type="slidenum">
              <a:rPr lang="en-US" smtClean="0"/>
              <a:t>29</a:t>
            </a:fld>
            <a:endParaRPr lang="en-US"/>
          </a:p>
        </p:txBody>
      </p:sp>
    </p:spTree>
    <p:extLst>
      <p:ext uri="{BB962C8B-B14F-4D97-AF65-F5344CB8AC3E}">
        <p14:creationId xmlns:p14="http://schemas.microsoft.com/office/powerpoint/2010/main" val="8280865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explains a health model's current state from evidence upward. It starts with current stage records and their timestamps, evaluates the signal's rule against them, follows aggregation to the commitment, and traces propagation to the service. In the IIC design, failed AWS stages with FailureMode marvin explain an Unhealthy AWS fulfillment entity, which makes the commitment that customers can complete an order Unhealthy.
A complete explanation states four things: the state, the evidence behind it, the evaluation window, and the limits of what the state proves. If evidence is stale or insufficient, the correct answer is Unknown rather than a forced colour. Before reading the live state, predict it: with the marvin fault, AWS fulfillment is Unhealthy, its Standard impact makes the order commitment Unhealthy, and the root, using Worst of, becomes Unhealthy. The demonstration then checks the prediction against the evidence.</a:t>
            </a:r>
          </a:p>
          <a:p>
            <a:endParaRPr lang="en-US"/>
          </a:p>
          <a:p>
            <a:r>
              <a:rPr lang="en-US"/>
              <a:t>[Sources]</a:t>
            </a:r>
          </a:p>
          <a:p>
            <a:r>
              <a:rPr lang="en-US"/>
              <a:t>- https://learn.microsoft.com/en-us/azure/azure-monitor/health-models/analyze-health</a:t>
            </a:r>
          </a:p>
          <a:p>
            <a:r>
              <a:rPr lang="en-US"/>
              <a:t>- https://learn.microsoft.com/en-us/azure/azure-monitor/health-models/signals</a:t>
            </a:r>
          </a:p>
          <a:p>
            <a:r>
              <a:rPr lang="en-US"/>
              <a:t>- https://learn.microsoft.com/en-us/azure/azure-monitor/logs/log-query-overview</a:t>
            </a:r>
          </a:p>
        </p:txBody>
      </p:sp>
      <p:sp>
        <p:nvSpPr>
          <p:cNvPr id="4" name="Slide Number Placeholder 3"/>
          <p:cNvSpPr>
            <a:spLocks noGrp="1"/>
          </p:cNvSpPr>
          <p:nvPr>
            <p:ph type="sldNum" sz="quarter" idx="5"/>
          </p:nvPr>
        </p:nvSpPr>
        <p:spPr/>
        <p:txBody>
          <a:bodyPr/>
          <a:lstStyle/>
          <a:p>
            <a:fld id="{59691FEA-A84D-408B-A0F6-3F1C538FC592}" type="slidenum">
              <a:rPr lang="en-US" smtClean="0"/>
              <a:t>30</a:t>
            </a:fld>
            <a:endParaRPr lang="en-US"/>
          </a:p>
        </p:txBody>
      </p:sp>
    </p:spTree>
    <p:extLst>
      <p:ext uri="{BB962C8B-B14F-4D97-AF65-F5344CB8AC3E}">
        <p14:creationId xmlns:p14="http://schemas.microsoft.com/office/powerpoint/2010/main" val="38829130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5 of 6, Respond and prove recovery, answers one question: Who acts, and how do we prove the service recovered? It covers alerts that carry context instead of alert sprawl, and recovery proven with fresh orders rather than a closed ticket. It is here because an alert only starts the work; recovery is a new observation, not a closed ticket. Its part of observability is owner, bounded action, verified recovery. The section opens with this intro slide so you know the question before the content, and every slide in it carries the same colour tag in its title band.</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31</a:t>
            </a:fld>
            <a:endParaRPr lang="en-US"/>
          </a:p>
        </p:txBody>
      </p:sp>
    </p:spTree>
    <p:extLst>
      <p:ext uri="{BB962C8B-B14F-4D97-AF65-F5344CB8AC3E}">
        <p14:creationId xmlns:p14="http://schemas.microsoft.com/office/powerpoint/2010/main" val="300340502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alert is useful when it carries context to an accountable owner. The condition should be meaningful, such as a customer commitment or signal changing state, rather than every resource threshold. The alert should carry the service, component, evidence, freshness and a correlation ID so the responder can start from the affected order. It should reach a named owner with the permission to act and a runbook.
The alert starts work; it is not the outcome. The outcome is a verified recovery of the service.
A configured alert rule does not prove that a notification was delivered. Action groups should be tested end to end. Azure Monitor health model alerts fire on entity state changes and use the same action groups as other Azure Monitor alerts.
Alert fatigue is shown here, not only named. The controlled AWS fault from earlier in the session could, without a health model, trigger several independent per-signal alerts for one root cause: a stage-failure query, a queue-depth threshold, a latency threshold, none carrying the others' context. With the health model, one entity alert on the order commitment fires once per state change instead, through the same action group, and resolves itself when the entity is healthy again. Existing resource alert rules keep firing until they are disabled. When moving to health model alerts, run the old rules and the new entity alert side by side, then retire each old rule once the entity alert has proven itself. The owner is also the answer to alert noise from systems other teams manage: an alert that carries an owner goes to the team that can act, and an alert with no owner is not yours. Before: a flood of alerts plus three separate rules for one fault. After: one entity alert on the commitment, with a named owner, that fires once per state change and resolves itself.</a:t>
            </a:r>
          </a:p>
          <a:p>
            <a:endParaRPr lang="en-US"/>
          </a:p>
          <a:p>
            <a:r>
              <a:rPr lang="en-US"/>
              <a:t>[Sources]</a:t>
            </a:r>
          </a:p>
          <a:p>
            <a:r>
              <a:rPr lang="en-US"/>
              <a:t>- https://learn.microsoft.com/en-us/azure/azure-monitor/alerts/alerts-overview</a:t>
            </a:r>
          </a:p>
          <a:p>
            <a:r>
              <a:rPr lang="en-US"/>
              <a:t>- https://learn.microsoft.com/en-us/azure/azure-monitor/alerts/action-groups</a:t>
            </a:r>
          </a:p>
          <a:p>
            <a:r>
              <a:rPr lang="en-US"/>
              <a:t>- https://learn.microsoft.com/en-us/azure/azure-monitor/health-models/alerts</a:t>
            </a:r>
          </a:p>
        </p:txBody>
      </p:sp>
      <p:sp>
        <p:nvSpPr>
          <p:cNvPr id="4" name="Slide Number Placeholder 3"/>
          <p:cNvSpPr>
            <a:spLocks noGrp="1"/>
          </p:cNvSpPr>
          <p:nvPr>
            <p:ph type="sldNum" sz="quarter" idx="5"/>
          </p:nvPr>
        </p:nvSpPr>
        <p:spPr/>
        <p:txBody>
          <a:bodyPr/>
          <a:lstStyle/>
          <a:p>
            <a:fld id="{59691FEA-A84D-408B-A0F6-3F1C538FC592}" type="slidenum">
              <a:rPr lang="en-US" smtClean="0"/>
              <a:t>32</a:t>
            </a:fld>
            <a:endParaRPr lang="en-US"/>
          </a:p>
        </p:txBody>
      </p:sp>
    </p:spTree>
    <p:extLst>
      <p:ext uri="{BB962C8B-B14F-4D97-AF65-F5344CB8AC3E}">
        <p14:creationId xmlns:p14="http://schemas.microsoft.com/office/powerpoint/2010/main" val="19981228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Recovery follows one loop: see it (the service view says an order commitment is Unhealthy), explain it (the model names the entity and the signal), fix it (one bounded change by the owner of that part), prove it (fresh orders complete and nothing is left waiting in the queue), and watch it catch up (the model and the alert recover later). Four clocks are involved: the order result, the record arriving in the workspace (typically 30 seconds to 2 minutes on the agent route), the model re-evaluating on its window, and the alert resolving on its frequency, which for log search alerts ranges from one minute to 24 hours. Capture a timestamp at every layer. The fulfillment owner makes the change; the service owner declares the service recovered. A successful command proves execution, not customer recovery.</a:t>
            </a:r>
          </a:p>
          <a:p>
            <a:endParaRPr lang="en-US"/>
          </a:p>
          <a:p>
            <a:r>
              <a:rPr lang="en-US"/>
              <a:t>[Sources]</a:t>
            </a:r>
          </a:p>
          <a:p>
            <a:r>
              <a:rPr lang="en-US"/>
              <a:t>- Microsoft Learn: Azure Monitor Agent ingestion latency</a:t>
            </a:r>
          </a:p>
          <a:p>
            <a:r>
              <a:rPr lang="en-US"/>
              <a:t>- Microsoft Learn: log search alert rule frequency (1 minute to 24 hours)</a:t>
            </a:r>
          </a:p>
          <a:p>
            <a:r>
              <a:rPr lang="en-US"/>
              <a:t>- Demo runbook M03 stage 2</a:t>
            </a:r>
          </a:p>
        </p:txBody>
      </p:sp>
      <p:sp>
        <p:nvSpPr>
          <p:cNvPr id="4" name="Slide Number Placeholder 3"/>
          <p:cNvSpPr>
            <a:spLocks noGrp="1"/>
          </p:cNvSpPr>
          <p:nvPr>
            <p:ph type="sldNum" sz="quarter" idx="5"/>
          </p:nvPr>
        </p:nvSpPr>
        <p:spPr/>
        <p:txBody>
          <a:bodyPr/>
          <a:lstStyle/>
          <a:p>
            <a:fld id="{59691FEA-A84D-408B-A0F6-3F1C538FC592}" type="slidenum">
              <a:rPr lang="en-US" smtClean="0"/>
              <a:t>33</a:t>
            </a:fld>
            <a:endParaRPr lang="en-US"/>
          </a:p>
        </p:txBody>
      </p:sp>
    </p:spTree>
    <p:extLst>
      <p:ext uri="{BB962C8B-B14F-4D97-AF65-F5344CB8AC3E}">
        <p14:creationId xmlns:p14="http://schemas.microsoft.com/office/powerpoint/2010/main" val="299152513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completes the controlled fault runbook. The AWS worker is set back to Healthy, which proves only that the setting changed. A new demo-tagged order is then placed, and its stage records must show every stage present and the order completed, under a new correlation ID.
After that, the health model and alert catch up on their own schedules: AWS fulfillment returns to Healthy, the order-completion commitment follows, and the alert resolves. The expected evidence is the new correlation ID, the completed order, and the later model and alert states with their timestamps.
Recovery is a new observation, not a reused success screenshot. The fault affected demo-tagged orders only. The recovery demonstration places several new orders and checks that all complete and nothing is left waiting in the queue before checking the model and the alert.</a:t>
            </a:r>
          </a:p>
          <a:p>
            <a:endParaRPr lang="en-US"/>
          </a:p>
          <a:p>
            <a:r>
              <a:rPr lang="en-US"/>
              <a:t>[Sources]</a:t>
            </a:r>
          </a:p>
          <a:p>
            <a:r>
              <a:rPr lang="en-US"/>
              <a:t>- https://learn.microsoft.com/en-us/azure/azure-monitor/health-models/analyze-health</a:t>
            </a:r>
          </a:p>
          <a:p>
            <a:r>
              <a:rPr lang="en-US"/>
              <a:t>- https://learn.microsoft.com/en-us/azure/azure-monitor/alerts/alerts-overview</a:t>
            </a:r>
          </a:p>
          <a:p>
            <a:r>
              <a:rPr lang="en-US"/>
              <a:t>- https://learn.microsoft.com/en-us/azure/azure-monitor/logs/data-ingestion-time</a:t>
            </a:r>
          </a:p>
        </p:txBody>
      </p:sp>
      <p:sp>
        <p:nvSpPr>
          <p:cNvPr id="4" name="Slide Number Placeholder 3"/>
          <p:cNvSpPr>
            <a:spLocks noGrp="1"/>
          </p:cNvSpPr>
          <p:nvPr>
            <p:ph type="sldNum" sz="quarter" idx="5"/>
          </p:nvPr>
        </p:nvSpPr>
        <p:spPr/>
        <p:txBody>
          <a:bodyPr/>
          <a:lstStyle/>
          <a:p>
            <a:fld id="{59691FEA-A84D-408B-A0F6-3F1C538FC592}" type="slidenum">
              <a:rPr lang="en-US" smtClean="0"/>
              <a:t>34</a:t>
            </a:fld>
            <a:endParaRPr lang="en-US"/>
          </a:p>
        </p:txBody>
      </p:sp>
    </p:spTree>
    <p:extLst>
      <p:ext uri="{BB962C8B-B14F-4D97-AF65-F5344CB8AC3E}">
        <p14:creationId xmlns:p14="http://schemas.microsoft.com/office/powerpoint/2010/main" val="26902587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6 of 6, Keep it affordable and useful, answers one question: What does the evidence cost, and how do we keep the view useful? It covers coverage, volume and retention trade-offs with real lab numbers; the freshness-and-cost demo; the operating cycle, including collecting the same thing twice. It is here because observability nobody can afford or maintain decays; every signal needs a question and an owner. Its part of observability is keeping it true over time. The section opens with this intro slide so you know the question before the content, and every slide in it carries the same colour tag in its title band.</a:t>
            </a:r>
          </a:p>
          <a:p>
            <a:endParaRPr lang="en-US"/>
          </a:p>
          <a:p>
            <a:r>
              <a:rPr lang="en-US"/>
              <a:t>[Sources]</a:t>
            </a:r>
          </a:p>
          <a:p>
            <a:r>
              <a:rPr lang="en-US"/>
              <a:t>- Session structure (agenda slide).</a:t>
            </a:r>
          </a:p>
        </p:txBody>
      </p:sp>
      <p:sp>
        <p:nvSpPr>
          <p:cNvPr id="4" name="Slide Number Placeholder 3"/>
          <p:cNvSpPr>
            <a:spLocks noGrp="1"/>
          </p:cNvSpPr>
          <p:nvPr>
            <p:ph type="sldNum" sz="quarter" idx="5"/>
          </p:nvPr>
        </p:nvSpPr>
        <p:spPr/>
        <p:txBody>
          <a:bodyPr/>
          <a:lstStyle/>
          <a:p>
            <a:fld id="{59691FEA-A84D-408B-A0F6-3F1C538FC592}" type="slidenum">
              <a:rPr lang="en-US" smtClean="0"/>
              <a:t>35</a:t>
            </a:fld>
            <a:endParaRPr lang="en-US"/>
          </a:p>
        </p:txBody>
      </p:sp>
    </p:spTree>
    <p:extLst>
      <p:ext uri="{BB962C8B-B14F-4D97-AF65-F5344CB8AC3E}">
        <p14:creationId xmlns:p14="http://schemas.microsoft.com/office/powerpoint/2010/main" val="18881219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Evidence involves a trade-off between coverage (the questions that can be answered), volume and cost, and retention. The main Azure Monitor meters are Log Analytics ingestion per GB, which varies by table plan (Analytics, Basic or Auxiliary); retention beyond the included period, billed per GB per month; Azure Monitor workspace metrics, billed by samples ingested and queried; and alert rules, billed by rule type and the number of time series monitored. Basic and Auxiliary plans lower ingestion cost but add query charges and limit features.
Current prices change and vary by region, so check the Azure Monitor pricing page before estimating money.
A decision record keeps reductions safe: for each signal, record the question it answers, its owner, grain, retention, the meter it affects, and the blind spot accepted if it is reduced. In the lab, seven days of data came to 8.1 GB of billable ingestion, led by Perf (1.41 GB), AppTraces (1.25 GB) and ContainerInventory (1.21 GB), while the order stage records that answer the customer question were only 0.011 GB. Cost decisions should start with the high-volume tables, not with the evidence that answers the service question.</a:t>
            </a:r>
          </a:p>
          <a:p>
            <a:endParaRPr lang="en-US"/>
          </a:p>
          <a:p>
            <a:r>
              <a:rPr lang="en-US"/>
              <a:t>[Sources]</a:t>
            </a:r>
          </a:p>
          <a:p>
            <a:r>
              <a:rPr lang="en-US"/>
              <a:t>- https://learn.microsoft.com/en-us/azure/azure-monitor/fundamentals/cost-usage</a:t>
            </a:r>
          </a:p>
          <a:p>
            <a:r>
              <a:rPr lang="en-US"/>
              <a:t>- https://learn.microsoft.com/en-us/azure/azure-monitor/fundamentals/cost-meters</a:t>
            </a:r>
          </a:p>
          <a:p>
            <a:r>
              <a:rPr lang="en-US"/>
              <a:t>- https://learn.microsoft.com/en-us/azure/azure-monitor/logs/cost-logs</a:t>
            </a:r>
          </a:p>
          <a:p>
            <a:r>
              <a:rPr lang="en-US"/>
              <a:t>- https://learn.microsoft.com/en-us/azure/azure-monitor/logs/data-platform-logs</a:t>
            </a:r>
          </a:p>
          <a:p>
            <a:r>
              <a:rPr lang="en-US"/>
              <a:t>- https://learn.microsoft.com/en-us/azure/azure-monitor/logs/data-retention-configure</a:t>
            </a:r>
          </a:p>
        </p:txBody>
      </p:sp>
      <p:sp>
        <p:nvSpPr>
          <p:cNvPr id="4" name="Slide Number Placeholder 3"/>
          <p:cNvSpPr>
            <a:spLocks noGrp="1"/>
          </p:cNvSpPr>
          <p:nvPr>
            <p:ph type="sldNum" sz="quarter" idx="5"/>
          </p:nvPr>
        </p:nvSpPr>
        <p:spPr/>
        <p:txBody>
          <a:bodyPr/>
          <a:lstStyle/>
          <a:p>
            <a:fld id="{59691FEA-A84D-408B-A0F6-3F1C538FC592}" type="slidenum">
              <a:rPr lang="en-US" smtClean="0"/>
              <a:t>36</a:t>
            </a:fld>
            <a:endParaRPr lang="en-US"/>
          </a:p>
        </p:txBody>
      </p:sp>
    </p:spTree>
    <p:extLst>
      <p:ext uri="{BB962C8B-B14F-4D97-AF65-F5344CB8AC3E}">
        <p14:creationId xmlns:p14="http://schemas.microsoft.com/office/powerpoint/2010/main" val="42210094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service view stays useful only through an explicit operating cycle. Inventory the expected sources and their cadences. Measure volume and freshness on a schedule. Tune signals, windows and routes, including thresholds that are too noisy or never fire. Review alert noise and any customer impact that monitoring missed. Keep owners, runbooks and escalation paths current.
The cycle should repeat whenever the architecture, owners or expectations change, for example when a new cloud origin or worker is added to the service.
Retirement is part of the cycle: stale queries, unused tables, orphaned alert rules and legacy agents add cost and confusion if left in place. Coverage, tuning and ownership are ongoing maintenance work, not a one-time project. The most common waste is the same source collected by two overlapping routes, which produces duplicated records, conflicting charts and double alerts; inventory the routes before adding another one.</a:t>
            </a:r>
          </a:p>
          <a:p>
            <a:endParaRPr lang="en-US"/>
          </a:p>
          <a:p>
            <a:r>
              <a:rPr lang="en-US"/>
              <a:t>[Sources]</a:t>
            </a:r>
          </a:p>
          <a:p>
            <a:r>
              <a:rPr lang="en-US"/>
              <a:t>- https://learn.microsoft.com/en-us/azure/azure-monitor/fundamentals/best-practices-cost</a:t>
            </a:r>
          </a:p>
          <a:p>
            <a:r>
              <a:rPr lang="en-US"/>
              <a:t>- https://learn.microsoft.com/en-us/azure/azure-monitor/health-models/health-modeling</a:t>
            </a:r>
          </a:p>
          <a:p>
            <a:r>
              <a:rPr lang="en-US"/>
              <a:t>- https://learn.microsoft.com/en-us/azure/azure-monitor/logs/analyze-usage</a:t>
            </a:r>
          </a:p>
        </p:txBody>
      </p:sp>
      <p:sp>
        <p:nvSpPr>
          <p:cNvPr id="4" name="Slide Number Placeholder 3"/>
          <p:cNvSpPr>
            <a:spLocks noGrp="1"/>
          </p:cNvSpPr>
          <p:nvPr>
            <p:ph type="sldNum" sz="quarter" idx="5"/>
          </p:nvPr>
        </p:nvSpPr>
        <p:spPr/>
        <p:txBody>
          <a:bodyPr/>
          <a:lstStyle/>
          <a:p>
            <a:fld id="{59691FEA-A84D-408B-A0F6-3F1C538FC592}" type="slidenum">
              <a:rPr lang="en-US" smtClean="0"/>
              <a:t>37</a:t>
            </a:fld>
            <a:endParaRPr lang="en-US"/>
          </a:p>
        </p:txBody>
      </p:sp>
    </p:spTree>
    <p:extLst>
      <p:ext uri="{BB962C8B-B14F-4D97-AF65-F5344CB8AC3E}">
        <p14:creationId xmlns:p14="http://schemas.microsoft.com/office/powerpoint/2010/main" val="10944021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checks evidence freshness and cost boundaries. It queries the most recent timestamp for each source and stage, for example Heartbeat and Perf from Arc-connected machines and the newest application stage records, and compares each with its expected cadence. Silence has several possible causes: no traffic, wrong scope, collection failure, route failure or an unavailable component.
It then summarises billable volume by table using the workspace Usage data, and records one reduction decision: the signal, the question it answers, its owner, grain, retention, meter and the blind spot accepted.
The expected evidence is freshness per source, volume by table and one recorded decision.</a:t>
            </a:r>
          </a:p>
          <a:p>
            <a:endParaRPr lang="en-US"/>
          </a:p>
          <a:p>
            <a:r>
              <a:rPr lang="en-US"/>
              <a:t>[Sources]</a:t>
            </a:r>
          </a:p>
          <a:p>
            <a:r>
              <a:rPr lang="en-US"/>
              <a:t>- https://learn.microsoft.com/en-us/azure/azure-monitor/logs/analyze-usage</a:t>
            </a:r>
          </a:p>
          <a:p>
            <a:r>
              <a:rPr lang="en-US"/>
              <a:t>- https://learn.microsoft.com/en-us/azure/azure-monitor/logs/data-ingestion-time</a:t>
            </a:r>
          </a:p>
          <a:p>
            <a:r>
              <a:rPr lang="en-US"/>
              <a:t>- https://learn.microsoft.com/en-us/azure/azure-monitor/logs/cost-logs</a:t>
            </a:r>
          </a:p>
        </p:txBody>
      </p:sp>
      <p:sp>
        <p:nvSpPr>
          <p:cNvPr id="4" name="Slide Number Placeholder 3"/>
          <p:cNvSpPr>
            <a:spLocks noGrp="1"/>
          </p:cNvSpPr>
          <p:nvPr>
            <p:ph type="sldNum" sz="quarter" idx="5"/>
          </p:nvPr>
        </p:nvSpPr>
        <p:spPr/>
        <p:txBody>
          <a:bodyPr/>
          <a:lstStyle/>
          <a:p>
            <a:fld id="{59691FEA-A84D-408B-A0F6-3F1C538FC592}" type="slidenum">
              <a:rPr lang="en-US" smtClean="0"/>
              <a:t>38</a:t>
            </a:fld>
            <a:endParaRPr lang="en-US"/>
          </a:p>
        </p:txBody>
      </p:sp>
    </p:spTree>
    <p:extLst>
      <p:ext uri="{BB962C8B-B14F-4D97-AF65-F5344CB8AC3E}">
        <p14:creationId xmlns:p14="http://schemas.microsoft.com/office/powerpoint/2010/main" val="16254685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session opened with a team meeting that proposed a new monitoring tool just for the team's labs, starting on-premises across two datacenters. The answer, with what the session showed: define the service first (a lab, like an order, needs parts in more than one place); see every part (Azure Arc put the AWS and on-premises workers in the same workspace as Azure, one single pane of glass, and the evidence was proved to arrive); read impact from the people using it down (in the controlled fault the machines were healthy while every order failed); prove recovery with fresh evidence and let the dashboards catch up. IIC Hybrid Orders was the stand-in; the labs are the same shape. Same data, bigger question. Monitoring tells you a server is up; observability tells you whether the customer was served, wherever the service runs.</a:t>
            </a:r>
          </a:p>
          <a:p>
            <a:endParaRPr lang="en-US"/>
          </a:p>
          <a:p>
            <a:r>
              <a:rPr lang="en-US"/>
              <a:t>[Sources]</a:t>
            </a:r>
          </a:p>
          <a:p>
            <a:r>
              <a:rPr lang="en-US"/>
              <a:t>- Session structure.</a:t>
            </a:r>
          </a:p>
        </p:txBody>
      </p:sp>
      <p:sp>
        <p:nvSpPr>
          <p:cNvPr id="4" name="Slide Number Placeholder 3"/>
          <p:cNvSpPr>
            <a:spLocks noGrp="1"/>
          </p:cNvSpPr>
          <p:nvPr>
            <p:ph type="sldNum" sz="quarter" idx="5"/>
          </p:nvPr>
        </p:nvSpPr>
        <p:spPr/>
        <p:txBody>
          <a:bodyPr/>
          <a:lstStyle/>
          <a:p>
            <a:fld id="{59691FEA-A84D-408B-A0F6-3F1C538FC592}" type="slidenum">
              <a:rPr lang="en-US" smtClean="0"/>
              <a:t>39</a:t>
            </a:fld>
            <a:endParaRPr lang="en-US"/>
          </a:p>
        </p:txBody>
      </p:sp>
    </p:spTree>
    <p:extLst>
      <p:ext uri="{BB962C8B-B14F-4D97-AF65-F5344CB8AC3E}">
        <p14:creationId xmlns:p14="http://schemas.microsoft.com/office/powerpoint/2010/main" val="28123432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 session materials are in the presenter's public repository. It holds the handouts, the KQL queries, the five demonstration runbooks and the IIC Hybrid Orders design. The contact details on the slide are the best way to follow up.</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6757113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Three related sessions, all in Clarity, Central time: Thursday October 1 at 1:15 PM, From On-Prem to Cloud-Native (John Smith); Thursday October 1 at 3:00 PM, Engineering for Reliability and Stability in the Azure Messaging Services (Eldert Grootenboer); Friday October 2 at 3:00 PM, Integrate Azure Monitor alerts from servers with your ITSM system (John Joyner). Check the current event schedule, as rooms and times can change.</a:t>
            </a:r>
          </a:p>
          <a:p>
            <a:endParaRPr lang="en-US"/>
          </a:p>
          <a:p>
            <a:r>
              <a:rPr lang="en-US"/>
              <a:t>[Sources]</a:t>
            </a:r>
          </a:p>
          <a:p>
            <a:r>
              <a:rPr lang="en-US"/>
              <a:t>- Presenter contract and repository implementation.</a:t>
            </a:r>
          </a:p>
        </p:txBody>
      </p:sp>
    </p:spTree>
    <p:extLst>
      <p:ext uri="{BB962C8B-B14F-4D97-AF65-F5344CB8AC3E}">
        <p14:creationId xmlns:p14="http://schemas.microsoft.com/office/powerpoint/2010/main" val="27403263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StratoLens is a sponsor of Cloud &amp; AI Summit 2026 whose product is on this session's topic for the Azure side of an estate. In their words: change observability for Azure, self-hosted in your own tenant and deployed from the Azure Marketplace in under 15 minutes, with change tracking (what changed, who changed it and when), cost anomaly detection and orphaned resources, access optimisation for stale and over-privileged role assignments, network topology and Azure Policy change tracking. Where it fits this session: the change, cost and access half of the evidence, on the Azure side; it is Azure only today, and this session also covered AWS and on-premises. Observability is a practice, not one product. Details: getstratolens.com and the event's sponsor page.</a:t>
            </a:r>
          </a:p>
          <a:p>
            <a:endParaRPr lang="en-US"/>
          </a:p>
          <a:p>
            <a:r>
              <a:rPr lang="en-US"/>
              <a:t>[Sources]</a:t>
            </a:r>
          </a:p>
          <a:p>
            <a:r>
              <a:rPr lang="en-US"/>
              <a:t>- cloudandaisummit.com sponsor detail page for StratoLens (read 2026-10-01)</a:t>
            </a:r>
          </a:p>
          <a:p>
            <a:r>
              <a:rPr lang="en-US"/>
              <a:t>- getstratolens.com (read 2026-10-01)</a:t>
            </a:r>
          </a:p>
        </p:txBody>
      </p:sp>
      <p:sp>
        <p:nvSpPr>
          <p:cNvPr id="4" name="Slide Number Placeholder 3"/>
          <p:cNvSpPr>
            <a:spLocks noGrp="1"/>
          </p:cNvSpPr>
          <p:nvPr>
            <p:ph type="sldNum" sz="quarter" idx="5"/>
          </p:nvPr>
        </p:nvSpPr>
        <p:spPr/>
        <p:txBody>
          <a:bodyPr/>
          <a:lstStyle/>
          <a:p>
            <a:fld id="{59691FEA-A84D-408B-A0F6-3F1C538FC592}" type="slidenum">
              <a:rPr lang="en-US" smtClean="0"/>
              <a:t>42</a:t>
            </a:fld>
            <a:endParaRPr lang="en-US"/>
          </a:p>
        </p:txBody>
      </p:sp>
    </p:spTree>
    <p:extLst>
      <p:ext uri="{BB962C8B-B14F-4D97-AF65-F5344CB8AC3E}">
        <p14:creationId xmlns:p14="http://schemas.microsoft.com/office/powerpoint/2010/main" val="87592838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 closing discussion asks attendees which part of their estate is hardest to see or explain. Useful ways to frame any answer: name the customer commitment involved, the evidence that exists for it, how fresh that evidence is, and who owns the response.</a:t>
            </a:r>
          </a:p>
          <a:p>
            <a:endParaRPr lang="en-US"/>
          </a:p>
          <a:p>
            <a:r>
              <a:rPr lang="en-US"/>
              <a:t>[Sources]</a:t>
            </a:r>
          </a:p>
          <a:p>
            <a:r>
              <a:rPr lang="en-US"/>
              <a:t>- Presenter contract and repository implementation.</a:t>
            </a:r>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99391815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Thank you for attending this session on whole-service observability. Feedback for this session can be left through the QR code on the slide. All materials, including the handouts, queries, runbooks and the IIC Hybrid Orders design, are in the repository at github.com/thisismydemo/cas26.</a:t>
            </a:r>
          </a:p>
          <a:p>
            <a:endParaRPr lang="en-US"/>
          </a:p>
          <a:p>
            <a:r>
              <a:rPr lang="en-US"/>
              <a:t>[Sources]</a:t>
            </a:r>
          </a:p>
          <a:p>
            <a:r>
              <a:rPr lang="en-US"/>
              <a:t>- Presenter contract and repository implementation.</a:t>
            </a:r>
          </a:p>
        </p:txBody>
      </p:sp>
      <p:sp>
        <p:nvSpPr>
          <p:cNvPr id="4" name="Slide Number Placeholder 3"/>
          <p:cNvSpPr>
            <a:spLocks noGrp="1"/>
          </p:cNvSpPr>
          <p:nvPr>
            <p:ph type="sldNum" sz="quarter" idx="5"/>
          </p:nvPr>
        </p:nvSpPr>
        <p:spPr/>
        <p:txBody>
          <a:bodyPr/>
          <a:lstStyle/>
          <a:p>
            <a:fld id="{59691FEA-A84D-408B-A0F6-3F1C538FC592}" type="slidenum">
              <a:rPr lang="en-US" smtClean="0"/>
              <a:t>44</a:t>
            </a:fld>
            <a:endParaRPr lang="en-US"/>
          </a:p>
        </p:txBody>
      </p:sp>
    </p:spTree>
    <p:extLst>
      <p:ext uri="{BB962C8B-B14F-4D97-AF65-F5344CB8AC3E}">
        <p14:creationId xmlns:p14="http://schemas.microsoft.com/office/powerpoint/2010/main" val="2785387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C278E-0D15-6C81-8EF1-F444454EFA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7E4B34-1646-7CC1-A447-11971EEE7E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C8E93D-955A-39DA-3F86-7F6D615CC59A}"/>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42B3DE2A-4E54-3E5E-80D0-D261339FB8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53C1B-6BC3-702C-B335-E7A986D0EDB0}"/>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28137424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94B67-F6D1-50F4-323E-7FF9A6D114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DFC352-AA62-6EE3-B5D3-E85A723413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D1CAB6-4A7C-F94A-247F-771A90011B8C}"/>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026682D2-5A16-21D6-E707-C53453953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0AAEC-8F0D-A34D-E6B1-97061D3C4D47}"/>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41792794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4DD6C-46C1-22E5-CA04-33F727BFB9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6E64AB0-5B70-484C-457A-16C462642F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DA042F-FD84-8793-0ACB-9B5193071183}"/>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B784C8D9-3C02-2E79-8DBB-874E0D2010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ECFD8C-5506-F6D8-D699-6F809BC7E990}"/>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2998495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0EDC4-7432-DF75-B2BD-EC7749531E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6F77FA-9C6B-89F7-3A13-6A108D579A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353F64-3DE4-DF8E-07ED-9FAEFE4560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4153758-9D69-2868-5DCC-F104B858B3F5}"/>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6" name="Footer Placeholder 5">
            <a:extLst>
              <a:ext uri="{FF2B5EF4-FFF2-40B4-BE49-F238E27FC236}">
                <a16:creationId xmlns:a16="http://schemas.microsoft.com/office/drawing/2014/main" id="{A9C61F58-0AA6-2906-BD1D-48626BEAEF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74DE03-F130-7965-9A61-13AFC0604A99}"/>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784872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7E5BB-D761-CBF5-4F5A-9553FAD174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CDA435-28BE-90AF-5289-02CFE90F81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D8A7CD-91F1-6101-6BF9-A2FB8B45B9F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C50875-06B7-2531-EFE3-26D5D3B8AF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1D6DFE-0E22-A445-39CD-B99363DDAE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45B4F5-F427-7165-D877-84B0EB4DBD94}"/>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8" name="Footer Placeholder 7">
            <a:extLst>
              <a:ext uri="{FF2B5EF4-FFF2-40B4-BE49-F238E27FC236}">
                <a16:creationId xmlns:a16="http://schemas.microsoft.com/office/drawing/2014/main" id="{7A594B8F-7F3D-62BA-6B7F-52BCE64B02A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E428C6-0987-28F2-BC48-7E3532423A39}"/>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27102004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DB691-216B-4E00-2897-705B7C04FFD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65C919-6794-9CC1-7673-E531378FD197}"/>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4" name="Footer Placeholder 3">
            <a:extLst>
              <a:ext uri="{FF2B5EF4-FFF2-40B4-BE49-F238E27FC236}">
                <a16:creationId xmlns:a16="http://schemas.microsoft.com/office/drawing/2014/main" id="{A5885BD6-E99F-9697-AA57-13846839FF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AFDF18-749F-64A9-B20E-A2D321FD447C}"/>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3623619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64AA3C-04A6-5230-8C13-6A66548F3058}"/>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3" name="Footer Placeholder 2">
            <a:extLst>
              <a:ext uri="{FF2B5EF4-FFF2-40B4-BE49-F238E27FC236}">
                <a16:creationId xmlns:a16="http://schemas.microsoft.com/office/drawing/2014/main" id="{F43F7BAA-2203-D7EB-4D36-A2B48F3CB9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4110EA-BDFB-D8D8-4D6F-F48792893C4C}"/>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1525913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F790D-F9DF-3F61-8257-FE2345698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BC769B-5303-F13C-4CF4-4D0F4B052E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AE57FCC-635C-DA18-1876-921E764DB1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D27F71-B3BB-8219-2D1E-64B84AEA892B}"/>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6" name="Footer Placeholder 5">
            <a:extLst>
              <a:ext uri="{FF2B5EF4-FFF2-40B4-BE49-F238E27FC236}">
                <a16:creationId xmlns:a16="http://schemas.microsoft.com/office/drawing/2014/main" id="{025BC9FB-C913-0EDF-4129-94FBB1B47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3BCFE9-677F-6112-15AC-F3740FF23213}"/>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3507383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D9175A-313E-71FD-DF10-C73E7391F5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BF1A8D-846E-B0CF-95A2-240F97D8F1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ED190F2-CB10-EFFA-A704-47EC3027C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F06537-DA07-8740-E653-BD5A501C8FC4}"/>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6" name="Footer Placeholder 5">
            <a:extLst>
              <a:ext uri="{FF2B5EF4-FFF2-40B4-BE49-F238E27FC236}">
                <a16:creationId xmlns:a16="http://schemas.microsoft.com/office/drawing/2014/main" id="{5639BA8B-8C40-E12E-B046-53F7629D38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39AE98-133A-01ED-9713-C6AE5C7C0418}"/>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2060622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6FDA9-A87B-0D54-9B4D-F2A682DE11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4F8EDB-DC32-2408-641A-9179FF4FED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7773B2-A440-CE9F-8171-BD26FA66B746}"/>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3DCEB2AA-0B59-EE11-2831-E3F01262C6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8DBACC-F611-117C-76C5-6E9379D86C91}"/>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3511229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4E6CB6-BE46-D276-5367-589CEEBA30E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A8371-337D-4B19-5176-9BECF318EA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10F4A5-55A2-9683-888B-FC46BE63BA85}"/>
              </a:ext>
            </a:extLst>
          </p:cNvPr>
          <p:cNvSpPr>
            <a:spLocks noGrp="1"/>
          </p:cNvSpPr>
          <p:nvPr>
            <p:ph type="dt" sz="half" idx="10"/>
          </p:nvPr>
        </p:nvSpPr>
        <p:spPr/>
        <p:txBody>
          <a:body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52054990-3F60-2773-FD85-DA00D1FE2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84E380-9A48-53E8-BEA6-45249230C2F3}"/>
              </a:ext>
            </a:extLst>
          </p:cNvPr>
          <p:cNvSpPr>
            <a:spLocks noGrp="1"/>
          </p:cNvSpPr>
          <p:nvPr>
            <p:ph type="sldNum" sz="quarter" idx="12"/>
          </p:nvPr>
        </p:nvSpPr>
        <p:spPr/>
        <p:txBody>
          <a:bodyPr/>
          <a:lstStyle/>
          <a:p>
            <a:fld id="{0F09C6AA-AB49-4805-B49E-DC543268EC44}" type="slidenum">
              <a:rPr lang="en-US" smtClean="0"/>
              <a:t>‹#›</a:t>
            </a:fld>
            <a:endParaRPr lang="en-US"/>
          </a:p>
        </p:txBody>
      </p:sp>
    </p:spTree>
    <p:extLst>
      <p:ext uri="{BB962C8B-B14F-4D97-AF65-F5344CB8AC3E}">
        <p14:creationId xmlns:p14="http://schemas.microsoft.com/office/powerpoint/2010/main" val="12013074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DBDE36-3A63-2443-3493-ADE125E968C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5A6A81C-FB6A-5F6A-C644-E615F3B684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7370D6-37F4-1F3A-862E-23791DEE80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55B4BF-3A66-4CE5-9C95-60A46B46689E}" type="datetimeFigureOut">
              <a:rPr lang="en-US" smtClean="0"/>
              <a:t>10/1/2026</a:t>
            </a:fld>
            <a:endParaRPr lang="en-US"/>
          </a:p>
        </p:txBody>
      </p:sp>
      <p:sp>
        <p:nvSpPr>
          <p:cNvPr id="5" name="Footer Placeholder 4">
            <a:extLst>
              <a:ext uri="{FF2B5EF4-FFF2-40B4-BE49-F238E27FC236}">
                <a16:creationId xmlns:a16="http://schemas.microsoft.com/office/drawing/2014/main" id="{E6AC1294-A1AD-86D2-0B16-2416028F84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27E7ACF-FEE9-64E9-9A65-B5E4226D68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F09C6AA-AB49-4805-B49E-DC543268EC44}" type="slidenum">
              <a:rPr lang="en-US" smtClean="0"/>
              <a:t>‹#›</a:t>
            </a:fld>
            <a:endParaRPr lang="en-US"/>
          </a:p>
        </p:txBody>
      </p:sp>
    </p:spTree>
    <p:extLst>
      <p:ext uri="{BB962C8B-B14F-4D97-AF65-F5344CB8AC3E}">
        <p14:creationId xmlns:p14="http://schemas.microsoft.com/office/powerpoint/2010/main" val="2491592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1.xml"/><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hyperlink" Target="https://github.com/thisismydemo/cas2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A97649-C4D5-4168-9886-577F2F27298D}"/>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Block">
            <a:extLst>
              <a:ext uri="{FF2B5EF4-FFF2-40B4-BE49-F238E27FC236}">
                <a16:creationId xmlns:a16="http://schemas.microsoft.com/office/drawing/2014/main" id="{1EE51118-42A0-CDC5-3FDB-5BC434FAB552}"/>
              </a:ext>
            </a:extLst>
          </p:cNvPr>
          <p:cNvSpPr/>
          <p:nvPr/>
        </p:nvSpPr>
        <p:spPr>
          <a:xfrm>
            <a:off x="0" y="0"/>
            <a:ext cx="5461000" cy="6858000"/>
          </a:xfrm>
          <a:prstGeom prst="rect">
            <a:avLst/>
          </a:prstGeom>
          <a:solidFill>
            <a:srgbClr val="0F1A3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609600" rIns="304800" rtlCol="0" anchor="ctr"/>
          <a:lstStyle/>
          <a:p>
            <a:r>
              <a:rPr lang="en-US" sz="3400" b="1">
                <a:solidFill>
                  <a:srgbClr val="FFFFFF"/>
                </a:solidFill>
                <a:latin typeface="Calibri" panose="020F0502020204030204" pitchFamily="34" charset="0"/>
              </a:rPr>
              <a:t>Monitoring What</a:t>
            </a:r>
          </a:p>
          <a:p>
            <a:r>
              <a:rPr lang="en-US" sz="3400" b="1">
                <a:solidFill>
                  <a:srgbClr val="FFFFFF"/>
                </a:solidFill>
                <a:latin typeface="Calibri" panose="020F0502020204030204" pitchFamily="34" charset="0"/>
              </a:rPr>
              <a:t>Microsoft Doesn't Host</a:t>
            </a:r>
          </a:p>
          <a:p>
            <a:pPr>
              <a:spcBef>
                <a:spcPts val="1600"/>
              </a:spcBef>
            </a:pPr>
            <a:r>
              <a:rPr lang="en-US" sz="1900">
                <a:solidFill>
                  <a:srgbClr val="FFFFFF"/>
                </a:solidFill>
                <a:latin typeface="Calibri" panose="020F0502020204030204" pitchFamily="34" charset="0"/>
              </a:rPr>
              <a:t>Whole-Service Observability across Azure, AWS and On-Premises</a:t>
            </a:r>
          </a:p>
          <a:p>
            <a:pPr>
              <a:spcBef>
                <a:spcPts val="2000"/>
              </a:spcBef>
            </a:pPr>
            <a:r>
              <a:rPr lang="en-US" sz="1400">
                <a:solidFill>
                  <a:srgbClr val="FFFFFF"/>
                </a:solidFill>
                <a:latin typeface="Calibri" panose="020F0502020204030204" pitchFamily="34" charset="0"/>
              </a:rPr>
              <a:t>Kristopher Turner</a:t>
            </a:r>
          </a:p>
          <a:p>
            <a:r>
              <a:rPr lang="en-US" sz="1400">
                <a:solidFill>
                  <a:srgbClr val="FFFFFF"/>
                </a:solidFill>
                <a:latin typeface="Calibri" panose="020F0502020204030204" pitchFamily="34" charset="0"/>
              </a:rPr>
              <a:t>The Cloud &amp; AI Summit 2026  ·  October 1, 2026</a:t>
            </a:r>
          </a:p>
        </p:txBody>
      </p:sp>
      <p:sp>
        <p:nvSpPr>
          <p:cNvPr id="7" name="Rectangle 6">
            <a:extLst>
              <a:ext uri="{FF2B5EF4-FFF2-40B4-BE49-F238E27FC236}">
                <a16:creationId xmlns:a16="http://schemas.microsoft.com/office/drawing/2014/main" id="{658E62EE-783C-9172-A9B3-49DBA9A76554}"/>
              </a:ext>
            </a:extLst>
          </p:cNvPr>
          <p:cNvSpPr/>
          <p:nvPr/>
        </p:nvSpPr>
        <p:spPr>
          <a:xfrm>
            <a:off x="609600" y="1778000"/>
            <a:ext cx="889000" cy="63500"/>
          </a:xfrm>
          <a:prstGeom prst="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36A704D-EBA8-11A1-B080-0C49E83BE1AD}"/>
              </a:ext>
            </a:extLst>
          </p:cNvPr>
          <p:cNvSpPr/>
          <p:nvPr/>
        </p:nvSpPr>
        <p:spPr>
          <a:xfrm>
            <a:off x="6223000" y="1905000"/>
            <a:ext cx="101600" cy="711200"/>
          </a:xfrm>
          <a:prstGeom prst="rect">
            <a:avLst/>
          </a:prstGeom>
          <a:solidFill>
            <a:srgbClr val="0078D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F2E571D-0262-CDCD-D940-C3D0B780E061}"/>
              </a:ext>
            </a:extLst>
          </p:cNvPr>
          <p:cNvSpPr txBox="1"/>
          <p:nvPr/>
        </p:nvSpPr>
        <p:spPr>
          <a:xfrm>
            <a:off x="6502400" y="2057400"/>
            <a:ext cx="5080000" cy="430887"/>
          </a:xfrm>
          <a:prstGeom prst="rect">
            <a:avLst/>
          </a:prstGeom>
          <a:noFill/>
        </p:spPr>
        <p:txBody>
          <a:bodyPr vert="horz" wrap="square" lIns="25400" rIns="25400" rtlCol="0">
            <a:spAutoFit/>
          </a:bodyPr>
          <a:lstStyle/>
          <a:p>
            <a:r>
              <a:rPr lang="en-US" sz="2200" b="1">
                <a:solidFill>
                  <a:srgbClr val="F1F5FB"/>
                </a:solidFill>
                <a:latin typeface="Calibri" panose="020F0502020204030204" pitchFamily="34" charset="0"/>
              </a:rPr>
              <a:t>AZURE</a:t>
            </a:r>
          </a:p>
        </p:txBody>
      </p:sp>
      <p:sp>
        <p:nvSpPr>
          <p:cNvPr id="10" name="Rectangle 9">
            <a:extLst>
              <a:ext uri="{FF2B5EF4-FFF2-40B4-BE49-F238E27FC236}">
                <a16:creationId xmlns:a16="http://schemas.microsoft.com/office/drawing/2014/main" id="{00422712-0E08-FEC7-2DCB-591E012896EE}"/>
              </a:ext>
            </a:extLst>
          </p:cNvPr>
          <p:cNvSpPr/>
          <p:nvPr/>
        </p:nvSpPr>
        <p:spPr>
          <a:xfrm>
            <a:off x="6223000" y="3048000"/>
            <a:ext cx="101600" cy="711200"/>
          </a:xfrm>
          <a:prstGeom prst="rect">
            <a:avLst/>
          </a:prstGeom>
          <a:solidFill>
            <a:srgbClr val="00B05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A9D32F4-034F-3BA9-C5E9-92940B6BCB9C}"/>
              </a:ext>
            </a:extLst>
          </p:cNvPr>
          <p:cNvSpPr txBox="1"/>
          <p:nvPr/>
        </p:nvSpPr>
        <p:spPr>
          <a:xfrm>
            <a:off x="6502400" y="3200400"/>
            <a:ext cx="5080000" cy="430887"/>
          </a:xfrm>
          <a:prstGeom prst="rect">
            <a:avLst/>
          </a:prstGeom>
          <a:noFill/>
        </p:spPr>
        <p:txBody>
          <a:bodyPr vert="horz" wrap="square" lIns="25400" rIns="25400" rtlCol="0">
            <a:spAutoFit/>
          </a:bodyPr>
          <a:lstStyle/>
          <a:p>
            <a:r>
              <a:rPr lang="en-US" sz="2200" b="1">
                <a:solidFill>
                  <a:srgbClr val="F1F5FB"/>
                </a:solidFill>
                <a:latin typeface="Calibri" panose="020F0502020204030204" pitchFamily="34" charset="0"/>
              </a:rPr>
              <a:t>ON-PREMISES PRIVATE CLOUD</a:t>
            </a:r>
          </a:p>
        </p:txBody>
      </p:sp>
      <p:sp>
        <p:nvSpPr>
          <p:cNvPr id="12" name="Rectangle 11">
            <a:extLst>
              <a:ext uri="{FF2B5EF4-FFF2-40B4-BE49-F238E27FC236}">
                <a16:creationId xmlns:a16="http://schemas.microsoft.com/office/drawing/2014/main" id="{EAB7502E-59F2-C73E-BBF1-01363B693232}"/>
              </a:ext>
            </a:extLst>
          </p:cNvPr>
          <p:cNvSpPr/>
          <p:nvPr/>
        </p:nvSpPr>
        <p:spPr>
          <a:xfrm>
            <a:off x="6223000" y="4191000"/>
            <a:ext cx="101600" cy="711200"/>
          </a:xfrm>
          <a:prstGeom prst="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D05E31B-9FC1-37C4-158A-7EB7003B6808}"/>
              </a:ext>
            </a:extLst>
          </p:cNvPr>
          <p:cNvSpPr txBox="1"/>
          <p:nvPr/>
        </p:nvSpPr>
        <p:spPr>
          <a:xfrm>
            <a:off x="6502400" y="4343400"/>
            <a:ext cx="5080000" cy="430887"/>
          </a:xfrm>
          <a:prstGeom prst="rect">
            <a:avLst/>
          </a:prstGeom>
          <a:noFill/>
        </p:spPr>
        <p:txBody>
          <a:bodyPr vert="horz" wrap="square" lIns="25400" rIns="25400" rtlCol="0">
            <a:spAutoFit/>
          </a:bodyPr>
          <a:lstStyle/>
          <a:p>
            <a:r>
              <a:rPr lang="en-US" sz="2200" b="1">
                <a:solidFill>
                  <a:srgbClr val="F1F5FB"/>
                </a:solidFill>
                <a:latin typeface="Calibri" panose="020F0502020204030204" pitchFamily="34" charset="0"/>
              </a:rPr>
              <a:t>AWS</a:t>
            </a:r>
          </a:p>
        </p:txBody>
      </p:sp>
      <p:sp>
        <p:nvSpPr>
          <p:cNvPr id="14" name="TextBox 13">
            <a:extLst>
              <a:ext uri="{FF2B5EF4-FFF2-40B4-BE49-F238E27FC236}">
                <a16:creationId xmlns:a16="http://schemas.microsoft.com/office/drawing/2014/main" id="{9671E80D-CB0A-C871-C97A-CA6ADA37DFFD}"/>
              </a:ext>
            </a:extLst>
          </p:cNvPr>
          <p:cNvSpPr txBox="1"/>
          <p:nvPr/>
        </p:nvSpPr>
        <p:spPr>
          <a:xfrm>
            <a:off x="6223000" y="5461000"/>
            <a:ext cx="5461000" cy="338554"/>
          </a:xfrm>
          <a:prstGeom prst="rect">
            <a:avLst/>
          </a:prstGeom>
          <a:noFill/>
        </p:spPr>
        <p:txBody>
          <a:bodyPr vert="horz" wrap="square" lIns="25400" rIns="25400" rtlCol="0">
            <a:spAutoFit/>
          </a:bodyPr>
          <a:lstStyle/>
          <a:p>
            <a:r>
              <a:rPr lang="en-US" sz="1600" b="1">
                <a:solidFill>
                  <a:srgbClr val="F1F5FB"/>
                </a:solidFill>
                <a:latin typeface="Calibri" panose="020F0502020204030204" pitchFamily="34" charset="0"/>
              </a:rPr>
              <a:t>One service. Three clouds. One view of its health.</a:t>
            </a:r>
          </a:p>
        </p:txBody>
      </p:sp>
    </p:spTree>
    <p:extLst>
      <p:ext uri="{BB962C8B-B14F-4D97-AF65-F5344CB8AC3E}">
        <p14:creationId xmlns:p14="http://schemas.microsoft.com/office/powerpoint/2010/main" val="2214306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61A126-35B6-A8A5-C706-B14D7884B59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SponsorBar" descr="CAS 2026 sponsors and #CloudAISummit2026">
            <a:extLst>
              <a:ext uri="{FF2B5EF4-FFF2-40B4-BE49-F238E27FC236}">
                <a16:creationId xmlns:a16="http://schemas.microsoft.com/office/drawing/2014/main" id="{F66305A9-2556-EB86-A69D-D6F8D48E7AA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5051618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8BDC9D-6039-5583-D398-F2048D6FBFA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758856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B7F172-F33E-A964-0372-BF8DB2746FC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B137E4C-3553-705C-E006-5BDF22CF666F}"/>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A392129-966D-AFC7-01EA-0C4C88BA4EB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Have you had discussions like this?</a:t>
            </a:r>
          </a:p>
        </p:txBody>
      </p:sp>
      <p:sp>
        <p:nvSpPr>
          <p:cNvPr id="5" name="Rectangle 4">
            <a:extLst>
              <a:ext uri="{FF2B5EF4-FFF2-40B4-BE49-F238E27FC236}">
                <a16:creationId xmlns:a16="http://schemas.microsoft.com/office/drawing/2014/main" id="{7B44C721-A447-64C4-649D-422DAE71ABF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EBB9EA1-5DAC-D20A-D601-CBE6C41865EC}"/>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A real team meeting about monitoring our lab environments.</a:t>
            </a:r>
          </a:p>
        </p:txBody>
      </p:sp>
      <p:pic>
        <p:nvPicPr>
          <p:cNvPr id="8" name="Picture 7">
            <a:extLst>
              <a:ext uri="{FF2B5EF4-FFF2-40B4-BE49-F238E27FC236}">
                <a16:creationId xmlns:a16="http://schemas.microsoft.com/office/drawing/2014/main" id="{5166CD97-ADE3-6B03-26BC-52F9961681F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93800" y="1676400"/>
            <a:ext cx="9804400" cy="4013200"/>
          </a:xfrm>
          <a:prstGeom prst="rect">
            <a:avLst/>
          </a:prstGeom>
        </p:spPr>
      </p:pic>
      <p:sp>
        <p:nvSpPr>
          <p:cNvPr id="9" name="Rectangle: Rounded Corners 8">
            <a:extLst>
              <a:ext uri="{FF2B5EF4-FFF2-40B4-BE49-F238E27FC236}">
                <a16:creationId xmlns:a16="http://schemas.microsoft.com/office/drawing/2014/main" id="{24482A2D-9B68-705F-A800-A6E4639D0D16}"/>
              </a:ext>
            </a:extLst>
          </p:cNvPr>
          <p:cNvSpPr/>
          <p:nvPr/>
        </p:nvSpPr>
        <p:spPr>
          <a:xfrm>
            <a:off x="1193800" y="5842000"/>
            <a:ext cx="3048000" cy="304800"/>
          </a:xfrm>
          <a:prstGeom prst="roundRect">
            <a:avLst/>
          </a:prstGeom>
          <a:noFill/>
          <a:ln w="1524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FACC15"/>
                </a:solidFill>
                <a:latin typeface="Calibri" panose="020F0502020204030204" pitchFamily="34" charset="0"/>
              </a:rPr>
              <a:t>A NEW TOOL, JUST FOR OUR LABS</a:t>
            </a:r>
          </a:p>
        </p:txBody>
      </p:sp>
      <p:sp>
        <p:nvSpPr>
          <p:cNvPr id="10" name="Rectangle: Rounded Corners 9">
            <a:extLst>
              <a:ext uri="{FF2B5EF4-FFF2-40B4-BE49-F238E27FC236}">
                <a16:creationId xmlns:a16="http://schemas.microsoft.com/office/drawing/2014/main" id="{1DF32B7F-1D23-304B-459E-0BEF3F5299BD}"/>
              </a:ext>
            </a:extLst>
          </p:cNvPr>
          <p:cNvSpPr/>
          <p:nvPr/>
        </p:nvSpPr>
        <p:spPr>
          <a:xfrm>
            <a:off x="4394200" y="5842000"/>
            <a:ext cx="3454400" cy="304800"/>
          </a:xfrm>
          <a:prstGeom prst="roundRect">
            <a:avLst/>
          </a:prstGeom>
          <a:noFill/>
          <a:ln w="1524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FACC15"/>
                </a:solidFill>
                <a:latin typeface="Calibri" panose="020F0502020204030204" pitchFamily="34" charset="0"/>
              </a:rPr>
              <a:t>ON-PREMISES FIRST, TWO DATACENTERS</a:t>
            </a:r>
          </a:p>
        </p:txBody>
      </p:sp>
      <p:sp>
        <p:nvSpPr>
          <p:cNvPr id="11" name="Rectangle: Rounded Corners 10">
            <a:extLst>
              <a:ext uri="{FF2B5EF4-FFF2-40B4-BE49-F238E27FC236}">
                <a16:creationId xmlns:a16="http://schemas.microsoft.com/office/drawing/2014/main" id="{6A5E3A98-45A8-9A6B-C098-9D1010C84A73}"/>
              </a:ext>
            </a:extLst>
          </p:cNvPr>
          <p:cNvSpPr/>
          <p:nvPr/>
        </p:nvSpPr>
        <p:spPr>
          <a:xfrm>
            <a:off x="8001000" y="5842000"/>
            <a:ext cx="3149600" cy="304800"/>
          </a:xfrm>
          <a:prstGeom prst="roundRect">
            <a:avLst/>
          </a:prstGeom>
          <a:noFill/>
          <a:ln w="1524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FACC15"/>
                </a:solidFill>
                <a:latin typeface="Calibri" panose="020F0502020204030204" pitchFamily="34" charset="0"/>
              </a:rPr>
              <a:t>ALERTS FOR THINGS WE DON'T OWN</a:t>
            </a:r>
          </a:p>
        </p:txBody>
      </p:sp>
      <p:pic>
        <p:nvPicPr>
          <p:cNvPr id="13" name="SponsorBar" descr="CAS 2026 sponsors and #CloudAISummit2026">
            <a:extLst>
              <a:ext uri="{FF2B5EF4-FFF2-40B4-BE49-F238E27FC236}">
                <a16:creationId xmlns:a16="http://schemas.microsoft.com/office/drawing/2014/main" id="{7378F761-D2AB-CD93-2348-8F533C6161B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52568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415D68-0FCE-148E-5CE3-5A2C87850DDC}"/>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691720C-A101-B182-4F07-9C87CD0B3962}"/>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3EE814-83E3-2B79-9A9B-A0F6E865550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I asked the team to consider</a:t>
            </a:r>
          </a:p>
        </p:txBody>
      </p:sp>
      <p:sp>
        <p:nvSpPr>
          <p:cNvPr id="5" name="Rectangle 4">
            <a:extLst>
              <a:ext uri="{FF2B5EF4-FFF2-40B4-BE49-F238E27FC236}">
                <a16:creationId xmlns:a16="http://schemas.microsoft.com/office/drawing/2014/main" id="{A8457724-9CF9-04F6-0A4D-C303C9D7F26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50A4C4C-A535-2B51-89F2-BC7A377AE468}"/>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The proposal was a monitoring tool for the on-premises labs. I asked for observability across all of them.</a:t>
            </a:r>
          </a:p>
        </p:txBody>
      </p:sp>
      <p:sp>
        <p:nvSpPr>
          <p:cNvPr id="7" name="Rectangle: Rounded Corners 6">
            <a:extLst>
              <a:ext uri="{FF2B5EF4-FFF2-40B4-BE49-F238E27FC236}">
                <a16:creationId xmlns:a16="http://schemas.microsoft.com/office/drawing/2014/main" id="{8032B94C-812B-2942-226E-605B2D32C22F}"/>
              </a:ext>
            </a:extLst>
          </p:cNvPr>
          <p:cNvSpPr/>
          <p:nvPr/>
        </p:nvSpPr>
        <p:spPr>
          <a:xfrm>
            <a:off x="609600" y="1625600"/>
            <a:ext cx="5080000" cy="2159000"/>
          </a:xfrm>
          <a:prstGeom prst="roundRect">
            <a:avLst>
              <a:gd name="adj" fmla="val 8235"/>
            </a:avLst>
          </a:prstGeom>
          <a:noFill/>
          <a:ln w="1905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7E0840E-9019-1A24-B46C-2CD1F8A6B9E3}"/>
              </a:ext>
            </a:extLst>
          </p:cNvPr>
          <p:cNvSpPr txBox="1"/>
          <p:nvPr/>
        </p:nvSpPr>
        <p:spPr>
          <a:xfrm>
            <a:off x="787400" y="1701800"/>
            <a:ext cx="4724400" cy="261610"/>
          </a:xfrm>
          <a:prstGeom prst="rect">
            <a:avLst/>
          </a:prstGeom>
          <a:noFill/>
        </p:spPr>
        <p:txBody>
          <a:bodyPr vert="horz" wrap="square" lIns="25400" rIns="25400" rtlCol="0">
            <a:spAutoFit/>
          </a:bodyPr>
          <a:lstStyle/>
          <a:p>
            <a:r>
              <a:rPr lang="en-US" sz="1100" b="1">
                <a:solidFill>
                  <a:srgbClr val="FACC15"/>
                </a:solidFill>
                <a:latin typeface="Calibri" panose="020F0502020204030204" pitchFamily="34" charset="0"/>
              </a:rPr>
              <a:t>THE PROPOSAL · a monitoring tool for our labs</a:t>
            </a:r>
          </a:p>
        </p:txBody>
      </p:sp>
      <p:sp>
        <p:nvSpPr>
          <p:cNvPr id="9" name="Rectangle: Rounded Corners 8">
            <a:extLst>
              <a:ext uri="{FF2B5EF4-FFF2-40B4-BE49-F238E27FC236}">
                <a16:creationId xmlns:a16="http://schemas.microsoft.com/office/drawing/2014/main" id="{72687AB1-516A-9542-4680-53F9F613A006}"/>
              </a:ext>
            </a:extLst>
          </p:cNvPr>
          <p:cNvSpPr/>
          <p:nvPr/>
        </p:nvSpPr>
        <p:spPr>
          <a:xfrm>
            <a:off x="1016000" y="2082800"/>
            <a:ext cx="4267200" cy="635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F1F5FB"/>
                </a:solidFill>
                <a:latin typeface="Calibri" panose="020F0502020204030204" pitchFamily="34" charset="0"/>
              </a:rPr>
              <a:t>"Is the server up?"</a:t>
            </a:r>
          </a:p>
        </p:txBody>
      </p:sp>
      <p:sp>
        <p:nvSpPr>
          <p:cNvPr id="10" name="TextBox 9">
            <a:extLst>
              <a:ext uri="{FF2B5EF4-FFF2-40B4-BE49-F238E27FC236}">
                <a16:creationId xmlns:a16="http://schemas.microsoft.com/office/drawing/2014/main" id="{BFB1E37B-480F-8690-3364-F3715AD27C0B}"/>
              </a:ext>
            </a:extLst>
          </p:cNvPr>
          <p:cNvSpPr txBox="1"/>
          <p:nvPr/>
        </p:nvSpPr>
        <p:spPr>
          <a:xfrm>
            <a:off x="1016000" y="2895600"/>
            <a:ext cx="4267200" cy="477054"/>
          </a:xfrm>
          <a:prstGeom prst="rect">
            <a:avLst/>
          </a:prstGeom>
          <a:noFill/>
        </p:spPr>
        <p:txBody>
          <a:bodyPr vert="horz" wrap="square" lIns="25400" rIns="25400" rtlCol="0">
            <a:spAutoFit/>
          </a:bodyPr>
          <a:lstStyle/>
          <a:p>
            <a:r>
              <a:rPr lang="en-US" sz="1250" b="1">
                <a:solidFill>
                  <a:srgbClr val="FACC15"/>
                </a:solidFill>
                <a:latin typeface="Calibri" panose="020F0502020204030204" pitchFamily="34" charset="0"/>
              </a:rPr>
              <a:t>our on-premises labs · two datacenters · another source of alerts</a:t>
            </a:r>
          </a:p>
        </p:txBody>
      </p:sp>
      <p:cxnSp>
        <p:nvCxnSpPr>
          <p:cNvPr id="11" name="Straight Arrow Connector 10">
            <a:extLst>
              <a:ext uri="{FF2B5EF4-FFF2-40B4-BE49-F238E27FC236}">
                <a16:creationId xmlns:a16="http://schemas.microsoft.com/office/drawing/2014/main" id="{17EA46ED-335C-708D-9CF7-A42C20E1D4E3}"/>
              </a:ext>
            </a:extLst>
          </p:cNvPr>
          <p:cNvCxnSpPr/>
          <p:nvPr/>
        </p:nvCxnSpPr>
        <p:spPr>
          <a:xfrm>
            <a:off x="5689600" y="2705100"/>
            <a:ext cx="812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C5AAD03-EBEB-8A0B-A199-86E094112FC9}"/>
              </a:ext>
            </a:extLst>
          </p:cNvPr>
          <p:cNvSpPr txBox="1"/>
          <p:nvPr/>
        </p:nvSpPr>
        <p:spPr>
          <a:xfrm>
            <a:off x="5080000" y="3810000"/>
            <a:ext cx="2032000" cy="261610"/>
          </a:xfrm>
          <a:prstGeom prst="rect">
            <a:avLst/>
          </a:prstGeom>
          <a:noFill/>
        </p:spPr>
        <p:txBody>
          <a:bodyPr vert="horz" wrap="square" lIns="25400" rIns="25400" rtlCol="0">
            <a:spAutoFit/>
          </a:bodyPr>
          <a:lstStyle/>
          <a:p>
            <a:pPr algn="ctr"/>
            <a:r>
              <a:rPr lang="en-US" sz="1100" b="1">
                <a:solidFill>
                  <a:srgbClr val="7DD3FC"/>
                </a:solidFill>
                <a:latin typeface="Calibri" panose="020F0502020204030204" pitchFamily="34" charset="0"/>
              </a:rPr>
              <a:t>same data, bigger question</a:t>
            </a:r>
          </a:p>
        </p:txBody>
      </p:sp>
      <p:sp>
        <p:nvSpPr>
          <p:cNvPr id="13" name="Rectangle: Rounded Corners 12">
            <a:extLst>
              <a:ext uri="{FF2B5EF4-FFF2-40B4-BE49-F238E27FC236}">
                <a16:creationId xmlns:a16="http://schemas.microsoft.com/office/drawing/2014/main" id="{DF1E0C9A-AEAD-AE00-9CE0-872EFA00DC17}"/>
              </a:ext>
            </a:extLst>
          </p:cNvPr>
          <p:cNvSpPr/>
          <p:nvPr/>
        </p:nvSpPr>
        <p:spPr>
          <a:xfrm>
            <a:off x="6502400" y="1625600"/>
            <a:ext cx="5080000" cy="2159000"/>
          </a:xfrm>
          <a:prstGeom prst="roundRect">
            <a:avLst>
              <a:gd name="adj" fmla="val 8235"/>
            </a:avLst>
          </a:prstGeom>
          <a:noFill/>
          <a:ln w="19050" cap="flat" cmpd="sng" algn="ctr">
            <a:solidFill>
              <a:srgbClr val="7DD3F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CB2E3C1-D28A-24F4-914D-43AFCFF1CFE9}"/>
              </a:ext>
            </a:extLst>
          </p:cNvPr>
          <p:cNvSpPr txBox="1"/>
          <p:nvPr/>
        </p:nvSpPr>
        <p:spPr>
          <a:xfrm>
            <a:off x="6680200" y="1701800"/>
            <a:ext cx="47244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OBSERVABILITY · what I asked the team to consider</a:t>
            </a:r>
          </a:p>
        </p:txBody>
      </p:sp>
      <p:sp>
        <p:nvSpPr>
          <p:cNvPr id="15" name="Rectangle: Rounded Corners 14">
            <a:extLst>
              <a:ext uri="{FF2B5EF4-FFF2-40B4-BE49-F238E27FC236}">
                <a16:creationId xmlns:a16="http://schemas.microsoft.com/office/drawing/2014/main" id="{E44E9651-7819-305C-56BD-17BA9BF30547}"/>
              </a:ext>
            </a:extLst>
          </p:cNvPr>
          <p:cNvSpPr/>
          <p:nvPr/>
        </p:nvSpPr>
        <p:spPr>
          <a:xfrm>
            <a:off x="6908800" y="1981200"/>
            <a:ext cx="4267200" cy="812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"Can the people using our labs do their work right now, and if not, why not?"</a:t>
            </a:r>
          </a:p>
        </p:txBody>
      </p:sp>
      <p:sp>
        <p:nvSpPr>
          <p:cNvPr id="16" name="TextBox 15">
            <a:extLst>
              <a:ext uri="{FF2B5EF4-FFF2-40B4-BE49-F238E27FC236}">
                <a16:creationId xmlns:a16="http://schemas.microsoft.com/office/drawing/2014/main" id="{76A17A95-369B-1967-F743-01E22811C14C}"/>
              </a:ext>
            </a:extLst>
          </p:cNvPr>
          <p:cNvSpPr txBox="1"/>
          <p:nvPr/>
        </p:nvSpPr>
        <p:spPr>
          <a:xfrm>
            <a:off x="6908800" y="2895600"/>
            <a:ext cx="4267200" cy="461665"/>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every lab, wherever it runs (on-premises, Azure, AWS) · one single pane of glass · impact, owner, recovery</a:t>
            </a:r>
          </a:p>
        </p:txBody>
      </p:sp>
      <p:sp>
        <p:nvSpPr>
          <p:cNvPr id="17" name="Rectangle: Rounded Corners 16">
            <a:extLst>
              <a:ext uri="{FF2B5EF4-FFF2-40B4-BE49-F238E27FC236}">
                <a16:creationId xmlns:a16="http://schemas.microsoft.com/office/drawing/2014/main" id="{AFA45BF1-6699-4C62-DD33-36DB335C2AA5}"/>
              </a:ext>
            </a:extLst>
          </p:cNvPr>
          <p:cNvSpPr/>
          <p:nvPr/>
        </p:nvSpPr>
        <p:spPr>
          <a:xfrm>
            <a:off x="609600" y="4089400"/>
            <a:ext cx="10972800" cy="6858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Observability is understanding the health, dependencies and impact of a whole service from its evidence, then using that to investigate, act and prove recovery.</a:t>
            </a:r>
          </a:p>
        </p:txBody>
      </p:sp>
      <p:sp>
        <p:nvSpPr>
          <p:cNvPr id="18" name="TextBox 17">
            <a:extLst>
              <a:ext uri="{FF2B5EF4-FFF2-40B4-BE49-F238E27FC236}">
                <a16:creationId xmlns:a16="http://schemas.microsoft.com/office/drawing/2014/main" id="{5E18739B-2A65-E7F4-B09A-6C0E7B808BD0}"/>
              </a:ext>
            </a:extLst>
          </p:cNvPr>
          <p:cNvSpPr txBox="1"/>
          <p:nvPr/>
        </p:nvSpPr>
        <p:spPr>
          <a:xfrm>
            <a:off x="609600" y="4978400"/>
            <a:ext cx="10972800" cy="292388"/>
          </a:xfrm>
          <a:prstGeom prst="rect">
            <a:avLst/>
          </a:prstGeom>
          <a:noFill/>
        </p:spPr>
        <p:txBody>
          <a:bodyPr vert="horz" wrap="square" lIns="25400" rIns="25400" rtlCol="0">
            <a:spAutoFit/>
          </a:bodyPr>
          <a:lstStyle/>
          <a:p>
            <a:r>
              <a:rPr lang="en-US" sz="1300">
                <a:solidFill>
                  <a:srgbClr val="B8C6DE"/>
                </a:solidFill>
                <a:latin typeface="Calibri" panose="020F0502020204030204" pitchFamily="34" charset="0"/>
              </a:rPr>
              <a:t>Flexera 2026 State of the Cloud: 73% of organizations run hybrid, 88% use more than one cloud. "The whole service" almost always means more than one place.</a:t>
            </a:r>
          </a:p>
        </p:txBody>
      </p:sp>
      <p:sp>
        <p:nvSpPr>
          <p:cNvPr id="19" name="Rectangle 18">
            <a:extLst>
              <a:ext uri="{FF2B5EF4-FFF2-40B4-BE49-F238E27FC236}">
                <a16:creationId xmlns:a16="http://schemas.microsoft.com/office/drawing/2014/main" id="{61CD25F1-5417-218C-7C39-8A30C629FEB7}"/>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10A3F95-931E-A323-C15B-2D27FE8500A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Monitoring tells you a server is up. Observability tells you whether the customer was served, wherever the service runs.</a:t>
            </a:r>
          </a:p>
        </p:txBody>
      </p:sp>
      <p:pic>
        <p:nvPicPr>
          <p:cNvPr id="22" name="SponsorBar" descr="CAS 2026 sponsors and #CloudAISummit2026">
            <a:extLst>
              <a:ext uri="{FF2B5EF4-FFF2-40B4-BE49-F238E27FC236}">
                <a16:creationId xmlns:a16="http://schemas.microsoft.com/office/drawing/2014/main" id="{8F2A61B8-DEFB-95FC-473B-DE2EE369E26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7873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3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3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3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3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3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3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3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p:bldP spid="15" grpId="0" animBg="1"/>
      <p:bldP spid="16" grpId="0"/>
      <p:bldP spid="17" grpId="0" animBg="1"/>
      <p:bldP spid="18"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DE905E-5429-B4D5-19F6-3C09665441EC}"/>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D16E1DD-0DB5-AE3E-9096-AB0D8C0D9759}"/>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23511A9-193A-2769-08F1-BDA727396BF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Monitoring vs. observability</a:t>
            </a:r>
          </a:p>
        </p:txBody>
      </p:sp>
      <p:sp>
        <p:nvSpPr>
          <p:cNvPr id="5" name="Rectangle 4">
            <a:extLst>
              <a:ext uri="{FF2B5EF4-FFF2-40B4-BE49-F238E27FC236}">
                <a16:creationId xmlns:a16="http://schemas.microsoft.com/office/drawing/2014/main" id="{0937930E-6530-DCF3-4574-A54FC47243E7}"/>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E600E3FC-183F-64FA-7FEA-CAB121732161}"/>
              </a:ext>
            </a:extLst>
          </p:cNvPr>
          <p:cNvSpPr/>
          <p:nvPr/>
        </p:nvSpPr>
        <p:spPr>
          <a:xfrm>
            <a:off x="736600" y="1676400"/>
            <a:ext cx="3048000" cy="304800"/>
          </a:xfrm>
          <a:prstGeom prst="roundRect">
            <a:avLst/>
          </a:prstGeom>
          <a:noFill/>
          <a:ln w="1524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FACC15"/>
                </a:solidFill>
                <a:latin typeface="Calibri" panose="020F0502020204030204" pitchFamily="34" charset="0"/>
              </a:rPr>
              <a:t>THE WORKING DEFINITION</a:t>
            </a:r>
          </a:p>
        </p:txBody>
      </p:sp>
      <p:sp>
        <p:nvSpPr>
          <p:cNvPr id="7" name="Rectangle: Rounded Corners 6">
            <a:extLst>
              <a:ext uri="{FF2B5EF4-FFF2-40B4-BE49-F238E27FC236}">
                <a16:creationId xmlns:a16="http://schemas.microsoft.com/office/drawing/2014/main" id="{7258AA26-6A43-9731-DBEB-124579F3C818}"/>
              </a:ext>
            </a:extLst>
          </p:cNvPr>
          <p:cNvSpPr/>
          <p:nvPr/>
        </p:nvSpPr>
        <p:spPr>
          <a:xfrm>
            <a:off x="736600" y="2082800"/>
            <a:ext cx="10718800" cy="10668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Observability is the ability to understand the health, behavior, dependencies and impact of a complete service from its outputs, then use that understanding to investigate, make an accountable decision and verify recovery.</a:t>
            </a:r>
          </a:p>
        </p:txBody>
      </p:sp>
      <p:sp>
        <p:nvSpPr>
          <p:cNvPr id="8" name="Rectangle: Rounded Corners 7">
            <a:extLst>
              <a:ext uri="{FF2B5EF4-FFF2-40B4-BE49-F238E27FC236}">
                <a16:creationId xmlns:a16="http://schemas.microsoft.com/office/drawing/2014/main" id="{B157EDC5-7911-219C-FDE9-B302DED81060}"/>
              </a:ext>
            </a:extLst>
          </p:cNvPr>
          <p:cNvSpPr/>
          <p:nvPr/>
        </p:nvSpPr>
        <p:spPr>
          <a:xfrm>
            <a:off x="939800" y="3505200"/>
            <a:ext cx="2286000" cy="304800"/>
          </a:xfrm>
          <a:prstGeom prst="roundRect">
            <a:avLst/>
          </a:prstGeom>
          <a:noFill/>
          <a:ln w="15240" cap="flat" cmpd="sng" algn="ctr">
            <a:solidFill>
              <a:srgbClr val="A5B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A5BEFF"/>
                </a:solidFill>
                <a:latin typeface="Calibri" panose="020F0502020204030204" pitchFamily="34" charset="0"/>
              </a:rPr>
              <a:t>MONITORING</a:t>
            </a:r>
          </a:p>
        </p:txBody>
      </p:sp>
      <p:sp>
        <p:nvSpPr>
          <p:cNvPr id="9" name="Rectangle: Rounded Corners 8">
            <a:extLst>
              <a:ext uri="{FF2B5EF4-FFF2-40B4-BE49-F238E27FC236}">
                <a16:creationId xmlns:a16="http://schemas.microsoft.com/office/drawing/2014/main" id="{B2633F72-A7C8-A27B-1A2A-B88B52388BE8}"/>
              </a:ext>
            </a:extLst>
          </p:cNvPr>
          <p:cNvSpPr/>
          <p:nvPr/>
        </p:nvSpPr>
        <p:spPr>
          <a:xfrm>
            <a:off x="6858000" y="3505200"/>
            <a:ext cx="2667000" cy="304800"/>
          </a:xfrm>
          <a:prstGeom prst="roundRect">
            <a:avLst/>
          </a:prstGeom>
          <a:noFill/>
          <a:ln w="15240" cap="flat" cmpd="sng" algn="ctr">
            <a:solidFill>
              <a:srgbClr val="7DD3F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7DD3FC"/>
                </a:solidFill>
                <a:latin typeface="Calibri" panose="020F0502020204030204" pitchFamily="34" charset="0"/>
              </a:rPr>
              <a:t>OBSERVABILITY</a:t>
            </a:r>
          </a:p>
        </p:txBody>
      </p:sp>
      <p:sp>
        <p:nvSpPr>
          <p:cNvPr id="10" name="Rectangle: Rounded Corners 9">
            <a:extLst>
              <a:ext uri="{FF2B5EF4-FFF2-40B4-BE49-F238E27FC236}">
                <a16:creationId xmlns:a16="http://schemas.microsoft.com/office/drawing/2014/main" id="{4713294B-689F-1456-91EF-832E44875EDD}"/>
              </a:ext>
            </a:extLst>
          </p:cNvPr>
          <p:cNvSpPr/>
          <p:nvPr/>
        </p:nvSpPr>
        <p:spPr>
          <a:xfrm>
            <a:off x="736600" y="3987800"/>
            <a:ext cx="4191000" cy="1651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COLLECT + PRESENT
metrics · logs · events · requests
views · thresholds · alerts</a:t>
            </a:r>
          </a:p>
        </p:txBody>
      </p:sp>
      <p:sp>
        <p:nvSpPr>
          <p:cNvPr id="11" name="Rectangle: Rounded Corners 10">
            <a:extLst>
              <a:ext uri="{FF2B5EF4-FFF2-40B4-BE49-F238E27FC236}">
                <a16:creationId xmlns:a16="http://schemas.microsoft.com/office/drawing/2014/main" id="{F311C3D0-30E3-3EEB-BC39-7BEFDB5B247A}"/>
              </a:ext>
            </a:extLst>
          </p:cNvPr>
          <p:cNvSpPr/>
          <p:nvPr/>
        </p:nvSpPr>
        <p:spPr>
          <a:xfrm>
            <a:off x="6413500" y="3987800"/>
            <a:ext cx="5080000" cy="16510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EXPLAIN + OPERATE
service boundary · dependencies · impact
owner · bounded action · verified recovery</a:t>
            </a:r>
          </a:p>
        </p:txBody>
      </p:sp>
      <p:cxnSp>
        <p:nvCxnSpPr>
          <p:cNvPr id="12" name="Straight Arrow Connector 11">
            <a:extLst>
              <a:ext uri="{FF2B5EF4-FFF2-40B4-BE49-F238E27FC236}">
                <a16:creationId xmlns:a16="http://schemas.microsoft.com/office/drawing/2014/main" id="{E47AE0D5-44B2-0B39-3E1A-4F98A6656C3E}"/>
              </a:ext>
            </a:extLst>
          </p:cNvPr>
          <p:cNvCxnSpPr/>
          <p:nvPr/>
        </p:nvCxnSpPr>
        <p:spPr>
          <a:xfrm>
            <a:off x="4927600" y="4813300"/>
            <a:ext cx="14859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EA9DDB7-A6C7-D9F0-CF66-300A1EBC74E5}"/>
              </a:ext>
            </a:extLst>
          </p:cNvPr>
          <p:cNvSpPr txBox="1"/>
          <p:nvPr/>
        </p:nvSpPr>
        <p:spPr>
          <a:xfrm>
            <a:off x="4794250" y="4381500"/>
            <a:ext cx="1752600" cy="261610"/>
          </a:xfrm>
          <a:prstGeom prst="rect">
            <a:avLst/>
          </a:prstGeom>
          <a:noFill/>
        </p:spPr>
        <p:txBody>
          <a:bodyPr vert="horz" wrap="square" lIns="25400" rIns="25400" rtlCol="0">
            <a:spAutoFit/>
          </a:bodyPr>
          <a:lstStyle/>
          <a:p>
            <a:pPr algn="ctr"/>
            <a:r>
              <a:rPr lang="en-US" sz="1100" b="1">
                <a:solidFill>
                  <a:srgbClr val="7DD3FC"/>
                </a:solidFill>
                <a:latin typeface="Calibri" panose="020F0502020204030204" pitchFamily="34" charset="0"/>
              </a:rPr>
              <a:t>becomes, with context</a:t>
            </a:r>
          </a:p>
        </p:txBody>
      </p:sp>
      <p:sp>
        <p:nvSpPr>
          <p:cNvPr id="14" name="TextBox 13">
            <a:extLst>
              <a:ext uri="{FF2B5EF4-FFF2-40B4-BE49-F238E27FC236}">
                <a16:creationId xmlns:a16="http://schemas.microsoft.com/office/drawing/2014/main" id="{74D756F5-E8C8-9C1E-6C27-A31ED656EF96}"/>
              </a:ext>
            </a:extLst>
          </p:cNvPr>
          <p:cNvSpPr txBox="1"/>
          <p:nvPr/>
        </p:nvSpPr>
        <p:spPr>
          <a:xfrm>
            <a:off x="736600" y="5715000"/>
            <a:ext cx="10718800" cy="269304"/>
          </a:xfrm>
          <a:prstGeom prst="rect">
            <a:avLst/>
          </a:prstGeom>
          <a:noFill/>
        </p:spPr>
        <p:txBody>
          <a:bodyPr vert="horz" wrap="square" lIns="25400" rIns="25400" rtlCol="0">
            <a:spAutoFit/>
          </a:bodyPr>
          <a:lstStyle/>
          <a:p>
            <a:r>
              <a:rPr lang="en-US" sz="1150" b="1">
                <a:solidFill>
                  <a:srgbClr val="7DD3FC"/>
                </a:solidFill>
                <a:latin typeface="Calibri" panose="020F0502020204030204" pitchFamily="34" charset="0"/>
              </a:rPr>
              <a:t>Where each is built: boundary + dependencies → section 1 · evidence → 2 · impact → 3 · explanation → 4 · owner, action, recovery → 5 · kept true → 6</a:t>
            </a:r>
          </a:p>
        </p:txBody>
      </p:sp>
      <p:sp>
        <p:nvSpPr>
          <p:cNvPr id="15" name="Rectangle 14">
            <a:extLst>
              <a:ext uri="{FF2B5EF4-FFF2-40B4-BE49-F238E27FC236}">
                <a16:creationId xmlns:a16="http://schemas.microsoft.com/office/drawing/2014/main" id="{A31BA474-9C48-B6D6-A642-835027E3E792}"/>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ED7560F-91AE-9B9E-0F33-14F2D26E366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The rest of the session builds each of these on one example service.</a:t>
            </a:r>
          </a:p>
        </p:txBody>
      </p:sp>
      <p:pic>
        <p:nvPicPr>
          <p:cNvPr id="18" name="SponsorBar" descr="CAS 2026 sponsors and #CloudAISummit2026">
            <a:extLst>
              <a:ext uri="{FF2B5EF4-FFF2-40B4-BE49-F238E27FC236}">
                <a16:creationId xmlns:a16="http://schemas.microsoft.com/office/drawing/2014/main" id="{AC6E483A-D5F5-CBD4-C9E5-2498C6D8F6E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687554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441B4B-A77F-8179-F5CB-CFC054E42D29}"/>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83E496F-60AA-CFEE-DFFC-B3661F2090BF}"/>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B371A81-4F3D-BBA8-1E5F-CEB01E9A321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Everything observability can be</a:t>
            </a:r>
          </a:p>
        </p:txBody>
      </p:sp>
      <p:sp>
        <p:nvSpPr>
          <p:cNvPr id="5" name="Rectangle 4">
            <a:extLst>
              <a:ext uri="{FF2B5EF4-FFF2-40B4-BE49-F238E27FC236}">
                <a16:creationId xmlns:a16="http://schemas.microsoft.com/office/drawing/2014/main" id="{B336A2EA-D788-1E54-1F08-EE63EDCDDAD3}"/>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E4A2AE-AE71-5C1B-DCCF-FBE28BD77961}"/>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The whole map, and the slice this session walks on one real-shaped service.</a:t>
            </a:r>
          </a:p>
        </p:txBody>
      </p:sp>
      <p:sp>
        <p:nvSpPr>
          <p:cNvPr id="7" name="Rectangle: Rounded Corners 6">
            <a:extLst>
              <a:ext uri="{FF2B5EF4-FFF2-40B4-BE49-F238E27FC236}">
                <a16:creationId xmlns:a16="http://schemas.microsoft.com/office/drawing/2014/main" id="{EA321658-851F-614B-707F-22DD08155EED}"/>
              </a:ext>
            </a:extLst>
          </p:cNvPr>
          <p:cNvSpPr/>
          <p:nvPr/>
        </p:nvSpPr>
        <p:spPr>
          <a:xfrm>
            <a:off x="6096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Infrastructure
servers · VMs · hypervisors · storage · network gear</a:t>
            </a:r>
          </a:p>
        </p:txBody>
      </p:sp>
      <p:sp>
        <p:nvSpPr>
          <p:cNvPr id="8" name="Rectangle: Rounded Corners 7">
            <a:extLst>
              <a:ext uri="{FF2B5EF4-FFF2-40B4-BE49-F238E27FC236}">
                <a16:creationId xmlns:a16="http://schemas.microsoft.com/office/drawing/2014/main" id="{958B4C9F-8CCC-EB9F-BE3E-F59FC1E538BC}"/>
              </a:ext>
            </a:extLst>
          </p:cNvPr>
          <p:cNvSpPr/>
          <p:nvPr/>
        </p:nvSpPr>
        <p:spPr>
          <a:xfrm>
            <a:off x="28194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Cloud platforms
Azure · AWS · GCP · managed services · cost</a:t>
            </a:r>
          </a:p>
        </p:txBody>
      </p:sp>
      <p:sp>
        <p:nvSpPr>
          <p:cNvPr id="9" name="Rectangle: Rounded Corners 8">
            <a:extLst>
              <a:ext uri="{FF2B5EF4-FFF2-40B4-BE49-F238E27FC236}">
                <a16:creationId xmlns:a16="http://schemas.microsoft.com/office/drawing/2014/main" id="{71F2A8AE-93A9-10CE-4293-EE088FA20DD1}"/>
              </a:ext>
            </a:extLst>
          </p:cNvPr>
          <p:cNvSpPr/>
          <p:nvPr/>
        </p:nvSpPr>
        <p:spPr>
          <a:xfrm>
            <a:off x="50292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Application performance
availability · latency · errors · dependencies</a:t>
            </a:r>
          </a:p>
        </p:txBody>
      </p:sp>
      <p:sp>
        <p:nvSpPr>
          <p:cNvPr id="10" name="Rectangle: Rounded Corners 9">
            <a:extLst>
              <a:ext uri="{FF2B5EF4-FFF2-40B4-BE49-F238E27FC236}">
                <a16:creationId xmlns:a16="http://schemas.microsoft.com/office/drawing/2014/main" id="{6D5CDC22-0C86-4E3D-928F-C65D9829C912}"/>
              </a:ext>
            </a:extLst>
          </p:cNvPr>
          <p:cNvSpPr/>
          <p:nvPr/>
        </p:nvSpPr>
        <p:spPr>
          <a:xfrm>
            <a:off x="72390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Distributed tracing
end-to-end requests · spans · root cause</a:t>
            </a:r>
          </a:p>
        </p:txBody>
      </p:sp>
      <p:sp>
        <p:nvSpPr>
          <p:cNvPr id="11" name="Rectangle: Rounded Corners 10">
            <a:extLst>
              <a:ext uri="{FF2B5EF4-FFF2-40B4-BE49-F238E27FC236}">
                <a16:creationId xmlns:a16="http://schemas.microsoft.com/office/drawing/2014/main" id="{8237E312-D9D4-4FF9-C763-6ECC5F82A733}"/>
              </a:ext>
            </a:extLst>
          </p:cNvPr>
          <p:cNvSpPr/>
          <p:nvPr/>
        </p:nvSpPr>
        <p:spPr>
          <a:xfrm>
            <a:off x="9448800" y="17526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Logs
app · system · audit · cloud · retention · cost</a:t>
            </a:r>
          </a:p>
        </p:txBody>
      </p:sp>
      <p:sp>
        <p:nvSpPr>
          <p:cNvPr id="12" name="Rectangle: Rounded Corners 11">
            <a:extLst>
              <a:ext uri="{FF2B5EF4-FFF2-40B4-BE49-F238E27FC236}">
                <a16:creationId xmlns:a16="http://schemas.microsoft.com/office/drawing/2014/main" id="{1E2C6286-3E51-F14B-14BB-199A0B455D93}"/>
              </a:ext>
            </a:extLst>
          </p:cNvPr>
          <p:cNvSpPr/>
          <p:nvPr/>
        </p:nvSpPr>
        <p:spPr>
          <a:xfrm>
            <a:off x="6096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Metrics + telemetry
infra · app · business · SLIs · custom</a:t>
            </a:r>
          </a:p>
        </p:txBody>
      </p:sp>
      <p:sp>
        <p:nvSpPr>
          <p:cNvPr id="13" name="Rectangle: Rounded Corners 12">
            <a:extLst>
              <a:ext uri="{FF2B5EF4-FFF2-40B4-BE49-F238E27FC236}">
                <a16:creationId xmlns:a16="http://schemas.microsoft.com/office/drawing/2014/main" id="{A8B4670A-2E02-BA9C-319E-7BE44890505D}"/>
              </a:ext>
            </a:extLst>
          </p:cNvPr>
          <p:cNvSpPr/>
          <p:nvPr/>
        </p:nvSpPr>
        <p:spPr>
          <a:xfrm>
            <a:off x="28194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Network
latency · loss · flows · DNS · TLS · site links</a:t>
            </a:r>
          </a:p>
        </p:txBody>
      </p:sp>
      <p:sp>
        <p:nvSpPr>
          <p:cNvPr id="14" name="Rectangle: Rounded Corners 13">
            <a:extLst>
              <a:ext uri="{FF2B5EF4-FFF2-40B4-BE49-F238E27FC236}">
                <a16:creationId xmlns:a16="http://schemas.microsoft.com/office/drawing/2014/main" id="{B4FD8524-3AE5-BC1E-DC03-783E5B7CC488}"/>
              </a:ext>
            </a:extLst>
          </p:cNvPr>
          <p:cNvSpPr/>
          <p:nvPr/>
        </p:nvSpPr>
        <p:spPr>
          <a:xfrm>
            <a:off x="50292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Digital experience
real users · synthetics · journeys · impact</a:t>
            </a:r>
          </a:p>
        </p:txBody>
      </p:sp>
      <p:sp>
        <p:nvSpPr>
          <p:cNvPr id="15" name="Rectangle: Rounded Corners 14">
            <a:extLst>
              <a:ext uri="{FF2B5EF4-FFF2-40B4-BE49-F238E27FC236}">
                <a16:creationId xmlns:a16="http://schemas.microsoft.com/office/drawing/2014/main" id="{4D7DB3A5-A928-0CEF-D614-43BF2888BA9A}"/>
              </a:ext>
            </a:extLst>
          </p:cNvPr>
          <p:cNvSpPr/>
          <p:nvPr/>
        </p:nvSpPr>
        <p:spPr>
          <a:xfrm>
            <a:off x="72390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Databases + data
queries · replication · backups · pipelines</a:t>
            </a:r>
          </a:p>
        </p:txBody>
      </p:sp>
      <p:sp>
        <p:nvSpPr>
          <p:cNvPr id="16" name="Rectangle: Rounded Corners 15">
            <a:extLst>
              <a:ext uri="{FF2B5EF4-FFF2-40B4-BE49-F238E27FC236}">
                <a16:creationId xmlns:a16="http://schemas.microsoft.com/office/drawing/2014/main" id="{DBF660A5-548F-391B-6EB0-283B4E7850F7}"/>
              </a:ext>
            </a:extLst>
          </p:cNvPr>
          <p:cNvSpPr/>
          <p:nvPr/>
        </p:nvSpPr>
        <p:spPr>
          <a:xfrm>
            <a:off x="9448800" y="25400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Kubernetes + containers
clusters · nodes · pods · rollouts · mesh</a:t>
            </a:r>
          </a:p>
        </p:txBody>
      </p:sp>
      <p:sp>
        <p:nvSpPr>
          <p:cNvPr id="17" name="Rectangle: Rounded Corners 16">
            <a:extLst>
              <a:ext uri="{FF2B5EF4-FFF2-40B4-BE49-F238E27FC236}">
                <a16:creationId xmlns:a16="http://schemas.microsoft.com/office/drawing/2014/main" id="{258BDD66-A62E-4B4D-5A7B-14B8CBD01188}"/>
              </a:ext>
            </a:extLst>
          </p:cNvPr>
          <p:cNvSpPr/>
          <p:nvPr/>
        </p:nvSpPr>
        <p:spPr>
          <a:xfrm>
            <a:off x="6096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Security
identity · access · posture · threats · SIEM</a:t>
            </a:r>
          </a:p>
        </p:txBody>
      </p:sp>
      <p:sp>
        <p:nvSpPr>
          <p:cNvPr id="18" name="Rectangle: Rounded Corners 17">
            <a:extLst>
              <a:ext uri="{FF2B5EF4-FFF2-40B4-BE49-F238E27FC236}">
                <a16:creationId xmlns:a16="http://schemas.microsoft.com/office/drawing/2014/main" id="{D349AFA9-087C-D749-0E05-1EE906B99A71}"/>
              </a:ext>
            </a:extLst>
          </p:cNvPr>
          <p:cNvSpPr/>
          <p:nvPr/>
        </p:nvSpPr>
        <p:spPr>
          <a:xfrm>
            <a:off x="28194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Availability + reliability
uptime · failover · DR · SLOs · error budgets</a:t>
            </a:r>
          </a:p>
        </p:txBody>
      </p:sp>
      <p:sp>
        <p:nvSpPr>
          <p:cNvPr id="19" name="Rectangle: Rounded Corners 18">
            <a:extLst>
              <a:ext uri="{FF2B5EF4-FFF2-40B4-BE49-F238E27FC236}">
                <a16:creationId xmlns:a16="http://schemas.microsoft.com/office/drawing/2014/main" id="{D4FA25A1-D317-218E-4ED5-C31B046F3C87}"/>
              </a:ext>
            </a:extLst>
          </p:cNvPr>
          <p:cNvSpPr/>
          <p:nvPr/>
        </p:nvSpPr>
        <p:spPr>
          <a:xfrm>
            <a:off x="50292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Alerting + events
thresholds · anomalies · routing · ownership</a:t>
            </a:r>
          </a:p>
        </p:txBody>
      </p:sp>
      <p:sp>
        <p:nvSpPr>
          <p:cNvPr id="20" name="Rectangle: Rounded Corners 19">
            <a:extLst>
              <a:ext uri="{FF2B5EF4-FFF2-40B4-BE49-F238E27FC236}">
                <a16:creationId xmlns:a16="http://schemas.microsoft.com/office/drawing/2014/main" id="{00287446-3205-1A98-4B2D-8A94B29892C6}"/>
              </a:ext>
            </a:extLst>
          </p:cNvPr>
          <p:cNvSpPr/>
          <p:nvPr/>
        </p:nvSpPr>
        <p:spPr>
          <a:xfrm>
            <a:off x="72390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Incidents + operations
triage · runbooks · change correlation · MTTR</a:t>
            </a:r>
          </a:p>
        </p:txBody>
      </p:sp>
      <p:sp>
        <p:nvSpPr>
          <p:cNvPr id="21" name="Rectangle: Rounded Corners 20">
            <a:extLst>
              <a:ext uri="{FF2B5EF4-FFF2-40B4-BE49-F238E27FC236}">
                <a16:creationId xmlns:a16="http://schemas.microsoft.com/office/drawing/2014/main" id="{F08F5572-4FF5-A0CB-D6A2-700BFD7426F8}"/>
              </a:ext>
            </a:extLst>
          </p:cNvPr>
          <p:cNvSpPr/>
          <p:nvPr/>
        </p:nvSpPr>
        <p:spPr>
          <a:xfrm>
            <a:off x="9448800" y="33274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Dashboards + reporting
service · executive · topology · trends · SLO</a:t>
            </a:r>
          </a:p>
        </p:txBody>
      </p:sp>
      <p:sp>
        <p:nvSpPr>
          <p:cNvPr id="22" name="Rectangle: Rounded Corners 21">
            <a:extLst>
              <a:ext uri="{FF2B5EF4-FFF2-40B4-BE49-F238E27FC236}">
                <a16:creationId xmlns:a16="http://schemas.microsoft.com/office/drawing/2014/main" id="{89D8A0BA-4699-B985-2F22-4EDD33D1A4AF}"/>
              </a:ext>
            </a:extLst>
          </p:cNvPr>
          <p:cNvSpPr/>
          <p:nvPr/>
        </p:nvSpPr>
        <p:spPr>
          <a:xfrm>
            <a:off x="6096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Automation + remediation
restarts · rollback · failover · ChatOps</a:t>
            </a:r>
          </a:p>
        </p:txBody>
      </p:sp>
      <p:sp>
        <p:nvSpPr>
          <p:cNvPr id="23" name="Rectangle: Rounded Corners 22">
            <a:extLst>
              <a:ext uri="{FF2B5EF4-FFF2-40B4-BE49-F238E27FC236}">
                <a16:creationId xmlns:a16="http://schemas.microsoft.com/office/drawing/2014/main" id="{23D6BA96-5D52-BFF4-C235-A5FBB2B065A6}"/>
              </a:ext>
            </a:extLst>
          </p:cNvPr>
          <p:cNvSpPr/>
          <p:nvPr/>
        </p:nvSpPr>
        <p:spPr>
          <a:xfrm>
            <a:off x="28194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Configuration + assets
inventory · CMDB · tagging · drift · change</a:t>
            </a:r>
          </a:p>
        </p:txBody>
      </p:sp>
      <p:sp>
        <p:nvSpPr>
          <p:cNvPr id="24" name="Rectangle: Rounded Corners 23">
            <a:extLst>
              <a:ext uri="{FF2B5EF4-FFF2-40B4-BE49-F238E27FC236}">
                <a16:creationId xmlns:a16="http://schemas.microsoft.com/office/drawing/2014/main" id="{2EF8C533-BC5C-415B-432B-06FBA1C3F35F}"/>
              </a:ext>
            </a:extLst>
          </p:cNvPr>
          <p:cNvSpPr/>
          <p:nvPr/>
        </p:nvSpPr>
        <p:spPr>
          <a:xfrm>
            <a:off x="50292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Integrations
OpenTelemetry · Prometheus · ITSM · SIEM</a:t>
            </a:r>
          </a:p>
        </p:txBody>
      </p:sp>
      <p:sp>
        <p:nvSpPr>
          <p:cNvPr id="25" name="Rectangle: Rounded Corners 24">
            <a:extLst>
              <a:ext uri="{FF2B5EF4-FFF2-40B4-BE49-F238E27FC236}">
                <a16:creationId xmlns:a16="http://schemas.microsoft.com/office/drawing/2014/main" id="{6E9F5234-0CA8-69A4-6498-009F3CA7FFE2}"/>
              </a:ext>
            </a:extLst>
          </p:cNvPr>
          <p:cNvSpPr/>
          <p:nvPr/>
        </p:nvSpPr>
        <p:spPr>
          <a:xfrm>
            <a:off x="72390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Governance
RBAC · SSO · residency · retention · audit</a:t>
            </a:r>
          </a:p>
        </p:txBody>
      </p:sp>
      <p:sp>
        <p:nvSpPr>
          <p:cNvPr id="26" name="Rectangle: Rounded Corners 25">
            <a:extLst>
              <a:ext uri="{FF2B5EF4-FFF2-40B4-BE49-F238E27FC236}">
                <a16:creationId xmlns:a16="http://schemas.microsoft.com/office/drawing/2014/main" id="{85654CA3-C443-ED96-0F43-44E32680B2C9}"/>
              </a:ext>
            </a:extLst>
          </p:cNvPr>
          <p:cNvSpPr/>
          <p:nvPr/>
        </p:nvSpPr>
        <p:spPr>
          <a:xfrm>
            <a:off x="9448800" y="4114800"/>
            <a:ext cx="20828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Platform architecture
agents · collectors · stores · HA · edge</a:t>
            </a:r>
          </a:p>
        </p:txBody>
      </p:sp>
      <p:sp>
        <p:nvSpPr>
          <p:cNvPr id="27" name="Rectangle: Rounded Corners 26">
            <a:extLst>
              <a:ext uri="{FF2B5EF4-FFF2-40B4-BE49-F238E27FC236}">
                <a16:creationId xmlns:a16="http://schemas.microsoft.com/office/drawing/2014/main" id="{2C0E5754-DE3E-741D-BD6A-7FF993A8E9D3}"/>
              </a:ext>
            </a:extLst>
          </p:cNvPr>
          <p:cNvSpPr/>
          <p:nvPr/>
        </p:nvSpPr>
        <p:spPr>
          <a:xfrm>
            <a:off x="609600" y="17526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Infrastructure
servers · VMs · hypervisors · storage · network gear</a:t>
            </a:r>
          </a:p>
        </p:txBody>
      </p:sp>
      <p:sp>
        <p:nvSpPr>
          <p:cNvPr id="28" name="Rectangle: Rounded Corners 27">
            <a:extLst>
              <a:ext uri="{FF2B5EF4-FFF2-40B4-BE49-F238E27FC236}">
                <a16:creationId xmlns:a16="http://schemas.microsoft.com/office/drawing/2014/main" id="{4732D4CA-00D0-E45B-F061-42368E8D65ED}"/>
              </a:ext>
            </a:extLst>
          </p:cNvPr>
          <p:cNvSpPr/>
          <p:nvPr/>
        </p:nvSpPr>
        <p:spPr>
          <a:xfrm>
            <a:off x="2819400" y="17526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Cloud platforms
Azure · AWS · GCP · managed services · cost</a:t>
            </a:r>
          </a:p>
        </p:txBody>
      </p:sp>
      <p:sp>
        <p:nvSpPr>
          <p:cNvPr id="29" name="Rectangle: Rounded Corners 28">
            <a:extLst>
              <a:ext uri="{FF2B5EF4-FFF2-40B4-BE49-F238E27FC236}">
                <a16:creationId xmlns:a16="http://schemas.microsoft.com/office/drawing/2014/main" id="{45282941-964A-BB77-FE92-BA2F8151E891}"/>
              </a:ext>
            </a:extLst>
          </p:cNvPr>
          <p:cNvSpPr/>
          <p:nvPr/>
        </p:nvSpPr>
        <p:spPr>
          <a:xfrm>
            <a:off x="5029200" y="17526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Application performance
availability · latency · errors · dependencies</a:t>
            </a:r>
          </a:p>
        </p:txBody>
      </p:sp>
      <p:sp>
        <p:nvSpPr>
          <p:cNvPr id="30" name="Rectangle: Rounded Corners 29">
            <a:extLst>
              <a:ext uri="{FF2B5EF4-FFF2-40B4-BE49-F238E27FC236}">
                <a16:creationId xmlns:a16="http://schemas.microsoft.com/office/drawing/2014/main" id="{A2E3B310-E6C9-9821-910E-0602619CA17D}"/>
              </a:ext>
            </a:extLst>
          </p:cNvPr>
          <p:cNvSpPr/>
          <p:nvPr/>
        </p:nvSpPr>
        <p:spPr>
          <a:xfrm>
            <a:off x="9448800" y="17526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Logs
app · system · audit · cloud · retention · cost</a:t>
            </a:r>
          </a:p>
        </p:txBody>
      </p:sp>
      <p:sp>
        <p:nvSpPr>
          <p:cNvPr id="31" name="Rectangle: Rounded Corners 30">
            <a:extLst>
              <a:ext uri="{FF2B5EF4-FFF2-40B4-BE49-F238E27FC236}">
                <a16:creationId xmlns:a16="http://schemas.microsoft.com/office/drawing/2014/main" id="{3D98E42D-83F8-3032-3DED-996E54B827CB}"/>
              </a:ext>
            </a:extLst>
          </p:cNvPr>
          <p:cNvSpPr/>
          <p:nvPr/>
        </p:nvSpPr>
        <p:spPr>
          <a:xfrm>
            <a:off x="609600" y="25400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Metrics + telemetry
infra · app · business · SLIs · custom</a:t>
            </a:r>
          </a:p>
        </p:txBody>
      </p:sp>
      <p:sp>
        <p:nvSpPr>
          <p:cNvPr id="32" name="Rectangle: Rounded Corners 31">
            <a:extLst>
              <a:ext uri="{FF2B5EF4-FFF2-40B4-BE49-F238E27FC236}">
                <a16:creationId xmlns:a16="http://schemas.microsoft.com/office/drawing/2014/main" id="{6012A866-60AE-5358-25BA-C9C14AF99AED}"/>
              </a:ext>
            </a:extLst>
          </p:cNvPr>
          <p:cNvSpPr/>
          <p:nvPr/>
        </p:nvSpPr>
        <p:spPr>
          <a:xfrm>
            <a:off x="5029200" y="25400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Digital experience
real users · synthetics · journeys · impact</a:t>
            </a:r>
          </a:p>
        </p:txBody>
      </p:sp>
      <p:sp>
        <p:nvSpPr>
          <p:cNvPr id="33" name="Rectangle: Rounded Corners 32">
            <a:extLst>
              <a:ext uri="{FF2B5EF4-FFF2-40B4-BE49-F238E27FC236}">
                <a16:creationId xmlns:a16="http://schemas.microsoft.com/office/drawing/2014/main" id="{5AFD1803-D123-39C5-14D3-AF5C5445A05F}"/>
              </a:ext>
            </a:extLst>
          </p:cNvPr>
          <p:cNvSpPr/>
          <p:nvPr/>
        </p:nvSpPr>
        <p:spPr>
          <a:xfrm>
            <a:off x="2819400" y="33274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Availability + reliability
uptime · failover · DR · SLOs · error budgets</a:t>
            </a:r>
          </a:p>
        </p:txBody>
      </p:sp>
      <p:sp>
        <p:nvSpPr>
          <p:cNvPr id="34" name="Rectangle: Rounded Corners 33">
            <a:extLst>
              <a:ext uri="{FF2B5EF4-FFF2-40B4-BE49-F238E27FC236}">
                <a16:creationId xmlns:a16="http://schemas.microsoft.com/office/drawing/2014/main" id="{1E3CFA93-2598-FDCF-60EB-756A3BA4E91D}"/>
              </a:ext>
            </a:extLst>
          </p:cNvPr>
          <p:cNvSpPr/>
          <p:nvPr/>
        </p:nvSpPr>
        <p:spPr>
          <a:xfrm>
            <a:off x="5029200" y="33274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Alerting + events
thresholds · anomalies · routing · ownership</a:t>
            </a:r>
          </a:p>
        </p:txBody>
      </p:sp>
      <p:sp>
        <p:nvSpPr>
          <p:cNvPr id="35" name="Rectangle: Rounded Corners 34">
            <a:extLst>
              <a:ext uri="{FF2B5EF4-FFF2-40B4-BE49-F238E27FC236}">
                <a16:creationId xmlns:a16="http://schemas.microsoft.com/office/drawing/2014/main" id="{308A9D7D-BE5B-4A7C-1E5F-DC7B7E0E4544}"/>
              </a:ext>
            </a:extLst>
          </p:cNvPr>
          <p:cNvSpPr/>
          <p:nvPr/>
        </p:nvSpPr>
        <p:spPr>
          <a:xfrm>
            <a:off x="7239000" y="33274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Incidents + operations
triage · runbooks · change correlation · MTTR</a:t>
            </a:r>
          </a:p>
        </p:txBody>
      </p:sp>
      <p:sp>
        <p:nvSpPr>
          <p:cNvPr id="36" name="Rectangle: Rounded Corners 35">
            <a:extLst>
              <a:ext uri="{FF2B5EF4-FFF2-40B4-BE49-F238E27FC236}">
                <a16:creationId xmlns:a16="http://schemas.microsoft.com/office/drawing/2014/main" id="{B3CD8B36-48D3-3762-1974-88BF1327F29B}"/>
              </a:ext>
            </a:extLst>
          </p:cNvPr>
          <p:cNvSpPr/>
          <p:nvPr/>
        </p:nvSpPr>
        <p:spPr>
          <a:xfrm>
            <a:off x="9448800" y="33274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Dashboards + reporting
service · executive · topology · trends · SLO</a:t>
            </a:r>
          </a:p>
        </p:txBody>
      </p:sp>
      <p:sp>
        <p:nvSpPr>
          <p:cNvPr id="37" name="Rectangle: Rounded Corners 36">
            <a:extLst>
              <a:ext uri="{FF2B5EF4-FFF2-40B4-BE49-F238E27FC236}">
                <a16:creationId xmlns:a16="http://schemas.microsoft.com/office/drawing/2014/main" id="{143EFA62-80BE-DBB6-447B-ACE201B4514B}"/>
              </a:ext>
            </a:extLst>
          </p:cNvPr>
          <p:cNvSpPr/>
          <p:nvPr/>
        </p:nvSpPr>
        <p:spPr>
          <a:xfrm>
            <a:off x="9448800" y="4114800"/>
            <a:ext cx="2082800" cy="685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Platform architecture
agents · collectors · stores · HA · edge</a:t>
            </a:r>
          </a:p>
        </p:txBody>
      </p:sp>
      <p:sp>
        <p:nvSpPr>
          <p:cNvPr id="38" name="Rectangle: Rounded Corners 37">
            <a:extLst>
              <a:ext uri="{FF2B5EF4-FFF2-40B4-BE49-F238E27FC236}">
                <a16:creationId xmlns:a16="http://schemas.microsoft.com/office/drawing/2014/main" id="{66D2D35B-34C2-DCEE-B998-558241C99F92}"/>
              </a:ext>
            </a:extLst>
          </p:cNvPr>
          <p:cNvSpPr/>
          <p:nvPr/>
        </p:nvSpPr>
        <p:spPr>
          <a:xfrm>
            <a:off x="609600" y="4978400"/>
            <a:ext cx="228600" cy="177800"/>
          </a:xfrm>
          <a:prstGeom prst="roundRect">
            <a:avLst/>
          </a:prstGeom>
          <a:solidFill>
            <a:srgbClr val="7DD3F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200">
              <a:solidFill>
                <a:srgbClr val="F1F5FB"/>
              </a:solidFill>
              <a:latin typeface="Calibri" panose="020F0502020204030204" pitchFamily="34" charset="0"/>
            </a:endParaRPr>
          </a:p>
        </p:txBody>
      </p:sp>
      <p:sp>
        <p:nvSpPr>
          <p:cNvPr id="39" name="TextBox 38">
            <a:extLst>
              <a:ext uri="{FF2B5EF4-FFF2-40B4-BE49-F238E27FC236}">
                <a16:creationId xmlns:a16="http://schemas.microsoft.com/office/drawing/2014/main" id="{0067705B-40BE-119D-A7AA-8CCC3483BB9E}"/>
              </a:ext>
            </a:extLst>
          </p:cNvPr>
          <p:cNvSpPr txBox="1"/>
          <p:nvPr/>
        </p:nvSpPr>
        <p:spPr>
          <a:xfrm>
            <a:off x="914400" y="4940300"/>
            <a:ext cx="3810000" cy="269304"/>
          </a:xfrm>
          <a:prstGeom prst="rect">
            <a:avLst/>
          </a:prstGeom>
          <a:noFill/>
        </p:spPr>
        <p:txBody>
          <a:bodyPr vert="horz" wrap="square" lIns="25400" rIns="25400" rtlCol="0">
            <a:spAutoFit/>
          </a:bodyPr>
          <a:lstStyle/>
          <a:p>
            <a:r>
              <a:rPr lang="en-US" sz="1150">
                <a:solidFill>
                  <a:srgbClr val="F1F5FB"/>
                </a:solidFill>
                <a:latin typeface="Calibri" panose="020F0502020204030204" pitchFamily="34" charset="0"/>
              </a:rPr>
              <a:t>covered today, on IIC Hybrid Orders</a:t>
            </a:r>
          </a:p>
        </p:txBody>
      </p:sp>
      <p:sp>
        <p:nvSpPr>
          <p:cNvPr id="40" name="Rectangle: Rounded Corners 39">
            <a:extLst>
              <a:ext uri="{FF2B5EF4-FFF2-40B4-BE49-F238E27FC236}">
                <a16:creationId xmlns:a16="http://schemas.microsoft.com/office/drawing/2014/main" id="{7E585662-E249-C9FC-AD80-1CEBFFC9E485}"/>
              </a:ext>
            </a:extLst>
          </p:cNvPr>
          <p:cNvSpPr/>
          <p:nvPr/>
        </p:nvSpPr>
        <p:spPr>
          <a:xfrm>
            <a:off x="5080000" y="4978400"/>
            <a:ext cx="228600" cy="177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200">
              <a:solidFill>
                <a:srgbClr val="F1F5FB"/>
              </a:solidFill>
              <a:latin typeface="Calibri" panose="020F0502020204030204" pitchFamily="34" charset="0"/>
            </a:endParaRPr>
          </a:p>
        </p:txBody>
      </p:sp>
      <p:sp>
        <p:nvSpPr>
          <p:cNvPr id="41" name="TextBox 40">
            <a:extLst>
              <a:ext uri="{FF2B5EF4-FFF2-40B4-BE49-F238E27FC236}">
                <a16:creationId xmlns:a16="http://schemas.microsoft.com/office/drawing/2014/main" id="{9DFAE461-103D-000E-83A6-A2E977DDDBCD}"/>
              </a:ext>
            </a:extLst>
          </p:cNvPr>
          <p:cNvSpPr txBox="1"/>
          <p:nvPr/>
        </p:nvSpPr>
        <p:spPr>
          <a:xfrm>
            <a:off x="5384800" y="4940300"/>
            <a:ext cx="3810000" cy="269304"/>
          </a:xfrm>
          <a:prstGeom prst="rect">
            <a:avLst/>
          </a:prstGeom>
          <a:noFill/>
        </p:spPr>
        <p:txBody>
          <a:bodyPr vert="horz" wrap="square" lIns="25400" rIns="25400" rtlCol="0">
            <a:spAutoFit/>
          </a:bodyPr>
          <a:lstStyle/>
          <a:p>
            <a:r>
              <a:rPr lang="en-US" sz="1150">
                <a:solidFill>
                  <a:srgbClr val="B8C6DE"/>
                </a:solidFill>
                <a:latin typeface="Calibri" panose="020F0502020204030204" pitchFamily="34" charset="0"/>
              </a:rPr>
              <a:t>part of the practice, not today</a:t>
            </a:r>
          </a:p>
        </p:txBody>
      </p:sp>
      <p:sp>
        <p:nvSpPr>
          <p:cNvPr id="42" name="TextBox 41">
            <a:extLst>
              <a:ext uri="{FF2B5EF4-FFF2-40B4-BE49-F238E27FC236}">
                <a16:creationId xmlns:a16="http://schemas.microsoft.com/office/drawing/2014/main" id="{3A5CC01B-2974-E2CF-B984-E189D0214960}"/>
              </a:ext>
            </a:extLst>
          </p:cNvPr>
          <p:cNvSpPr txBox="1"/>
          <p:nvPr/>
        </p:nvSpPr>
        <p:spPr>
          <a:xfrm>
            <a:off x="609600" y="5232400"/>
            <a:ext cx="10972800" cy="461665"/>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Metrics + logs + traces + events + topology + user experience + security telemetry, connected to alerting, dashboards, incident response, automation, governance and reporting, across on-premises, private cloud, public cloud, edge and hybrid.</a:t>
            </a:r>
          </a:p>
        </p:txBody>
      </p:sp>
      <p:sp>
        <p:nvSpPr>
          <p:cNvPr id="43" name="Rectangle 42">
            <a:extLst>
              <a:ext uri="{FF2B5EF4-FFF2-40B4-BE49-F238E27FC236}">
                <a16:creationId xmlns:a16="http://schemas.microsoft.com/office/drawing/2014/main" id="{7026A3A1-227D-F6C5-A839-BCA12023EC7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ECCD1ED5-D8DD-9C52-4F5A-81F71E6291F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One session cannot do all of it. We take one real-shaped service and walk the slice that answers the meeting's question.</a:t>
            </a:r>
          </a:p>
        </p:txBody>
      </p:sp>
      <p:pic>
        <p:nvPicPr>
          <p:cNvPr id="46" name="SponsorBar" descr="CAS 2026 sponsors and #CloudAISummit2026">
            <a:extLst>
              <a:ext uri="{FF2B5EF4-FFF2-40B4-BE49-F238E27FC236}">
                <a16:creationId xmlns:a16="http://schemas.microsoft.com/office/drawing/2014/main" id="{DB290F46-4BC5-BD1E-303E-B7F92D49E64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893552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00"/>
                                        <p:tgtEl>
                                          <p:spTgt spid="1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300"/>
                                        <p:tgtEl>
                                          <p:spTgt spid="15"/>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300"/>
                                        <p:tgtEl>
                                          <p:spTgt spid="16"/>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300"/>
                                        <p:tgtEl>
                                          <p:spTgt spid="17"/>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3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3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3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3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3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300"/>
                                        <p:tgtEl>
                                          <p:spTgt spid="25"/>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300"/>
                                        <p:tgtEl>
                                          <p:spTgt spid="26"/>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3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300"/>
                                        <p:tgtEl>
                                          <p:spTgt spid="28"/>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300"/>
                                        <p:tgtEl>
                                          <p:spTgt spid="29"/>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300"/>
                                        <p:tgtEl>
                                          <p:spTgt spid="30"/>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300"/>
                                        <p:tgtEl>
                                          <p:spTgt spid="31"/>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2"/>
                                        </p:tgtEl>
                                        <p:attrNameLst>
                                          <p:attrName>style.visibility</p:attrName>
                                        </p:attrNameLst>
                                      </p:cBhvr>
                                      <p:to>
                                        <p:strVal val="visible"/>
                                      </p:to>
                                    </p:set>
                                    <p:animEffect transition="in" filter="fade">
                                      <p:cBhvr>
                                        <p:cTn id="84" dur="300"/>
                                        <p:tgtEl>
                                          <p:spTgt spid="32"/>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3"/>
                                        </p:tgtEl>
                                        <p:attrNameLst>
                                          <p:attrName>style.visibility</p:attrName>
                                        </p:attrNameLst>
                                      </p:cBhvr>
                                      <p:to>
                                        <p:strVal val="visible"/>
                                      </p:to>
                                    </p:set>
                                    <p:animEffect transition="in" filter="fade">
                                      <p:cBhvr>
                                        <p:cTn id="87" dur="300"/>
                                        <p:tgtEl>
                                          <p:spTgt spid="33"/>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4"/>
                                        </p:tgtEl>
                                        <p:attrNameLst>
                                          <p:attrName>style.visibility</p:attrName>
                                        </p:attrNameLst>
                                      </p:cBhvr>
                                      <p:to>
                                        <p:strVal val="visible"/>
                                      </p:to>
                                    </p:set>
                                    <p:animEffect transition="in" filter="fade">
                                      <p:cBhvr>
                                        <p:cTn id="90" dur="300"/>
                                        <p:tgtEl>
                                          <p:spTgt spid="34"/>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5"/>
                                        </p:tgtEl>
                                        <p:attrNameLst>
                                          <p:attrName>style.visibility</p:attrName>
                                        </p:attrNameLst>
                                      </p:cBhvr>
                                      <p:to>
                                        <p:strVal val="visible"/>
                                      </p:to>
                                    </p:set>
                                    <p:animEffect transition="in" filter="fade">
                                      <p:cBhvr>
                                        <p:cTn id="93" dur="300"/>
                                        <p:tgtEl>
                                          <p:spTgt spid="35"/>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6"/>
                                        </p:tgtEl>
                                        <p:attrNameLst>
                                          <p:attrName>style.visibility</p:attrName>
                                        </p:attrNameLst>
                                      </p:cBhvr>
                                      <p:to>
                                        <p:strVal val="visible"/>
                                      </p:to>
                                    </p:set>
                                    <p:animEffect transition="in" filter="fade">
                                      <p:cBhvr>
                                        <p:cTn id="96" dur="300"/>
                                        <p:tgtEl>
                                          <p:spTgt spid="36"/>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7"/>
                                        </p:tgtEl>
                                        <p:attrNameLst>
                                          <p:attrName>style.visibility</p:attrName>
                                        </p:attrNameLst>
                                      </p:cBhvr>
                                      <p:to>
                                        <p:strVal val="visible"/>
                                      </p:to>
                                    </p:set>
                                    <p:animEffect transition="in" filter="fade">
                                      <p:cBhvr>
                                        <p:cTn id="99" dur="300"/>
                                        <p:tgtEl>
                                          <p:spTgt spid="37"/>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grpId="0" nodeType="clickEffect">
                                  <p:stCondLst>
                                    <p:cond delay="0"/>
                                  </p:stCondLst>
                                  <p:childTnLst>
                                    <p:set>
                                      <p:cBhvr>
                                        <p:cTn id="103" dur="1" fill="hold">
                                          <p:stCondLst>
                                            <p:cond delay="0"/>
                                          </p:stCondLst>
                                        </p:cTn>
                                        <p:tgtEl>
                                          <p:spTgt spid="38"/>
                                        </p:tgtEl>
                                        <p:attrNameLst>
                                          <p:attrName>style.visibility</p:attrName>
                                        </p:attrNameLst>
                                      </p:cBhvr>
                                      <p:to>
                                        <p:strVal val="visible"/>
                                      </p:to>
                                    </p:set>
                                    <p:animEffect transition="in" filter="fade">
                                      <p:cBhvr>
                                        <p:cTn id="104" dur="300"/>
                                        <p:tgtEl>
                                          <p:spTgt spid="38"/>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9"/>
                                        </p:tgtEl>
                                        <p:attrNameLst>
                                          <p:attrName>style.visibility</p:attrName>
                                        </p:attrNameLst>
                                      </p:cBhvr>
                                      <p:to>
                                        <p:strVal val="visible"/>
                                      </p:to>
                                    </p:set>
                                    <p:animEffect transition="in" filter="fade">
                                      <p:cBhvr>
                                        <p:cTn id="107" dur="300"/>
                                        <p:tgtEl>
                                          <p:spTgt spid="39"/>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0"/>
                                        </p:tgtEl>
                                        <p:attrNameLst>
                                          <p:attrName>style.visibility</p:attrName>
                                        </p:attrNameLst>
                                      </p:cBhvr>
                                      <p:to>
                                        <p:strVal val="visible"/>
                                      </p:to>
                                    </p:set>
                                    <p:animEffect transition="in" filter="fade">
                                      <p:cBhvr>
                                        <p:cTn id="110" dur="300"/>
                                        <p:tgtEl>
                                          <p:spTgt spid="40"/>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1"/>
                                        </p:tgtEl>
                                        <p:attrNameLst>
                                          <p:attrName>style.visibility</p:attrName>
                                        </p:attrNameLst>
                                      </p:cBhvr>
                                      <p:to>
                                        <p:strVal val="visible"/>
                                      </p:to>
                                    </p:set>
                                    <p:animEffect transition="in" filter="fade">
                                      <p:cBhvr>
                                        <p:cTn id="113" dur="300"/>
                                        <p:tgtEl>
                                          <p:spTgt spid="41"/>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2"/>
                                        </p:tgtEl>
                                        <p:attrNameLst>
                                          <p:attrName>style.visibility</p:attrName>
                                        </p:attrNameLst>
                                      </p:cBhvr>
                                      <p:to>
                                        <p:strVal val="visible"/>
                                      </p:to>
                                    </p:set>
                                    <p:animEffect transition="in" filter="fade">
                                      <p:cBhvr>
                                        <p:cTn id="116" dur="3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p:bldP spid="40" grpId="0" animBg="1"/>
      <p:bldP spid="41" grpId="0"/>
      <p:bldP spid="4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1F91B7-9043-6A4E-3488-0E49B199C128}"/>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CAD0ADA-4C1D-4066-C3A9-CFA09A832407}"/>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9680C4E-567C-B82C-DE16-C4C46CB76A1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we'll cover</a:t>
            </a:r>
          </a:p>
        </p:txBody>
      </p:sp>
      <p:sp>
        <p:nvSpPr>
          <p:cNvPr id="5" name="Rectangle 4">
            <a:extLst>
              <a:ext uri="{FF2B5EF4-FFF2-40B4-BE49-F238E27FC236}">
                <a16:creationId xmlns:a16="http://schemas.microsoft.com/office/drawing/2014/main" id="{E51D7845-437F-AEC0-8BCB-04E5B289F77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51EF7A2-A2AC-3178-93DC-BAF45C0C46E5}"/>
              </a:ext>
            </a:extLst>
          </p:cNvPr>
          <p:cNvSpPr/>
          <p:nvPr/>
        </p:nvSpPr>
        <p:spPr>
          <a:xfrm>
            <a:off x="736600" y="1727200"/>
            <a:ext cx="431800" cy="431800"/>
          </a:xfrm>
          <a:prstGeom prst="ellipse">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1</a:t>
            </a:r>
          </a:p>
        </p:txBody>
      </p:sp>
      <p:sp>
        <p:nvSpPr>
          <p:cNvPr id="7" name="TextBox 6">
            <a:extLst>
              <a:ext uri="{FF2B5EF4-FFF2-40B4-BE49-F238E27FC236}">
                <a16:creationId xmlns:a16="http://schemas.microsoft.com/office/drawing/2014/main" id="{1FC3D4E7-5DB1-F456-0948-8195073FA991}"/>
              </a:ext>
            </a:extLst>
          </p:cNvPr>
          <p:cNvSpPr txBox="1"/>
          <p:nvPr/>
        </p:nvSpPr>
        <p:spPr>
          <a:xfrm>
            <a:off x="1371600" y="16510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Define the service</a:t>
            </a:r>
          </a:p>
        </p:txBody>
      </p:sp>
      <p:sp>
        <p:nvSpPr>
          <p:cNvPr id="8" name="TextBox 7">
            <a:extLst>
              <a:ext uri="{FF2B5EF4-FFF2-40B4-BE49-F238E27FC236}">
                <a16:creationId xmlns:a16="http://schemas.microsoft.com/office/drawing/2014/main" id="{1A7BD9D5-8A15-C5B6-2581-35B31FF5379D}"/>
              </a:ext>
            </a:extLst>
          </p:cNvPr>
          <p:cNvSpPr txBox="1"/>
          <p:nvPr/>
        </p:nvSpPr>
        <p:spPr>
          <a:xfrm>
            <a:off x="1371600" y="19812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Our example: one order across Azure, the on-premises private cloud and AWS</a:t>
            </a:r>
          </a:p>
        </p:txBody>
      </p:sp>
      <p:sp>
        <p:nvSpPr>
          <p:cNvPr id="9" name="Oval 8">
            <a:extLst>
              <a:ext uri="{FF2B5EF4-FFF2-40B4-BE49-F238E27FC236}">
                <a16:creationId xmlns:a16="http://schemas.microsoft.com/office/drawing/2014/main" id="{758384EA-231D-6C95-810E-BACEDF525586}"/>
              </a:ext>
            </a:extLst>
          </p:cNvPr>
          <p:cNvSpPr/>
          <p:nvPr/>
        </p:nvSpPr>
        <p:spPr>
          <a:xfrm>
            <a:off x="736600" y="2463800"/>
            <a:ext cx="431800" cy="431800"/>
          </a:xfrm>
          <a:prstGeom prst="ellipse">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2</a:t>
            </a:r>
          </a:p>
        </p:txBody>
      </p:sp>
      <p:sp>
        <p:nvSpPr>
          <p:cNvPr id="10" name="TextBox 9">
            <a:extLst>
              <a:ext uri="{FF2B5EF4-FFF2-40B4-BE49-F238E27FC236}">
                <a16:creationId xmlns:a16="http://schemas.microsoft.com/office/drawing/2014/main" id="{4E2576F5-44BB-DFBC-C54D-0060C9C1B113}"/>
              </a:ext>
            </a:extLst>
          </p:cNvPr>
          <p:cNvSpPr txBox="1"/>
          <p:nvPr/>
        </p:nvSpPr>
        <p:spPr>
          <a:xfrm>
            <a:off x="1371600" y="23876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See the parts Microsoft doesn't host</a:t>
            </a:r>
          </a:p>
        </p:txBody>
      </p:sp>
      <p:sp>
        <p:nvSpPr>
          <p:cNvPr id="11" name="TextBox 10">
            <a:extLst>
              <a:ext uri="{FF2B5EF4-FFF2-40B4-BE49-F238E27FC236}">
                <a16:creationId xmlns:a16="http://schemas.microsoft.com/office/drawing/2014/main" id="{1366380E-4CC0-79B3-7F0B-EC08E9BED045}"/>
              </a:ext>
            </a:extLst>
          </p:cNvPr>
          <p:cNvSpPr txBox="1"/>
          <p:nvPr/>
        </p:nvSpPr>
        <p:spPr>
          <a:xfrm>
            <a:off x="1371600" y="27178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How a machine anywhere becomes visible in Azure Monitor</a:t>
            </a:r>
          </a:p>
        </p:txBody>
      </p:sp>
      <p:sp>
        <p:nvSpPr>
          <p:cNvPr id="12" name="Oval 11">
            <a:extLst>
              <a:ext uri="{FF2B5EF4-FFF2-40B4-BE49-F238E27FC236}">
                <a16:creationId xmlns:a16="http://schemas.microsoft.com/office/drawing/2014/main" id="{11EC3B2D-F83A-5469-D7C9-A7C5CD47A04E}"/>
              </a:ext>
            </a:extLst>
          </p:cNvPr>
          <p:cNvSpPr/>
          <p:nvPr/>
        </p:nvSpPr>
        <p:spPr>
          <a:xfrm>
            <a:off x="736600" y="3200400"/>
            <a:ext cx="431800" cy="431800"/>
          </a:xfrm>
          <a:prstGeom prst="ellipse">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3</a:t>
            </a:r>
          </a:p>
        </p:txBody>
      </p:sp>
      <p:sp>
        <p:nvSpPr>
          <p:cNvPr id="13" name="TextBox 12">
            <a:extLst>
              <a:ext uri="{FF2B5EF4-FFF2-40B4-BE49-F238E27FC236}">
                <a16:creationId xmlns:a16="http://schemas.microsoft.com/office/drawing/2014/main" id="{AD738BD5-BA79-E877-9E4C-C8037A37972C}"/>
              </a:ext>
            </a:extLst>
          </p:cNvPr>
          <p:cNvSpPr txBox="1"/>
          <p:nvPr/>
        </p:nvSpPr>
        <p:spPr>
          <a:xfrm>
            <a:off x="1371600" y="31242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When an order fails</a:t>
            </a:r>
          </a:p>
        </p:txBody>
      </p:sp>
      <p:sp>
        <p:nvSpPr>
          <p:cNvPr id="14" name="TextBox 13">
            <a:extLst>
              <a:ext uri="{FF2B5EF4-FFF2-40B4-BE49-F238E27FC236}">
                <a16:creationId xmlns:a16="http://schemas.microsoft.com/office/drawing/2014/main" id="{5A8C1237-5FC0-E577-C85A-E5BC1EB121CA}"/>
              </a:ext>
            </a:extLst>
          </p:cNvPr>
          <p:cNvSpPr txBox="1"/>
          <p:nvPr/>
        </p:nvSpPr>
        <p:spPr>
          <a:xfrm>
            <a:off x="1371600" y="34544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 baseline order, then a controlled fault in AWS</a:t>
            </a:r>
          </a:p>
        </p:txBody>
      </p:sp>
      <p:sp>
        <p:nvSpPr>
          <p:cNvPr id="15" name="Oval 14">
            <a:extLst>
              <a:ext uri="{FF2B5EF4-FFF2-40B4-BE49-F238E27FC236}">
                <a16:creationId xmlns:a16="http://schemas.microsoft.com/office/drawing/2014/main" id="{032962C4-8D10-68EB-88E5-C76F2A8E2560}"/>
              </a:ext>
            </a:extLst>
          </p:cNvPr>
          <p:cNvSpPr/>
          <p:nvPr/>
        </p:nvSpPr>
        <p:spPr>
          <a:xfrm>
            <a:off x="736600" y="3937000"/>
            <a:ext cx="431800" cy="431800"/>
          </a:xfrm>
          <a:prstGeom prst="ellipse">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4</a:t>
            </a:r>
          </a:p>
        </p:txBody>
      </p:sp>
      <p:sp>
        <p:nvSpPr>
          <p:cNvPr id="16" name="TextBox 15">
            <a:extLst>
              <a:ext uri="{FF2B5EF4-FFF2-40B4-BE49-F238E27FC236}">
                <a16:creationId xmlns:a16="http://schemas.microsoft.com/office/drawing/2014/main" id="{1508D9A6-69ED-BC6B-D789-98641A96C29D}"/>
              </a:ext>
            </a:extLst>
          </p:cNvPr>
          <p:cNvSpPr txBox="1"/>
          <p:nvPr/>
        </p:nvSpPr>
        <p:spPr>
          <a:xfrm>
            <a:off x="1371600" y="38608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Model health with Azure Monitor Health Models</a:t>
            </a:r>
          </a:p>
        </p:txBody>
      </p:sp>
      <p:sp>
        <p:nvSpPr>
          <p:cNvPr id="17" name="TextBox 16">
            <a:extLst>
              <a:ext uri="{FF2B5EF4-FFF2-40B4-BE49-F238E27FC236}">
                <a16:creationId xmlns:a16="http://schemas.microsoft.com/office/drawing/2014/main" id="{A6BC8759-3B9B-4962-2498-19C5B204E710}"/>
              </a:ext>
            </a:extLst>
          </p:cNvPr>
          <p:cNvSpPr txBox="1"/>
          <p:nvPr/>
        </p:nvSpPr>
        <p:spPr>
          <a:xfrm>
            <a:off x="1371600" y="41910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SCOM's idea, reintroduced</a:t>
            </a:r>
          </a:p>
        </p:txBody>
      </p:sp>
      <p:sp>
        <p:nvSpPr>
          <p:cNvPr id="18" name="Oval 17">
            <a:extLst>
              <a:ext uri="{FF2B5EF4-FFF2-40B4-BE49-F238E27FC236}">
                <a16:creationId xmlns:a16="http://schemas.microsoft.com/office/drawing/2014/main" id="{0EF79D92-6EFB-A8B0-8445-E2B93CE3C51E}"/>
              </a:ext>
            </a:extLst>
          </p:cNvPr>
          <p:cNvSpPr/>
          <p:nvPr/>
        </p:nvSpPr>
        <p:spPr>
          <a:xfrm>
            <a:off x="736600" y="4673600"/>
            <a:ext cx="431800" cy="431800"/>
          </a:xfrm>
          <a:prstGeom prst="ellipse">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5</a:t>
            </a:r>
          </a:p>
        </p:txBody>
      </p:sp>
      <p:sp>
        <p:nvSpPr>
          <p:cNvPr id="19" name="TextBox 18">
            <a:extLst>
              <a:ext uri="{FF2B5EF4-FFF2-40B4-BE49-F238E27FC236}">
                <a16:creationId xmlns:a16="http://schemas.microsoft.com/office/drawing/2014/main" id="{767E2C9D-2682-0F1E-287E-98CFB9A52448}"/>
              </a:ext>
            </a:extLst>
          </p:cNvPr>
          <p:cNvSpPr txBox="1"/>
          <p:nvPr/>
        </p:nvSpPr>
        <p:spPr>
          <a:xfrm>
            <a:off x="1371600" y="45974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Respond and prove recovery</a:t>
            </a:r>
          </a:p>
        </p:txBody>
      </p:sp>
      <p:sp>
        <p:nvSpPr>
          <p:cNvPr id="20" name="TextBox 19">
            <a:extLst>
              <a:ext uri="{FF2B5EF4-FFF2-40B4-BE49-F238E27FC236}">
                <a16:creationId xmlns:a16="http://schemas.microsoft.com/office/drawing/2014/main" id="{07894490-D8A1-B36E-F12D-3BDD7DF06ABB}"/>
              </a:ext>
            </a:extLst>
          </p:cNvPr>
          <p:cNvSpPr txBox="1"/>
          <p:nvPr/>
        </p:nvSpPr>
        <p:spPr>
          <a:xfrm>
            <a:off x="1371600" y="49276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Alerts with context; recovery is a new observation</a:t>
            </a:r>
          </a:p>
        </p:txBody>
      </p:sp>
      <p:sp>
        <p:nvSpPr>
          <p:cNvPr id="21" name="Oval 20">
            <a:extLst>
              <a:ext uri="{FF2B5EF4-FFF2-40B4-BE49-F238E27FC236}">
                <a16:creationId xmlns:a16="http://schemas.microsoft.com/office/drawing/2014/main" id="{D744ABFD-D0DA-310B-D46F-3C658CD524E4}"/>
              </a:ext>
            </a:extLst>
          </p:cNvPr>
          <p:cNvSpPr/>
          <p:nvPr/>
        </p:nvSpPr>
        <p:spPr>
          <a:xfrm>
            <a:off x="736600" y="5410200"/>
            <a:ext cx="431800" cy="431800"/>
          </a:xfrm>
          <a:prstGeom prst="ellipse">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US" sz="1400" b="1">
                <a:solidFill>
                  <a:srgbClr val="0F172A"/>
                </a:solidFill>
                <a:latin typeface="Calibri" panose="020F0502020204030204" pitchFamily="34" charset="0"/>
              </a:rPr>
              <a:t>6</a:t>
            </a:r>
          </a:p>
        </p:txBody>
      </p:sp>
      <p:sp>
        <p:nvSpPr>
          <p:cNvPr id="22" name="TextBox 21">
            <a:extLst>
              <a:ext uri="{FF2B5EF4-FFF2-40B4-BE49-F238E27FC236}">
                <a16:creationId xmlns:a16="http://schemas.microsoft.com/office/drawing/2014/main" id="{9FD97A2E-3735-06C4-8B1D-886A87D5F6F2}"/>
              </a:ext>
            </a:extLst>
          </p:cNvPr>
          <p:cNvSpPr txBox="1"/>
          <p:nvPr/>
        </p:nvSpPr>
        <p:spPr>
          <a:xfrm>
            <a:off x="1371600" y="5334000"/>
            <a:ext cx="10160000" cy="369332"/>
          </a:xfrm>
          <a:prstGeom prst="rect">
            <a:avLst/>
          </a:prstGeom>
          <a:noFill/>
        </p:spPr>
        <p:txBody>
          <a:bodyPr vert="horz" wrap="square" lIns="25400" rIns="25400" rtlCol="0">
            <a:spAutoFit/>
          </a:bodyPr>
          <a:lstStyle/>
          <a:p>
            <a:r>
              <a:rPr lang="en-US" b="1">
                <a:solidFill>
                  <a:srgbClr val="F1F5FB"/>
                </a:solidFill>
                <a:latin typeface="Calibri" panose="020F0502020204030204" pitchFamily="34" charset="0"/>
              </a:rPr>
              <a:t>Keep it affordable and useful</a:t>
            </a:r>
          </a:p>
        </p:txBody>
      </p:sp>
      <p:sp>
        <p:nvSpPr>
          <p:cNvPr id="23" name="TextBox 22">
            <a:extLst>
              <a:ext uri="{FF2B5EF4-FFF2-40B4-BE49-F238E27FC236}">
                <a16:creationId xmlns:a16="http://schemas.microsoft.com/office/drawing/2014/main" id="{F781640D-DF6A-72CD-C935-5143A3C64EA6}"/>
              </a:ext>
            </a:extLst>
          </p:cNvPr>
          <p:cNvSpPr txBox="1"/>
          <p:nvPr/>
        </p:nvSpPr>
        <p:spPr>
          <a:xfrm>
            <a:off x="1371600" y="5664200"/>
            <a:ext cx="101600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What the evidence costs</a:t>
            </a:r>
          </a:p>
        </p:txBody>
      </p:sp>
      <p:pic>
        <p:nvPicPr>
          <p:cNvPr id="25" name="SponsorBar" descr="CAS 2026 sponsors and #CloudAISummit2026">
            <a:extLst>
              <a:ext uri="{FF2B5EF4-FFF2-40B4-BE49-F238E27FC236}">
                <a16:creationId xmlns:a16="http://schemas.microsoft.com/office/drawing/2014/main" id="{CE26C79A-6C0E-263B-6CBA-273E4E159C9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867674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BDAB72-6DD0-21A5-52C7-AA784FF007F9}"/>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DE49842-B616-A5B6-F9E2-00F888B8D73B}"/>
              </a:ext>
            </a:extLst>
          </p:cNvPr>
          <p:cNvSpPr/>
          <p:nvPr/>
        </p:nvSpPr>
        <p:spPr>
          <a:xfrm>
            <a:off x="0" y="1549400"/>
            <a:ext cx="12192000" cy="50800"/>
          </a:xfrm>
          <a:prstGeom prst="rect">
            <a:avLst/>
          </a:prstGeom>
          <a:solidFill>
            <a:srgbClr val="6EE7B7"/>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993BA9D-63B0-DB0F-78D1-B9272E111CC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1 · Define the service</a:t>
            </a:r>
          </a:p>
        </p:txBody>
      </p:sp>
      <p:sp>
        <p:nvSpPr>
          <p:cNvPr id="5" name="Rectangle 4">
            <a:extLst>
              <a:ext uri="{FF2B5EF4-FFF2-40B4-BE49-F238E27FC236}">
                <a16:creationId xmlns:a16="http://schemas.microsoft.com/office/drawing/2014/main" id="{41567699-DC08-7EFD-01A3-2D5013A86DCB}"/>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E6A3695A-09E3-8D57-61D7-C10D04264D40}"/>
              </a:ext>
            </a:extLst>
          </p:cNvPr>
          <p:cNvSpPr/>
          <p:nvPr/>
        </p:nvSpPr>
        <p:spPr>
          <a:xfrm>
            <a:off x="9042400" y="330200"/>
            <a:ext cx="2540000" cy="3302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1 · DEFINE THE SERVICE</a:t>
            </a:r>
          </a:p>
        </p:txBody>
      </p:sp>
      <p:sp>
        <p:nvSpPr>
          <p:cNvPr id="7" name="TextBox 6">
            <a:extLst>
              <a:ext uri="{FF2B5EF4-FFF2-40B4-BE49-F238E27FC236}">
                <a16:creationId xmlns:a16="http://schemas.microsoft.com/office/drawing/2014/main" id="{2177CBD9-6F65-6BC5-7169-F13C7AFBC013}"/>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6EE7B7"/>
                </a:solidFill>
                <a:latin typeface="Calibri" panose="020F0502020204030204" pitchFamily="34" charset="0"/>
              </a:rPr>
              <a:t>1</a:t>
            </a:r>
          </a:p>
        </p:txBody>
      </p:sp>
      <p:sp>
        <p:nvSpPr>
          <p:cNvPr id="8" name="TextBox 7">
            <a:extLst>
              <a:ext uri="{FF2B5EF4-FFF2-40B4-BE49-F238E27FC236}">
                <a16:creationId xmlns:a16="http://schemas.microsoft.com/office/drawing/2014/main" id="{94A08DD6-8F20-4AEF-4799-71EAD962DE81}"/>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DBE1514C-F706-222B-7B06-B99E31D872B2}"/>
              </a:ext>
            </a:extLst>
          </p:cNvPr>
          <p:cNvSpPr txBox="1"/>
          <p:nvPr/>
        </p:nvSpPr>
        <p:spPr>
          <a:xfrm>
            <a:off x="2413000" y="1778000"/>
            <a:ext cx="9169400" cy="830997"/>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What does our example service depend on, and what does "working" mean?</a:t>
            </a:r>
          </a:p>
        </p:txBody>
      </p:sp>
      <p:sp>
        <p:nvSpPr>
          <p:cNvPr id="10" name="TextBox 9">
            <a:extLst>
              <a:ext uri="{FF2B5EF4-FFF2-40B4-BE49-F238E27FC236}">
                <a16:creationId xmlns:a16="http://schemas.microsoft.com/office/drawing/2014/main" id="{FBD24A6B-D895-1FBB-592A-5AC579AB1137}"/>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D778B8EA-2C75-FCF8-7566-B17F58F9EC57}"/>
              </a:ext>
            </a:extLst>
          </p:cNvPr>
          <p:cNvSpPr txBox="1"/>
          <p:nvPr/>
        </p:nvSpPr>
        <p:spPr>
          <a:xfrm>
            <a:off x="2413000" y="30480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The three customer commitments, the architecture across Azure, on-premises and AWS, and what one order depends on.</a:t>
            </a:r>
          </a:p>
        </p:txBody>
      </p:sp>
      <p:sp>
        <p:nvSpPr>
          <p:cNvPr id="12" name="TextBox 11">
            <a:extLst>
              <a:ext uri="{FF2B5EF4-FFF2-40B4-BE49-F238E27FC236}">
                <a16:creationId xmlns:a16="http://schemas.microsoft.com/office/drawing/2014/main" id="{88CCCF0E-3603-AF02-A497-21F4066B2CD2}"/>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EA117F58-2C27-DCF3-F7C2-5ADB97168CB2}"/>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You can't monitor a service until you have agreed what it is and what success looks like.</a:t>
            </a:r>
          </a:p>
        </p:txBody>
      </p:sp>
      <p:sp>
        <p:nvSpPr>
          <p:cNvPr id="14" name="TextBox 13">
            <a:extLst>
              <a:ext uri="{FF2B5EF4-FFF2-40B4-BE49-F238E27FC236}">
                <a16:creationId xmlns:a16="http://schemas.microsoft.com/office/drawing/2014/main" id="{759AE9E3-3EF2-27E6-FC50-BDC45663B671}"/>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8F175A70-57E5-134A-EF90-A02E269A4469}"/>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service boundary and dependencies</a:t>
            </a:r>
          </a:p>
        </p:txBody>
      </p:sp>
      <p:sp>
        <p:nvSpPr>
          <p:cNvPr id="16" name="Rectangle: Rounded Corners 15">
            <a:extLst>
              <a:ext uri="{FF2B5EF4-FFF2-40B4-BE49-F238E27FC236}">
                <a16:creationId xmlns:a16="http://schemas.microsoft.com/office/drawing/2014/main" id="{E411EA21-0EF2-9A0D-9A62-872E9AC393C7}"/>
              </a:ext>
            </a:extLst>
          </p:cNvPr>
          <p:cNvSpPr/>
          <p:nvPr/>
        </p:nvSpPr>
        <p:spPr>
          <a:xfrm>
            <a:off x="609600" y="5334000"/>
            <a:ext cx="1752600" cy="508000"/>
          </a:xfrm>
          <a:prstGeom prst="roundRect">
            <a:avLst/>
          </a:prstGeom>
          <a:solidFill>
            <a:srgbClr val="6EE7B7"/>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24F98ECE-7214-C55A-8334-769E0BB2B524}"/>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C2BC5366-4634-C3D9-0C4B-7A7134FD9F94}"/>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01280671-88CB-059B-A17D-1E36FB37655A}"/>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1B66B7CD-A0B1-EE7F-2915-A0E7E4540889}"/>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0D914B3B-45A9-A719-23F7-D2CF509C2A4F}"/>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5BD15BA8-6AA0-F4FF-7674-6D2E17B95DD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5229920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2B4A671-DB78-3BCA-49DD-CD37B7F75B5B}"/>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26ADD70-6F1D-D98D-B92E-44849887F172}"/>
              </a:ext>
            </a:extLst>
          </p:cNvPr>
          <p:cNvSpPr/>
          <p:nvPr/>
        </p:nvSpPr>
        <p:spPr>
          <a:xfrm>
            <a:off x="0" y="1549400"/>
            <a:ext cx="12192000" cy="50800"/>
          </a:xfrm>
          <a:prstGeom prst="rect">
            <a:avLst/>
          </a:prstGeom>
          <a:solidFill>
            <a:srgbClr val="6EE7B7"/>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C459009-0255-0C27-3AEF-48FF9B098F4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"working" means</a:t>
            </a:r>
          </a:p>
        </p:txBody>
      </p:sp>
      <p:sp>
        <p:nvSpPr>
          <p:cNvPr id="5" name="Rectangle 4">
            <a:extLst>
              <a:ext uri="{FF2B5EF4-FFF2-40B4-BE49-F238E27FC236}">
                <a16:creationId xmlns:a16="http://schemas.microsoft.com/office/drawing/2014/main" id="{27BCD7E0-40D1-278E-E523-027F1279954A}"/>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94BEADE-B8A0-66ED-4D3B-C15A73C3E389}"/>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Our example: IIC Hybrid Orders, from the fictional Infinite Improbability Corp. The services it uses are real.</a:t>
            </a:r>
          </a:p>
        </p:txBody>
      </p:sp>
      <p:sp>
        <p:nvSpPr>
          <p:cNvPr id="7" name="SectionTag">
            <a:extLst>
              <a:ext uri="{FF2B5EF4-FFF2-40B4-BE49-F238E27FC236}">
                <a16:creationId xmlns:a16="http://schemas.microsoft.com/office/drawing/2014/main" id="{1AEEC2BA-685F-A4D1-D88D-F0732D8370A5}"/>
              </a:ext>
            </a:extLst>
          </p:cNvPr>
          <p:cNvSpPr/>
          <p:nvPr/>
        </p:nvSpPr>
        <p:spPr>
          <a:xfrm>
            <a:off x="9042400" y="330200"/>
            <a:ext cx="2540000" cy="3302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1 · DEFINE THE SERVICE</a:t>
            </a:r>
          </a:p>
        </p:txBody>
      </p:sp>
      <p:sp>
        <p:nvSpPr>
          <p:cNvPr id="8" name="Rectangle: Rounded Corners 7">
            <a:extLst>
              <a:ext uri="{FF2B5EF4-FFF2-40B4-BE49-F238E27FC236}">
                <a16:creationId xmlns:a16="http://schemas.microsoft.com/office/drawing/2014/main" id="{2EA74500-B485-A229-49FF-8389A8A2A8DE}"/>
              </a:ext>
            </a:extLst>
          </p:cNvPr>
          <p:cNvSpPr/>
          <p:nvPr/>
        </p:nvSpPr>
        <p:spPr>
          <a:xfrm>
            <a:off x="609600" y="1854200"/>
            <a:ext cx="3454400" cy="889000"/>
          </a:xfrm>
          <a:prstGeom prst="roundRect">
            <a:avLst/>
          </a:prstGeom>
          <a:solidFill>
            <a:srgbClr val="20326C"/>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F1F5FB"/>
                </a:solidFill>
                <a:latin typeface="Calibri" panose="020F0502020204030204" pitchFamily="34" charset="0"/>
              </a:rPr>
              <a:t>Customers can open the portal</a:t>
            </a:r>
          </a:p>
        </p:txBody>
      </p:sp>
      <p:sp>
        <p:nvSpPr>
          <p:cNvPr id="9" name="TextBox 8">
            <a:extLst>
              <a:ext uri="{FF2B5EF4-FFF2-40B4-BE49-F238E27FC236}">
                <a16:creationId xmlns:a16="http://schemas.microsoft.com/office/drawing/2014/main" id="{D17A7EE5-DD47-C242-44D2-36280EA0E8C7}"/>
              </a:ext>
            </a:extLst>
          </p:cNvPr>
          <p:cNvSpPr txBox="1"/>
          <p:nvPr/>
        </p:nvSpPr>
        <p:spPr>
          <a:xfrm>
            <a:off x="609600" y="2946400"/>
            <a:ext cx="3454400" cy="276999"/>
          </a:xfrm>
          <a:prstGeom prst="rect">
            <a:avLst/>
          </a:prstGeom>
          <a:noFill/>
        </p:spPr>
        <p:txBody>
          <a:bodyPr vert="horz" wrap="square" lIns="25400" rIns="25400" rtlCol="0">
            <a:spAutoFit/>
          </a:bodyPr>
          <a:lstStyle/>
          <a:p>
            <a:r>
              <a:rPr lang="en-US" sz="1200" b="1">
                <a:solidFill>
                  <a:srgbClr val="A5BEFF"/>
                </a:solidFill>
                <a:latin typeface="Calibri" panose="020F0502020204030204" pitchFamily="34" charset="0"/>
              </a:rPr>
              <a:t>PROVED BY</a:t>
            </a:r>
          </a:p>
        </p:txBody>
      </p:sp>
      <p:sp>
        <p:nvSpPr>
          <p:cNvPr id="10" name="Rectangle: Rounded Corners 9">
            <a:extLst>
              <a:ext uri="{FF2B5EF4-FFF2-40B4-BE49-F238E27FC236}">
                <a16:creationId xmlns:a16="http://schemas.microsoft.com/office/drawing/2014/main" id="{2D694090-4867-0080-0344-A4AF7BD762D3}"/>
              </a:ext>
            </a:extLst>
          </p:cNvPr>
          <p:cNvSpPr/>
          <p:nvPr/>
        </p:nvSpPr>
        <p:spPr>
          <a:xfrm>
            <a:off x="609600" y="3276600"/>
            <a:ext cx="3454400" cy="1397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A portal response from either copy: Azure Container Apps or EKS in AWS, through Front Door</a:t>
            </a:r>
          </a:p>
        </p:txBody>
      </p:sp>
      <p:sp>
        <p:nvSpPr>
          <p:cNvPr id="11" name="Rectangle: Rounded Corners 10">
            <a:extLst>
              <a:ext uri="{FF2B5EF4-FFF2-40B4-BE49-F238E27FC236}">
                <a16:creationId xmlns:a16="http://schemas.microsoft.com/office/drawing/2014/main" id="{8BFD8425-E7A0-E78D-A9D3-D9BD27572B52}"/>
              </a:ext>
            </a:extLst>
          </p:cNvPr>
          <p:cNvSpPr/>
          <p:nvPr/>
        </p:nvSpPr>
        <p:spPr>
          <a:xfrm>
            <a:off x="4368800" y="1854200"/>
            <a:ext cx="3454400" cy="889000"/>
          </a:xfrm>
          <a:prstGeom prst="roundRect">
            <a:avLst/>
          </a:prstGeom>
          <a:solidFill>
            <a:srgbClr val="20326C"/>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F1F5FB"/>
                </a:solidFill>
                <a:latin typeface="Calibri" panose="020F0502020204030204" pitchFamily="34" charset="0"/>
              </a:rPr>
              <a:t>Customers can complete an order</a:t>
            </a:r>
          </a:p>
        </p:txBody>
      </p:sp>
      <p:sp>
        <p:nvSpPr>
          <p:cNvPr id="12" name="TextBox 11">
            <a:extLst>
              <a:ext uri="{FF2B5EF4-FFF2-40B4-BE49-F238E27FC236}">
                <a16:creationId xmlns:a16="http://schemas.microsoft.com/office/drawing/2014/main" id="{46F6F1CF-7EEC-73A2-A7BE-4417F9737F56}"/>
              </a:ext>
            </a:extLst>
          </p:cNvPr>
          <p:cNvSpPr txBox="1"/>
          <p:nvPr/>
        </p:nvSpPr>
        <p:spPr>
          <a:xfrm>
            <a:off x="4368800" y="2946400"/>
            <a:ext cx="34544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PROVED BY</a:t>
            </a:r>
          </a:p>
        </p:txBody>
      </p:sp>
      <p:sp>
        <p:nvSpPr>
          <p:cNvPr id="13" name="Rectangle: Rounded Corners 12">
            <a:extLst>
              <a:ext uri="{FF2B5EF4-FFF2-40B4-BE49-F238E27FC236}">
                <a16:creationId xmlns:a16="http://schemas.microsoft.com/office/drawing/2014/main" id="{9B35B5E9-45EC-7AC7-75A8-8EECCB5E7261}"/>
              </a:ext>
            </a:extLst>
          </p:cNvPr>
          <p:cNvSpPr/>
          <p:nvPr/>
        </p:nvSpPr>
        <p:spPr>
          <a:xfrm>
            <a:off x="4368800" y="3276600"/>
            <a:ext cx="3454400" cy="1397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An order that completes within 45 seconds, with both workers answering</a:t>
            </a:r>
          </a:p>
        </p:txBody>
      </p:sp>
      <p:sp>
        <p:nvSpPr>
          <p:cNvPr id="14" name="Rectangle: Rounded Corners 13">
            <a:extLst>
              <a:ext uri="{FF2B5EF4-FFF2-40B4-BE49-F238E27FC236}">
                <a16:creationId xmlns:a16="http://schemas.microsoft.com/office/drawing/2014/main" id="{2C80196A-9360-5CF8-1DE4-C3ACD623914E}"/>
              </a:ext>
            </a:extLst>
          </p:cNvPr>
          <p:cNvSpPr/>
          <p:nvPr/>
        </p:nvSpPr>
        <p:spPr>
          <a:xfrm>
            <a:off x="8128000" y="1854200"/>
            <a:ext cx="3454400" cy="8890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600" b="1">
                <a:solidFill>
                  <a:srgbClr val="F1F5FB"/>
                </a:solidFill>
                <a:latin typeface="Calibri" panose="020F0502020204030204" pitchFamily="34" charset="0"/>
              </a:rPr>
              <a:t>Operators can observe the service</a:t>
            </a:r>
          </a:p>
        </p:txBody>
      </p:sp>
      <p:sp>
        <p:nvSpPr>
          <p:cNvPr id="15" name="TextBox 14">
            <a:extLst>
              <a:ext uri="{FF2B5EF4-FFF2-40B4-BE49-F238E27FC236}">
                <a16:creationId xmlns:a16="http://schemas.microsoft.com/office/drawing/2014/main" id="{C9DA09BF-F682-2F18-839A-4ABD411B1477}"/>
              </a:ext>
            </a:extLst>
          </p:cNvPr>
          <p:cNvSpPr txBox="1"/>
          <p:nvPr/>
        </p:nvSpPr>
        <p:spPr>
          <a:xfrm>
            <a:off x="8128000" y="2946400"/>
            <a:ext cx="34544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PROVED BY</a:t>
            </a:r>
          </a:p>
        </p:txBody>
      </p:sp>
      <p:sp>
        <p:nvSpPr>
          <p:cNvPr id="16" name="Rectangle: Rounded Corners 15">
            <a:extLst>
              <a:ext uri="{FF2B5EF4-FFF2-40B4-BE49-F238E27FC236}">
                <a16:creationId xmlns:a16="http://schemas.microsoft.com/office/drawing/2014/main" id="{DDB48806-9AAC-99E7-D436-24E8C4CC8467}"/>
              </a:ext>
            </a:extLst>
          </p:cNvPr>
          <p:cNvSpPr/>
          <p:nvPr/>
        </p:nvSpPr>
        <p:spPr>
          <a:xfrm>
            <a:off x="8128000" y="3276600"/>
            <a:ext cx="3454400" cy="1397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Fresh evidence arriving from every cloud</a:t>
            </a:r>
          </a:p>
        </p:txBody>
      </p:sp>
      <p:sp>
        <p:nvSpPr>
          <p:cNvPr id="17" name="TextBox 16">
            <a:extLst>
              <a:ext uri="{FF2B5EF4-FFF2-40B4-BE49-F238E27FC236}">
                <a16:creationId xmlns:a16="http://schemas.microsoft.com/office/drawing/2014/main" id="{75CE1C19-29E8-5616-863B-1A08FC6DFE56}"/>
              </a:ext>
            </a:extLst>
          </p:cNvPr>
          <p:cNvSpPr txBox="1"/>
          <p:nvPr/>
        </p:nvSpPr>
        <p:spPr>
          <a:xfrm>
            <a:off x="609600" y="4953000"/>
            <a:ext cx="10972800" cy="323165"/>
          </a:xfrm>
          <a:prstGeom prst="rect">
            <a:avLst/>
          </a:prstGeom>
          <a:noFill/>
        </p:spPr>
        <p:txBody>
          <a:bodyPr vert="horz" wrap="square" lIns="25400" rIns="25400" rtlCol="0">
            <a:spAutoFit/>
          </a:bodyPr>
          <a:lstStyle/>
          <a:p>
            <a:r>
              <a:rPr lang="en-US" sz="1500">
                <a:solidFill>
                  <a:srgbClr val="F1F5FB"/>
                </a:solidFill>
                <a:latin typeface="Calibri" panose="020F0502020204030204" pitchFamily="34" charset="0"/>
              </a:rPr>
              <a:t>These three commitments become the top of the IIC health model later in the session.</a:t>
            </a:r>
          </a:p>
        </p:txBody>
      </p:sp>
      <p:sp>
        <p:nvSpPr>
          <p:cNvPr id="18" name="Rectangle 17">
            <a:extLst>
              <a:ext uri="{FF2B5EF4-FFF2-40B4-BE49-F238E27FC236}">
                <a16:creationId xmlns:a16="http://schemas.microsoft.com/office/drawing/2014/main" id="{488ADD2E-02CC-4DC6-8903-55C07C1BEF9A}"/>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52AF8538-7B1F-67AD-B296-C3CCFB7B1056}"/>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Working is a customer outcome with a time target, proven only when operators can see it.</a:t>
            </a:r>
          </a:p>
        </p:txBody>
      </p:sp>
      <p:pic>
        <p:nvPicPr>
          <p:cNvPr id="21" name="SponsorBar" descr="CAS 2026 sponsors and #CloudAISummit2026">
            <a:extLst>
              <a:ext uri="{FF2B5EF4-FFF2-40B4-BE49-F238E27FC236}">
                <a16:creationId xmlns:a16="http://schemas.microsoft.com/office/drawing/2014/main" id="{3CC612C8-B2A8-80F6-BBCA-E6EE639CE91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963940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C8D8B0-C86C-60D8-FC8F-66CA64C2CC0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9D01E4E-FEB9-C016-E853-824C6DB0F94E}"/>
              </a:ext>
            </a:extLst>
          </p:cNvPr>
          <p:cNvSpPr/>
          <p:nvPr/>
        </p:nvSpPr>
        <p:spPr>
          <a:xfrm>
            <a:off x="0" y="1549400"/>
            <a:ext cx="12192000" cy="50800"/>
          </a:xfrm>
          <a:prstGeom prst="rect">
            <a:avLst/>
          </a:prstGeom>
          <a:solidFill>
            <a:srgbClr val="6EE7B7"/>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0D99F93-C4B7-5EB1-FDEF-661A11988974}"/>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IIC Hybrid Orders architecture</a:t>
            </a:r>
          </a:p>
        </p:txBody>
      </p:sp>
      <p:sp>
        <p:nvSpPr>
          <p:cNvPr id="5" name="Rectangle 4">
            <a:extLst>
              <a:ext uri="{FF2B5EF4-FFF2-40B4-BE49-F238E27FC236}">
                <a16:creationId xmlns:a16="http://schemas.microsoft.com/office/drawing/2014/main" id="{BAF14B0D-B7C5-3011-0E92-FDC2D8903D74}"/>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DBBC4CDA-2483-F6F3-6FAA-832821B3AC1C}"/>
              </a:ext>
            </a:extLst>
          </p:cNvPr>
          <p:cNvSpPr/>
          <p:nvPr/>
        </p:nvSpPr>
        <p:spPr>
          <a:xfrm>
            <a:off x="9042400" y="330200"/>
            <a:ext cx="2540000" cy="3302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1 · DEFINE THE SERVICE</a:t>
            </a:r>
          </a:p>
        </p:txBody>
      </p:sp>
      <p:sp>
        <p:nvSpPr>
          <p:cNvPr id="7" name="Rectangle: Rounded Corners 6">
            <a:extLst>
              <a:ext uri="{FF2B5EF4-FFF2-40B4-BE49-F238E27FC236}">
                <a16:creationId xmlns:a16="http://schemas.microsoft.com/office/drawing/2014/main" id="{0FF658E2-87E2-EB07-7130-7EC693BF5ED4}"/>
              </a:ext>
            </a:extLst>
          </p:cNvPr>
          <p:cNvSpPr/>
          <p:nvPr/>
        </p:nvSpPr>
        <p:spPr>
          <a:xfrm>
            <a:off x="609600" y="2057400"/>
            <a:ext cx="4191000" cy="2489200"/>
          </a:xfrm>
          <a:prstGeom prst="roundRect">
            <a:avLst>
              <a:gd name="adj" fmla="val 7143"/>
            </a:avLst>
          </a:prstGeom>
          <a:noFill/>
          <a:ln w="19050" cap="flat" cmpd="sng" algn="ctr">
            <a:solidFill>
              <a:srgbClr val="A5BE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22BE6CB-ED19-2304-AF82-FB0E3B2BDD9C}"/>
              </a:ext>
            </a:extLst>
          </p:cNvPr>
          <p:cNvSpPr txBox="1"/>
          <p:nvPr/>
        </p:nvSpPr>
        <p:spPr>
          <a:xfrm>
            <a:off x="787400" y="2133600"/>
            <a:ext cx="3835400" cy="261610"/>
          </a:xfrm>
          <a:prstGeom prst="rect">
            <a:avLst/>
          </a:prstGeom>
          <a:noFill/>
        </p:spPr>
        <p:txBody>
          <a:bodyPr vert="horz" wrap="square" lIns="25400" rIns="25400" rtlCol="0">
            <a:spAutoFit/>
          </a:bodyPr>
          <a:lstStyle/>
          <a:p>
            <a:r>
              <a:rPr lang="en-US" sz="1100" b="1">
                <a:solidFill>
                  <a:srgbClr val="A5BEFF"/>
                </a:solidFill>
                <a:latin typeface="Calibri" panose="020F0502020204030204" pitchFamily="34" charset="0"/>
              </a:rPr>
              <a:t>AZURE</a:t>
            </a:r>
          </a:p>
        </p:txBody>
      </p:sp>
      <p:sp>
        <p:nvSpPr>
          <p:cNvPr id="9" name="Rectangle: Rounded Corners 8">
            <a:extLst>
              <a:ext uri="{FF2B5EF4-FFF2-40B4-BE49-F238E27FC236}">
                <a16:creationId xmlns:a16="http://schemas.microsoft.com/office/drawing/2014/main" id="{E2BE8096-FCAB-0883-7BAC-6946E20A4999}"/>
              </a:ext>
            </a:extLst>
          </p:cNvPr>
          <p:cNvSpPr/>
          <p:nvPr/>
        </p:nvSpPr>
        <p:spPr>
          <a:xfrm>
            <a:off x="5003800" y="2057400"/>
            <a:ext cx="2616200" cy="2489200"/>
          </a:xfrm>
          <a:prstGeom prst="roundRect">
            <a:avLst>
              <a:gd name="adj" fmla="val 7143"/>
            </a:avLst>
          </a:prstGeom>
          <a:noFill/>
          <a:ln w="19050" cap="flat" cmpd="sng" algn="ctr">
            <a:solidFill>
              <a:srgbClr val="6EE7B7"/>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3DD871DC-767B-9960-A2D2-1CB785CE2F76}"/>
              </a:ext>
            </a:extLst>
          </p:cNvPr>
          <p:cNvSpPr txBox="1"/>
          <p:nvPr/>
        </p:nvSpPr>
        <p:spPr>
          <a:xfrm>
            <a:off x="5181600" y="2133600"/>
            <a:ext cx="2260600" cy="261610"/>
          </a:xfrm>
          <a:prstGeom prst="rect">
            <a:avLst/>
          </a:prstGeom>
          <a:noFill/>
        </p:spPr>
        <p:txBody>
          <a:bodyPr vert="horz" wrap="square" lIns="25400" rIns="25400" rtlCol="0">
            <a:spAutoFit/>
          </a:bodyPr>
          <a:lstStyle/>
          <a:p>
            <a:r>
              <a:rPr lang="en-US" sz="1100" b="1">
                <a:solidFill>
                  <a:srgbClr val="6EE7B7"/>
                </a:solidFill>
                <a:latin typeface="Calibri" panose="020F0502020204030204" pitchFamily="34" charset="0"/>
              </a:rPr>
              <a:t>ON-PREMISES PRIVATE CLOUD</a:t>
            </a:r>
          </a:p>
        </p:txBody>
      </p:sp>
      <p:sp>
        <p:nvSpPr>
          <p:cNvPr id="11" name="Rectangle: Rounded Corners 10">
            <a:extLst>
              <a:ext uri="{FF2B5EF4-FFF2-40B4-BE49-F238E27FC236}">
                <a16:creationId xmlns:a16="http://schemas.microsoft.com/office/drawing/2014/main" id="{9B8FC207-C2CF-6E97-9A05-4B0BD08307D5}"/>
              </a:ext>
            </a:extLst>
          </p:cNvPr>
          <p:cNvSpPr/>
          <p:nvPr/>
        </p:nvSpPr>
        <p:spPr>
          <a:xfrm>
            <a:off x="7823200" y="2057400"/>
            <a:ext cx="3759200" cy="2489200"/>
          </a:xfrm>
          <a:prstGeom prst="roundRect">
            <a:avLst>
              <a:gd name="adj" fmla="val 7143"/>
            </a:avLst>
          </a:prstGeom>
          <a:noFill/>
          <a:ln w="1905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5D56137-B130-D914-43DE-84E393F5E0BD}"/>
              </a:ext>
            </a:extLst>
          </p:cNvPr>
          <p:cNvSpPr txBox="1"/>
          <p:nvPr/>
        </p:nvSpPr>
        <p:spPr>
          <a:xfrm>
            <a:off x="8001000" y="2133600"/>
            <a:ext cx="3403600" cy="261610"/>
          </a:xfrm>
          <a:prstGeom prst="rect">
            <a:avLst/>
          </a:prstGeom>
          <a:noFill/>
        </p:spPr>
        <p:txBody>
          <a:bodyPr vert="horz" wrap="square" lIns="25400" rIns="25400" rtlCol="0">
            <a:spAutoFit/>
          </a:bodyPr>
          <a:lstStyle/>
          <a:p>
            <a:r>
              <a:rPr lang="en-US" sz="1100" b="1">
                <a:solidFill>
                  <a:srgbClr val="FACC15"/>
                </a:solidFill>
                <a:latin typeface="Calibri" panose="020F0502020204030204" pitchFamily="34" charset="0"/>
              </a:rPr>
              <a:t>AWS</a:t>
            </a:r>
          </a:p>
        </p:txBody>
      </p:sp>
      <p:sp>
        <p:nvSpPr>
          <p:cNvPr id="13" name="Rectangle: Rounded Corners 12">
            <a:extLst>
              <a:ext uri="{FF2B5EF4-FFF2-40B4-BE49-F238E27FC236}">
                <a16:creationId xmlns:a16="http://schemas.microsoft.com/office/drawing/2014/main" id="{06343C69-5150-F1FA-270B-B320CEF5C2AF}"/>
              </a:ext>
            </a:extLst>
          </p:cNvPr>
          <p:cNvSpPr/>
          <p:nvPr/>
        </p:nvSpPr>
        <p:spPr>
          <a:xfrm>
            <a:off x="787400" y="2514600"/>
            <a:ext cx="1854200" cy="635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65417C64-CB07-55EA-3F5A-EE5FDDBBB8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638300" y="2552700"/>
            <a:ext cx="152400" cy="152400"/>
          </a:xfrm>
          <a:prstGeom prst="rect">
            <a:avLst/>
          </a:prstGeom>
        </p:spPr>
      </p:pic>
      <p:sp>
        <p:nvSpPr>
          <p:cNvPr id="16" name="TextBox 15">
            <a:extLst>
              <a:ext uri="{FF2B5EF4-FFF2-40B4-BE49-F238E27FC236}">
                <a16:creationId xmlns:a16="http://schemas.microsoft.com/office/drawing/2014/main" id="{07353337-761A-CB30-C175-1FA666DB5EBB}"/>
              </a:ext>
            </a:extLst>
          </p:cNvPr>
          <p:cNvSpPr txBox="1"/>
          <p:nvPr/>
        </p:nvSpPr>
        <p:spPr>
          <a:xfrm>
            <a:off x="889000" y="2717800"/>
            <a:ext cx="16510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Front Door + WAF</a:t>
            </a:r>
          </a:p>
        </p:txBody>
      </p:sp>
      <p:sp>
        <p:nvSpPr>
          <p:cNvPr id="17" name="Rectangle: Rounded Corners 16">
            <a:extLst>
              <a:ext uri="{FF2B5EF4-FFF2-40B4-BE49-F238E27FC236}">
                <a16:creationId xmlns:a16="http://schemas.microsoft.com/office/drawing/2014/main" id="{81DF8CB3-0E1E-1351-A2B2-323BA2DB0796}"/>
              </a:ext>
            </a:extLst>
          </p:cNvPr>
          <p:cNvSpPr/>
          <p:nvPr/>
        </p:nvSpPr>
        <p:spPr>
          <a:xfrm>
            <a:off x="2768600" y="2514600"/>
            <a:ext cx="1854200" cy="635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99A58574-01D3-F2C6-AF1D-0CBB081B2191}"/>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3619500" y="2552700"/>
            <a:ext cx="152400" cy="152400"/>
          </a:xfrm>
          <a:prstGeom prst="rect">
            <a:avLst/>
          </a:prstGeom>
        </p:spPr>
      </p:pic>
      <p:sp>
        <p:nvSpPr>
          <p:cNvPr id="20" name="TextBox 19">
            <a:extLst>
              <a:ext uri="{FF2B5EF4-FFF2-40B4-BE49-F238E27FC236}">
                <a16:creationId xmlns:a16="http://schemas.microsoft.com/office/drawing/2014/main" id="{7CB2E88C-372C-A962-08CF-133B81D2D292}"/>
              </a:ext>
            </a:extLst>
          </p:cNvPr>
          <p:cNvSpPr txBox="1"/>
          <p:nvPr/>
        </p:nvSpPr>
        <p:spPr>
          <a:xfrm>
            <a:off x="2870200" y="2717800"/>
            <a:ext cx="16510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Portal
Container Apps</a:t>
            </a:r>
          </a:p>
        </p:txBody>
      </p:sp>
      <p:sp>
        <p:nvSpPr>
          <p:cNvPr id="21" name="Rectangle: Rounded Corners 20">
            <a:extLst>
              <a:ext uri="{FF2B5EF4-FFF2-40B4-BE49-F238E27FC236}">
                <a16:creationId xmlns:a16="http://schemas.microsoft.com/office/drawing/2014/main" id="{44A1515B-58EC-E111-8CB6-0253A75A44D4}"/>
              </a:ext>
            </a:extLst>
          </p:cNvPr>
          <p:cNvSpPr/>
          <p:nvPr/>
        </p:nvSpPr>
        <p:spPr>
          <a:xfrm>
            <a:off x="787400" y="3479800"/>
            <a:ext cx="1854200" cy="635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11D0089F-EE38-2194-0818-90A4B851956F}"/>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638300" y="3517900"/>
            <a:ext cx="152400" cy="152400"/>
          </a:xfrm>
          <a:prstGeom prst="rect">
            <a:avLst/>
          </a:prstGeom>
        </p:spPr>
      </p:pic>
      <p:sp>
        <p:nvSpPr>
          <p:cNvPr id="24" name="TextBox 23">
            <a:extLst>
              <a:ext uri="{FF2B5EF4-FFF2-40B4-BE49-F238E27FC236}">
                <a16:creationId xmlns:a16="http://schemas.microsoft.com/office/drawing/2014/main" id="{A223F0D7-57B2-7D2E-2626-A74FE6166B3E}"/>
              </a:ext>
            </a:extLst>
          </p:cNvPr>
          <p:cNvSpPr txBox="1"/>
          <p:nvPr/>
        </p:nvSpPr>
        <p:spPr>
          <a:xfrm>
            <a:off x="889000" y="3683000"/>
            <a:ext cx="16510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Coordinator
Azure Functions</a:t>
            </a:r>
          </a:p>
        </p:txBody>
      </p:sp>
      <p:sp>
        <p:nvSpPr>
          <p:cNvPr id="25" name="Rectangle: Rounded Corners 24">
            <a:extLst>
              <a:ext uri="{FF2B5EF4-FFF2-40B4-BE49-F238E27FC236}">
                <a16:creationId xmlns:a16="http://schemas.microsoft.com/office/drawing/2014/main" id="{65859388-C587-5A8D-8644-490BA0F60CBA}"/>
              </a:ext>
            </a:extLst>
          </p:cNvPr>
          <p:cNvSpPr/>
          <p:nvPr/>
        </p:nvSpPr>
        <p:spPr>
          <a:xfrm>
            <a:off x="2768600" y="3479800"/>
            <a:ext cx="1854200" cy="635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E60EDFF4-E56C-B085-9719-CD520A896DBB}"/>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619500" y="3517900"/>
            <a:ext cx="152400" cy="152400"/>
          </a:xfrm>
          <a:prstGeom prst="rect">
            <a:avLst/>
          </a:prstGeom>
        </p:spPr>
      </p:pic>
      <p:sp>
        <p:nvSpPr>
          <p:cNvPr id="28" name="TextBox 27">
            <a:extLst>
              <a:ext uri="{FF2B5EF4-FFF2-40B4-BE49-F238E27FC236}">
                <a16:creationId xmlns:a16="http://schemas.microsoft.com/office/drawing/2014/main" id="{7FEE6DAB-C771-9C5D-09AB-8CFBCD1F1D60}"/>
              </a:ext>
            </a:extLst>
          </p:cNvPr>
          <p:cNvSpPr txBox="1"/>
          <p:nvPr/>
        </p:nvSpPr>
        <p:spPr>
          <a:xfrm>
            <a:off x="2870200" y="3683000"/>
            <a:ext cx="16510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Service Bus
queues</a:t>
            </a:r>
          </a:p>
        </p:txBody>
      </p:sp>
      <p:sp>
        <p:nvSpPr>
          <p:cNvPr id="29" name="Rectangle: Rounded Corners 28">
            <a:extLst>
              <a:ext uri="{FF2B5EF4-FFF2-40B4-BE49-F238E27FC236}">
                <a16:creationId xmlns:a16="http://schemas.microsoft.com/office/drawing/2014/main" id="{2749078D-8577-4A23-49A6-D06375FF6BC4}"/>
              </a:ext>
            </a:extLst>
          </p:cNvPr>
          <p:cNvSpPr/>
          <p:nvPr/>
        </p:nvSpPr>
        <p:spPr>
          <a:xfrm>
            <a:off x="5588000" y="3479800"/>
            <a:ext cx="1905000" cy="635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8CFD9397-A16A-594A-698B-64D9854EFB82}"/>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464300" y="3517900"/>
            <a:ext cx="152400" cy="152400"/>
          </a:xfrm>
          <a:prstGeom prst="rect">
            <a:avLst/>
          </a:prstGeom>
        </p:spPr>
      </p:pic>
      <p:sp>
        <p:nvSpPr>
          <p:cNvPr id="32" name="TextBox 31">
            <a:extLst>
              <a:ext uri="{FF2B5EF4-FFF2-40B4-BE49-F238E27FC236}">
                <a16:creationId xmlns:a16="http://schemas.microsoft.com/office/drawing/2014/main" id="{A879176C-C171-BD34-127F-C8F6E845196A}"/>
              </a:ext>
            </a:extLst>
          </p:cNvPr>
          <p:cNvSpPr txBox="1"/>
          <p:nvPr/>
        </p:nvSpPr>
        <p:spPr>
          <a:xfrm>
            <a:off x="5689600" y="3683000"/>
            <a:ext cx="17018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Validation worker
cas26-lnx01 (SCVMM)</a:t>
            </a:r>
          </a:p>
        </p:txBody>
      </p:sp>
      <p:sp>
        <p:nvSpPr>
          <p:cNvPr id="33" name="Rectangle: Rounded Corners 32">
            <a:extLst>
              <a:ext uri="{FF2B5EF4-FFF2-40B4-BE49-F238E27FC236}">
                <a16:creationId xmlns:a16="http://schemas.microsoft.com/office/drawing/2014/main" id="{D5B5EEFF-5382-FC94-D357-01537D7F2213}"/>
              </a:ext>
            </a:extLst>
          </p:cNvPr>
          <p:cNvSpPr/>
          <p:nvPr/>
        </p:nvSpPr>
        <p:spPr>
          <a:xfrm>
            <a:off x="8001000" y="2514600"/>
            <a:ext cx="3403600" cy="635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0555884A-1937-7F57-B9A1-20FE4F829A5C}"/>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9626600" y="2552700"/>
            <a:ext cx="152400" cy="152400"/>
          </a:xfrm>
          <a:prstGeom prst="rect">
            <a:avLst/>
          </a:prstGeom>
        </p:spPr>
      </p:pic>
      <p:sp>
        <p:nvSpPr>
          <p:cNvPr id="36" name="TextBox 35">
            <a:extLst>
              <a:ext uri="{FF2B5EF4-FFF2-40B4-BE49-F238E27FC236}">
                <a16:creationId xmlns:a16="http://schemas.microsoft.com/office/drawing/2014/main" id="{24EBC8AE-5298-98FC-961E-B33C8497AC89}"/>
              </a:ext>
            </a:extLst>
          </p:cNvPr>
          <p:cNvSpPr txBox="1"/>
          <p:nvPr/>
        </p:nvSpPr>
        <p:spPr>
          <a:xfrm>
            <a:off x="8102600" y="2717800"/>
            <a:ext cx="3200400" cy="406400"/>
          </a:xfrm>
          <a:prstGeom prst="rect">
            <a:avLst/>
          </a:prstGeom>
          <a:noFill/>
        </p:spPr>
        <p:txBody>
          <a:bodyPr vert="horz" wrap="square" lIns="25400" tIns="0" rIns="25400" bIns="0" rtlCol="0" anchor="ctr">
            <a:noAutofit/>
          </a:bodyPr>
          <a:lstStyle/>
          <a:p>
            <a:pPr algn="ctr"/>
            <a:r>
              <a:rPr lang="en-US" sz="1100" b="1">
                <a:solidFill>
                  <a:srgbClr val="F1F5FB"/>
                </a:solidFill>
                <a:latin typeface="Calibri" panose="020F0502020204030204" pitchFamily="34" charset="0"/>
              </a:rPr>
              <a:t>Portal copy
EKS behind an ALB</a:t>
            </a:r>
          </a:p>
        </p:txBody>
      </p:sp>
      <p:sp>
        <p:nvSpPr>
          <p:cNvPr id="37" name="Rectangle: Rounded Corners 36">
            <a:extLst>
              <a:ext uri="{FF2B5EF4-FFF2-40B4-BE49-F238E27FC236}">
                <a16:creationId xmlns:a16="http://schemas.microsoft.com/office/drawing/2014/main" id="{1DEDDCC6-8825-CC5A-1911-8A7DD007504A}"/>
              </a:ext>
            </a:extLst>
          </p:cNvPr>
          <p:cNvSpPr/>
          <p:nvPr/>
        </p:nvSpPr>
        <p:spPr>
          <a:xfrm>
            <a:off x="8001000" y="3479800"/>
            <a:ext cx="3403600" cy="635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Fulfillment worker
EC2</a:t>
            </a:r>
          </a:p>
        </p:txBody>
      </p:sp>
      <p:sp>
        <p:nvSpPr>
          <p:cNvPr id="38" name="TextBox 37">
            <a:extLst>
              <a:ext uri="{FF2B5EF4-FFF2-40B4-BE49-F238E27FC236}">
                <a16:creationId xmlns:a16="http://schemas.microsoft.com/office/drawing/2014/main" id="{A73EB027-D05D-E759-4F72-CA726F66989E}"/>
              </a:ext>
            </a:extLst>
          </p:cNvPr>
          <p:cNvSpPr txBox="1"/>
          <p:nvPr/>
        </p:nvSpPr>
        <p:spPr>
          <a:xfrm>
            <a:off x="889000" y="1600200"/>
            <a:ext cx="1143000" cy="261610"/>
          </a:xfrm>
          <a:prstGeom prst="rect">
            <a:avLst/>
          </a:prstGeom>
          <a:noFill/>
        </p:spPr>
        <p:txBody>
          <a:bodyPr vert="horz" wrap="square" lIns="25400" rIns="25400" rtlCol="0">
            <a:spAutoFit/>
          </a:bodyPr>
          <a:lstStyle/>
          <a:p>
            <a:r>
              <a:rPr lang="en-US" sz="1100" b="1">
                <a:solidFill>
                  <a:srgbClr val="A5BEFF"/>
                </a:solidFill>
                <a:latin typeface="Calibri" panose="020F0502020204030204" pitchFamily="34" charset="0"/>
              </a:rPr>
              <a:t>CUSTOMER</a:t>
            </a:r>
          </a:p>
        </p:txBody>
      </p:sp>
      <p:cxnSp>
        <p:nvCxnSpPr>
          <p:cNvPr id="39" name="Straight Arrow Connector 38">
            <a:extLst>
              <a:ext uri="{FF2B5EF4-FFF2-40B4-BE49-F238E27FC236}">
                <a16:creationId xmlns:a16="http://schemas.microsoft.com/office/drawing/2014/main" id="{024DE45A-DCBF-7601-ECC2-21DBA5440304}"/>
              </a:ext>
            </a:extLst>
          </p:cNvPr>
          <p:cNvCxnSpPr/>
          <p:nvPr/>
        </p:nvCxnSpPr>
        <p:spPr>
          <a:xfrm>
            <a:off x="1397000" y="1828800"/>
            <a:ext cx="0" cy="6858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C44800CC-25E2-A0F2-87F4-4B83CB7CCC59}"/>
              </a:ext>
            </a:extLst>
          </p:cNvPr>
          <p:cNvCxnSpPr/>
          <p:nvPr/>
        </p:nvCxnSpPr>
        <p:spPr>
          <a:xfrm>
            <a:off x="2641600" y="2832100"/>
            <a:ext cx="1270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B1EC7B89-1B8F-70E4-CCC0-CD83933695CF}"/>
              </a:ext>
            </a:extLst>
          </p:cNvPr>
          <p:cNvCxnSpPr/>
          <p:nvPr/>
        </p:nvCxnSpPr>
        <p:spPr>
          <a:xfrm flipV="1">
            <a:off x="2286000" y="1943100"/>
            <a:ext cx="0" cy="57150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88D3B399-1D8F-0A7B-19CB-8B99601E3793}"/>
              </a:ext>
            </a:extLst>
          </p:cNvPr>
          <p:cNvCxnSpPr/>
          <p:nvPr/>
        </p:nvCxnSpPr>
        <p:spPr>
          <a:xfrm>
            <a:off x="2286000" y="1943100"/>
            <a:ext cx="7416800" cy="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2F58AA17-A062-280D-1122-B87C2E7B89A2}"/>
              </a:ext>
            </a:extLst>
          </p:cNvPr>
          <p:cNvCxnSpPr/>
          <p:nvPr/>
        </p:nvCxnSpPr>
        <p:spPr>
          <a:xfrm>
            <a:off x="9702800" y="1943100"/>
            <a:ext cx="0" cy="5715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4683438F-C326-85B0-0947-BB751624001A}"/>
              </a:ext>
            </a:extLst>
          </p:cNvPr>
          <p:cNvCxnSpPr/>
          <p:nvPr/>
        </p:nvCxnSpPr>
        <p:spPr>
          <a:xfrm>
            <a:off x="3695700" y="3149600"/>
            <a:ext cx="0" cy="15240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cxnSp>
        <p:nvCxnSpPr>
          <p:cNvPr id="45" name="Straight Arrow Connector 44">
            <a:extLst>
              <a:ext uri="{FF2B5EF4-FFF2-40B4-BE49-F238E27FC236}">
                <a16:creationId xmlns:a16="http://schemas.microsoft.com/office/drawing/2014/main" id="{9A86CD9C-5525-08B5-F7F6-3EEE4E4B12A9}"/>
              </a:ext>
            </a:extLst>
          </p:cNvPr>
          <p:cNvCxnSpPr/>
          <p:nvPr/>
        </p:nvCxnSpPr>
        <p:spPr>
          <a:xfrm flipH="1">
            <a:off x="1714500" y="3302000"/>
            <a:ext cx="1981200" cy="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8C018935-72DB-BCAF-0DFC-45490C517260}"/>
              </a:ext>
            </a:extLst>
          </p:cNvPr>
          <p:cNvCxnSpPr/>
          <p:nvPr/>
        </p:nvCxnSpPr>
        <p:spPr>
          <a:xfrm>
            <a:off x="1714500" y="3302000"/>
            <a:ext cx="0" cy="1778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6E1A885D-E7F4-F48C-4019-1105E66A9875}"/>
              </a:ext>
            </a:extLst>
          </p:cNvPr>
          <p:cNvCxnSpPr/>
          <p:nvPr/>
        </p:nvCxnSpPr>
        <p:spPr>
          <a:xfrm>
            <a:off x="2641600" y="3797300"/>
            <a:ext cx="1270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3BF19EB-0EB4-83A2-B2F5-94B9CFBE750A}"/>
              </a:ext>
            </a:extLst>
          </p:cNvPr>
          <p:cNvCxnSpPr/>
          <p:nvPr/>
        </p:nvCxnSpPr>
        <p:spPr>
          <a:xfrm flipH="1">
            <a:off x="4622800" y="3797300"/>
            <a:ext cx="9652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D825411F-F839-8AA5-C82A-C81401A8C701}"/>
              </a:ext>
            </a:extLst>
          </p:cNvPr>
          <p:cNvSpPr txBox="1"/>
          <p:nvPr/>
        </p:nvSpPr>
        <p:spPr>
          <a:xfrm>
            <a:off x="5054600" y="3543300"/>
            <a:ext cx="508000" cy="261610"/>
          </a:xfrm>
          <a:prstGeom prst="rect">
            <a:avLst/>
          </a:prstGeom>
          <a:noFill/>
        </p:spPr>
        <p:txBody>
          <a:bodyPr vert="horz" wrap="square" lIns="25400" rIns="25400" rtlCol="0">
            <a:spAutoFit/>
          </a:bodyPr>
          <a:lstStyle/>
          <a:p>
            <a:r>
              <a:rPr lang="en-US" sz="1100" b="1">
                <a:solidFill>
                  <a:srgbClr val="6EE7B7"/>
                </a:solidFill>
                <a:latin typeface="Calibri" panose="020F0502020204030204" pitchFamily="34" charset="0"/>
              </a:rPr>
              <a:t>pull</a:t>
            </a:r>
          </a:p>
        </p:txBody>
      </p:sp>
      <p:cxnSp>
        <p:nvCxnSpPr>
          <p:cNvPr id="50" name="Straight Arrow Connector 49">
            <a:extLst>
              <a:ext uri="{FF2B5EF4-FFF2-40B4-BE49-F238E27FC236}">
                <a16:creationId xmlns:a16="http://schemas.microsoft.com/office/drawing/2014/main" id="{CEC24BA4-F43E-1B7F-E408-440F7D05ACC5}"/>
              </a:ext>
            </a:extLst>
          </p:cNvPr>
          <p:cNvCxnSpPr/>
          <p:nvPr/>
        </p:nvCxnSpPr>
        <p:spPr>
          <a:xfrm>
            <a:off x="9702800" y="4114800"/>
            <a:ext cx="0" cy="139700"/>
          </a:xfrm>
          <a:prstGeom prst="straightConnector1">
            <a:avLst/>
          </a:prstGeom>
          <a:ln w="28575">
            <a:solidFill>
              <a:srgbClr val="FACC15"/>
            </a:solidFill>
            <a:tailEnd type="non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FF83CDCB-AA36-2162-4AF5-E0B0E390A35E}"/>
              </a:ext>
            </a:extLst>
          </p:cNvPr>
          <p:cNvCxnSpPr/>
          <p:nvPr/>
        </p:nvCxnSpPr>
        <p:spPr>
          <a:xfrm flipH="1">
            <a:off x="3695700" y="4254500"/>
            <a:ext cx="6007100" cy="0"/>
          </a:xfrm>
          <a:prstGeom prst="straightConnector1">
            <a:avLst/>
          </a:prstGeom>
          <a:ln w="28575">
            <a:solidFill>
              <a:srgbClr val="FACC15"/>
            </a:solidFill>
            <a:tailEnd type="none"/>
          </a:ln>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20185805-A2A4-4A9B-1648-BB7A9E90F2E6}"/>
              </a:ext>
            </a:extLst>
          </p:cNvPr>
          <p:cNvCxnSpPr/>
          <p:nvPr/>
        </p:nvCxnSpPr>
        <p:spPr>
          <a:xfrm flipV="1">
            <a:off x="3695700" y="4114800"/>
            <a:ext cx="0" cy="13970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EF8166EC-C53E-2C4E-6411-76DBEBCBBAC9}"/>
              </a:ext>
            </a:extLst>
          </p:cNvPr>
          <p:cNvSpPr txBox="1"/>
          <p:nvPr/>
        </p:nvSpPr>
        <p:spPr>
          <a:xfrm>
            <a:off x="609600" y="4876800"/>
            <a:ext cx="109728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Front Door serves either portal copy, and both call the same coordinator. Both workers pull their work from Service Bus over outbound TLS.</a:t>
            </a:r>
          </a:p>
        </p:txBody>
      </p:sp>
      <p:sp>
        <p:nvSpPr>
          <p:cNvPr id="54" name="Rectangle 53">
            <a:extLst>
              <a:ext uri="{FF2B5EF4-FFF2-40B4-BE49-F238E27FC236}">
                <a16:creationId xmlns:a16="http://schemas.microsoft.com/office/drawing/2014/main" id="{21E94787-3992-9AB9-49B2-19B60D9C3068}"/>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106EF971-9C28-04F8-8BA9-BD324748EC68}"/>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The order is complete only when both workers answer: AWS is inside the order path.</a:t>
            </a:r>
          </a:p>
        </p:txBody>
      </p:sp>
      <p:pic>
        <p:nvPicPr>
          <p:cNvPr id="57" name="SponsorBar" descr="CAS 2026 sponsors and #CloudAISummit2026">
            <a:extLst>
              <a:ext uri="{FF2B5EF4-FFF2-40B4-BE49-F238E27FC236}">
                <a16:creationId xmlns:a16="http://schemas.microsoft.com/office/drawing/2014/main" id="{E95B79EC-49C1-A57D-3215-4DE3C9F5B042}"/>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58" name="OrderBadge">
            <a:extLst>
              <a:ext uri="{FF2B5EF4-FFF2-40B4-BE49-F238E27FC236}">
                <a16:creationId xmlns:a16="http://schemas.microsoft.com/office/drawing/2014/main" id="{CD62CE58-A963-3D44-DCFA-9471EF64F7C8}"/>
              </a:ext>
            </a:extLst>
          </p:cNvPr>
          <p:cNvSpPr/>
          <p:nvPr/>
        </p:nvSpPr>
        <p:spPr>
          <a:xfrm>
            <a:off x="2413000" y="1651000"/>
            <a:ext cx="1524000" cy="2794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en-US" sz="1100" b="1">
                <a:solidFill>
                  <a:srgbClr val="0F172A"/>
                </a:solidFill>
                <a:latin typeface="Calibri" panose="020F0502020204030204" pitchFamily="34" charset="0"/>
              </a:rPr>
              <a:t>IIC-000042</a:t>
            </a:r>
          </a:p>
        </p:txBody>
      </p:sp>
      <p:sp>
        <p:nvSpPr>
          <p:cNvPr id="59" name="OrderBadgeDone">
            <a:extLst>
              <a:ext uri="{FF2B5EF4-FFF2-40B4-BE49-F238E27FC236}">
                <a16:creationId xmlns:a16="http://schemas.microsoft.com/office/drawing/2014/main" id="{3DAFEB2F-A08D-BDC1-7C81-295F208EB3A8}"/>
              </a:ext>
            </a:extLst>
          </p:cNvPr>
          <p:cNvSpPr/>
          <p:nvPr/>
        </p:nvSpPr>
        <p:spPr>
          <a:xfrm>
            <a:off x="787400" y="4127500"/>
            <a:ext cx="1905000" cy="2540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tIns="0" rIns="25400" bIns="0" rtlCol="0" anchor="ctr"/>
          <a:lstStyle/>
          <a:p>
            <a:pPr algn="ctr"/>
            <a:r>
              <a:rPr lang="en-US" sz="1100" b="1">
                <a:solidFill>
                  <a:srgbClr val="0F172A"/>
                </a:solidFill>
                <a:latin typeface="Calibri" panose="020F0502020204030204" pitchFamily="34" charset="0"/>
              </a:rPr>
              <a:t>IIC-000042 · Completed</a:t>
            </a:r>
          </a:p>
        </p:txBody>
      </p:sp>
    </p:spTree>
    <p:extLst>
      <p:ext uri="{BB962C8B-B14F-4D97-AF65-F5344CB8AC3E}">
        <p14:creationId xmlns:p14="http://schemas.microsoft.com/office/powerpoint/2010/main" val="109168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Motion origin="layout" path="M 0 0 L -0.1198 0.1981 E" pathEditMode="relative">
                                      <p:cBhvr from="" to="">
                                        <p:cTn id="7" dur="600" fill="hold">
                                          <p:stCondLst>
                                            <p:cond delay="0"/>
                                          </p:stCondLst>
                                        </p:cTn>
                                        <p:tgtEl>
                                          <p:spTgt spid="58"/>
                                        </p:tgtEl>
                                        <p:attrNameLst>
                                          <p:attrName>ppt_x</p:attrName>
                                          <p:attrName>ppt_y</p:attrName>
                                        </p:attrNameLst>
                                      </p:cBhvr>
                                    </p:animMotion>
                                  </p:childTnLst>
                                </p:cTn>
                              </p:par>
                            </p:childTnLst>
                          </p:cTn>
                        </p:par>
                      </p:childTnLst>
                    </p:cTn>
                  </p:par>
                  <p:par>
                    <p:cTn id="8" fill="hold">
                      <p:stCondLst>
                        <p:cond delay="indefinite"/>
                      </p:stCondLst>
                      <p:childTnLst>
                        <p:par>
                          <p:cTn id="9" fill="hold">
                            <p:stCondLst>
                              <p:cond delay="0"/>
                            </p:stCondLst>
                            <p:childTnLst>
                              <p:par>
                                <p:cTn id="10" presetID="0" presetClass="entr" presetSubtype="0" fill="hold" grpId="1" nodeType="clickEffect">
                                  <p:stCondLst>
                                    <p:cond delay="0"/>
                                  </p:stCondLst>
                                  <p:childTnLst>
                                    <p:set>
                                      <p:cBhvr>
                                        <p:cTn id="11" dur="1" fill="hold">
                                          <p:stCondLst>
                                            <p:cond delay="0"/>
                                          </p:stCondLst>
                                        </p:cTn>
                                        <p:tgtEl>
                                          <p:spTgt spid="58"/>
                                        </p:tgtEl>
                                        <p:attrNameLst>
                                          <p:attrName>style.visibility</p:attrName>
                                        </p:attrNameLst>
                                      </p:cBhvr>
                                      <p:to>
                                        <p:strVal val="visible"/>
                                      </p:to>
                                    </p:set>
                                    <p:animMotion origin="layout" path="M -0.1198 0.1981 L 0.0427 0.1981 E" pathEditMode="relative">
                                      <p:cBhvr from="" to="">
                                        <p:cTn id="12" dur="600" fill="hold">
                                          <p:stCondLst>
                                            <p:cond delay="0"/>
                                          </p:stCondLst>
                                        </p:cTn>
                                        <p:tgtEl>
                                          <p:spTgt spid="58"/>
                                        </p:tgtEl>
                                        <p:attrNameLst>
                                          <p:attrName>ppt_x</p:attrName>
                                          <p:attrName>ppt_y</p:attrName>
                                        </p:attrNameLst>
                                      </p:cBhvr>
                                    </p:animMotion>
                                  </p:childTnLst>
                                </p:cTn>
                              </p:par>
                            </p:childTnLst>
                          </p:cTn>
                        </p:par>
                      </p:childTnLst>
                    </p:cTn>
                  </p:par>
                  <p:par>
                    <p:cTn id="13" fill="hold">
                      <p:stCondLst>
                        <p:cond delay="indefinite"/>
                      </p:stCondLst>
                      <p:childTnLst>
                        <p:par>
                          <p:cTn id="14" fill="hold">
                            <p:stCondLst>
                              <p:cond delay="0"/>
                            </p:stCondLst>
                            <p:childTnLst>
                              <p:par>
                                <p:cTn id="15" presetID="0" presetClass="entr" presetSubtype="0" fill="hold" grpId="2" nodeType="clickEffect">
                                  <p:stCondLst>
                                    <p:cond delay="0"/>
                                  </p:stCondLst>
                                  <p:childTnLst>
                                    <p:set>
                                      <p:cBhvr>
                                        <p:cTn id="16" dur="1" fill="hold">
                                          <p:stCondLst>
                                            <p:cond delay="0"/>
                                          </p:stCondLst>
                                        </p:cTn>
                                        <p:tgtEl>
                                          <p:spTgt spid="58"/>
                                        </p:tgtEl>
                                        <p:attrNameLst>
                                          <p:attrName>style.visibility</p:attrName>
                                        </p:attrNameLst>
                                      </p:cBhvr>
                                      <p:to>
                                        <p:strVal val="visible"/>
                                      </p:to>
                                    </p:set>
                                    <p:animMotion origin="layout" path="M 0.0427 0.1981 L -0.1198 0.3389 E" pathEditMode="relative">
                                      <p:cBhvr from="" to="">
                                        <p:cTn id="17" dur="600" fill="hold">
                                          <p:stCondLst>
                                            <p:cond delay="0"/>
                                          </p:stCondLst>
                                        </p:cTn>
                                        <p:tgtEl>
                                          <p:spTgt spid="58"/>
                                        </p:tgtEl>
                                        <p:attrNameLst>
                                          <p:attrName>ppt_x</p:attrName>
                                          <p:attrName>ppt_y</p:attrName>
                                        </p:attrNameLst>
                                      </p:cBhvr>
                                    </p:animMotion>
                                  </p:childTnLst>
                                </p:cTn>
                              </p:par>
                            </p:childTnLst>
                          </p:cTn>
                        </p:par>
                      </p:childTnLst>
                    </p:cTn>
                  </p:par>
                  <p:par>
                    <p:cTn id="18" fill="hold">
                      <p:stCondLst>
                        <p:cond delay="indefinite"/>
                      </p:stCondLst>
                      <p:childTnLst>
                        <p:par>
                          <p:cTn id="19" fill="hold">
                            <p:stCondLst>
                              <p:cond delay="0"/>
                            </p:stCondLst>
                            <p:childTnLst>
                              <p:par>
                                <p:cTn id="20" presetID="0" presetClass="entr" presetSubtype="0" fill="hold" grpId="3" nodeType="clickEffect">
                                  <p:stCondLst>
                                    <p:cond delay="0"/>
                                  </p:stCondLst>
                                  <p:childTnLst>
                                    <p:set>
                                      <p:cBhvr>
                                        <p:cTn id="21" dur="1" fill="hold">
                                          <p:stCondLst>
                                            <p:cond delay="0"/>
                                          </p:stCondLst>
                                        </p:cTn>
                                        <p:tgtEl>
                                          <p:spTgt spid="58"/>
                                        </p:tgtEl>
                                        <p:attrNameLst>
                                          <p:attrName>style.visibility</p:attrName>
                                        </p:attrNameLst>
                                      </p:cBhvr>
                                      <p:to>
                                        <p:strVal val="visible"/>
                                      </p:to>
                                    </p:set>
                                    <p:animMotion origin="layout" path="M -0.1198 0.3389 L 0.0427 0.3389 E" pathEditMode="relative">
                                      <p:cBhvr from="" to="">
                                        <p:cTn id="22" dur="600" fill="hold">
                                          <p:stCondLst>
                                            <p:cond delay="0"/>
                                          </p:stCondLst>
                                        </p:cTn>
                                        <p:tgtEl>
                                          <p:spTgt spid="58"/>
                                        </p:tgtEl>
                                        <p:attrNameLst>
                                          <p:attrName>ppt_x</p:attrName>
                                          <p:attrName>ppt_y</p:attrName>
                                        </p:attrNameLst>
                                      </p:cBhvr>
                                    </p:animMotion>
                                  </p:childTnLst>
                                </p:cTn>
                              </p:par>
                            </p:childTnLst>
                          </p:cTn>
                        </p:par>
                      </p:childTnLst>
                    </p:cTn>
                  </p:par>
                  <p:par>
                    <p:cTn id="23" fill="hold">
                      <p:stCondLst>
                        <p:cond delay="indefinite"/>
                      </p:stCondLst>
                      <p:childTnLst>
                        <p:par>
                          <p:cTn id="24" fill="hold">
                            <p:stCondLst>
                              <p:cond delay="0"/>
                            </p:stCondLst>
                            <p:childTnLst>
                              <p:par>
                                <p:cTn id="25" presetID="0" presetClass="entr" presetSubtype="0" fill="hold" grpId="4" nodeType="clickEffect">
                                  <p:stCondLst>
                                    <p:cond delay="0"/>
                                  </p:stCondLst>
                                  <p:childTnLst>
                                    <p:set>
                                      <p:cBhvr>
                                        <p:cTn id="26" dur="1" fill="hold">
                                          <p:stCondLst>
                                            <p:cond delay="0"/>
                                          </p:stCondLst>
                                        </p:cTn>
                                        <p:tgtEl>
                                          <p:spTgt spid="58"/>
                                        </p:tgtEl>
                                        <p:attrNameLst>
                                          <p:attrName>style.visibility</p:attrName>
                                        </p:attrNameLst>
                                      </p:cBhvr>
                                      <p:to>
                                        <p:strVal val="visible"/>
                                      </p:to>
                                    </p:set>
                                    <p:animMotion origin="layout" path="M 0.0427 0.3389 L 0.276 0.3389 E" pathEditMode="relative">
                                      <p:cBhvr from="" to="">
                                        <p:cTn id="27" dur="600" fill="hold">
                                          <p:stCondLst>
                                            <p:cond delay="0"/>
                                          </p:stCondLst>
                                        </p:cTn>
                                        <p:tgtEl>
                                          <p:spTgt spid="58"/>
                                        </p:tgtEl>
                                        <p:attrNameLst>
                                          <p:attrName>ppt_x</p:attrName>
                                          <p:attrName>ppt_y</p:attrName>
                                        </p:attrNameLst>
                                      </p:cBhvr>
                                    </p:animMotion>
                                  </p:childTnLst>
                                </p:cTn>
                              </p:par>
                            </p:childTnLst>
                          </p:cTn>
                        </p:par>
                      </p:childTnLst>
                    </p:cTn>
                  </p:par>
                  <p:par>
                    <p:cTn id="28" fill="hold">
                      <p:stCondLst>
                        <p:cond delay="indefinite"/>
                      </p:stCondLst>
                      <p:childTnLst>
                        <p:par>
                          <p:cTn id="29" fill="hold">
                            <p:stCondLst>
                              <p:cond delay="0"/>
                            </p:stCondLst>
                            <p:childTnLst>
                              <p:par>
                                <p:cTn id="30" presetID="0" presetClass="entr" presetSubtype="0" fill="hold" grpId="5" nodeType="clickEffect">
                                  <p:stCondLst>
                                    <p:cond delay="0"/>
                                  </p:stCondLst>
                                  <p:childTnLst>
                                    <p:set>
                                      <p:cBhvr>
                                        <p:cTn id="31" dur="1" fill="hold">
                                          <p:stCondLst>
                                            <p:cond delay="0"/>
                                          </p:stCondLst>
                                        </p:cTn>
                                        <p:tgtEl>
                                          <p:spTgt spid="58"/>
                                        </p:tgtEl>
                                        <p:attrNameLst>
                                          <p:attrName>style.visibility</p:attrName>
                                        </p:attrNameLst>
                                      </p:cBhvr>
                                      <p:to>
                                        <p:strVal val="visible"/>
                                      </p:to>
                                    </p:set>
                                    <p:animMotion origin="layout" path="M 0.276 0.3389 L 0.5312 0.3389 E" pathEditMode="relative">
                                      <p:cBhvr from="" to="">
                                        <p:cTn id="32" dur="600" fill="hold">
                                          <p:stCondLst>
                                            <p:cond delay="0"/>
                                          </p:stCondLst>
                                        </p:cTn>
                                        <p:tgtEl>
                                          <p:spTgt spid="58"/>
                                        </p:tgtEl>
                                        <p:attrNameLst>
                                          <p:attrName>ppt_x</p:attrName>
                                          <p:attrName>ppt_y</p:attrName>
                                        </p:attrNameLst>
                                      </p:cBhvr>
                                    </p:animMotion>
                                  </p:childTnLst>
                                </p:cTn>
                              </p:par>
                            </p:childTnLst>
                          </p:cTn>
                        </p:par>
                      </p:childTnLst>
                    </p:cTn>
                  </p:par>
                  <p:par>
                    <p:cTn id="33" fill="hold">
                      <p:stCondLst>
                        <p:cond delay="indefinite"/>
                      </p:stCondLst>
                      <p:childTnLst>
                        <p:par>
                          <p:cTn id="34" fill="hold">
                            <p:stCondLst>
                              <p:cond delay="0"/>
                            </p:stCondLst>
                            <p:childTnLst>
                              <p:par>
                                <p:cTn id="35" presetID="0" presetClass="entr" presetSubtype="0" fill="hold" grpId="6" nodeType="clickEffect">
                                  <p:stCondLst>
                                    <p:cond delay="0"/>
                                  </p:stCondLst>
                                  <p:childTnLst>
                                    <p:set>
                                      <p:cBhvr>
                                        <p:cTn id="36" dur="1" fill="hold">
                                          <p:stCondLst>
                                            <p:cond delay="0"/>
                                          </p:stCondLst>
                                        </p:cTn>
                                        <p:tgtEl>
                                          <p:spTgt spid="58"/>
                                        </p:tgtEl>
                                        <p:attrNameLst>
                                          <p:attrName>style.visibility</p:attrName>
                                        </p:attrNameLst>
                                      </p:cBhvr>
                                      <p:to>
                                        <p:strVal val="visible"/>
                                      </p:to>
                                    </p:set>
                                    <p:animMotion origin="layout" path="M 0.5312 0.3389 L -0.1333 0.3611 E" pathEditMode="relative">
                                      <p:cBhvr from="" to="">
                                        <p:cTn id="37" dur="600" fill="hold">
                                          <p:stCondLst>
                                            <p:cond delay="0"/>
                                          </p:stCondLst>
                                        </p:cTn>
                                        <p:tgtEl>
                                          <p:spTgt spid="58"/>
                                        </p:tgtEl>
                                        <p:attrNameLst>
                                          <p:attrName>ppt_x</p:attrName>
                                          <p:attrName>ppt_y</p:attrName>
                                        </p:attrNameLst>
                                      </p:cBhvr>
                                    </p:animMotion>
                                  </p:childTnLst>
                                </p:cTn>
                              </p:par>
                            </p:childTnLst>
                          </p:cTn>
                        </p:par>
                        <p:par>
                          <p:cTn id="38" fill="hold">
                            <p:stCondLst>
                              <p:cond delay="600"/>
                            </p:stCondLst>
                            <p:childTnLst>
                              <p:par>
                                <p:cTn id="39" presetID="1" presetClass="exit" presetSubtype="0" fill="hold" grpId="7" nodeType="afterEffect">
                                  <p:stCondLst>
                                    <p:cond delay="0"/>
                                  </p:stCondLst>
                                  <p:childTnLst>
                                    <p:set>
                                      <p:cBhvr>
                                        <p:cTn id="40" dur="1" fill="hold">
                                          <p:stCondLst>
                                            <p:cond delay="0"/>
                                          </p:stCondLst>
                                        </p:cTn>
                                        <p:tgtEl>
                                          <p:spTgt spid="58"/>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8" grpId="1" animBg="1"/>
      <p:bldP spid="58" grpId="2" animBg="1"/>
      <p:bldP spid="58" grpId="3" animBg="1"/>
      <p:bldP spid="58" grpId="4" animBg="1"/>
      <p:bldP spid="58" grpId="5" animBg="1"/>
      <p:bldP spid="58" grpId="6" animBg="1"/>
      <p:bldP spid="58" grpId="7" animBg="1"/>
      <p:bldP spid="5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2066F4F-8C0C-BDC6-7733-F30F2D819FB4}"/>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714E275-7A9F-28DB-DB48-EC2E740325D9}"/>
              </a:ext>
            </a:extLst>
          </p:cNvPr>
          <p:cNvSpPr/>
          <p:nvPr/>
        </p:nvSpPr>
        <p:spPr>
          <a:xfrm>
            <a:off x="0" y="1549400"/>
            <a:ext cx="12192000" cy="50800"/>
          </a:xfrm>
          <a:prstGeom prst="rect">
            <a:avLst/>
          </a:prstGeom>
          <a:solidFill>
            <a:srgbClr val="6EE7B7"/>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7DAF890-77CC-DC3F-AD47-EB972C1836E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an order depends on</a:t>
            </a:r>
          </a:p>
        </p:txBody>
      </p:sp>
      <p:sp>
        <p:nvSpPr>
          <p:cNvPr id="5" name="Rectangle 4">
            <a:extLst>
              <a:ext uri="{FF2B5EF4-FFF2-40B4-BE49-F238E27FC236}">
                <a16:creationId xmlns:a16="http://schemas.microsoft.com/office/drawing/2014/main" id="{9B7D88F2-4909-ECDE-12DB-A8AE918A6CAB}"/>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F4B310F-6881-3203-3AE7-6C9DFCF77D88}"/>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What does one order depend on, and which of those parts are required?</a:t>
            </a:r>
          </a:p>
        </p:txBody>
      </p:sp>
      <p:sp>
        <p:nvSpPr>
          <p:cNvPr id="7" name="SectionTag">
            <a:extLst>
              <a:ext uri="{FF2B5EF4-FFF2-40B4-BE49-F238E27FC236}">
                <a16:creationId xmlns:a16="http://schemas.microsoft.com/office/drawing/2014/main" id="{8CC8A861-62F4-8115-2179-9A2819932366}"/>
              </a:ext>
            </a:extLst>
          </p:cNvPr>
          <p:cNvSpPr/>
          <p:nvPr/>
        </p:nvSpPr>
        <p:spPr>
          <a:xfrm>
            <a:off x="9042400" y="330200"/>
            <a:ext cx="2540000" cy="330200"/>
          </a:xfrm>
          <a:prstGeom prst="roundRect">
            <a:avLst/>
          </a:prstGeom>
          <a:solidFill>
            <a:srgbClr val="6EE7B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1 · DEFINE THE SERVICE</a:t>
            </a:r>
          </a:p>
        </p:txBody>
      </p:sp>
      <p:sp>
        <p:nvSpPr>
          <p:cNvPr id="8" name="Rectangle: Rounded Corners 7">
            <a:extLst>
              <a:ext uri="{FF2B5EF4-FFF2-40B4-BE49-F238E27FC236}">
                <a16:creationId xmlns:a16="http://schemas.microsoft.com/office/drawing/2014/main" id="{3D306A20-B60E-0ECB-C895-AAA65D65B587}"/>
              </a:ext>
            </a:extLst>
          </p:cNvPr>
          <p:cNvSpPr/>
          <p:nvPr/>
        </p:nvSpPr>
        <p:spPr>
          <a:xfrm>
            <a:off x="508000" y="2540000"/>
            <a:ext cx="1905000" cy="8890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CUSTOMER
places an order</a:t>
            </a:r>
          </a:p>
        </p:txBody>
      </p:sp>
      <p:cxnSp>
        <p:nvCxnSpPr>
          <p:cNvPr id="9" name="Straight Arrow Connector 8">
            <a:extLst>
              <a:ext uri="{FF2B5EF4-FFF2-40B4-BE49-F238E27FC236}">
                <a16:creationId xmlns:a16="http://schemas.microsoft.com/office/drawing/2014/main" id="{D496274C-D1E6-9DD0-3684-CE2CDBBBBA04}"/>
              </a:ext>
            </a:extLst>
          </p:cNvPr>
          <p:cNvCxnSpPr/>
          <p:nvPr/>
        </p:nvCxnSpPr>
        <p:spPr>
          <a:xfrm>
            <a:off x="2413000" y="2984500"/>
            <a:ext cx="4064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03C9E24B-19DA-AD4F-B7A8-0E89D7F0F5DD}"/>
              </a:ext>
            </a:extLst>
          </p:cNvPr>
          <p:cNvSpPr/>
          <p:nvPr/>
        </p:nvSpPr>
        <p:spPr>
          <a:xfrm>
            <a:off x="2819400" y="2540000"/>
            <a:ext cx="1778000" cy="889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PORTAL
either copy</a:t>
            </a:r>
          </a:p>
        </p:txBody>
      </p:sp>
      <p:sp>
        <p:nvSpPr>
          <p:cNvPr id="11" name="TextBox 10">
            <a:extLst>
              <a:ext uri="{FF2B5EF4-FFF2-40B4-BE49-F238E27FC236}">
                <a16:creationId xmlns:a16="http://schemas.microsoft.com/office/drawing/2014/main" id="{280BD4C1-7617-D8F5-D5B3-E487031DC949}"/>
              </a:ext>
            </a:extLst>
          </p:cNvPr>
          <p:cNvSpPr txBox="1"/>
          <p:nvPr/>
        </p:nvSpPr>
        <p:spPr>
          <a:xfrm>
            <a:off x="2819400" y="3479800"/>
            <a:ext cx="2286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REQUIRED</a:t>
            </a:r>
          </a:p>
        </p:txBody>
      </p:sp>
      <p:cxnSp>
        <p:nvCxnSpPr>
          <p:cNvPr id="12" name="Straight Arrow Connector 11">
            <a:extLst>
              <a:ext uri="{FF2B5EF4-FFF2-40B4-BE49-F238E27FC236}">
                <a16:creationId xmlns:a16="http://schemas.microsoft.com/office/drawing/2014/main" id="{520318F4-F7F1-D2D3-78E4-69A5BF426D5E}"/>
              </a:ext>
            </a:extLst>
          </p:cNvPr>
          <p:cNvCxnSpPr/>
          <p:nvPr/>
        </p:nvCxnSpPr>
        <p:spPr>
          <a:xfrm>
            <a:off x="4597400" y="2984500"/>
            <a:ext cx="4064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418A4505-7322-8FFE-199A-C6B5C013214C}"/>
              </a:ext>
            </a:extLst>
          </p:cNvPr>
          <p:cNvSpPr/>
          <p:nvPr/>
        </p:nvSpPr>
        <p:spPr>
          <a:xfrm>
            <a:off x="5003800" y="2540000"/>
            <a:ext cx="2286000" cy="889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COORDINATOR
Functions + Service Bus</a:t>
            </a:r>
          </a:p>
        </p:txBody>
      </p:sp>
      <p:sp>
        <p:nvSpPr>
          <p:cNvPr id="14" name="TextBox 13">
            <a:extLst>
              <a:ext uri="{FF2B5EF4-FFF2-40B4-BE49-F238E27FC236}">
                <a16:creationId xmlns:a16="http://schemas.microsoft.com/office/drawing/2014/main" id="{F6619853-BA70-A608-84A6-B19B1944B8C2}"/>
              </a:ext>
            </a:extLst>
          </p:cNvPr>
          <p:cNvSpPr txBox="1"/>
          <p:nvPr/>
        </p:nvSpPr>
        <p:spPr>
          <a:xfrm>
            <a:off x="5003800" y="3479800"/>
            <a:ext cx="2286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REQUIRED</a:t>
            </a:r>
          </a:p>
        </p:txBody>
      </p:sp>
      <p:cxnSp>
        <p:nvCxnSpPr>
          <p:cNvPr id="15" name="Straight Arrow Connector 14">
            <a:extLst>
              <a:ext uri="{FF2B5EF4-FFF2-40B4-BE49-F238E27FC236}">
                <a16:creationId xmlns:a16="http://schemas.microsoft.com/office/drawing/2014/main" id="{B70CB0B2-41C3-8DEB-60C6-D07B1FAA098E}"/>
              </a:ext>
            </a:extLst>
          </p:cNvPr>
          <p:cNvCxnSpPr/>
          <p:nvPr/>
        </p:nvCxnSpPr>
        <p:spPr>
          <a:xfrm flipV="1">
            <a:off x="7289800" y="2387600"/>
            <a:ext cx="838200" cy="4699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AEB183E5-82F9-230C-BF8A-F5AACF72AC8E}"/>
              </a:ext>
            </a:extLst>
          </p:cNvPr>
          <p:cNvSpPr/>
          <p:nvPr/>
        </p:nvSpPr>
        <p:spPr>
          <a:xfrm>
            <a:off x="8128000" y="2032000"/>
            <a:ext cx="2794000" cy="711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VALIDATION
on-premises worker</a:t>
            </a:r>
          </a:p>
        </p:txBody>
      </p:sp>
      <p:sp>
        <p:nvSpPr>
          <p:cNvPr id="17" name="TextBox 16">
            <a:extLst>
              <a:ext uri="{FF2B5EF4-FFF2-40B4-BE49-F238E27FC236}">
                <a16:creationId xmlns:a16="http://schemas.microsoft.com/office/drawing/2014/main" id="{20CDBDC6-7D4C-12F1-949B-BB76A0E84F78}"/>
              </a:ext>
            </a:extLst>
          </p:cNvPr>
          <p:cNvSpPr txBox="1"/>
          <p:nvPr/>
        </p:nvSpPr>
        <p:spPr>
          <a:xfrm>
            <a:off x="8128000" y="2768600"/>
            <a:ext cx="2794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REQUIRED</a:t>
            </a:r>
          </a:p>
        </p:txBody>
      </p:sp>
      <p:cxnSp>
        <p:nvCxnSpPr>
          <p:cNvPr id="18" name="Straight Arrow Connector 17">
            <a:extLst>
              <a:ext uri="{FF2B5EF4-FFF2-40B4-BE49-F238E27FC236}">
                <a16:creationId xmlns:a16="http://schemas.microsoft.com/office/drawing/2014/main" id="{78266637-CA9A-280A-E0EC-57C51F2906B9}"/>
              </a:ext>
            </a:extLst>
          </p:cNvPr>
          <p:cNvCxnSpPr/>
          <p:nvPr/>
        </p:nvCxnSpPr>
        <p:spPr>
          <a:xfrm>
            <a:off x="7289800" y="3111500"/>
            <a:ext cx="838200" cy="4953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3537D83E-AEDA-F7B3-50DA-25B1D5A8FC94}"/>
              </a:ext>
            </a:extLst>
          </p:cNvPr>
          <p:cNvSpPr/>
          <p:nvPr/>
        </p:nvSpPr>
        <p:spPr>
          <a:xfrm>
            <a:off x="8128000" y="3251200"/>
            <a:ext cx="27940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FULFILLMENT
AWS worker</a:t>
            </a:r>
          </a:p>
        </p:txBody>
      </p:sp>
      <p:sp>
        <p:nvSpPr>
          <p:cNvPr id="20" name="TextBox 19">
            <a:extLst>
              <a:ext uri="{FF2B5EF4-FFF2-40B4-BE49-F238E27FC236}">
                <a16:creationId xmlns:a16="http://schemas.microsoft.com/office/drawing/2014/main" id="{15EB73C4-58D2-F527-F644-A5D51292C36E}"/>
              </a:ext>
            </a:extLst>
          </p:cNvPr>
          <p:cNvSpPr txBox="1"/>
          <p:nvPr/>
        </p:nvSpPr>
        <p:spPr>
          <a:xfrm>
            <a:off x="8128000" y="3987800"/>
            <a:ext cx="2794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REQUIRED</a:t>
            </a:r>
          </a:p>
        </p:txBody>
      </p:sp>
      <p:sp>
        <p:nvSpPr>
          <p:cNvPr id="21" name="TextBox 20">
            <a:extLst>
              <a:ext uri="{FF2B5EF4-FFF2-40B4-BE49-F238E27FC236}">
                <a16:creationId xmlns:a16="http://schemas.microsoft.com/office/drawing/2014/main" id="{7F87F650-9783-7598-B159-07ACBE5086A6}"/>
              </a:ext>
            </a:extLst>
          </p:cNvPr>
          <p:cNvSpPr txBox="1"/>
          <p:nvPr/>
        </p:nvSpPr>
        <p:spPr>
          <a:xfrm>
            <a:off x="609600" y="4470400"/>
            <a:ext cx="109728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A dependency is part of the service definition: if any one of these is missing, there is no order.</a:t>
            </a:r>
          </a:p>
        </p:txBody>
      </p:sp>
      <p:sp>
        <p:nvSpPr>
          <p:cNvPr id="22" name="Rectangle: Rounded Corners 21">
            <a:extLst>
              <a:ext uri="{FF2B5EF4-FFF2-40B4-BE49-F238E27FC236}">
                <a16:creationId xmlns:a16="http://schemas.microsoft.com/office/drawing/2014/main" id="{41100D96-15DE-81DB-7DE8-46D86A071D5C}"/>
              </a:ext>
            </a:extLst>
          </p:cNvPr>
          <p:cNvSpPr/>
          <p:nvPr/>
        </p:nvSpPr>
        <p:spPr>
          <a:xfrm>
            <a:off x="609600" y="4876800"/>
            <a:ext cx="10972800" cy="7620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An IIC order depends on four parts in three places: the portal (Azure or AWS), the coordinator (Azure), validation (on-premises) and fulfillment (AWS).</a:t>
            </a:r>
          </a:p>
        </p:txBody>
      </p:sp>
      <p:sp>
        <p:nvSpPr>
          <p:cNvPr id="23" name="Rectangle 22">
            <a:extLst>
              <a:ext uri="{FF2B5EF4-FFF2-40B4-BE49-F238E27FC236}">
                <a16:creationId xmlns:a16="http://schemas.microsoft.com/office/drawing/2014/main" id="{1BBD262E-2424-78C0-185F-85808EA7196B}"/>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15940586-8973-4AD3-99EF-9E3A843E375E}"/>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Define the service as everything an order must pass through, not as the servers you own.</a:t>
            </a:r>
          </a:p>
        </p:txBody>
      </p:sp>
      <p:pic>
        <p:nvPicPr>
          <p:cNvPr id="26" name="SponsorBar" descr="CAS 2026 sponsors and #CloudAISummit2026">
            <a:extLst>
              <a:ext uri="{FF2B5EF4-FFF2-40B4-BE49-F238E27FC236}">
                <a16:creationId xmlns:a16="http://schemas.microsoft.com/office/drawing/2014/main" id="{5DCF9442-C137-1956-9677-4D1CDD6FB91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917927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3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3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3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3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3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3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3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3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3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3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3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animBg="1"/>
      <p:bldP spid="14" grpId="0"/>
      <p:bldP spid="16" grpId="0" animBg="1"/>
      <p:bldP spid="17" grpId="0"/>
      <p:bldP spid="19" grpId="0" animBg="1"/>
      <p:bldP spid="20" grpId="0"/>
      <p:bldP spid="21" grpId="0"/>
      <p:bldP spid="2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3E3BFB-8A90-DEF0-5460-F68E64E3A518}"/>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E65EC33-95DC-D7DD-7206-6E280A3F5425}"/>
              </a:ext>
            </a:extLst>
          </p:cNvPr>
          <p:cNvSpPr/>
          <p:nvPr/>
        </p:nvSpPr>
        <p:spPr>
          <a:xfrm>
            <a:off x="0" y="1549400"/>
            <a:ext cx="12192000" cy="50800"/>
          </a:xfrm>
          <a:prstGeom prst="rect">
            <a:avLst/>
          </a:prstGeom>
          <a:solidFill>
            <a:srgbClr val="FB923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E387C9D-1485-6161-C8B4-F4E34CD4698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2 · See the parts Microsoft doesn't host</a:t>
            </a:r>
          </a:p>
        </p:txBody>
      </p:sp>
      <p:sp>
        <p:nvSpPr>
          <p:cNvPr id="5" name="Rectangle 4">
            <a:extLst>
              <a:ext uri="{FF2B5EF4-FFF2-40B4-BE49-F238E27FC236}">
                <a16:creationId xmlns:a16="http://schemas.microsoft.com/office/drawing/2014/main" id="{6D99B75C-A912-C617-0B7B-75150545FC99}"/>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53ABFEDB-F217-B586-F73B-551B59CFDED5}"/>
              </a:ext>
            </a:extLst>
          </p:cNvPr>
          <p:cNvSpPr/>
          <p:nvPr/>
        </p:nvSpPr>
        <p:spPr>
          <a:xfrm>
            <a:off x="9042400" y="330200"/>
            <a:ext cx="25400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2 · SEE EVERY PART</a:t>
            </a:r>
          </a:p>
        </p:txBody>
      </p:sp>
      <p:sp>
        <p:nvSpPr>
          <p:cNvPr id="7" name="TextBox 6">
            <a:extLst>
              <a:ext uri="{FF2B5EF4-FFF2-40B4-BE49-F238E27FC236}">
                <a16:creationId xmlns:a16="http://schemas.microsoft.com/office/drawing/2014/main" id="{7B4642D1-0273-47CA-E25B-8965BBD0B844}"/>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FB923C"/>
                </a:solidFill>
                <a:latin typeface="Calibri" panose="020F0502020204030204" pitchFamily="34" charset="0"/>
              </a:rPr>
              <a:t>2</a:t>
            </a:r>
          </a:p>
        </p:txBody>
      </p:sp>
      <p:sp>
        <p:nvSpPr>
          <p:cNvPr id="8" name="TextBox 7">
            <a:extLst>
              <a:ext uri="{FF2B5EF4-FFF2-40B4-BE49-F238E27FC236}">
                <a16:creationId xmlns:a16="http://schemas.microsoft.com/office/drawing/2014/main" id="{1743DA0A-CA88-47ED-0B64-140C2DD1E2AF}"/>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6AF2D3F7-DD3D-C55C-8116-31B72B151522}"/>
              </a:ext>
            </a:extLst>
          </p:cNvPr>
          <p:cNvSpPr txBox="1"/>
          <p:nvPr/>
        </p:nvSpPr>
        <p:spPr>
          <a:xfrm>
            <a:off x="2413000" y="1778000"/>
            <a:ext cx="9169400" cy="830997"/>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The architecture shows what should exist. Can we actually see every part of it?</a:t>
            </a:r>
          </a:p>
        </p:txBody>
      </p:sp>
      <p:sp>
        <p:nvSpPr>
          <p:cNvPr id="10" name="TextBox 9">
            <a:extLst>
              <a:ext uri="{FF2B5EF4-FFF2-40B4-BE49-F238E27FC236}">
                <a16:creationId xmlns:a16="http://schemas.microsoft.com/office/drawing/2014/main" id="{C146629A-2DE2-19AB-E30E-86548D2EE382}"/>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143EBCDE-6A30-1557-3F84-D93FAACF83AF}"/>
              </a:ext>
            </a:extLst>
          </p:cNvPr>
          <p:cNvSpPr txBox="1"/>
          <p:nvPr/>
        </p:nvSpPr>
        <p:spPr>
          <a:xfrm>
            <a:off x="2413000" y="3048000"/>
            <a:ext cx="9169400" cy="523220"/>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How Azure Arc makes an on-premises or AWS machine visible to Azure Monitor, where the evidence lands, and how one order is followed across all three places by one ID.</a:t>
            </a:r>
          </a:p>
        </p:txBody>
      </p:sp>
      <p:sp>
        <p:nvSpPr>
          <p:cNvPr id="12" name="TextBox 11">
            <a:extLst>
              <a:ext uri="{FF2B5EF4-FFF2-40B4-BE49-F238E27FC236}">
                <a16:creationId xmlns:a16="http://schemas.microsoft.com/office/drawing/2014/main" id="{735C2B69-44FE-50C0-0CFC-2929EEB8BFD6}"/>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8260C764-4029-1D65-9667-2253A140BD00}"/>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 server connected to Arc is not the same as evidence arriving, and every later view depends on it.</a:t>
            </a:r>
          </a:p>
        </p:txBody>
      </p:sp>
      <p:sp>
        <p:nvSpPr>
          <p:cNvPr id="14" name="TextBox 13">
            <a:extLst>
              <a:ext uri="{FF2B5EF4-FFF2-40B4-BE49-F238E27FC236}">
                <a16:creationId xmlns:a16="http://schemas.microsoft.com/office/drawing/2014/main" id="{335E654A-48A7-E8B8-D95C-A6D0B076288B}"/>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BDC18541-70D5-CC50-F92F-D3C6BD93AF5D}"/>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the evidence that everything else depends on</a:t>
            </a:r>
          </a:p>
        </p:txBody>
      </p:sp>
      <p:sp>
        <p:nvSpPr>
          <p:cNvPr id="16" name="Rectangle: Rounded Corners 15">
            <a:extLst>
              <a:ext uri="{FF2B5EF4-FFF2-40B4-BE49-F238E27FC236}">
                <a16:creationId xmlns:a16="http://schemas.microsoft.com/office/drawing/2014/main" id="{C8523084-910D-3C0D-2B4E-99A1469BA42E}"/>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1CD2ECD5-1DD1-55F0-F396-4FBD6A3E1FB5}"/>
              </a:ext>
            </a:extLst>
          </p:cNvPr>
          <p:cNvSpPr/>
          <p:nvPr/>
        </p:nvSpPr>
        <p:spPr>
          <a:xfrm>
            <a:off x="2463800" y="5334000"/>
            <a:ext cx="1752600" cy="508000"/>
          </a:xfrm>
          <a:prstGeom prst="roundRect">
            <a:avLst/>
          </a:prstGeom>
          <a:solidFill>
            <a:srgbClr val="FB923C"/>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55482C6C-327A-B28C-8195-5046E0A995C0}"/>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E36EBC0B-6F9B-3F62-9D95-189916F17C72}"/>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277B7AC3-B43B-999F-372A-582FFC6235E9}"/>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B200ACBF-7DA3-A7B1-D0DC-6BF75F964AF4}"/>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1833E16C-6D7B-B1B1-A383-8CD2DC01E8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78962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402E80-94D3-5D33-3E7C-294138EF4567}"/>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4169654-5295-8F9E-E93C-2A740613DD41}"/>
              </a:ext>
            </a:extLst>
          </p:cNvPr>
          <p:cNvSpPr/>
          <p:nvPr/>
        </p:nvSpPr>
        <p:spPr>
          <a:xfrm>
            <a:off x="0" y="1549400"/>
            <a:ext cx="12192000" cy="50800"/>
          </a:xfrm>
          <a:prstGeom prst="rect">
            <a:avLst/>
          </a:prstGeom>
          <a:solidFill>
            <a:srgbClr val="FB923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F7EB7FF-5667-16FD-5071-4422BE01DA9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How a machine anywhere becomes visible</a:t>
            </a:r>
          </a:p>
        </p:txBody>
      </p:sp>
      <p:sp>
        <p:nvSpPr>
          <p:cNvPr id="5" name="Rectangle 4">
            <a:extLst>
              <a:ext uri="{FF2B5EF4-FFF2-40B4-BE49-F238E27FC236}">
                <a16:creationId xmlns:a16="http://schemas.microsoft.com/office/drawing/2014/main" id="{2FC088F7-D79E-C54D-5DB0-4664563A0488}"/>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A4D8733-3C22-283E-B4AB-6340860AED09}"/>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Azure Arc makes an on-premises or AWS machine an Azure resource; the Azure Monitor Agent sends its evidence to one workspace.</a:t>
            </a:r>
          </a:p>
        </p:txBody>
      </p:sp>
      <p:sp>
        <p:nvSpPr>
          <p:cNvPr id="7" name="SectionTag">
            <a:extLst>
              <a:ext uri="{FF2B5EF4-FFF2-40B4-BE49-F238E27FC236}">
                <a16:creationId xmlns:a16="http://schemas.microsoft.com/office/drawing/2014/main" id="{1A29778E-C394-16DA-C599-F04608558A8A}"/>
              </a:ext>
            </a:extLst>
          </p:cNvPr>
          <p:cNvSpPr/>
          <p:nvPr/>
        </p:nvSpPr>
        <p:spPr>
          <a:xfrm>
            <a:off x="9042400" y="330200"/>
            <a:ext cx="25400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2 · SEE EVERY PART</a:t>
            </a:r>
          </a:p>
        </p:txBody>
      </p:sp>
      <p:sp>
        <p:nvSpPr>
          <p:cNvPr id="8" name="TextBox 7">
            <a:extLst>
              <a:ext uri="{FF2B5EF4-FFF2-40B4-BE49-F238E27FC236}">
                <a16:creationId xmlns:a16="http://schemas.microsoft.com/office/drawing/2014/main" id="{B5BB4EEB-E545-4EE7-ECF8-DF12C3876DA4}"/>
              </a:ext>
            </a:extLst>
          </p:cNvPr>
          <p:cNvSpPr txBox="1"/>
          <p:nvPr/>
        </p:nvSpPr>
        <p:spPr>
          <a:xfrm>
            <a:off x="609600" y="1625600"/>
            <a:ext cx="254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SOURCE</a:t>
            </a:r>
          </a:p>
        </p:txBody>
      </p:sp>
      <p:sp>
        <p:nvSpPr>
          <p:cNvPr id="9" name="TextBox 8">
            <a:extLst>
              <a:ext uri="{FF2B5EF4-FFF2-40B4-BE49-F238E27FC236}">
                <a16:creationId xmlns:a16="http://schemas.microsoft.com/office/drawing/2014/main" id="{6992E591-A3A8-B14A-6581-AA2FF4FF88F6}"/>
              </a:ext>
            </a:extLst>
          </p:cNvPr>
          <p:cNvSpPr txBox="1"/>
          <p:nvPr/>
        </p:nvSpPr>
        <p:spPr>
          <a:xfrm>
            <a:off x="3429000" y="1625600"/>
            <a:ext cx="254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HOW IT BECOMES VISIBLE</a:t>
            </a:r>
          </a:p>
        </p:txBody>
      </p:sp>
      <p:sp>
        <p:nvSpPr>
          <p:cNvPr id="10" name="TextBox 9">
            <a:extLst>
              <a:ext uri="{FF2B5EF4-FFF2-40B4-BE49-F238E27FC236}">
                <a16:creationId xmlns:a16="http://schemas.microsoft.com/office/drawing/2014/main" id="{D15BF223-A063-C1F4-065D-0AD9E9A9194C}"/>
              </a:ext>
            </a:extLst>
          </p:cNvPr>
          <p:cNvSpPr txBox="1"/>
          <p:nvPr/>
        </p:nvSpPr>
        <p:spPr>
          <a:xfrm>
            <a:off x="6248400" y="1625600"/>
            <a:ext cx="254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WHAT IT SENDS</a:t>
            </a:r>
          </a:p>
        </p:txBody>
      </p:sp>
      <p:sp>
        <p:nvSpPr>
          <p:cNvPr id="11" name="TextBox 10">
            <a:extLst>
              <a:ext uri="{FF2B5EF4-FFF2-40B4-BE49-F238E27FC236}">
                <a16:creationId xmlns:a16="http://schemas.microsoft.com/office/drawing/2014/main" id="{994E5C2D-319C-6C65-7141-BC81774C7F17}"/>
              </a:ext>
            </a:extLst>
          </p:cNvPr>
          <p:cNvSpPr txBox="1"/>
          <p:nvPr/>
        </p:nvSpPr>
        <p:spPr>
          <a:xfrm>
            <a:off x="9067800" y="1625600"/>
            <a:ext cx="25146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ONE PLACE</a:t>
            </a:r>
          </a:p>
        </p:txBody>
      </p:sp>
      <p:sp>
        <p:nvSpPr>
          <p:cNvPr id="12" name="Rectangle: Rounded Corners 11">
            <a:extLst>
              <a:ext uri="{FF2B5EF4-FFF2-40B4-BE49-F238E27FC236}">
                <a16:creationId xmlns:a16="http://schemas.microsoft.com/office/drawing/2014/main" id="{E97D68A4-7964-C4E1-627B-0DAE0BAFD8FA}"/>
              </a:ext>
            </a:extLst>
          </p:cNvPr>
          <p:cNvSpPr/>
          <p:nvPr/>
        </p:nvSpPr>
        <p:spPr>
          <a:xfrm>
            <a:off x="609600" y="1905000"/>
            <a:ext cx="2540000" cy="838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Coordinator
Azure Functions</a:t>
            </a:r>
          </a:p>
        </p:txBody>
      </p:sp>
      <p:cxnSp>
        <p:nvCxnSpPr>
          <p:cNvPr id="13" name="Straight Arrow Connector 12">
            <a:extLst>
              <a:ext uri="{FF2B5EF4-FFF2-40B4-BE49-F238E27FC236}">
                <a16:creationId xmlns:a16="http://schemas.microsoft.com/office/drawing/2014/main" id="{594E7857-C3B7-B621-FCAF-B0DEFE35D023}"/>
              </a:ext>
            </a:extLst>
          </p:cNvPr>
          <p:cNvCxnSpPr/>
          <p:nvPr/>
        </p:nvCxnSpPr>
        <p:spPr>
          <a:xfrm>
            <a:off x="3149600" y="2324100"/>
            <a:ext cx="2794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B8BB0DC8-28C0-0331-D30C-221B93C3D43B}"/>
              </a:ext>
            </a:extLst>
          </p:cNvPr>
          <p:cNvSpPr/>
          <p:nvPr/>
        </p:nvSpPr>
        <p:spPr>
          <a:xfrm>
            <a:off x="3429000" y="1905000"/>
            <a:ext cx="2540000" cy="838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Already an Azure resource</a:t>
            </a:r>
          </a:p>
        </p:txBody>
      </p:sp>
      <p:cxnSp>
        <p:nvCxnSpPr>
          <p:cNvPr id="15" name="Straight Arrow Connector 14">
            <a:extLst>
              <a:ext uri="{FF2B5EF4-FFF2-40B4-BE49-F238E27FC236}">
                <a16:creationId xmlns:a16="http://schemas.microsoft.com/office/drawing/2014/main" id="{6070D577-E1BB-01BC-684C-B6374E409B3D}"/>
              </a:ext>
            </a:extLst>
          </p:cNvPr>
          <p:cNvCxnSpPr/>
          <p:nvPr/>
        </p:nvCxnSpPr>
        <p:spPr>
          <a:xfrm>
            <a:off x="5969000" y="2324100"/>
            <a:ext cx="2794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1E548B77-0D03-AFD6-EAAE-AF2161D14787}"/>
              </a:ext>
            </a:extLst>
          </p:cNvPr>
          <p:cNvSpPr/>
          <p:nvPr/>
        </p:nvSpPr>
        <p:spPr>
          <a:xfrm>
            <a:off x="6248400" y="1905000"/>
            <a:ext cx="2540000" cy="838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Application Insights
+ order stage records</a:t>
            </a:r>
          </a:p>
        </p:txBody>
      </p:sp>
      <p:cxnSp>
        <p:nvCxnSpPr>
          <p:cNvPr id="17" name="Straight Arrow Connector 16">
            <a:extLst>
              <a:ext uri="{FF2B5EF4-FFF2-40B4-BE49-F238E27FC236}">
                <a16:creationId xmlns:a16="http://schemas.microsoft.com/office/drawing/2014/main" id="{488178FC-A0E5-74F4-C651-8F23966E2C46}"/>
              </a:ext>
            </a:extLst>
          </p:cNvPr>
          <p:cNvCxnSpPr/>
          <p:nvPr/>
        </p:nvCxnSpPr>
        <p:spPr>
          <a:xfrm>
            <a:off x="8788400" y="2324100"/>
            <a:ext cx="2794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000733A6-903A-AC22-53FA-546B7C917D21}"/>
              </a:ext>
            </a:extLst>
          </p:cNvPr>
          <p:cNvSpPr/>
          <p:nvPr/>
        </p:nvSpPr>
        <p:spPr>
          <a:xfrm>
            <a:off x="609600" y="2946400"/>
            <a:ext cx="2540000" cy="838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Validation worker
cas26-lnx01, on-premises</a:t>
            </a:r>
          </a:p>
        </p:txBody>
      </p:sp>
      <p:cxnSp>
        <p:nvCxnSpPr>
          <p:cNvPr id="19" name="Straight Arrow Connector 18">
            <a:extLst>
              <a:ext uri="{FF2B5EF4-FFF2-40B4-BE49-F238E27FC236}">
                <a16:creationId xmlns:a16="http://schemas.microsoft.com/office/drawing/2014/main" id="{EE542BDC-5FC3-A9CA-2894-3D102A592928}"/>
              </a:ext>
            </a:extLst>
          </p:cNvPr>
          <p:cNvCxnSpPr/>
          <p:nvPr/>
        </p:nvCxnSpPr>
        <p:spPr>
          <a:xfrm>
            <a:off x="3149600" y="3365500"/>
            <a:ext cx="2794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7C59EC91-020E-A9F3-59CD-56666BADE0B8}"/>
              </a:ext>
            </a:extLst>
          </p:cNvPr>
          <p:cNvSpPr/>
          <p:nvPr/>
        </p:nvSpPr>
        <p:spPr>
          <a:xfrm>
            <a:off x="3429000" y="2946400"/>
            <a:ext cx="2540000" cy="838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Arc
makes it an Azure resource</a:t>
            </a:r>
          </a:p>
        </p:txBody>
      </p:sp>
      <p:cxnSp>
        <p:nvCxnSpPr>
          <p:cNvPr id="21" name="Straight Arrow Connector 20">
            <a:extLst>
              <a:ext uri="{FF2B5EF4-FFF2-40B4-BE49-F238E27FC236}">
                <a16:creationId xmlns:a16="http://schemas.microsoft.com/office/drawing/2014/main" id="{8392A1E8-22E6-2FE4-F621-0FF9AC9954AE}"/>
              </a:ext>
            </a:extLst>
          </p:cNvPr>
          <p:cNvCxnSpPr/>
          <p:nvPr/>
        </p:nvCxnSpPr>
        <p:spPr>
          <a:xfrm>
            <a:off x="5969000" y="3365500"/>
            <a:ext cx="2794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48B87DA9-660B-43FF-AA00-9729BF8CACD8}"/>
              </a:ext>
            </a:extLst>
          </p:cNvPr>
          <p:cNvSpPr/>
          <p:nvPr/>
        </p:nvSpPr>
        <p:spPr>
          <a:xfrm>
            <a:off x="6248400" y="2946400"/>
            <a:ext cx="2540000" cy="838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Monitor Agent
+ order stage records</a:t>
            </a:r>
          </a:p>
        </p:txBody>
      </p:sp>
      <p:cxnSp>
        <p:nvCxnSpPr>
          <p:cNvPr id="23" name="Straight Arrow Connector 22">
            <a:extLst>
              <a:ext uri="{FF2B5EF4-FFF2-40B4-BE49-F238E27FC236}">
                <a16:creationId xmlns:a16="http://schemas.microsoft.com/office/drawing/2014/main" id="{15CBAE19-8B3B-1A4E-A0C4-09937262F4DA}"/>
              </a:ext>
            </a:extLst>
          </p:cNvPr>
          <p:cNvCxnSpPr/>
          <p:nvPr/>
        </p:nvCxnSpPr>
        <p:spPr>
          <a:xfrm>
            <a:off x="8788400" y="3365500"/>
            <a:ext cx="2794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B6FDA7A4-A5DA-2D83-F77E-611A346D7581}"/>
              </a:ext>
            </a:extLst>
          </p:cNvPr>
          <p:cNvSpPr/>
          <p:nvPr/>
        </p:nvSpPr>
        <p:spPr>
          <a:xfrm>
            <a:off x="609600" y="3987800"/>
            <a:ext cx="2540000" cy="838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Fulfillment worker
EC2, AWS</a:t>
            </a:r>
          </a:p>
        </p:txBody>
      </p:sp>
      <p:cxnSp>
        <p:nvCxnSpPr>
          <p:cNvPr id="25" name="Straight Arrow Connector 24">
            <a:extLst>
              <a:ext uri="{FF2B5EF4-FFF2-40B4-BE49-F238E27FC236}">
                <a16:creationId xmlns:a16="http://schemas.microsoft.com/office/drawing/2014/main" id="{AE891BEA-6245-A54E-F453-23E82AE3AA72}"/>
              </a:ext>
            </a:extLst>
          </p:cNvPr>
          <p:cNvCxnSpPr/>
          <p:nvPr/>
        </p:nvCxnSpPr>
        <p:spPr>
          <a:xfrm>
            <a:off x="3149600" y="4406900"/>
            <a:ext cx="2794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A13A8BCC-43D6-81D4-7FD8-28EBCD49DA01}"/>
              </a:ext>
            </a:extLst>
          </p:cNvPr>
          <p:cNvSpPr/>
          <p:nvPr/>
        </p:nvSpPr>
        <p:spPr>
          <a:xfrm>
            <a:off x="3429000" y="3987800"/>
            <a:ext cx="2540000" cy="838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Arc (multicloud connector)
makes it an Azure resource</a:t>
            </a:r>
          </a:p>
        </p:txBody>
      </p:sp>
      <p:cxnSp>
        <p:nvCxnSpPr>
          <p:cNvPr id="27" name="Straight Arrow Connector 26">
            <a:extLst>
              <a:ext uri="{FF2B5EF4-FFF2-40B4-BE49-F238E27FC236}">
                <a16:creationId xmlns:a16="http://schemas.microsoft.com/office/drawing/2014/main" id="{4B7DD9B4-C090-B705-D6D1-39699ECEB93F}"/>
              </a:ext>
            </a:extLst>
          </p:cNvPr>
          <p:cNvCxnSpPr/>
          <p:nvPr/>
        </p:nvCxnSpPr>
        <p:spPr>
          <a:xfrm>
            <a:off x="5969000" y="4406900"/>
            <a:ext cx="2794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Rounded Corners 27">
            <a:extLst>
              <a:ext uri="{FF2B5EF4-FFF2-40B4-BE49-F238E27FC236}">
                <a16:creationId xmlns:a16="http://schemas.microsoft.com/office/drawing/2014/main" id="{E10E5BF2-D2C4-9F65-43BC-56C897D42EB3}"/>
              </a:ext>
            </a:extLst>
          </p:cNvPr>
          <p:cNvSpPr/>
          <p:nvPr/>
        </p:nvSpPr>
        <p:spPr>
          <a:xfrm>
            <a:off x="6248400" y="3987800"/>
            <a:ext cx="2540000" cy="838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Monitor Agent
+ order stage records</a:t>
            </a:r>
          </a:p>
        </p:txBody>
      </p:sp>
      <p:cxnSp>
        <p:nvCxnSpPr>
          <p:cNvPr id="29" name="Straight Arrow Connector 28">
            <a:extLst>
              <a:ext uri="{FF2B5EF4-FFF2-40B4-BE49-F238E27FC236}">
                <a16:creationId xmlns:a16="http://schemas.microsoft.com/office/drawing/2014/main" id="{66270B0D-DBDF-D8DE-009A-8BCE5870D514}"/>
              </a:ext>
            </a:extLst>
          </p:cNvPr>
          <p:cNvCxnSpPr/>
          <p:nvPr/>
        </p:nvCxnSpPr>
        <p:spPr>
          <a:xfrm>
            <a:off x="8788400" y="4406900"/>
            <a:ext cx="2794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30" name="Rectangle: Rounded Corners 29">
            <a:extLst>
              <a:ext uri="{FF2B5EF4-FFF2-40B4-BE49-F238E27FC236}">
                <a16:creationId xmlns:a16="http://schemas.microsoft.com/office/drawing/2014/main" id="{47E23955-5C53-EF2D-15D3-55DDD8BE799A}"/>
              </a:ext>
            </a:extLst>
          </p:cNvPr>
          <p:cNvSpPr/>
          <p:nvPr/>
        </p:nvSpPr>
        <p:spPr>
          <a:xfrm>
            <a:off x="9067800" y="1905000"/>
            <a:ext cx="2514600" cy="29210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Log Analytics workspace
evidence from all three places,
side by side</a:t>
            </a:r>
          </a:p>
        </p:txBody>
      </p:sp>
      <p:sp>
        <p:nvSpPr>
          <p:cNvPr id="31" name="TextBox 30">
            <a:extLst>
              <a:ext uri="{FF2B5EF4-FFF2-40B4-BE49-F238E27FC236}">
                <a16:creationId xmlns:a16="http://schemas.microsoft.com/office/drawing/2014/main" id="{E320EC30-EB8D-6C42-D818-C8513778B83E}"/>
              </a:ext>
            </a:extLst>
          </p:cNvPr>
          <p:cNvSpPr txBox="1"/>
          <p:nvPr/>
        </p:nvSpPr>
        <p:spPr>
          <a:xfrm>
            <a:off x="609600" y="5029200"/>
            <a:ext cx="10972800" cy="300082"/>
          </a:xfrm>
          <a:prstGeom prst="rect">
            <a:avLst/>
          </a:prstGeom>
          <a:noFill/>
        </p:spPr>
        <p:txBody>
          <a:bodyPr vert="horz" wrap="square" lIns="25400" rIns="25400" rtlCol="0">
            <a:spAutoFit/>
          </a:bodyPr>
          <a:lstStyle/>
          <a:p>
            <a:r>
              <a:rPr lang="en-US" sz="1350" b="1">
                <a:solidFill>
                  <a:srgbClr val="7DD3FC"/>
                </a:solidFill>
                <a:latin typeface="Calibri" panose="020F0502020204030204" pitchFamily="34" charset="0"/>
              </a:rPr>
              <a:t>Arc gives a machine an Azure identity. The agent gives it a voice. The workspace is where all three voices meet.</a:t>
            </a:r>
          </a:p>
        </p:txBody>
      </p:sp>
      <p:sp>
        <p:nvSpPr>
          <p:cNvPr id="32" name="TextBox 31">
            <a:extLst>
              <a:ext uri="{FF2B5EF4-FFF2-40B4-BE49-F238E27FC236}">
                <a16:creationId xmlns:a16="http://schemas.microsoft.com/office/drawing/2014/main" id="{72FCCD9A-053A-0098-793F-A59390C64B19}"/>
              </a:ext>
            </a:extLst>
          </p:cNvPr>
          <p:cNvSpPr txBox="1"/>
          <p:nvPr/>
        </p:nvSpPr>
        <p:spPr>
          <a:xfrm>
            <a:off x="609600" y="5359400"/>
            <a:ext cx="10972800" cy="269304"/>
          </a:xfrm>
          <a:prstGeom prst="rect">
            <a:avLst/>
          </a:prstGeom>
          <a:noFill/>
        </p:spPr>
        <p:txBody>
          <a:bodyPr vert="horz" wrap="square" lIns="25400" rIns="25400" rtlCol="0">
            <a:spAutoFit/>
          </a:bodyPr>
          <a:lstStyle/>
          <a:p>
            <a:r>
              <a:rPr lang="en-US" sz="1150">
                <a:solidFill>
                  <a:srgbClr val="B8C6DE"/>
                </a:solidFill>
                <a:latin typeface="Calibri" panose="020F0502020204030204" pitchFamily="34" charset="0"/>
              </a:rPr>
              <a:t>The rules that say what to collect (data collection rules), the identities and the permissions are in the field manual and the speaker notes.</a:t>
            </a:r>
          </a:p>
        </p:txBody>
      </p:sp>
      <p:sp>
        <p:nvSpPr>
          <p:cNvPr id="33" name="Rectangle 32">
            <a:extLst>
              <a:ext uri="{FF2B5EF4-FFF2-40B4-BE49-F238E27FC236}">
                <a16:creationId xmlns:a16="http://schemas.microsoft.com/office/drawing/2014/main" id="{8B5A4270-1436-20AB-E75C-B221F708BC29}"/>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57001F1-18E4-A5F1-71FA-62B90E28C96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Connected is not the same as collected. Check that evidence is arriving from every row, every day.</a:t>
            </a:r>
          </a:p>
        </p:txBody>
      </p:sp>
      <p:pic>
        <p:nvPicPr>
          <p:cNvPr id="36" name="SponsorBar" descr="CAS 2026 sponsors and #CloudAISummit2026">
            <a:extLst>
              <a:ext uri="{FF2B5EF4-FFF2-40B4-BE49-F238E27FC236}">
                <a16:creationId xmlns:a16="http://schemas.microsoft.com/office/drawing/2014/main" id="{FF8080E8-ECA8-CB82-454D-45929BCA49E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720132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3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3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3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3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3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3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300"/>
                                        <p:tgtEl>
                                          <p:spTgt spid="24"/>
                                        </p:tgtEl>
                                      </p:cBhvr>
                                    </p:animEffect>
                                  </p:childTnLst>
                                </p:cTn>
                              </p:par>
                              <p:par>
                                <p:cTn id="28" presetID="10" presetClass="entr" presetSubtype="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fade">
                                      <p:cBhvr>
                                        <p:cTn id="30" dur="300"/>
                                        <p:tgtEl>
                                          <p:spTgt spid="2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300"/>
                                        <p:tgtEl>
                                          <p:spTgt spid="26"/>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300"/>
                                        <p:tgtEl>
                                          <p:spTgt spid="2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3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3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300"/>
                                        <p:tgtEl>
                                          <p:spTgt spid="3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3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2" grpId="0" animBg="1"/>
      <p:bldP spid="24" grpId="0" animBg="1"/>
      <p:bldP spid="26" grpId="0" animBg="1"/>
      <p:bldP spid="28" grpId="0" animBg="1"/>
      <p:bldP spid="30" grpId="0" animBg="1"/>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C6D18D3-20FB-ADC9-A927-BC9AAF5F497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5F96FF3-CAC5-A3FF-7215-AF9B31C674A0}"/>
              </a:ext>
            </a:extLst>
          </p:cNvPr>
          <p:cNvSpPr/>
          <p:nvPr/>
        </p:nvSpPr>
        <p:spPr>
          <a:xfrm>
            <a:off x="0" y="1549400"/>
            <a:ext cx="12192000" cy="50800"/>
          </a:xfrm>
          <a:prstGeom prst="rect">
            <a:avLst/>
          </a:prstGeom>
          <a:solidFill>
            <a:srgbClr val="FB923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C8E6605-CDBC-49D9-A2C0-CF21DE9C583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One order, one ID</a:t>
            </a:r>
          </a:p>
        </p:txBody>
      </p:sp>
      <p:sp>
        <p:nvSpPr>
          <p:cNvPr id="5" name="Rectangle 4">
            <a:extLst>
              <a:ext uri="{FF2B5EF4-FFF2-40B4-BE49-F238E27FC236}">
                <a16:creationId xmlns:a16="http://schemas.microsoft.com/office/drawing/2014/main" id="{5008B76A-862D-F2D7-4A53-0027B9C57565}"/>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08111BA0-C551-25FA-32C7-6BFB3179C620}"/>
              </a:ext>
            </a:extLst>
          </p:cNvPr>
          <p:cNvSpPr/>
          <p:nvPr/>
        </p:nvSpPr>
        <p:spPr>
          <a:xfrm>
            <a:off x="9042400" y="330200"/>
            <a:ext cx="25400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2 · SEE EVERY PART</a:t>
            </a:r>
          </a:p>
        </p:txBody>
      </p:sp>
      <p:sp>
        <p:nvSpPr>
          <p:cNvPr id="7" name="Rectangle: Rounded Corners 6">
            <a:extLst>
              <a:ext uri="{FF2B5EF4-FFF2-40B4-BE49-F238E27FC236}">
                <a16:creationId xmlns:a16="http://schemas.microsoft.com/office/drawing/2014/main" id="{887D7084-CB3E-33DF-539B-4BA122EBE185}"/>
              </a:ext>
            </a:extLst>
          </p:cNvPr>
          <p:cNvSpPr/>
          <p:nvPr/>
        </p:nvSpPr>
        <p:spPr>
          <a:xfrm>
            <a:off x="609600" y="1676400"/>
            <a:ext cx="6604000" cy="304800"/>
          </a:xfrm>
          <a:prstGeom prst="roundRect">
            <a:avLst/>
          </a:prstGeom>
          <a:noFill/>
          <a:ln w="15240" cap="flat" cmpd="sng" algn="ctr">
            <a:solidFill>
              <a:srgbClr val="7DD3F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1100" b="1">
                <a:solidFill>
                  <a:srgbClr val="7DD3FC"/>
                </a:solidFill>
                <a:latin typeface="Calibri" panose="020F0502020204030204" pitchFamily="34" charset="0"/>
              </a:rPr>
              <a:t>Order IIC-000042  ·  CorrelationId 7d0c4242-1a42-4c42-9a42-000000000042</a:t>
            </a:r>
          </a:p>
        </p:txBody>
      </p:sp>
      <p:sp>
        <p:nvSpPr>
          <p:cNvPr id="8" name="Rectangle: Rounded Corners 7">
            <a:extLst>
              <a:ext uri="{FF2B5EF4-FFF2-40B4-BE49-F238E27FC236}">
                <a16:creationId xmlns:a16="http://schemas.microsoft.com/office/drawing/2014/main" id="{6B1325F9-0712-7604-C1BF-C853A45A3EA8}"/>
              </a:ext>
            </a:extLst>
          </p:cNvPr>
          <p:cNvSpPr/>
          <p:nvPr/>
        </p:nvSpPr>
        <p:spPr>
          <a:xfrm>
            <a:off x="609600" y="2235200"/>
            <a:ext cx="1930400" cy="1092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COORDINATOR
Accepted
origin recorded</a:t>
            </a:r>
          </a:p>
        </p:txBody>
      </p:sp>
      <p:cxnSp>
        <p:nvCxnSpPr>
          <p:cNvPr id="9" name="Straight Arrow Connector 8">
            <a:extLst>
              <a:ext uri="{FF2B5EF4-FFF2-40B4-BE49-F238E27FC236}">
                <a16:creationId xmlns:a16="http://schemas.microsoft.com/office/drawing/2014/main" id="{3F3BE666-3022-E510-386C-BEEE47AF6596}"/>
              </a:ext>
            </a:extLst>
          </p:cNvPr>
          <p:cNvCxnSpPr/>
          <p:nvPr/>
        </p:nvCxnSpPr>
        <p:spPr>
          <a:xfrm>
            <a:off x="2540000" y="27813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975710D1-C362-05E1-BAA5-E7BEF92621B0}"/>
              </a:ext>
            </a:extLst>
          </p:cNvPr>
          <p:cNvSpPr/>
          <p:nvPr/>
        </p:nvSpPr>
        <p:spPr>
          <a:xfrm>
            <a:off x="2844800" y="2235200"/>
            <a:ext cx="1930400" cy="1092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TRANSPORT
Dispatched</a:t>
            </a:r>
          </a:p>
        </p:txBody>
      </p:sp>
      <p:cxnSp>
        <p:nvCxnSpPr>
          <p:cNvPr id="11" name="Straight Arrow Connector 10">
            <a:extLst>
              <a:ext uri="{FF2B5EF4-FFF2-40B4-BE49-F238E27FC236}">
                <a16:creationId xmlns:a16="http://schemas.microsoft.com/office/drawing/2014/main" id="{353F1932-59CD-F37C-8FAD-28906AEC4CCD}"/>
              </a:ext>
            </a:extLst>
          </p:cNvPr>
          <p:cNvCxnSpPr/>
          <p:nvPr/>
        </p:nvCxnSpPr>
        <p:spPr>
          <a:xfrm>
            <a:off x="4775200" y="27813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B5D2472C-F180-9550-A5D5-A5CB0FEABDCB}"/>
              </a:ext>
            </a:extLst>
          </p:cNvPr>
          <p:cNvSpPr/>
          <p:nvPr/>
        </p:nvSpPr>
        <p:spPr>
          <a:xfrm>
            <a:off x="5080000" y="2235200"/>
            <a:ext cx="1930400" cy="1092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ONPREMWORKER
OnPrem · Completed</a:t>
            </a:r>
          </a:p>
        </p:txBody>
      </p:sp>
      <p:cxnSp>
        <p:nvCxnSpPr>
          <p:cNvPr id="13" name="Straight Arrow Connector 12">
            <a:extLst>
              <a:ext uri="{FF2B5EF4-FFF2-40B4-BE49-F238E27FC236}">
                <a16:creationId xmlns:a16="http://schemas.microsoft.com/office/drawing/2014/main" id="{B414173E-6967-4387-6475-D5600C5E4990}"/>
              </a:ext>
            </a:extLst>
          </p:cNvPr>
          <p:cNvCxnSpPr/>
          <p:nvPr/>
        </p:nvCxnSpPr>
        <p:spPr>
          <a:xfrm>
            <a:off x="7010400" y="27813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8A3BAD45-57EC-DBCA-74FA-A481AABDC998}"/>
              </a:ext>
            </a:extLst>
          </p:cNvPr>
          <p:cNvSpPr/>
          <p:nvPr/>
        </p:nvSpPr>
        <p:spPr>
          <a:xfrm>
            <a:off x="7315200" y="2235200"/>
            <a:ext cx="1930400" cy="1092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AWSWORKER
AWS · Completed</a:t>
            </a:r>
          </a:p>
        </p:txBody>
      </p:sp>
      <p:cxnSp>
        <p:nvCxnSpPr>
          <p:cNvPr id="15" name="Straight Arrow Connector 14">
            <a:extLst>
              <a:ext uri="{FF2B5EF4-FFF2-40B4-BE49-F238E27FC236}">
                <a16:creationId xmlns:a16="http://schemas.microsoft.com/office/drawing/2014/main" id="{4409C937-EC01-41C7-905C-C5C7747A55DF}"/>
              </a:ext>
            </a:extLst>
          </p:cNvPr>
          <p:cNvCxnSpPr/>
          <p:nvPr/>
        </p:nvCxnSpPr>
        <p:spPr>
          <a:xfrm>
            <a:off x="9245600" y="27813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FC5D210F-4E04-2F96-360A-6C70767E14AD}"/>
              </a:ext>
            </a:extLst>
          </p:cNvPr>
          <p:cNvSpPr/>
          <p:nvPr/>
        </p:nvSpPr>
        <p:spPr>
          <a:xfrm>
            <a:off x="9550400" y="2235200"/>
            <a:ext cx="1930400" cy="1092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COORDINATOR
Completed
Success = true</a:t>
            </a:r>
          </a:p>
        </p:txBody>
      </p:sp>
      <p:sp>
        <p:nvSpPr>
          <p:cNvPr id="17" name="TextBox 16">
            <a:extLst>
              <a:ext uri="{FF2B5EF4-FFF2-40B4-BE49-F238E27FC236}">
                <a16:creationId xmlns:a16="http://schemas.microsoft.com/office/drawing/2014/main" id="{1088D7E4-6D5C-1847-9A8F-8B1635153021}"/>
              </a:ext>
            </a:extLst>
          </p:cNvPr>
          <p:cNvSpPr txBox="1"/>
          <p:nvPr/>
        </p:nvSpPr>
        <p:spPr>
          <a:xfrm>
            <a:off x="609600" y="3632200"/>
            <a:ext cx="109728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Every stage writes one record: TimeGenerated · CorrelationId · Cloud · Component · Stage · Success · DurationMs · FailureMode</a:t>
            </a:r>
          </a:p>
        </p:txBody>
      </p:sp>
      <p:sp>
        <p:nvSpPr>
          <p:cNvPr id="18" name="Rectangle: Rounded Corners 17">
            <a:extLst>
              <a:ext uri="{FF2B5EF4-FFF2-40B4-BE49-F238E27FC236}">
                <a16:creationId xmlns:a16="http://schemas.microsoft.com/office/drawing/2014/main" id="{7900D9C9-77B6-26D7-00D7-E28EC082D2C6}"/>
              </a:ext>
            </a:extLst>
          </p:cNvPr>
          <p:cNvSpPr/>
          <p:nvPr/>
        </p:nvSpPr>
        <p:spPr>
          <a:xfrm>
            <a:off x="1905000" y="4368800"/>
            <a:ext cx="8382000" cy="12700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Cas26Service_CL
| where CorrelationId == '7d0c4242-1a42-4c42-9a42-000000000042'
| project TimeGenerated, Cloud, Component, Stage, Success, DurationMs
| order by TimeGenerated asc</a:t>
            </a:r>
          </a:p>
        </p:txBody>
      </p:sp>
      <p:sp>
        <p:nvSpPr>
          <p:cNvPr id="19" name="Rectangle 18">
            <a:extLst>
              <a:ext uri="{FF2B5EF4-FFF2-40B4-BE49-F238E27FC236}">
                <a16:creationId xmlns:a16="http://schemas.microsoft.com/office/drawing/2014/main" id="{81D8F0B5-B8AE-47FA-C526-D3E347B72E42}"/>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C50901F-0775-30A7-6E0C-79E27FE4FCA8}"/>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One ID on every record: one query shows which cloud was slow or failed.</a:t>
            </a:r>
          </a:p>
        </p:txBody>
      </p:sp>
      <p:pic>
        <p:nvPicPr>
          <p:cNvPr id="22" name="SponsorBar" descr="CAS 2026 sponsors and #CloudAISummit2026">
            <a:extLst>
              <a:ext uri="{FF2B5EF4-FFF2-40B4-BE49-F238E27FC236}">
                <a16:creationId xmlns:a16="http://schemas.microsoft.com/office/drawing/2014/main" id="{24E441A5-2447-64B7-DDDF-8280321CDB7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377662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3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3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3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300"/>
                                        <p:tgtEl>
                                          <p:spTgt spid="1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3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3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fade">
                                      <p:cBhvr>
                                        <p:cTn id="39" dur="300"/>
                                        <p:tgtEl>
                                          <p:spTgt spid="1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3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2" grpId="0" animBg="1"/>
      <p:bldP spid="14" grpId="0" animBg="1"/>
      <p:bldP spid="16" grpId="0" animBg="1"/>
      <p:bldP spid="17" grpId="0"/>
      <p:bldP spid="1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D6F729-B0D1-14EA-2C4E-8DC5CB24D853}"/>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32E250AF-B2F3-DFC7-C64D-D528BE88B964}"/>
              </a:ext>
            </a:extLst>
          </p:cNvPr>
          <p:cNvSpPr/>
          <p:nvPr/>
        </p:nvSpPr>
        <p:spPr>
          <a:xfrm>
            <a:off x="0" y="1549400"/>
            <a:ext cx="12192000" cy="50800"/>
          </a:xfrm>
          <a:prstGeom prst="rect">
            <a:avLst/>
          </a:prstGeom>
          <a:solidFill>
            <a:srgbClr val="FB923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CCEF484-4E61-29CF-63FC-45D5E808A4F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Evidence routes</a:t>
            </a:r>
          </a:p>
        </p:txBody>
      </p:sp>
      <p:sp>
        <p:nvSpPr>
          <p:cNvPr id="5" name="Rectangle 4">
            <a:extLst>
              <a:ext uri="{FF2B5EF4-FFF2-40B4-BE49-F238E27FC236}">
                <a16:creationId xmlns:a16="http://schemas.microsoft.com/office/drawing/2014/main" id="{CA3B2F43-2A42-312C-7568-65C6BB539F51}"/>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F931430E-944F-94B4-F184-0814BCE7E0A0}"/>
              </a:ext>
            </a:extLst>
          </p:cNvPr>
          <p:cNvSpPr/>
          <p:nvPr/>
        </p:nvSpPr>
        <p:spPr>
          <a:xfrm>
            <a:off x="9042400" y="330200"/>
            <a:ext cx="2540000" cy="330200"/>
          </a:xfrm>
          <a:prstGeom prst="roundRect">
            <a:avLst/>
          </a:prstGeom>
          <a:solidFill>
            <a:srgbClr val="FB923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2 · SEE EVERY PART</a:t>
            </a:r>
          </a:p>
        </p:txBody>
      </p:sp>
      <p:sp>
        <p:nvSpPr>
          <p:cNvPr id="7" name="TextBox 6">
            <a:extLst>
              <a:ext uri="{FF2B5EF4-FFF2-40B4-BE49-F238E27FC236}">
                <a16:creationId xmlns:a16="http://schemas.microsoft.com/office/drawing/2014/main" id="{43CB320C-FE95-A98D-5D3C-71025D8661B6}"/>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6372FDE9-525D-7BC4-A2AA-11C49915E780}"/>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EF21405C-4C97-0122-A501-68DF4574CF51}"/>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A4896973-355D-F6B0-4F35-349BA94764E4}"/>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Select the machines and time window</a:t>
            </a:r>
          </a:p>
        </p:txBody>
      </p:sp>
      <p:sp>
        <p:nvSpPr>
          <p:cNvPr id="11" name="Rectangle: Rounded Corners 10">
            <a:extLst>
              <a:ext uri="{FF2B5EF4-FFF2-40B4-BE49-F238E27FC236}">
                <a16:creationId xmlns:a16="http://schemas.microsoft.com/office/drawing/2014/main" id="{11C7F85B-8BE3-8441-28E4-B74E3CC0F461}"/>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D1D660C3-159D-14A7-5A0D-596FFA9C9504}"/>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Confirm each DCR association</a:t>
            </a:r>
          </a:p>
        </p:txBody>
      </p:sp>
      <p:sp>
        <p:nvSpPr>
          <p:cNvPr id="13" name="Rectangle: Rounded Corners 12">
            <a:extLst>
              <a:ext uri="{FF2B5EF4-FFF2-40B4-BE49-F238E27FC236}">
                <a16:creationId xmlns:a16="http://schemas.microsoft.com/office/drawing/2014/main" id="{BD4F242D-55DC-EF95-CE81-6360BE3B4390}"/>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22ADC997-0C3A-4398-953E-77D7CD28C812}"/>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Query Heartbeat and Perf for the AWS Arc machines</a:t>
            </a:r>
          </a:p>
        </p:txBody>
      </p:sp>
      <p:sp>
        <p:nvSpPr>
          <p:cNvPr id="15" name="Rectangle: Rounded Corners 14">
            <a:extLst>
              <a:ext uri="{FF2B5EF4-FFF2-40B4-BE49-F238E27FC236}">
                <a16:creationId xmlns:a16="http://schemas.microsoft.com/office/drawing/2014/main" id="{C1BEB64A-3ECD-2795-703D-D255E4866B39}"/>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5292DF94-FAB8-6D92-C108-897F3F08E01C}"/>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Check the stage-record route into Cas26Service_CL</a:t>
            </a:r>
          </a:p>
        </p:txBody>
      </p:sp>
      <p:sp>
        <p:nvSpPr>
          <p:cNvPr id="17" name="Rectangle: Rounded Corners 16">
            <a:extLst>
              <a:ext uri="{FF2B5EF4-FFF2-40B4-BE49-F238E27FC236}">
                <a16:creationId xmlns:a16="http://schemas.microsoft.com/office/drawing/2014/main" id="{522970F3-097D-4D10-7FB8-8A32E1929E28}"/>
              </a:ext>
            </a:extLst>
          </p:cNvPr>
          <p:cNvSpPr/>
          <p:nvPr/>
        </p:nvSpPr>
        <p:spPr>
          <a:xfrm>
            <a:off x="609600" y="5257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5</a:t>
            </a:r>
          </a:p>
        </p:txBody>
      </p:sp>
      <p:sp>
        <p:nvSpPr>
          <p:cNvPr id="18" name="TextBox 17">
            <a:extLst>
              <a:ext uri="{FF2B5EF4-FFF2-40B4-BE49-F238E27FC236}">
                <a16:creationId xmlns:a16="http://schemas.microsoft.com/office/drawing/2014/main" id="{784AF373-7C52-41DC-3E81-9436B974DBEA}"/>
              </a:ext>
            </a:extLst>
          </p:cNvPr>
          <p:cNvSpPr txBox="1"/>
          <p:nvPr/>
        </p:nvSpPr>
        <p:spPr>
          <a:xfrm>
            <a:off x="1295400" y="5257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Verify freshness and identity</a:t>
            </a:r>
          </a:p>
        </p:txBody>
      </p:sp>
      <p:sp>
        <p:nvSpPr>
          <p:cNvPr id="19" name="Rectangle: Rounded Corners 18">
            <a:extLst>
              <a:ext uri="{FF2B5EF4-FFF2-40B4-BE49-F238E27FC236}">
                <a16:creationId xmlns:a16="http://schemas.microsoft.com/office/drawing/2014/main" id="{6357603F-C85C-410A-3F7C-23FD6E1F3D3F}"/>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A11875F-14BB-7E18-65C0-218CCDBF9B07}"/>
              </a:ext>
            </a:extLst>
          </p:cNvPr>
          <p:cNvSpPr txBox="1"/>
          <p:nvPr/>
        </p:nvSpPr>
        <p:spPr>
          <a:xfrm>
            <a:off x="6781800" y="2540000"/>
            <a:ext cx="4521200" cy="1754326"/>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Expected resource and current timestamp
Expected destination
Fail: no association, wrong scope, stale data, no permission</a:t>
            </a:r>
          </a:p>
        </p:txBody>
      </p:sp>
      <p:sp>
        <p:nvSpPr>
          <p:cNvPr id="21" name="Rectangle 20">
            <a:extLst>
              <a:ext uri="{FF2B5EF4-FFF2-40B4-BE49-F238E27FC236}">
                <a16:creationId xmlns:a16="http://schemas.microsoft.com/office/drawing/2014/main" id="{611F8286-C4FA-3C85-3491-093D5BC4BA48}"/>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EAD9BBE-E966-6AB9-4F94-14507DAEE906}"/>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M01. Collection is proven route by route, not assumed from Arc registration.</a:t>
            </a:r>
          </a:p>
        </p:txBody>
      </p:sp>
      <p:pic>
        <p:nvPicPr>
          <p:cNvPr id="24" name="SponsorBar" descr="CAS 2026 sponsors and #CloudAISummit2026">
            <a:extLst>
              <a:ext uri="{FF2B5EF4-FFF2-40B4-BE49-F238E27FC236}">
                <a16:creationId xmlns:a16="http://schemas.microsoft.com/office/drawing/2014/main" id="{EA7E5F5C-A5AC-6470-64BA-DF286482654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5" name="DemoMarkerBar">
            <a:extLst>
              <a:ext uri="{FF2B5EF4-FFF2-40B4-BE49-F238E27FC236}">
                <a16:creationId xmlns:a16="http://schemas.microsoft.com/office/drawing/2014/main" id="{63B5057E-BE64-0F8C-B657-7C0CB2A40EFF}"/>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emoMarkerText">
            <a:extLst>
              <a:ext uri="{FF2B5EF4-FFF2-40B4-BE49-F238E27FC236}">
                <a16:creationId xmlns:a16="http://schemas.microsoft.com/office/drawing/2014/main" id="{70FDB7C4-DA40-0F43-EDCF-AC70595B1E3D}"/>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5933043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0459949-45F0-4AD9-7B59-187F80CC3930}"/>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D781252-4C90-8BCF-C9EC-22842DEBE841}"/>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2096B28-C60A-59AB-3D0E-D9ABDE212EF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3 · When an order fails</a:t>
            </a:r>
          </a:p>
        </p:txBody>
      </p:sp>
      <p:sp>
        <p:nvSpPr>
          <p:cNvPr id="5" name="Rectangle 4">
            <a:extLst>
              <a:ext uri="{FF2B5EF4-FFF2-40B4-BE49-F238E27FC236}">
                <a16:creationId xmlns:a16="http://schemas.microsoft.com/office/drawing/2014/main" id="{9834EF84-11F7-E2A4-D487-4DD411E9370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EFF83654-E4D5-89C9-D4B3-142FE7CE7F3A}"/>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TextBox 6">
            <a:extLst>
              <a:ext uri="{FF2B5EF4-FFF2-40B4-BE49-F238E27FC236}">
                <a16:creationId xmlns:a16="http://schemas.microsoft.com/office/drawing/2014/main" id="{7796E004-4E28-93A1-1344-19CD18BB7CC8}"/>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D0B6FF"/>
                </a:solidFill>
                <a:latin typeface="Calibri" panose="020F0502020204030204" pitchFamily="34" charset="0"/>
              </a:rPr>
              <a:t>3</a:t>
            </a:r>
          </a:p>
        </p:txBody>
      </p:sp>
      <p:sp>
        <p:nvSpPr>
          <p:cNvPr id="8" name="TextBox 7">
            <a:extLst>
              <a:ext uri="{FF2B5EF4-FFF2-40B4-BE49-F238E27FC236}">
                <a16:creationId xmlns:a16="http://schemas.microsoft.com/office/drawing/2014/main" id="{2762B2BC-9223-9262-1430-0F067FEBD393}"/>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2B29E3FB-7E95-C0BB-9EB6-C29D950DBBB8}"/>
              </a:ext>
            </a:extLst>
          </p:cNvPr>
          <p:cNvSpPr txBox="1"/>
          <p:nvPr/>
        </p:nvSpPr>
        <p:spPr>
          <a:xfrm>
            <a:off x="2413000" y="1778000"/>
            <a:ext cx="9169400" cy="461665"/>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When an order fails, where do we look first?</a:t>
            </a:r>
          </a:p>
        </p:txBody>
      </p:sp>
      <p:sp>
        <p:nvSpPr>
          <p:cNvPr id="10" name="TextBox 9">
            <a:extLst>
              <a:ext uri="{FF2B5EF4-FFF2-40B4-BE49-F238E27FC236}">
                <a16:creationId xmlns:a16="http://schemas.microsoft.com/office/drawing/2014/main" id="{3DDC585C-91AE-36B5-5E6B-D2A81AD29D81}"/>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C40B733E-59A4-5C44-F69B-8087266BEB66}"/>
              </a:ext>
            </a:extLst>
          </p:cNvPr>
          <p:cNvSpPr txBox="1"/>
          <p:nvPr/>
        </p:nvSpPr>
        <p:spPr>
          <a:xfrm>
            <a:off x="2413000" y="3048000"/>
            <a:ext cx="9169400" cy="523220"/>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Why a healthy server can hide a failing service, how to read the service view, a baseline order, a controlled fault in AWS, and investigating from the customer down.</a:t>
            </a:r>
          </a:p>
        </p:txBody>
      </p:sp>
      <p:sp>
        <p:nvSpPr>
          <p:cNvPr id="12" name="TextBox 11">
            <a:extLst>
              <a:ext uri="{FF2B5EF4-FFF2-40B4-BE49-F238E27FC236}">
                <a16:creationId xmlns:a16="http://schemas.microsoft.com/office/drawing/2014/main" id="{94BFBC42-BD63-A533-9C83-94DAAE5428E2}"/>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4E86BF38-B31E-F77E-1989-0B9CBBB7765F}"/>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 green server can hide a failing service, so investigation has to start from the customer.</a:t>
            </a:r>
          </a:p>
        </p:txBody>
      </p:sp>
      <p:sp>
        <p:nvSpPr>
          <p:cNvPr id="14" name="TextBox 13">
            <a:extLst>
              <a:ext uri="{FF2B5EF4-FFF2-40B4-BE49-F238E27FC236}">
                <a16:creationId xmlns:a16="http://schemas.microsoft.com/office/drawing/2014/main" id="{29CDF88D-B65F-C71F-ACA2-30F277A09F28}"/>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0E819D33-D126-5B54-0BCF-F841BD57F232}"/>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impact, explained from the customer down</a:t>
            </a:r>
          </a:p>
        </p:txBody>
      </p:sp>
      <p:sp>
        <p:nvSpPr>
          <p:cNvPr id="16" name="Rectangle: Rounded Corners 15">
            <a:extLst>
              <a:ext uri="{FF2B5EF4-FFF2-40B4-BE49-F238E27FC236}">
                <a16:creationId xmlns:a16="http://schemas.microsoft.com/office/drawing/2014/main" id="{B5439E9C-7CD5-9A69-999D-1D1EAEA048A8}"/>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D8EA2761-04FB-D5CF-5656-BADEB10F3CD4}"/>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1684B785-2D31-B7D3-A5ED-CDEE67A6DF5E}"/>
              </a:ext>
            </a:extLst>
          </p:cNvPr>
          <p:cNvSpPr/>
          <p:nvPr/>
        </p:nvSpPr>
        <p:spPr>
          <a:xfrm>
            <a:off x="4318000" y="5334000"/>
            <a:ext cx="1752600" cy="508000"/>
          </a:xfrm>
          <a:prstGeom prst="roundRect">
            <a:avLst/>
          </a:prstGeom>
          <a:solidFill>
            <a:srgbClr val="D0B6FF"/>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CD3960A0-1199-3778-A594-191E9D34A3D8}"/>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170AAF92-C3A1-2367-85BB-D9119EEAD978}"/>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01818F9A-1DA8-7EFB-8D19-B30D1F1BFFF9}"/>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EFE028B1-E7E5-F1EA-ED40-D690219B830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779737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231AEE-B87A-435B-3AF8-BB8D12100D52}"/>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E8035C7-B65F-D8B7-83E6-B801B684D972}"/>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8BF121E-6C5D-E976-83BE-FAB5986A4507}"/>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Resource view vs. service view</a:t>
            </a:r>
          </a:p>
        </p:txBody>
      </p:sp>
      <p:sp>
        <p:nvSpPr>
          <p:cNvPr id="5" name="Rectangle 4">
            <a:extLst>
              <a:ext uri="{FF2B5EF4-FFF2-40B4-BE49-F238E27FC236}">
                <a16:creationId xmlns:a16="http://schemas.microsoft.com/office/drawing/2014/main" id="{D8AFA5C7-3E44-64AB-1B55-9C80F14DAA48}"/>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027C6D6C-B542-81AB-5310-AAF42D94A7D9}"/>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Rectangle: Rounded Corners 6">
            <a:extLst>
              <a:ext uri="{FF2B5EF4-FFF2-40B4-BE49-F238E27FC236}">
                <a16:creationId xmlns:a16="http://schemas.microsoft.com/office/drawing/2014/main" id="{D953F4FA-63E9-CD5C-CCC3-4D9E79F7920A}"/>
              </a:ext>
            </a:extLst>
          </p:cNvPr>
          <p:cNvSpPr/>
          <p:nvPr/>
        </p:nvSpPr>
        <p:spPr>
          <a:xfrm>
            <a:off x="571500" y="1727200"/>
            <a:ext cx="5080000" cy="3810000"/>
          </a:xfrm>
          <a:prstGeom prst="roundRect">
            <a:avLst>
              <a:gd name="adj" fmla="val 4667"/>
            </a:avLst>
          </a:prstGeom>
          <a:noFill/>
          <a:ln w="19050" cap="flat" cmpd="sng" algn="ctr">
            <a:solidFill>
              <a:srgbClr val="FACC1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6F20797-61B7-FB58-5138-5D85B314674C}"/>
              </a:ext>
            </a:extLst>
          </p:cNvPr>
          <p:cNvSpPr txBox="1"/>
          <p:nvPr/>
        </p:nvSpPr>
        <p:spPr>
          <a:xfrm>
            <a:off x="749300" y="1803400"/>
            <a:ext cx="4724400" cy="261610"/>
          </a:xfrm>
          <a:prstGeom prst="rect">
            <a:avLst/>
          </a:prstGeom>
          <a:noFill/>
        </p:spPr>
        <p:txBody>
          <a:bodyPr vert="horz" wrap="square" lIns="25400" rIns="25400" rtlCol="0">
            <a:spAutoFit/>
          </a:bodyPr>
          <a:lstStyle/>
          <a:p>
            <a:r>
              <a:rPr lang="en-US" sz="1100" b="1">
                <a:solidFill>
                  <a:srgbClr val="FACC15"/>
                </a:solidFill>
                <a:latin typeface="Calibri" panose="020F0502020204030204" pitchFamily="34" charset="0"/>
              </a:rPr>
              <a:t>ONE RESOURCE VIEW</a:t>
            </a:r>
          </a:p>
        </p:txBody>
      </p:sp>
      <p:sp>
        <p:nvSpPr>
          <p:cNvPr id="9" name="Rectangle: Rounded Corners 8">
            <a:extLst>
              <a:ext uri="{FF2B5EF4-FFF2-40B4-BE49-F238E27FC236}">
                <a16:creationId xmlns:a16="http://schemas.microsoft.com/office/drawing/2014/main" id="{F84F116E-74B2-897A-0C6D-DD710459E5DC}"/>
              </a:ext>
            </a:extLst>
          </p:cNvPr>
          <p:cNvSpPr/>
          <p:nvPr/>
        </p:nvSpPr>
        <p:spPr>
          <a:xfrm>
            <a:off x="1714500" y="2286000"/>
            <a:ext cx="2794000" cy="889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On-premises worker
CPU · heartbeat: green</a:t>
            </a:r>
          </a:p>
        </p:txBody>
      </p:sp>
      <p:sp>
        <p:nvSpPr>
          <p:cNvPr id="10" name="Rectangle: Rounded Corners 9">
            <a:extLst>
              <a:ext uri="{FF2B5EF4-FFF2-40B4-BE49-F238E27FC236}">
                <a16:creationId xmlns:a16="http://schemas.microsoft.com/office/drawing/2014/main" id="{590F21E3-0384-DE58-D515-8D97EAD971A1}"/>
              </a:ext>
            </a:extLst>
          </p:cNvPr>
          <p:cNvSpPr/>
          <p:nvPr/>
        </p:nvSpPr>
        <p:spPr>
          <a:xfrm>
            <a:off x="952500" y="3683000"/>
            <a:ext cx="4318000" cy="13970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UNKNOWN
Did orders complete? Which origin served them? Is AWS fulfillment answering?</a:t>
            </a:r>
          </a:p>
        </p:txBody>
      </p:sp>
      <p:sp>
        <p:nvSpPr>
          <p:cNvPr id="11" name="Rectangle: Rounded Corners 10">
            <a:extLst>
              <a:ext uri="{FF2B5EF4-FFF2-40B4-BE49-F238E27FC236}">
                <a16:creationId xmlns:a16="http://schemas.microsoft.com/office/drawing/2014/main" id="{DA406D3F-1ECD-F8B4-E89D-32B4D409B5C5}"/>
              </a:ext>
            </a:extLst>
          </p:cNvPr>
          <p:cNvSpPr/>
          <p:nvPr/>
        </p:nvSpPr>
        <p:spPr>
          <a:xfrm>
            <a:off x="6540500" y="1727200"/>
            <a:ext cx="5080000" cy="3810000"/>
          </a:xfrm>
          <a:prstGeom prst="roundRect">
            <a:avLst>
              <a:gd name="adj" fmla="val 4667"/>
            </a:avLst>
          </a:prstGeom>
          <a:noFill/>
          <a:ln w="19050" cap="flat" cmpd="sng" algn="ctr">
            <a:solidFill>
              <a:srgbClr val="7DD3FC"/>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F7673F3-7912-D3A9-64C8-FFFDFD23A8B6}"/>
              </a:ext>
            </a:extLst>
          </p:cNvPr>
          <p:cNvSpPr txBox="1"/>
          <p:nvPr/>
        </p:nvSpPr>
        <p:spPr>
          <a:xfrm>
            <a:off x="6718300" y="1803400"/>
            <a:ext cx="47244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WHOLE-SERVICE VIEW</a:t>
            </a:r>
          </a:p>
        </p:txBody>
      </p:sp>
      <p:sp>
        <p:nvSpPr>
          <p:cNvPr id="13" name="Rectangle: Rounded Corners 12">
            <a:extLst>
              <a:ext uri="{FF2B5EF4-FFF2-40B4-BE49-F238E27FC236}">
                <a16:creationId xmlns:a16="http://schemas.microsoft.com/office/drawing/2014/main" id="{BADFD7C3-1291-45A8-403D-894806D8BA0E}"/>
              </a:ext>
            </a:extLst>
          </p:cNvPr>
          <p:cNvSpPr/>
          <p:nvPr/>
        </p:nvSpPr>
        <p:spPr>
          <a:xfrm>
            <a:off x="6921500" y="2362200"/>
            <a:ext cx="2032000" cy="711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Customer outcome</a:t>
            </a:r>
          </a:p>
        </p:txBody>
      </p:sp>
      <p:sp>
        <p:nvSpPr>
          <p:cNvPr id="14" name="Rectangle: Rounded Corners 13">
            <a:extLst>
              <a:ext uri="{FF2B5EF4-FFF2-40B4-BE49-F238E27FC236}">
                <a16:creationId xmlns:a16="http://schemas.microsoft.com/office/drawing/2014/main" id="{1A80D135-6BBC-F2A5-CDBC-8229204316B2}"/>
              </a:ext>
            </a:extLst>
          </p:cNvPr>
          <p:cNvSpPr/>
          <p:nvPr/>
        </p:nvSpPr>
        <p:spPr>
          <a:xfrm>
            <a:off x="9207500" y="2362200"/>
            <a:ext cx="2032000" cy="711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Portal through
either origin</a:t>
            </a:r>
          </a:p>
        </p:txBody>
      </p:sp>
      <p:sp>
        <p:nvSpPr>
          <p:cNvPr id="15" name="Rectangle: Rounded Corners 14">
            <a:extLst>
              <a:ext uri="{FF2B5EF4-FFF2-40B4-BE49-F238E27FC236}">
                <a16:creationId xmlns:a16="http://schemas.microsoft.com/office/drawing/2014/main" id="{D0DF065D-11AB-8F18-8C52-B6AAF01DA116}"/>
              </a:ext>
            </a:extLst>
          </p:cNvPr>
          <p:cNvSpPr/>
          <p:nvPr/>
        </p:nvSpPr>
        <p:spPr>
          <a:xfrm>
            <a:off x="6921500" y="3810000"/>
            <a:ext cx="20320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Both workers</a:t>
            </a:r>
          </a:p>
        </p:txBody>
      </p:sp>
      <p:sp>
        <p:nvSpPr>
          <p:cNvPr id="16" name="Rectangle: Rounded Corners 15">
            <a:extLst>
              <a:ext uri="{FF2B5EF4-FFF2-40B4-BE49-F238E27FC236}">
                <a16:creationId xmlns:a16="http://schemas.microsoft.com/office/drawing/2014/main" id="{637B2EB7-E619-3FC2-2813-8C14672DB388}"/>
              </a:ext>
            </a:extLst>
          </p:cNvPr>
          <p:cNvSpPr/>
          <p:nvPr/>
        </p:nvSpPr>
        <p:spPr>
          <a:xfrm>
            <a:off x="9207500" y="3810000"/>
            <a:ext cx="2032000" cy="711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Freshness + owner</a:t>
            </a:r>
          </a:p>
        </p:txBody>
      </p:sp>
      <p:cxnSp>
        <p:nvCxnSpPr>
          <p:cNvPr id="17" name="Straight Arrow Connector 16">
            <a:extLst>
              <a:ext uri="{FF2B5EF4-FFF2-40B4-BE49-F238E27FC236}">
                <a16:creationId xmlns:a16="http://schemas.microsoft.com/office/drawing/2014/main" id="{047BCE24-7C8D-B866-A222-923925ED5F16}"/>
              </a:ext>
            </a:extLst>
          </p:cNvPr>
          <p:cNvCxnSpPr/>
          <p:nvPr/>
        </p:nvCxnSpPr>
        <p:spPr>
          <a:xfrm>
            <a:off x="8953500" y="2717800"/>
            <a:ext cx="2540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098BC2D5-40E8-214A-795F-0AC0FDA5B3D3}"/>
              </a:ext>
            </a:extLst>
          </p:cNvPr>
          <p:cNvCxnSpPr/>
          <p:nvPr/>
        </p:nvCxnSpPr>
        <p:spPr>
          <a:xfrm flipH="1">
            <a:off x="7683500" y="3073400"/>
            <a:ext cx="1524000" cy="7366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DC399B55-0DFB-F118-2978-2FBF047CB1E6}"/>
              </a:ext>
            </a:extLst>
          </p:cNvPr>
          <p:cNvCxnSpPr/>
          <p:nvPr/>
        </p:nvCxnSpPr>
        <p:spPr>
          <a:xfrm>
            <a:off x="8953500" y="4165600"/>
            <a:ext cx="2540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EDE31D1D-1391-6E3B-41BF-ABA0200E9F68}"/>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ED44573-7A98-87FD-9013-2BEB654B0AC8}"/>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A resource view answers a resource question. The service question needs the whole chain.</a:t>
            </a:r>
          </a:p>
        </p:txBody>
      </p:sp>
      <p:pic>
        <p:nvPicPr>
          <p:cNvPr id="23" name="SponsorBar" descr="CAS 2026 sponsors and #CloudAISummit2026">
            <a:extLst>
              <a:ext uri="{FF2B5EF4-FFF2-40B4-BE49-F238E27FC236}">
                <a16:creationId xmlns:a16="http://schemas.microsoft.com/office/drawing/2014/main" id="{26D98B27-4C9B-1AA2-10B2-1875218053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5210531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EDAF330-1401-88ED-3358-4DDF3B76D39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F05D4848-5281-C6B6-CDB0-8F36B64FE70D}"/>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E23DDFD-6969-5066-534D-0884BFA4995B}"/>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Reading the service view</a:t>
            </a:r>
          </a:p>
        </p:txBody>
      </p:sp>
      <p:sp>
        <p:nvSpPr>
          <p:cNvPr id="5" name="Rectangle 4">
            <a:extLst>
              <a:ext uri="{FF2B5EF4-FFF2-40B4-BE49-F238E27FC236}">
                <a16:creationId xmlns:a16="http://schemas.microsoft.com/office/drawing/2014/main" id="{82A481FC-B125-AA59-5EA7-1F6289093926}"/>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F6B2DE60-0B12-75B6-2488-3C1DB41B3E73}"/>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Rectangle: Rounded Corners 6">
            <a:extLst>
              <a:ext uri="{FF2B5EF4-FFF2-40B4-BE49-F238E27FC236}">
                <a16:creationId xmlns:a16="http://schemas.microsoft.com/office/drawing/2014/main" id="{E507830B-B3AF-601A-7F77-0A309940638C}"/>
              </a:ext>
            </a:extLst>
          </p:cNvPr>
          <p:cNvSpPr/>
          <p:nvPr/>
        </p:nvSpPr>
        <p:spPr>
          <a:xfrm>
            <a:off x="571500" y="1676400"/>
            <a:ext cx="5334000" cy="9906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1 · CUSTOMER OUTCOME
order success · latency · last good order</a:t>
            </a:r>
          </a:p>
        </p:txBody>
      </p:sp>
      <p:sp>
        <p:nvSpPr>
          <p:cNvPr id="8" name="Rectangle: Rounded Corners 7">
            <a:extLst>
              <a:ext uri="{FF2B5EF4-FFF2-40B4-BE49-F238E27FC236}">
                <a16:creationId xmlns:a16="http://schemas.microsoft.com/office/drawing/2014/main" id="{8CE645EE-63C0-0C28-8DD9-2A24D5B57331}"/>
              </a:ext>
            </a:extLst>
          </p:cNvPr>
          <p:cNvSpPr/>
          <p:nvPr/>
        </p:nvSpPr>
        <p:spPr>
          <a:xfrm>
            <a:off x="6286500" y="1676400"/>
            <a:ext cx="5334000" cy="9906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2 · OVERALL HEALTH
state · freshness · affected commitment</a:t>
            </a:r>
          </a:p>
        </p:txBody>
      </p:sp>
      <p:sp>
        <p:nvSpPr>
          <p:cNvPr id="9" name="Rectangle: Rounded Corners 8">
            <a:extLst>
              <a:ext uri="{FF2B5EF4-FFF2-40B4-BE49-F238E27FC236}">
                <a16:creationId xmlns:a16="http://schemas.microsoft.com/office/drawing/2014/main" id="{99F361B8-7AE8-61F6-5BF3-03D8B1911DEB}"/>
              </a:ext>
            </a:extLst>
          </p:cNvPr>
          <p:cNvSpPr/>
          <p:nvPr/>
        </p:nvSpPr>
        <p:spPr>
          <a:xfrm>
            <a:off x="571500" y="3048000"/>
            <a:ext cx="7239000" cy="1270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3 · COMPONENTS + DEPENDENCIES
portal origins · coordinator · both workers</a:t>
            </a:r>
          </a:p>
        </p:txBody>
      </p:sp>
      <p:sp>
        <p:nvSpPr>
          <p:cNvPr id="10" name="Rectangle: Rounded Corners 9">
            <a:extLst>
              <a:ext uri="{FF2B5EF4-FFF2-40B4-BE49-F238E27FC236}">
                <a16:creationId xmlns:a16="http://schemas.microsoft.com/office/drawing/2014/main" id="{17DB64DA-8D42-B21E-A766-A4576F1482A8}"/>
              </a:ext>
            </a:extLst>
          </p:cNvPr>
          <p:cNvSpPr/>
          <p:nvPr/>
        </p:nvSpPr>
        <p:spPr>
          <a:xfrm>
            <a:off x="8191500" y="3048000"/>
            <a:ext cx="3429000" cy="1270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4 · EVIDENCE FRESHNESS
latest timestamps
late sources</a:t>
            </a:r>
          </a:p>
        </p:txBody>
      </p:sp>
      <p:sp>
        <p:nvSpPr>
          <p:cNvPr id="11" name="Rectangle: Rounded Corners 10">
            <a:extLst>
              <a:ext uri="{FF2B5EF4-FFF2-40B4-BE49-F238E27FC236}">
                <a16:creationId xmlns:a16="http://schemas.microsoft.com/office/drawing/2014/main" id="{9EAF393D-E62A-3633-1F85-190E65C01E17}"/>
              </a:ext>
            </a:extLst>
          </p:cNvPr>
          <p:cNvSpPr/>
          <p:nvPr/>
        </p:nvSpPr>
        <p:spPr>
          <a:xfrm>
            <a:off x="1905000" y="4724400"/>
            <a:ext cx="8382000" cy="889000"/>
          </a:xfrm>
          <a:prstGeom prst="roundRect">
            <a:avLst/>
          </a:prstGeom>
          <a:solidFill>
            <a:srgbClr val="20326C"/>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5 · DRILL-DOWN
correlation ID query → underlying evidence → owner and runbook</a:t>
            </a:r>
          </a:p>
        </p:txBody>
      </p:sp>
      <p:cxnSp>
        <p:nvCxnSpPr>
          <p:cNvPr id="12" name="Straight Arrow Connector 11">
            <a:extLst>
              <a:ext uri="{FF2B5EF4-FFF2-40B4-BE49-F238E27FC236}">
                <a16:creationId xmlns:a16="http://schemas.microsoft.com/office/drawing/2014/main" id="{2A3773C7-BCFD-1B73-D788-BF120E0CAD45}"/>
              </a:ext>
            </a:extLst>
          </p:cNvPr>
          <p:cNvCxnSpPr/>
          <p:nvPr/>
        </p:nvCxnSpPr>
        <p:spPr>
          <a:xfrm>
            <a:off x="3238500" y="2667000"/>
            <a:ext cx="0" cy="3810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47E222A1-023F-D57D-35DA-E592F3559E83}"/>
              </a:ext>
            </a:extLst>
          </p:cNvPr>
          <p:cNvCxnSpPr/>
          <p:nvPr/>
        </p:nvCxnSpPr>
        <p:spPr>
          <a:xfrm>
            <a:off x="8953500" y="2667000"/>
            <a:ext cx="0" cy="3810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E1B1B928-67CE-E3DE-D468-C63DD34654E5}"/>
              </a:ext>
            </a:extLst>
          </p:cNvPr>
          <p:cNvCxnSpPr/>
          <p:nvPr/>
        </p:nvCxnSpPr>
        <p:spPr>
          <a:xfrm>
            <a:off x="4191000" y="4318000"/>
            <a:ext cx="635000" cy="4064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773CA9E5-20D0-2739-AF9E-AF05F7213EED}"/>
              </a:ext>
            </a:extLst>
          </p:cNvPr>
          <p:cNvCxnSpPr/>
          <p:nvPr/>
        </p:nvCxnSpPr>
        <p:spPr>
          <a:xfrm flipH="1">
            <a:off x="7620000" y="4318000"/>
            <a:ext cx="2286000" cy="4064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9E967834-2D40-5856-4EE4-DDB7F03CF9BA}"/>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1345125-2C39-8ED5-6374-A1C58D4AE3D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Read both tracks top to bottom; both feed drill-down. The health model behind this view is built in section 4.</a:t>
            </a:r>
          </a:p>
        </p:txBody>
      </p:sp>
      <p:pic>
        <p:nvPicPr>
          <p:cNvPr id="19" name="SponsorBar" descr="CAS 2026 sponsors and #CloudAISummit2026">
            <a:extLst>
              <a:ext uri="{FF2B5EF4-FFF2-40B4-BE49-F238E27FC236}">
                <a16:creationId xmlns:a16="http://schemas.microsoft.com/office/drawing/2014/main" id="{62DE37C8-C12D-FAA5-0A34-D726B86AC6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487132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288900-A35D-EE21-F9B4-84EBFA8BBE0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69D6EB2-045A-1751-557C-45CE7693A207}"/>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0ABF91C-0F37-DF3D-05F7-65253A4C3EBB}"/>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Baseline order (1 of 2)</a:t>
            </a:r>
          </a:p>
        </p:txBody>
      </p:sp>
      <p:sp>
        <p:nvSpPr>
          <p:cNvPr id="5" name="Rectangle 4">
            <a:extLst>
              <a:ext uri="{FF2B5EF4-FFF2-40B4-BE49-F238E27FC236}">
                <a16:creationId xmlns:a16="http://schemas.microsoft.com/office/drawing/2014/main" id="{74EE523D-1AD0-1916-EA21-77A709ED6F5F}"/>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529D13F1-9479-6ECA-541E-DFBE3A9850D2}"/>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TextBox 6">
            <a:extLst>
              <a:ext uri="{FF2B5EF4-FFF2-40B4-BE49-F238E27FC236}">
                <a16:creationId xmlns:a16="http://schemas.microsoft.com/office/drawing/2014/main" id="{0B23A5FA-5B5A-C105-40F8-49DA6CB5E6BB}"/>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84A8F06E-59E5-19E8-97D2-539757AE9FB9}"/>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57C744F5-BAD4-F5CF-F385-E62B6CF49B6B}"/>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67E8101C-0FE8-35C5-45A1-944E03775163}"/>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Place one demo-tagged order through Front Door</a:t>
            </a:r>
          </a:p>
        </p:txBody>
      </p:sp>
      <p:sp>
        <p:nvSpPr>
          <p:cNvPr id="11" name="Rectangle: Rounded Corners 10">
            <a:extLst>
              <a:ext uri="{FF2B5EF4-FFF2-40B4-BE49-F238E27FC236}">
                <a16:creationId xmlns:a16="http://schemas.microsoft.com/office/drawing/2014/main" id="{7A5DAC22-1952-F001-24F9-2EABC9F24324}"/>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ABF16A91-CE55-AFB3-29D5-7AF237F815F7}"/>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Record its correlation ID and time</a:t>
            </a:r>
          </a:p>
        </p:txBody>
      </p:sp>
      <p:sp>
        <p:nvSpPr>
          <p:cNvPr id="13" name="Rectangle: Rounded Corners 12">
            <a:extLst>
              <a:ext uri="{FF2B5EF4-FFF2-40B4-BE49-F238E27FC236}">
                <a16:creationId xmlns:a16="http://schemas.microsoft.com/office/drawing/2014/main" id="{F0FD9CB0-D8CD-B2A7-444A-7F7802A301C2}"/>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15149254-319C-1756-EFC2-D583D1022639}"/>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Read its stage records</a:t>
            </a:r>
          </a:p>
        </p:txBody>
      </p:sp>
      <p:sp>
        <p:nvSpPr>
          <p:cNvPr id="15" name="Rectangle: Rounded Corners 14">
            <a:extLst>
              <a:ext uri="{FF2B5EF4-FFF2-40B4-BE49-F238E27FC236}">
                <a16:creationId xmlns:a16="http://schemas.microsoft.com/office/drawing/2014/main" id="{4A5B0C91-0E88-02B2-D6DD-0AB67CF2E09C}"/>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346D5A13-68C1-8A11-EC08-D5CFA9C49A54}"/>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Confirm the workbook shows it</a:t>
            </a:r>
          </a:p>
        </p:txBody>
      </p:sp>
      <p:sp>
        <p:nvSpPr>
          <p:cNvPr id="17" name="Rectangle: Rounded Corners 16">
            <a:extLst>
              <a:ext uri="{FF2B5EF4-FFF2-40B4-BE49-F238E27FC236}">
                <a16:creationId xmlns:a16="http://schemas.microsoft.com/office/drawing/2014/main" id="{06DB4AA6-47CD-D2C8-CF53-D2509D32272F}"/>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6523F2D-A674-09B1-A99B-9D426951BC7A}"/>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Order completed inside the target
All stages present, one correlation ID
Workbook fresh</a:t>
            </a:r>
          </a:p>
        </p:txBody>
      </p:sp>
      <p:sp>
        <p:nvSpPr>
          <p:cNvPr id="19" name="Rectangle 18">
            <a:extLst>
              <a:ext uri="{FF2B5EF4-FFF2-40B4-BE49-F238E27FC236}">
                <a16:creationId xmlns:a16="http://schemas.microsoft.com/office/drawing/2014/main" id="{8DAB24E5-1FD6-CB88-9E24-CB1D706C8DFC}"/>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21B709C0-2E77-B3C1-370D-962900052CC5}"/>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M02, stage 1 of 2. The baseline gives failure and recovery a comparison point.</a:t>
            </a:r>
          </a:p>
        </p:txBody>
      </p:sp>
      <p:pic>
        <p:nvPicPr>
          <p:cNvPr id="22" name="SponsorBar" descr="CAS 2026 sponsors and #CloudAISummit2026">
            <a:extLst>
              <a:ext uri="{FF2B5EF4-FFF2-40B4-BE49-F238E27FC236}">
                <a16:creationId xmlns:a16="http://schemas.microsoft.com/office/drawing/2014/main" id="{CAC40DBF-67DB-47C0-90C0-83A288F8B7D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A2E7A2D9-A906-7B09-18C7-B7AD614836B1}"/>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8C17151B-8DE3-8BBB-BF41-269F4419FCE4}"/>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8927776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EC8BA34-C9E5-28FE-D508-23EDCBE6516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628CCB2-E04A-5FB9-7745-28F31902E772}"/>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38889FF-39E5-E731-860B-64254F1F225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Service view (2 of 2)</a:t>
            </a:r>
          </a:p>
        </p:txBody>
      </p:sp>
      <p:sp>
        <p:nvSpPr>
          <p:cNvPr id="5" name="Rectangle 4">
            <a:extLst>
              <a:ext uri="{FF2B5EF4-FFF2-40B4-BE49-F238E27FC236}">
                <a16:creationId xmlns:a16="http://schemas.microsoft.com/office/drawing/2014/main" id="{3CE4C46E-C60C-94E0-E86E-B115BAE22C2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FB2E4FAD-12AF-18DC-8060-BCD720CE362B}"/>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TextBox 6">
            <a:extLst>
              <a:ext uri="{FF2B5EF4-FFF2-40B4-BE49-F238E27FC236}">
                <a16:creationId xmlns:a16="http://schemas.microsoft.com/office/drawing/2014/main" id="{FD913529-60FE-C6CA-15EC-97D5C2AEA603}"/>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2A339769-8FB6-F3F0-9D7B-B76225DF9260}"/>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994B6F67-F75D-2E54-1A19-6A3AFC7237A8}"/>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698B0490-4085-3B33-00FE-9260FA2E1138}"/>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Read the view in the fixed order</a:t>
            </a:r>
          </a:p>
        </p:txBody>
      </p:sp>
      <p:sp>
        <p:nvSpPr>
          <p:cNvPr id="11" name="Rectangle: Rounded Corners 10">
            <a:extLst>
              <a:ext uri="{FF2B5EF4-FFF2-40B4-BE49-F238E27FC236}">
                <a16:creationId xmlns:a16="http://schemas.microsoft.com/office/drawing/2014/main" id="{28795507-2071-E873-7022-53D8919415EC}"/>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563667D6-BBBE-2F28-44A4-23D5FAB2319F}"/>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Open the baseline order's stages</a:t>
            </a:r>
          </a:p>
        </p:txBody>
      </p:sp>
      <p:sp>
        <p:nvSpPr>
          <p:cNvPr id="13" name="Rectangle: Rounded Corners 12">
            <a:extLst>
              <a:ext uri="{FF2B5EF4-FFF2-40B4-BE49-F238E27FC236}">
                <a16:creationId xmlns:a16="http://schemas.microsoft.com/office/drawing/2014/main" id="{EBF90AF2-1374-ACCC-DBC0-83BBB32A68A6}"/>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71E097A2-5B50-088F-63E8-A38AA0FBFF98}"/>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Check both portal origins</a:t>
            </a:r>
          </a:p>
        </p:txBody>
      </p:sp>
      <p:sp>
        <p:nvSpPr>
          <p:cNvPr id="15" name="Rectangle: Rounded Corners 14">
            <a:extLst>
              <a:ext uri="{FF2B5EF4-FFF2-40B4-BE49-F238E27FC236}">
                <a16:creationId xmlns:a16="http://schemas.microsoft.com/office/drawing/2014/main" id="{41041EB9-AA2E-94E8-C70E-63933D4B94EA}"/>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C5965352-3622-EAD8-D93C-2534115423BE}"/>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Note freshness and owners</a:t>
            </a:r>
          </a:p>
        </p:txBody>
      </p:sp>
      <p:sp>
        <p:nvSpPr>
          <p:cNvPr id="17" name="Rectangle: Rounded Corners 16">
            <a:extLst>
              <a:ext uri="{FF2B5EF4-FFF2-40B4-BE49-F238E27FC236}">
                <a16:creationId xmlns:a16="http://schemas.microsoft.com/office/drawing/2014/main" id="{E1F88E39-2B47-A889-3A5C-B162FD776533}"/>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2B46C1AA-A466-F978-5734-A133FBA8D5C3}"/>
              </a:ext>
            </a:extLst>
          </p:cNvPr>
          <p:cNvSpPr txBox="1"/>
          <p:nvPr/>
        </p:nvSpPr>
        <p:spPr>
          <a:xfrm>
            <a:off x="6781800" y="2540000"/>
            <a:ext cx="4521200" cy="646331"/>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Outcome, components and freshness agree with the raw stage records</a:t>
            </a:r>
          </a:p>
        </p:txBody>
      </p:sp>
      <p:sp>
        <p:nvSpPr>
          <p:cNvPr id="19" name="Rectangle 18">
            <a:extLst>
              <a:ext uri="{FF2B5EF4-FFF2-40B4-BE49-F238E27FC236}">
                <a16:creationId xmlns:a16="http://schemas.microsoft.com/office/drawing/2014/main" id="{C3F1F689-A9FA-AD29-ECC6-C0DCDA42EA9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31B65C7-9545-38E1-0753-A1EBEB7123A0}"/>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M02, stage 2 of 2. Read the view in the order the previous slides taught.</a:t>
            </a:r>
          </a:p>
        </p:txBody>
      </p:sp>
      <p:pic>
        <p:nvPicPr>
          <p:cNvPr id="22" name="SponsorBar" descr="CAS 2026 sponsors and #CloudAISummit2026">
            <a:extLst>
              <a:ext uri="{FF2B5EF4-FFF2-40B4-BE49-F238E27FC236}">
                <a16:creationId xmlns:a16="http://schemas.microsoft.com/office/drawing/2014/main" id="{BEEA0587-4AA3-17C4-C9B6-48072F6D463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99E1EB64-61D2-F2A3-2FF7-9002ADE139E3}"/>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EA97CA6D-0B6D-4338-4516-AEA35C431B09}"/>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8254914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C3C4F1-7733-52D2-D4B3-BD18E4C1411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EC2A67E-B992-FA5A-CCEE-B55365FE54A5}"/>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548E384-1D18-E899-65B0-F8B882954EA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Impact-first investigation</a:t>
            </a:r>
          </a:p>
        </p:txBody>
      </p:sp>
      <p:sp>
        <p:nvSpPr>
          <p:cNvPr id="5" name="Rectangle 4">
            <a:extLst>
              <a:ext uri="{FF2B5EF4-FFF2-40B4-BE49-F238E27FC236}">
                <a16:creationId xmlns:a16="http://schemas.microsoft.com/office/drawing/2014/main" id="{4E58466F-FDA0-7A38-A6CC-A836454C7C8B}"/>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68F5FD7F-DFED-6F63-9D46-6EFCD6CE818A}"/>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Rectangle: Rounded Corners 6">
            <a:extLst>
              <a:ext uri="{FF2B5EF4-FFF2-40B4-BE49-F238E27FC236}">
                <a16:creationId xmlns:a16="http://schemas.microsoft.com/office/drawing/2014/main" id="{ECE33D2C-4594-884F-0026-235564CBD9E8}"/>
              </a:ext>
            </a:extLst>
          </p:cNvPr>
          <p:cNvSpPr/>
          <p:nvPr/>
        </p:nvSpPr>
        <p:spPr>
          <a:xfrm>
            <a:off x="609600" y="2489200"/>
            <a:ext cx="1930400" cy="13208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1  Confirm impact
operation + time</a:t>
            </a:r>
          </a:p>
        </p:txBody>
      </p:sp>
      <p:cxnSp>
        <p:nvCxnSpPr>
          <p:cNvPr id="8" name="Straight Arrow Connector 7">
            <a:extLst>
              <a:ext uri="{FF2B5EF4-FFF2-40B4-BE49-F238E27FC236}">
                <a16:creationId xmlns:a16="http://schemas.microsoft.com/office/drawing/2014/main" id="{298E3193-D3C3-172C-0B70-6944D1B68F95}"/>
              </a:ext>
            </a:extLst>
          </p:cNvPr>
          <p:cNvCxnSpPr/>
          <p:nvPr/>
        </p:nvCxnSpPr>
        <p:spPr>
          <a:xfrm>
            <a:off x="2540000" y="31496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AC3A9B3B-B204-0A06-0A68-E2046ACB74EA}"/>
              </a:ext>
            </a:extLst>
          </p:cNvPr>
          <p:cNvSpPr/>
          <p:nvPr/>
        </p:nvSpPr>
        <p:spPr>
          <a:xfrm>
            <a:off x="2844800" y="2489200"/>
            <a:ext cx="1930400" cy="1320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2  Scope the order
correlation ID + resource</a:t>
            </a:r>
          </a:p>
        </p:txBody>
      </p:sp>
      <p:cxnSp>
        <p:nvCxnSpPr>
          <p:cNvPr id="10" name="Straight Arrow Connector 9">
            <a:extLst>
              <a:ext uri="{FF2B5EF4-FFF2-40B4-BE49-F238E27FC236}">
                <a16:creationId xmlns:a16="http://schemas.microsoft.com/office/drawing/2014/main" id="{EF63689A-4FA2-A86D-37ED-7A8D1C66A9D1}"/>
              </a:ext>
            </a:extLst>
          </p:cNvPr>
          <p:cNvCxnSpPr/>
          <p:nvPr/>
        </p:nvCxnSpPr>
        <p:spPr>
          <a:xfrm>
            <a:off x="4775200" y="31496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F2FD40F4-4580-EF05-E247-B087FBC9E13F}"/>
              </a:ext>
            </a:extLst>
          </p:cNvPr>
          <p:cNvSpPr/>
          <p:nvPr/>
        </p:nvSpPr>
        <p:spPr>
          <a:xfrm>
            <a:off x="5080000" y="2489200"/>
            <a:ext cx="1930400" cy="1320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3  Compare stages
coordinator · on‑premises · AWS</a:t>
            </a:r>
          </a:p>
        </p:txBody>
      </p:sp>
      <p:cxnSp>
        <p:nvCxnSpPr>
          <p:cNvPr id="12" name="Straight Arrow Connector 11">
            <a:extLst>
              <a:ext uri="{FF2B5EF4-FFF2-40B4-BE49-F238E27FC236}">
                <a16:creationId xmlns:a16="http://schemas.microsoft.com/office/drawing/2014/main" id="{AEEAB322-D324-D10D-77EC-1E6A81B7099B}"/>
              </a:ext>
            </a:extLst>
          </p:cNvPr>
          <p:cNvCxnSpPr/>
          <p:nvPr/>
        </p:nvCxnSpPr>
        <p:spPr>
          <a:xfrm>
            <a:off x="7010400" y="31496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691580C8-D367-0147-1386-E12AB5B04806}"/>
              </a:ext>
            </a:extLst>
          </p:cNvPr>
          <p:cNvSpPr/>
          <p:nvPr/>
        </p:nvSpPr>
        <p:spPr>
          <a:xfrm>
            <a:off x="7315200" y="2489200"/>
            <a:ext cx="1930400" cy="1320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4  Inspect dependencies
model + freshness</a:t>
            </a:r>
          </a:p>
        </p:txBody>
      </p:sp>
      <p:cxnSp>
        <p:nvCxnSpPr>
          <p:cNvPr id="14" name="Straight Arrow Connector 13">
            <a:extLst>
              <a:ext uri="{FF2B5EF4-FFF2-40B4-BE49-F238E27FC236}">
                <a16:creationId xmlns:a16="http://schemas.microsoft.com/office/drawing/2014/main" id="{AC4A3A89-B7BF-E168-D9B2-2488643BC958}"/>
              </a:ext>
            </a:extLst>
          </p:cNvPr>
          <p:cNvCxnSpPr/>
          <p:nvPr/>
        </p:nvCxnSpPr>
        <p:spPr>
          <a:xfrm>
            <a:off x="9245600" y="31496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F007D9F0-4264-844B-BAD5-05A058C0EC31}"/>
              </a:ext>
            </a:extLst>
          </p:cNvPr>
          <p:cNvSpPr/>
          <p:nvPr/>
        </p:nvSpPr>
        <p:spPr>
          <a:xfrm>
            <a:off x="9550400" y="2489200"/>
            <a:ext cx="1930400" cy="1320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5  Decide
owner + bounded action
(scoped, reversible, authorized)</a:t>
            </a:r>
          </a:p>
        </p:txBody>
      </p:sp>
      <p:sp>
        <p:nvSpPr>
          <p:cNvPr id="16" name="Rectangle: Rounded Corners 15">
            <a:extLst>
              <a:ext uri="{FF2B5EF4-FFF2-40B4-BE49-F238E27FC236}">
                <a16:creationId xmlns:a16="http://schemas.microsoft.com/office/drawing/2014/main" id="{30EEEDE5-9E1C-8F13-B70C-16D943619524}"/>
              </a:ext>
            </a:extLst>
          </p:cNvPr>
          <p:cNvSpPr/>
          <p:nvPr/>
        </p:nvSpPr>
        <p:spPr>
          <a:xfrm>
            <a:off x="1905000" y="4445000"/>
            <a:ext cx="8382000" cy="8890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Evidence can establish correlation and sequence. Call something a cause only when the test and the evidence support it.</a:t>
            </a:r>
          </a:p>
        </p:txBody>
      </p:sp>
      <p:sp>
        <p:nvSpPr>
          <p:cNvPr id="17" name="TextBox 16">
            <a:extLst>
              <a:ext uri="{FF2B5EF4-FFF2-40B4-BE49-F238E27FC236}">
                <a16:creationId xmlns:a16="http://schemas.microsoft.com/office/drawing/2014/main" id="{562E5493-89F6-940E-BC63-67D3BA9F9205}"/>
              </a:ext>
            </a:extLst>
          </p:cNvPr>
          <p:cNvSpPr txBox="1"/>
          <p:nvPr/>
        </p:nvSpPr>
        <p:spPr>
          <a:xfrm>
            <a:off x="609600" y="5410200"/>
            <a:ext cx="10972800" cy="492443"/>
          </a:xfrm>
          <a:prstGeom prst="rect">
            <a:avLst/>
          </a:prstGeom>
          <a:noFill/>
        </p:spPr>
        <p:txBody>
          <a:bodyPr vert="horz" wrap="square" lIns="25400" rIns="25400" rtlCol="0">
            <a:spAutoFit/>
          </a:bodyPr>
          <a:lstStyle/>
          <a:p>
            <a:r>
              <a:rPr lang="en-US" sz="1300" b="1">
                <a:solidFill>
                  <a:srgbClr val="F1F5FB"/>
                </a:solidFill>
                <a:latin typeface="Calibri" panose="020F0502020204030204" pitchFamily="34" charset="0"/>
              </a:rPr>
              <a:t>Worker failed, or telemetry lost? A Failed stage record with fresh heartbeats points at the worker. A missing record: check dispatch and the queue before calling it lost visibility.</a:t>
            </a:r>
          </a:p>
        </p:txBody>
      </p:sp>
      <p:sp>
        <p:nvSpPr>
          <p:cNvPr id="18" name="Rectangle 17">
            <a:extLst>
              <a:ext uri="{FF2B5EF4-FFF2-40B4-BE49-F238E27FC236}">
                <a16:creationId xmlns:a16="http://schemas.microsoft.com/office/drawing/2014/main" id="{ADF622DB-B696-5C5C-1946-7151CC2A0D5E}"/>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1D65DAED-2312-AB6A-B3F0-F48312F4D469}"/>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Start at the failing order; stop when the evidence no longer supports the next claim.</a:t>
            </a:r>
          </a:p>
        </p:txBody>
      </p:sp>
      <p:pic>
        <p:nvPicPr>
          <p:cNvPr id="21" name="SponsorBar" descr="CAS 2026 sponsors and #CloudAISummit2026">
            <a:extLst>
              <a:ext uri="{FF2B5EF4-FFF2-40B4-BE49-F238E27FC236}">
                <a16:creationId xmlns:a16="http://schemas.microsoft.com/office/drawing/2014/main" id="{B9B3381B-0106-B614-F9A6-4838115AEE5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898020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6" grpId="0" animBg="1"/>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B92100-81F3-6A77-A254-724C96481D87}"/>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EEC088D-D458-CA96-F969-E95E934D4065}"/>
              </a:ext>
            </a:extLst>
          </p:cNvPr>
          <p:cNvSpPr/>
          <p:nvPr/>
        </p:nvSpPr>
        <p:spPr>
          <a:xfrm>
            <a:off x="0" y="1549400"/>
            <a:ext cx="12192000" cy="50800"/>
          </a:xfrm>
          <a:prstGeom prst="rect">
            <a:avLst/>
          </a:prstGeom>
          <a:solidFill>
            <a:srgbClr val="D0B6F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41832A-3525-F6FA-C4A3-375CCEEE59A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Controlled fault</a:t>
            </a:r>
          </a:p>
        </p:txBody>
      </p:sp>
      <p:sp>
        <p:nvSpPr>
          <p:cNvPr id="5" name="Rectangle 4">
            <a:extLst>
              <a:ext uri="{FF2B5EF4-FFF2-40B4-BE49-F238E27FC236}">
                <a16:creationId xmlns:a16="http://schemas.microsoft.com/office/drawing/2014/main" id="{066AE84C-FE5D-C4E6-C775-478352FBDFA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2B574B0A-F722-11C9-714B-091D7BE8EE25}"/>
              </a:ext>
            </a:extLst>
          </p:cNvPr>
          <p:cNvSpPr/>
          <p:nvPr/>
        </p:nvSpPr>
        <p:spPr>
          <a:xfrm>
            <a:off x="9042400" y="330200"/>
            <a:ext cx="2540000" cy="330200"/>
          </a:xfrm>
          <a:prstGeom prst="roundRect">
            <a:avLst/>
          </a:prstGeom>
          <a:solidFill>
            <a:srgbClr val="D0B6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3 · WHEN AN ORDER FAILS</a:t>
            </a:r>
          </a:p>
        </p:txBody>
      </p:sp>
      <p:sp>
        <p:nvSpPr>
          <p:cNvPr id="7" name="TextBox 6">
            <a:extLst>
              <a:ext uri="{FF2B5EF4-FFF2-40B4-BE49-F238E27FC236}">
                <a16:creationId xmlns:a16="http://schemas.microsoft.com/office/drawing/2014/main" id="{DA330626-180D-EA2E-0832-E042CDA2302D}"/>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4F96C39D-89A4-D4DF-DD4C-6CC61A7C4466}"/>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4F3AA715-C6B5-CA04-2AC9-47A7DE519C43}"/>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4E31F2B1-299C-833A-C937-3271E9CC6F32}"/>
              </a:ext>
            </a:extLst>
          </p:cNvPr>
          <p:cNvSpPr txBox="1"/>
          <p:nvPr/>
        </p:nvSpPr>
        <p:spPr>
          <a:xfrm>
            <a:off x="1295400" y="2209800"/>
            <a:ext cx="4826000" cy="584775"/>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Turn on the demo fault "marvin": the AWS worker fails demo-tagged orders only</a:t>
            </a:r>
          </a:p>
        </p:txBody>
      </p:sp>
      <p:sp>
        <p:nvSpPr>
          <p:cNvPr id="11" name="Rectangle: Rounded Corners 10">
            <a:extLst>
              <a:ext uri="{FF2B5EF4-FFF2-40B4-BE49-F238E27FC236}">
                <a16:creationId xmlns:a16="http://schemas.microsoft.com/office/drawing/2014/main" id="{37CFE8D8-A2AF-17F2-2C14-928A976CBAAB}"/>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5AD63A08-E5E4-87E4-071F-330E8BDB94A5}"/>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Place a fresh demo-tagged order</a:t>
            </a:r>
          </a:p>
        </p:txBody>
      </p:sp>
      <p:sp>
        <p:nvSpPr>
          <p:cNvPr id="13" name="Rectangle: Rounded Corners 12">
            <a:extLst>
              <a:ext uri="{FF2B5EF4-FFF2-40B4-BE49-F238E27FC236}">
                <a16:creationId xmlns:a16="http://schemas.microsoft.com/office/drawing/2014/main" id="{16CFE6F8-0A8B-25CE-02C5-6557D2863849}"/>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2CD768E4-4FD2-1A74-C80E-EC7EB10C2A70}"/>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Read its stages: AWS fulfillment failed</a:t>
            </a:r>
          </a:p>
        </p:txBody>
      </p:sp>
      <p:sp>
        <p:nvSpPr>
          <p:cNvPr id="15" name="Rectangle: Rounded Corners 14">
            <a:extLst>
              <a:ext uri="{FF2B5EF4-FFF2-40B4-BE49-F238E27FC236}">
                <a16:creationId xmlns:a16="http://schemas.microsoft.com/office/drawing/2014/main" id="{BB6ACE1E-2A18-3EA7-9EC5-3A357F706E7C}"/>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89D5905B-F2D8-3DC5-1625-524C4A45D1BF}"/>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See the order fail while machines stay healthy</a:t>
            </a:r>
          </a:p>
        </p:txBody>
      </p:sp>
      <p:sp>
        <p:nvSpPr>
          <p:cNvPr id="17" name="Rectangle: Rounded Corners 16">
            <a:extLst>
              <a:ext uri="{FF2B5EF4-FFF2-40B4-BE49-F238E27FC236}">
                <a16:creationId xmlns:a16="http://schemas.microsoft.com/office/drawing/2014/main" id="{D304E7F8-012B-4025-AD91-7761C1C17AF9}"/>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1525F04-E5D8-05A6-729F-F5C9D3656BE4}"/>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AWS stage failed, FailureMode marvin
Order outcome: failed
Heartbeats still fresh</a:t>
            </a:r>
          </a:p>
        </p:txBody>
      </p:sp>
      <p:sp>
        <p:nvSpPr>
          <p:cNvPr id="19" name="Rectangle 18">
            <a:extLst>
              <a:ext uri="{FF2B5EF4-FFF2-40B4-BE49-F238E27FC236}">
                <a16:creationId xmlns:a16="http://schemas.microsoft.com/office/drawing/2014/main" id="{BDBAB818-E597-F814-C539-A684383D9D47}"/>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9D33910-4464-4BFA-9D1E-E86BE9FB94F2}"/>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M03, stage 1 of 2. The AWS worker is inside the order path, so its fault is the cause.</a:t>
            </a:r>
          </a:p>
        </p:txBody>
      </p:sp>
      <p:pic>
        <p:nvPicPr>
          <p:cNvPr id="22" name="SponsorBar" descr="CAS 2026 sponsors and #CloudAISummit2026">
            <a:extLst>
              <a:ext uri="{FF2B5EF4-FFF2-40B4-BE49-F238E27FC236}">
                <a16:creationId xmlns:a16="http://schemas.microsoft.com/office/drawing/2014/main" id="{30252F0B-EF9E-0FB2-EB83-99819DE4B79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25909B98-0AC4-2850-047B-4932B8F49D7B}"/>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19639163-151A-42BA-F252-C0831C5F3C7E}"/>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13202824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6E3D49-72AF-A704-B094-D8E719F23ED9}"/>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793B5D2-C96D-A563-8467-045FCACFBA48}"/>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02DAF39-4C73-F855-D4AB-ADE2744D6EE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4 · Model health with Azure Monitor Health Models</a:t>
            </a:r>
          </a:p>
        </p:txBody>
      </p:sp>
      <p:sp>
        <p:nvSpPr>
          <p:cNvPr id="5" name="Rectangle 4">
            <a:extLst>
              <a:ext uri="{FF2B5EF4-FFF2-40B4-BE49-F238E27FC236}">
                <a16:creationId xmlns:a16="http://schemas.microsoft.com/office/drawing/2014/main" id="{CE4510D8-6692-018E-4141-B272E89EB76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7C7CEEB4-3DC0-3FDB-CC13-EBC2C253AF99}"/>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TextBox 6">
            <a:extLst>
              <a:ext uri="{FF2B5EF4-FFF2-40B4-BE49-F238E27FC236}">
                <a16:creationId xmlns:a16="http://schemas.microsoft.com/office/drawing/2014/main" id="{FF2B4CE4-F008-1B41-E7A3-9C63C3920C3E}"/>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FACC15"/>
                </a:solidFill>
                <a:latin typeface="Calibri" panose="020F0502020204030204" pitchFamily="34" charset="0"/>
              </a:rPr>
              <a:t>4</a:t>
            </a:r>
          </a:p>
        </p:txBody>
      </p:sp>
      <p:sp>
        <p:nvSpPr>
          <p:cNvPr id="8" name="TextBox 7">
            <a:extLst>
              <a:ext uri="{FF2B5EF4-FFF2-40B4-BE49-F238E27FC236}">
                <a16:creationId xmlns:a16="http://schemas.microsoft.com/office/drawing/2014/main" id="{1BB0AF71-4A40-4239-8EC8-9DA7E063271F}"/>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077F0C89-25B9-54C2-6FCB-077A46D49065}"/>
              </a:ext>
            </a:extLst>
          </p:cNvPr>
          <p:cNvSpPr txBox="1"/>
          <p:nvPr/>
        </p:nvSpPr>
        <p:spPr>
          <a:xfrm>
            <a:off x="2413000" y="1778000"/>
            <a:ext cx="9169400" cy="461665"/>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How does evidence become a health state the whole team can trust?</a:t>
            </a:r>
          </a:p>
        </p:txBody>
      </p:sp>
      <p:sp>
        <p:nvSpPr>
          <p:cNvPr id="10" name="TextBox 9">
            <a:extLst>
              <a:ext uri="{FF2B5EF4-FFF2-40B4-BE49-F238E27FC236}">
                <a16:creationId xmlns:a16="http://schemas.microsoft.com/office/drawing/2014/main" id="{5BD3F01A-1A80-E91E-653D-9B3B6BBBE8BF}"/>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332A83DB-152D-D21C-3438-774C3FA9C43C}"/>
              </a:ext>
            </a:extLst>
          </p:cNvPr>
          <p:cNvSpPr txBox="1"/>
          <p:nvPr/>
        </p:nvSpPr>
        <p:spPr>
          <a:xfrm>
            <a:off x="2413000" y="3048000"/>
            <a:ext cx="9169400" cy="523220"/>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SCOM's service model reintroduced for a hybrid estate; what a health model is made of; how health rolls up; what happens when evidence goes quiet; the live IIC model.</a:t>
            </a:r>
          </a:p>
        </p:txBody>
      </p:sp>
      <p:sp>
        <p:nvSpPr>
          <p:cNvPr id="12" name="TextBox 11">
            <a:extLst>
              <a:ext uri="{FF2B5EF4-FFF2-40B4-BE49-F238E27FC236}">
                <a16:creationId xmlns:a16="http://schemas.microsoft.com/office/drawing/2014/main" id="{CDC6E1AC-B2DF-B915-ACF2-63BBD0DB8983}"/>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CE99418D-3E8B-E4D1-F8C6-5B76BC05035A}"/>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 health model turns records into one answer about the service, instead of a wall of alerts.</a:t>
            </a:r>
          </a:p>
        </p:txBody>
      </p:sp>
      <p:sp>
        <p:nvSpPr>
          <p:cNvPr id="14" name="TextBox 13">
            <a:extLst>
              <a:ext uri="{FF2B5EF4-FFF2-40B4-BE49-F238E27FC236}">
                <a16:creationId xmlns:a16="http://schemas.microsoft.com/office/drawing/2014/main" id="{1DF99056-23E2-3DB9-9C8B-F4E1DA08A731}"/>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342398CF-F87C-2727-DDBF-7B0126703660}"/>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explanation the whole team can trust</a:t>
            </a:r>
          </a:p>
        </p:txBody>
      </p:sp>
      <p:sp>
        <p:nvSpPr>
          <p:cNvPr id="16" name="Rectangle: Rounded Corners 15">
            <a:extLst>
              <a:ext uri="{FF2B5EF4-FFF2-40B4-BE49-F238E27FC236}">
                <a16:creationId xmlns:a16="http://schemas.microsoft.com/office/drawing/2014/main" id="{F0018502-FADA-0C78-5097-F1FDBCDF8C02}"/>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5C693009-00E1-A0F3-1519-E3418BE221B6}"/>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AA1E3172-F00E-2D56-C7F6-4D617AE385CF}"/>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EB33794A-C3FE-2906-2489-3A61F75DC22A}"/>
              </a:ext>
            </a:extLst>
          </p:cNvPr>
          <p:cNvSpPr/>
          <p:nvPr/>
        </p:nvSpPr>
        <p:spPr>
          <a:xfrm>
            <a:off x="6172200" y="5334000"/>
            <a:ext cx="1752600" cy="508000"/>
          </a:xfrm>
          <a:prstGeom prst="roundRect">
            <a:avLst/>
          </a:prstGeom>
          <a:solidFill>
            <a:srgbClr val="FACC15"/>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1E125C75-14B5-A12D-C7D9-0771B4142823}"/>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806E7988-190A-73E6-AD24-AB6A201CD948}"/>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11520976-B55D-2707-4C04-A14F3D6851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308216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1E85B4-28DB-C7E9-D340-65911CD5338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FB7CEAA-A83F-E16D-F2E9-9764FA10F4B1}"/>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40E768A-FFD2-D2E1-588A-241C54EFECF9}"/>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SCOM's idea, reintroduced</a:t>
            </a:r>
          </a:p>
        </p:txBody>
      </p:sp>
      <p:sp>
        <p:nvSpPr>
          <p:cNvPr id="5" name="Rectangle 4">
            <a:extLst>
              <a:ext uri="{FF2B5EF4-FFF2-40B4-BE49-F238E27FC236}">
                <a16:creationId xmlns:a16="http://schemas.microsoft.com/office/drawing/2014/main" id="{192E97C4-ACBC-05EA-0C83-0B5EE1338284}"/>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C3BEC414-9929-D4FB-DC7B-2D192F5C5604}"/>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TextBox 6">
            <a:extLst>
              <a:ext uri="{FF2B5EF4-FFF2-40B4-BE49-F238E27FC236}">
                <a16:creationId xmlns:a16="http://schemas.microsoft.com/office/drawing/2014/main" id="{E4135420-181D-7423-7DEF-EFC02413A80A}"/>
              </a:ext>
            </a:extLst>
          </p:cNvPr>
          <p:cNvSpPr txBox="1"/>
          <p:nvPr/>
        </p:nvSpPr>
        <p:spPr>
          <a:xfrm>
            <a:off x="2286000" y="1676400"/>
            <a:ext cx="4191000" cy="261610"/>
          </a:xfrm>
          <a:prstGeom prst="rect">
            <a:avLst/>
          </a:prstGeom>
          <a:noFill/>
        </p:spPr>
        <p:txBody>
          <a:bodyPr vert="horz" wrap="square" lIns="25400" rIns="25400" rtlCol="0">
            <a:spAutoFit/>
          </a:bodyPr>
          <a:lstStyle/>
          <a:p>
            <a:r>
              <a:rPr lang="en-US" sz="1100" b="1">
                <a:solidFill>
                  <a:srgbClr val="6EE7B7"/>
                </a:solidFill>
                <a:latin typeface="Calibri" panose="020F0502020204030204" pitchFamily="34" charset="0"/>
              </a:rPr>
              <a:t>SCOM DISTRIBUTED APPLICATION</a:t>
            </a:r>
          </a:p>
        </p:txBody>
      </p:sp>
      <p:sp>
        <p:nvSpPr>
          <p:cNvPr id="8" name="TextBox 7">
            <a:extLst>
              <a:ext uri="{FF2B5EF4-FFF2-40B4-BE49-F238E27FC236}">
                <a16:creationId xmlns:a16="http://schemas.microsoft.com/office/drawing/2014/main" id="{1AE3A013-2230-209D-73E4-63C5930BC72D}"/>
              </a:ext>
            </a:extLst>
          </p:cNvPr>
          <p:cNvSpPr txBox="1"/>
          <p:nvPr/>
        </p:nvSpPr>
        <p:spPr>
          <a:xfrm>
            <a:off x="7112000" y="1676400"/>
            <a:ext cx="41910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AZURE MONITOR HEALTH MODEL</a:t>
            </a:r>
          </a:p>
        </p:txBody>
      </p:sp>
      <p:sp>
        <p:nvSpPr>
          <p:cNvPr id="9" name="TextBox 8">
            <a:extLst>
              <a:ext uri="{FF2B5EF4-FFF2-40B4-BE49-F238E27FC236}">
                <a16:creationId xmlns:a16="http://schemas.microsoft.com/office/drawing/2014/main" id="{EDD40E1F-EAB1-7B85-B7CD-52673696CE6F}"/>
              </a:ext>
            </a:extLst>
          </p:cNvPr>
          <p:cNvSpPr txBox="1"/>
          <p:nvPr/>
        </p:nvSpPr>
        <p:spPr>
          <a:xfrm>
            <a:off x="609600" y="2159000"/>
            <a:ext cx="1574800" cy="292388"/>
          </a:xfrm>
          <a:prstGeom prst="rect">
            <a:avLst/>
          </a:prstGeom>
          <a:noFill/>
        </p:spPr>
        <p:txBody>
          <a:bodyPr vert="horz" wrap="square" lIns="25400" rIns="25400" rtlCol="0">
            <a:spAutoFit/>
          </a:bodyPr>
          <a:lstStyle/>
          <a:p>
            <a:r>
              <a:rPr lang="en-US" sz="1300" b="1">
                <a:solidFill>
                  <a:srgbClr val="B8C6DE"/>
                </a:solidFill>
                <a:latin typeface="Calibri" panose="020F0502020204030204" pitchFamily="34" charset="0"/>
              </a:rPr>
              <a:t>The service</a:t>
            </a:r>
          </a:p>
        </p:txBody>
      </p:sp>
      <p:sp>
        <p:nvSpPr>
          <p:cNvPr id="10" name="Rectangle: Rounded Corners 9">
            <a:extLst>
              <a:ext uri="{FF2B5EF4-FFF2-40B4-BE49-F238E27FC236}">
                <a16:creationId xmlns:a16="http://schemas.microsoft.com/office/drawing/2014/main" id="{107D21A8-8E8E-1EE8-93AE-9E527674CEFE}"/>
              </a:ext>
            </a:extLst>
          </p:cNvPr>
          <p:cNvSpPr/>
          <p:nvPr/>
        </p:nvSpPr>
        <p:spPr>
          <a:xfrm>
            <a:off x="2286000" y="2006600"/>
            <a:ext cx="4191000" cy="584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 distributed application you build in SCOM</a:t>
            </a:r>
          </a:p>
        </p:txBody>
      </p:sp>
      <p:cxnSp>
        <p:nvCxnSpPr>
          <p:cNvPr id="11" name="Straight Arrow Connector 10">
            <a:extLst>
              <a:ext uri="{FF2B5EF4-FFF2-40B4-BE49-F238E27FC236}">
                <a16:creationId xmlns:a16="http://schemas.microsoft.com/office/drawing/2014/main" id="{97DE9067-EB66-3F31-A1C3-124D348F75BF}"/>
              </a:ext>
            </a:extLst>
          </p:cNvPr>
          <p:cNvCxnSpPr/>
          <p:nvPr/>
        </p:nvCxnSpPr>
        <p:spPr>
          <a:xfrm>
            <a:off x="6477000" y="2298700"/>
            <a:ext cx="635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12" name="Rectangle: Rounded Corners 11">
            <a:extLst>
              <a:ext uri="{FF2B5EF4-FFF2-40B4-BE49-F238E27FC236}">
                <a16:creationId xmlns:a16="http://schemas.microsoft.com/office/drawing/2014/main" id="{3CBD4BEB-5B15-B182-679E-3F6E0591C50A}"/>
              </a:ext>
            </a:extLst>
          </p:cNvPr>
          <p:cNvSpPr/>
          <p:nvPr/>
        </p:nvSpPr>
        <p:spPr>
          <a:xfrm>
            <a:off x="7112000" y="2006600"/>
            <a:ext cx="4191000" cy="584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 health model: one resource that represents the service</a:t>
            </a:r>
          </a:p>
        </p:txBody>
      </p:sp>
      <p:sp>
        <p:nvSpPr>
          <p:cNvPr id="13" name="TextBox 12">
            <a:extLst>
              <a:ext uri="{FF2B5EF4-FFF2-40B4-BE49-F238E27FC236}">
                <a16:creationId xmlns:a16="http://schemas.microsoft.com/office/drawing/2014/main" id="{A4E272DE-39FF-06D6-32B2-12F2C6A75E5A}"/>
              </a:ext>
            </a:extLst>
          </p:cNvPr>
          <p:cNvSpPr txBox="1"/>
          <p:nvPr/>
        </p:nvSpPr>
        <p:spPr>
          <a:xfrm>
            <a:off x="609600" y="2895600"/>
            <a:ext cx="1574800" cy="292388"/>
          </a:xfrm>
          <a:prstGeom prst="rect">
            <a:avLst/>
          </a:prstGeom>
          <a:noFill/>
        </p:spPr>
        <p:txBody>
          <a:bodyPr vert="horz" wrap="square" lIns="25400" rIns="25400" rtlCol="0">
            <a:spAutoFit/>
          </a:bodyPr>
          <a:lstStyle/>
          <a:p>
            <a:r>
              <a:rPr lang="en-US" sz="1300" b="1">
                <a:solidFill>
                  <a:srgbClr val="B8C6DE"/>
                </a:solidFill>
                <a:latin typeface="Calibri" panose="020F0502020204030204" pitchFamily="34" charset="0"/>
              </a:rPr>
              <a:t>Parts</a:t>
            </a:r>
          </a:p>
        </p:txBody>
      </p:sp>
      <p:sp>
        <p:nvSpPr>
          <p:cNvPr id="14" name="Rectangle: Rounded Corners 13">
            <a:extLst>
              <a:ext uri="{FF2B5EF4-FFF2-40B4-BE49-F238E27FC236}">
                <a16:creationId xmlns:a16="http://schemas.microsoft.com/office/drawing/2014/main" id="{5EC8253D-0C9E-216D-CB40-19A5BC213412}"/>
              </a:ext>
            </a:extLst>
          </p:cNvPr>
          <p:cNvSpPr/>
          <p:nvPr/>
        </p:nvSpPr>
        <p:spPr>
          <a:xfrm>
            <a:off x="2286000" y="2743200"/>
            <a:ext cx="4191000" cy="584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Component groups, such as a web tier and a database tier</a:t>
            </a:r>
          </a:p>
        </p:txBody>
      </p:sp>
      <p:cxnSp>
        <p:nvCxnSpPr>
          <p:cNvPr id="15" name="Straight Arrow Connector 14">
            <a:extLst>
              <a:ext uri="{FF2B5EF4-FFF2-40B4-BE49-F238E27FC236}">
                <a16:creationId xmlns:a16="http://schemas.microsoft.com/office/drawing/2014/main" id="{796DA7E0-8798-3520-F740-8F7099104C66}"/>
              </a:ext>
            </a:extLst>
          </p:cNvPr>
          <p:cNvCxnSpPr/>
          <p:nvPr/>
        </p:nvCxnSpPr>
        <p:spPr>
          <a:xfrm>
            <a:off x="6477000" y="3035300"/>
            <a:ext cx="635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28AF0A5A-23CF-38D3-3F2A-B8A54A393C98}"/>
              </a:ext>
            </a:extLst>
          </p:cNvPr>
          <p:cNvSpPr/>
          <p:nvPr/>
        </p:nvSpPr>
        <p:spPr>
          <a:xfrm>
            <a:off x="7112000" y="2743200"/>
            <a:ext cx="4191000" cy="584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Entities: the components the service depends on, in Azure, on-premises or AWS</a:t>
            </a:r>
          </a:p>
        </p:txBody>
      </p:sp>
      <p:sp>
        <p:nvSpPr>
          <p:cNvPr id="17" name="TextBox 16">
            <a:extLst>
              <a:ext uri="{FF2B5EF4-FFF2-40B4-BE49-F238E27FC236}">
                <a16:creationId xmlns:a16="http://schemas.microsoft.com/office/drawing/2014/main" id="{B9A67C2E-4CEA-91BE-E2FA-892A66C953D2}"/>
              </a:ext>
            </a:extLst>
          </p:cNvPr>
          <p:cNvSpPr txBox="1"/>
          <p:nvPr/>
        </p:nvSpPr>
        <p:spPr>
          <a:xfrm>
            <a:off x="609600" y="3632200"/>
            <a:ext cx="1574800" cy="292388"/>
          </a:xfrm>
          <a:prstGeom prst="rect">
            <a:avLst/>
          </a:prstGeom>
          <a:noFill/>
        </p:spPr>
        <p:txBody>
          <a:bodyPr vert="horz" wrap="square" lIns="25400" rIns="25400" rtlCol="0">
            <a:spAutoFit/>
          </a:bodyPr>
          <a:lstStyle/>
          <a:p>
            <a:r>
              <a:rPr lang="en-US" sz="1300" b="1">
                <a:solidFill>
                  <a:srgbClr val="B8C6DE"/>
                </a:solidFill>
                <a:latin typeface="Calibri" panose="020F0502020204030204" pitchFamily="34" charset="0"/>
              </a:rPr>
              <a:t>Evidence</a:t>
            </a:r>
          </a:p>
        </p:txBody>
      </p:sp>
      <p:sp>
        <p:nvSpPr>
          <p:cNvPr id="18" name="Rectangle: Rounded Corners 17">
            <a:extLst>
              <a:ext uri="{FF2B5EF4-FFF2-40B4-BE49-F238E27FC236}">
                <a16:creationId xmlns:a16="http://schemas.microsoft.com/office/drawing/2014/main" id="{748A598E-E8EE-DF62-A67D-3F33DBDA52D8}"/>
              </a:ext>
            </a:extLst>
          </p:cNvPr>
          <p:cNvSpPr/>
          <p:nvPr/>
        </p:nvSpPr>
        <p:spPr>
          <a:xfrm>
            <a:off x="2286000" y="3479800"/>
            <a:ext cx="4191000" cy="584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Monitors watching events, counters and scripts</a:t>
            </a:r>
          </a:p>
        </p:txBody>
      </p:sp>
      <p:cxnSp>
        <p:nvCxnSpPr>
          <p:cNvPr id="19" name="Straight Arrow Connector 18">
            <a:extLst>
              <a:ext uri="{FF2B5EF4-FFF2-40B4-BE49-F238E27FC236}">
                <a16:creationId xmlns:a16="http://schemas.microsoft.com/office/drawing/2014/main" id="{C6E5DF18-C3AF-FA1A-095B-CF9C67A62ADA}"/>
              </a:ext>
            </a:extLst>
          </p:cNvPr>
          <p:cNvCxnSpPr/>
          <p:nvPr/>
        </p:nvCxnSpPr>
        <p:spPr>
          <a:xfrm>
            <a:off x="6477000" y="3771900"/>
            <a:ext cx="635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0" name="Rectangle: Rounded Corners 19">
            <a:extLst>
              <a:ext uri="{FF2B5EF4-FFF2-40B4-BE49-F238E27FC236}">
                <a16:creationId xmlns:a16="http://schemas.microsoft.com/office/drawing/2014/main" id="{6D924391-9378-58DB-C02B-464209F9AC15}"/>
              </a:ext>
            </a:extLst>
          </p:cNvPr>
          <p:cNvSpPr/>
          <p:nvPr/>
        </p:nvSpPr>
        <p:spPr>
          <a:xfrm>
            <a:off x="7112000" y="3479800"/>
            <a:ext cx="4191000" cy="584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Signals reading data Azure Monitor already collects</a:t>
            </a:r>
          </a:p>
        </p:txBody>
      </p:sp>
      <p:sp>
        <p:nvSpPr>
          <p:cNvPr id="21" name="TextBox 20">
            <a:extLst>
              <a:ext uri="{FF2B5EF4-FFF2-40B4-BE49-F238E27FC236}">
                <a16:creationId xmlns:a16="http://schemas.microsoft.com/office/drawing/2014/main" id="{9E5F18DF-EDE3-0586-A2EA-954B4B947C45}"/>
              </a:ext>
            </a:extLst>
          </p:cNvPr>
          <p:cNvSpPr txBox="1"/>
          <p:nvPr/>
        </p:nvSpPr>
        <p:spPr>
          <a:xfrm>
            <a:off x="609600" y="4368800"/>
            <a:ext cx="1574800" cy="292388"/>
          </a:xfrm>
          <a:prstGeom prst="rect">
            <a:avLst/>
          </a:prstGeom>
          <a:noFill/>
        </p:spPr>
        <p:txBody>
          <a:bodyPr vert="horz" wrap="square" lIns="25400" rIns="25400" rtlCol="0">
            <a:spAutoFit/>
          </a:bodyPr>
          <a:lstStyle/>
          <a:p>
            <a:r>
              <a:rPr lang="en-US" sz="1300" b="1">
                <a:solidFill>
                  <a:srgbClr val="B8C6DE"/>
                </a:solidFill>
                <a:latin typeface="Calibri" panose="020F0502020204030204" pitchFamily="34" charset="0"/>
              </a:rPr>
              <a:t>Rollup</a:t>
            </a:r>
          </a:p>
        </p:txBody>
      </p:sp>
      <p:sp>
        <p:nvSpPr>
          <p:cNvPr id="22" name="Rectangle: Rounded Corners 21">
            <a:extLst>
              <a:ext uri="{FF2B5EF4-FFF2-40B4-BE49-F238E27FC236}">
                <a16:creationId xmlns:a16="http://schemas.microsoft.com/office/drawing/2014/main" id="{5FB585AE-DE0A-0E60-C342-6F03BD763E69}"/>
              </a:ext>
            </a:extLst>
          </p:cNvPr>
          <p:cNvSpPr/>
          <p:nvPr/>
        </p:nvSpPr>
        <p:spPr>
          <a:xfrm>
            <a:off x="2286000" y="4216400"/>
            <a:ext cx="4191000" cy="584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Health rolls up from components to the service</a:t>
            </a:r>
          </a:p>
        </p:txBody>
      </p:sp>
      <p:cxnSp>
        <p:nvCxnSpPr>
          <p:cNvPr id="23" name="Straight Arrow Connector 22">
            <a:extLst>
              <a:ext uri="{FF2B5EF4-FFF2-40B4-BE49-F238E27FC236}">
                <a16:creationId xmlns:a16="http://schemas.microsoft.com/office/drawing/2014/main" id="{AB7E465B-2B56-3820-1407-385F87BE461B}"/>
              </a:ext>
            </a:extLst>
          </p:cNvPr>
          <p:cNvCxnSpPr/>
          <p:nvPr/>
        </p:nvCxnSpPr>
        <p:spPr>
          <a:xfrm>
            <a:off x="6477000" y="4508500"/>
            <a:ext cx="635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DAC120D3-595B-B57B-3723-77BFAE2302D4}"/>
              </a:ext>
            </a:extLst>
          </p:cNvPr>
          <p:cNvSpPr/>
          <p:nvPr/>
        </p:nvSpPr>
        <p:spPr>
          <a:xfrm>
            <a:off x="7112000" y="4216400"/>
            <a:ext cx="4191000" cy="5842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Health propagates from entities to the service</a:t>
            </a:r>
          </a:p>
        </p:txBody>
      </p:sp>
      <p:sp>
        <p:nvSpPr>
          <p:cNvPr id="25" name="TextBox 24">
            <a:extLst>
              <a:ext uri="{FF2B5EF4-FFF2-40B4-BE49-F238E27FC236}">
                <a16:creationId xmlns:a16="http://schemas.microsoft.com/office/drawing/2014/main" id="{AD261AEA-40A1-E778-74E4-BA3703C91C97}"/>
              </a:ext>
            </a:extLst>
          </p:cNvPr>
          <p:cNvSpPr txBox="1"/>
          <p:nvPr/>
        </p:nvSpPr>
        <p:spPr>
          <a:xfrm>
            <a:off x="609600" y="5029200"/>
            <a:ext cx="10972800" cy="477054"/>
          </a:xfrm>
          <a:prstGeom prst="rect">
            <a:avLst/>
          </a:prstGeom>
          <a:noFill/>
        </p:spPr>
        <p:txBody>
          <a:bodyPr vert="horz" wrap="square" lIns="25400" rIns="25400" rtlCol="0">
            <a:spAutoFit/>
          </a:bodyPr>
          <a:lstStyle/>
          <a:p>
            <a:r>
              <a:rPr lang="en-US" sz="1250" b="1">
                <a:solidFill>
                  <a:srgbClr val="FACC15"/>
                </a:solidFill>
                <a:latin typeface="Calibri" panose="020F0502020204030204" pitchFamily="34" charset="0"/>
              </a:rPr>
              <a:t>What is different: reads data Azure Monitor already has · an Azure resource whose entities can be Arc-enabled machines · missing data is a designed state (Unknown) · one alert per state change · still in preview.</a:t>
            </a:r>
          </a:p>
        </p:txBody>
      </p:sp>
      <p:sp>
        <p:nvSpPr>
          <p:cNvPr id="26" name="Rectangle 25">
            <a:extLst>
              <a:ext uri="{FF2B5EF4-FFF2-40B4-BE49-F238E27FC236}">
                <a16:creationId xmlns:a16="http://schemas.microsoft.com/office/drawing/2014/main" id="{52A8754B-98F5-EA43-AE29-31636ECC77BC}"/>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38B81A4-8817-C981-BD9F-886B492DD06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Modelling a service is not new. Health Models bring the idea to the parts Microsoft doesn't host.</a:t>
            </a:r>
          </a:p>
        </p:txBody>
      </p:sp>
      <p:pic>
        <p:nvPicPr>
          <p:cNvPr id="29" name="SponsorBar" descr="CAS 2026 sponsors and #CloudAISummit2026">
            <a:extLst>
              <a:ext uri="{FF2B5EF4-FFF2-40B4-BE49-F238E27FC236}">
                <a16:creationId xmlns:a16="http://schemas.microsoft.com/office/drawing/2014/main" id="{E2243C85-6880-3759-12BA-B1E6AD729C8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345910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3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3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3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3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3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3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300"/>
                                        <p:tgtEl>
                                          <p:spTgt spid="18"/>
                                        </p:tgtEl>
                                      </p:cBhvr>
                                    </p:animEffect>
                                  </p:childTnLst>
                                </p:cTn>
                              </p:par>
                              <p:par>
                                <p:cTn id="39" presetID="10"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3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3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3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300"/>
                                        <p:tgtEl>
                                          <p:spTgt spid="22"/>
                                        </p:tgtEl>
                                      </p:cBhvr>
                                    </p:animEffect>
                                  </p:childTnLst>
                                </p:cTn>
                              </p:par>
                              <p:par>
                                <p:cTn id="53" presetID="10" presetClass="entr" presetSubtype="0" fill="hold"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3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300"/>
                                        <p:tgtEl>
                                          <p:spTgt spid="2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2" grpId="0" animBg="1"/>
      <p:bldP spid="13" grpId="0"/>
      <p:bldP spid="14" grpId="0" animBg="1"/>
      <p:bldP spid="16" grpId="0" animBg="1"/>
      <p:bldP spid="17" grpId="0"/>
      <p:bldP spid="18" grpId="0" animBg="1"/>
      <p:bldP spid="20" grpId="0" animBg="1"/>
      <p:bldP spid="21" grpId="0"/>
      <p:bldP spid="22" grpId="0" animBg="1"/>
      <p:bldP spid="24" grpId="0" animBg="1"/>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9D85048-42E5-815D-C39D-868BA73CC21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B8F01E0-3703-6659-2E29-2A5215E537F0}"/>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24BF454-D1E7-57BE-8F3A-2A0D9CAE24E3}"/>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What a health model is made of</a:t>
            </a:r>
          </a:p>
        </p:txBody>
      </p:sp>
      <p:sp>
        <p:nvSpPr>
          <p:cNvPr id="5" name="Rectangle 4">
            <a:extLst>
              <a:ext uri="{FF2B5EF4-FFF2-40B4-BE49-F238E27FC236}">
                <a16:creationId xmlns:a16="http://schemas.microsoft.com/office/drawing/2014/main" id="{0B78F150-DAAE-9A21-AEF1-A90DADC65D5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0CAD85A0-F731-B3D6-4FF9-BB092C191880}"/>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Rectangle: Rounded Corners 6">
            <a:extLst>
              <a:ext uri="{FF2B5EF4-FFF2-40B4-BE49-F238E27FC236}">
                <a16:creationId xmlns:a16="http://schemas.microsoft.com/office/drawing/2014/main" id="{47F7E669-FF54-4B35-D2C8-CC767A20E891}"/>
              </a:ext>
            </a:extLst>
          </p:cNvPr>
          <p:cNvSpPr/>
          <p:nvPr/>
        </p:nvSpPr>
        <p:spPr>
          <a:xfrm>
            <a:off x="609600" y="1727200"/>
            <a:ext cx="5080000" cy="6604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SERVICE · what outcome are we protecting?
IIC Hybrid Orders</a:t>
            </a:r>
          </a:p>
        </p:txBody>
      </p:sp>
      <p:cxnSp>
        <p:nvCxnSpPr>
          <p:cNvPr id="8" name="Straight Arrow Connector 7">
            <a:extLst>
              <a:ext uri="{FF2B5EF4-FFF2-40B4-BE49-F238E27FC236}">
                <a16:creationId xmlns:a16="http://schemas.microsoft.com/office/drawing/2014/main" id="{1ED8128D-D921-C679-6EC1-2E372464073F}"/>
              </a:ext>
            </a:extLst>
          </p:cNvPr>
          <p:cNvCxnSpPr/>
          <p:nvPr/>
        </p:nvCxnSpPr>
        <p:spPr>
          <a:xfrm>
            <a:off x="3149600" y="2387600"/>
            <a:ext cx="0" cy="12700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ABDF6279-7D4A-596E-85E3-0C01CE03D74B}"/>
              </a:ext>
            </a:extLst>
          </p:cNvPr>
          <p:cNvSpPr/>
          <p:nvPr/>
        </p:nvSpPr>
        <p:spPr>
          <a:xfrm>
            <a:off x="609600" y="2514600"/>
            <a:ext cx="5080000" cy="6604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COMMITMENTS + COMPONENTS · the entities
customers can complete an order; coordinator, on-premises validation, AWS fulfillment</a:t>
            </a:r>
          </a:p>
        </p:txBody>
      </p:sp>
      <p:cxnSp>
        <p:nvCxnSpPr>
          <p:cNvPr id="10" name="Straight Arrow Connector 9">
            <a:extLst>
              <a:ext uri="{FF2B5EF4-FFF2-40B4-BE49-F238E27FC236}">
                <a16:creationId xmlns:a16="http://schemas.microsoft.com/office/drawing/2014/main" id="{499B382C-C9E9-A802-30C0-9DB35D87E9F1}"/>
              </a:ext>
            </a:extLst>
          </p:cNvPr>
          <p:cNvCxnSpPr/>
          <p:nvPr/>
        </p:nvCxnSpPr>
        <p:spPr>
          <a:xfrm>
            <a:off x="3149600" y="3175000"/>
            <a:ext cx="0" cy="1270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D449C5A3-D75C-5843-45F9-991C294FE089}"/>
              </a:ext>
            </a:extLst>
          </p:cNvPr>
          <p:cNvSpPr/>
          <p:nvPr/>
        </p:nvSpPr>
        <p:spPr>
          <a:xfrm>
            <a:off x="609600" y="3302000"/>
            <a:ext cx="5080000" cy="6604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SIGNALS · which evidence measures each one?
order stage records, heartbeats, metrics</a:t>
            </a:r>
          </a:p>
        </p:txBody>
      </p:sp>
      <p:cxnSp>
        <p:nvCxnSpPr>
          <p:cNvPr id="12" name="Straight Arrow Connector 11">
            <a:extLst>
              <a:ext uri="{FF2B5EF4-FFF2-40B4-BE49-F238E27FC236}">
                <a16:creationId xmlns:a16="http://schemas.microsoft.com/office/drawing/2014/main" id="{63312893-9C8C-10AE-C7C6-DF315F8344D4}"/>
              </a:ext>
            </a:extLst>
          </p:cNvPr>
          <p:cNvCxnSpPr/>
          <p:nvPr/>
        </p:nvCxnSpPr>
        <p:spPr>
          <a:xfrm>
            <a:off x="3149600" y="3962400"/>
            <a:ext cx="0" cy="1270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3A5B5087-56F9-B970-8ABD-17512EBE914A}"/>
              </a:ext>
            </a:extLst>
          </p:cNvPr>
          <p:cNvSpPr/>
          <p:nvPr/>
        </p:nvSpPr>
        <p:spPr>
          <a:xfrm>
            <a:off x="609600" y="4089400"/>
            <a:ext cx="5080000" cy="6604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STATE · what the evidence means
Healthy · Degraded · Unhealthy · Unknown</a:t>
            </a:r>
          </a:p>
        </p:txBody>
      </p:sp>
      <p:sp>
        <p:nvSpPr>
          <p:cNvPr id="14" name="TextBox 13">
            <a:extLst>
              <a:ext uri="{FF2B5EF4-FFF2-40B4-BE49-F238E27FC236}">
                <a16:creationId xmlns:a16="http://schemas.microsoft.com/office/drawing/2014/main" id="{1C0EECB9-9C71-AE07-ABA8-4509A403E2A4}"/>
              </a:ext>
            </a:extLst>
          </p:cNvPr>
          <p:cNvSpPr txBox="1"/>
          <p:nvPr/>
        </p:nvSpPr>
        <p:spPr>
          <a:xfrm>
            <a:off x="6248400" y="1625600"/>
            <a:ext cx="381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ONE SIGNAL, END TO END</a:t>
            </a:r>
          </a:p>
        </p:txBody>
      </p:sp>
      <p:sp>
        <p:nvSpPr>
          <p:cNvPr id="15" name="Rectangle: Rounded Corners 14">
            <a:extLst>
              <a:ext uri="{FF2B5EF4-FFF2-40B4-BE49-F238E27FC236}">
                <a16:creationId xmlns:a16="http://schemas.microsoft.com/office/drawing/2014/main" id="{8B867589-1226-83C2-A14E-C400A76B7322}"/>
              </a:ext>
            </a:extLst>
          </p:cNvPr>
          <p:cNvSpPr/>
          <p:nvPr/>
        </p:nvSpPr>
        <p:spPr>
          <a:xfrm>
            <a:off x="6248400" y="1905000"/>
            <a:ext cx="5334000" cy="5588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ENTITY · AWS fulfillment</a:t>
            </a:r>
          </a:p>
        </p:txBody>
      </p:sp>
      <p:cxnSp>
        <p:nvCxnSpPr>
          <p:cNvPr id="16" name="Straight Arrow Connector 15">
            <a:extLst>
              <a:ext uri="{FF2B5EF4-FFF2-40B4-BE49-F238E27FC236}">
                <a16:creationId xmlns:a16="http://schemas.microsoft.com/office/drawing/2014/main" id="{9E0A3DCA-ACF1-0E2F-83DA-9ACF7B0B99B4}"/>
              </a:ext>
            </a:extLst>
          </p:cNvPr>
          <p:cNvCxnSpPr/>
          <p:nvPr/>
        </p:nvCxnSpPr>
        <p:spPr>
          <a:xfrm>
            <a:off x="8915400" y="2463800"/>
            <a:ext cx="0" cy="15240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C9AAAC8F-D24B-C0C2-24B4-C2E5381111E4}"/>
              </a:ext>
            </a:extLst>
          </p:cNvPr>
          <p:cNvSpPr/>
          <p:nvPr/>
        </p:nvSpPr>
        <p:spPr>
          <a:xfrm>
            <a:off x="6248400" y="2616200"/>
            <a:ext cx="5334000" cy="5588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EVIDENCE · stage success and latency from the order records</a:t>
            </a:r>
          </a:p>
        </p:txBody>
      </p:sp>
      <p:cxnSp>
        <p:nvCxnSpPr>
          <p:cNvPr id="18" name="Straight Arrow Connector 17">
            <a:extLst>
              <a:ext uri="{FF2B5EF4-FFF2-40B4-BE49-F238E27FC236}">
                <a16:creationId xmlns:a16="http://schemas.microsoft.com/office/drawing/2014/main" id="{A4D382D9-F9D9-493D-639F-179F562AED25}"/>
              </a:ext>
            </a:extLst>
          </p:cNvPr>
          <p:cNvCxnSpPr/>
          <p:nvPr/>
        </p:nvCxnSpPr>
        <p:spPr>
          <a:xfrm>
            <a:off x="8915400" y="3175000"/>
            <a:ext cx="0" cy="1524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B956C00A-0C3E-34DA-5CA4-58D479508082}"/>
              </a:ext>
            </a:extLst>
          </p:cNvPr>
          <p:cNvSpPr/>
          <p:nvPr/>
        </p:nvSpPr>
        <p:spPr>
          <a:xfrm>
            <a:off x="6248400" y="3327400"/>
            <a:ext cx="5334000" cy="5588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WINDOW · a lookback window with enough samples</a:t>
            </a:r>
          </a:p>
        </p:txBody>
      </p:sp>
      <p:cxnSp>
        <p:nvCxnSpPr>
          <p:cNvPr id="20" name="Straight Arrow Connector 19">
            <a:extLst>
              <a:ext uri="{FF2B5EF4-FFF2-40B4-BE49-F238E27FC236}">
                <a16:creationId xmlns:a16="http://schemas.microsoft.com/office/drawing/2014/main" id="{9D7EE9C8-24CD-13BD-96C3-2ACC2EC69ED6}"/>
              </a:ext>
            </a:extLst>
          </p:cNvPr>
          <p:cNvCxnSpPr/>
          <p:nvPr/>
        </p:nvCxnSpPr>
        <p:spPr>
          <a:xfrm>
            <a:off x="8915400" y="3886200"/>
            <a:ext cx="0" cy="152400"/>
          </a:xfrm>
          <a:prstGeom prst="straightConnector1">
            <a:avLst/>
          </a:prstGeom>
          <a:ln w="28575">
            <a:solidFill>
              <a:srgbClr val="D0B6FF"/>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48437F00-2524-B28F-B2A8-7D1B73C53A1A}"/>
              </a:ext>
            </a:extLst>
          </p:cNvPr>
          <p:cNvSpPr/>
          <p:nvPr/>
        </p:nvSpPr>
        <p:spPr>
          <a:xfrm>
            <a:off x="6248400" y="4038600"/>
            <a:ext cx="5334000" cy="558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RULE · Degraded and Unhealthy thresholds on the failure rate</a:t>
            </a:r>
          </a:p>
        </p:txBody>
      </p:sp>
      <p:cxnSp>
        <p:nvCxnSpPr>
          <p:cNvPr id="22" name="Straight Arrow Connector 21">
            <a:extLst>
              <a:ext uri="{FF2B5EF4-FFF2-40B4-BE49-F238E27FC236}">
                <a16:creationId xmlns:a16="http://schemas.microsoft.com/office/drawing/2014/main" id="{CC39C5EC-5BED-B5CE-84AA-15D9D7FF1C69}"/>
              </a:ext>
            </a:extLst>
          </p:cNvPr>
          <p:cNvCxnSpPr/>
          <p:nvPr/>
        </p:nvCxnSpPr>
        <p:spPr>
          <a:xfrm>
            <a:off x="8915400" y="4597400"/>
            <a:ext cx="0" cy="1524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CA1F1F4F-83E7-8D73-9E24-1FC40A576DDA}"/>
              </a:ext>
            </a:extLst>
          </p:cNvPr>
          <p:cNvSpPr/>
          <p:nvPr/>
        </p:nvSpPr>
        <p:spPr>
          <a:xfrm>
            <a:off x="6248400" y="4749800"/>
            <a:ext cx="5334000" cy="558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STATE · Healthy · Degraded · Unhealthy · Unknown</a:t>
            </a:r>
          </a:p>
        </p:txBody>
      </p:sp>
      <p:sp>
        <p:nvSpPr>
          <p:cNvPr id="24" name="TextBox 23">
            <a:extLst>
              <a:ext uri="{FF2B5EF4-FFF2-40B4-BE49-F238E27FC236}">
                <a16:creationId xmlns:a16="http://schemas.microsoft.com/office/drawing/2014/main" id="{DB638E74-16E9-5D3C-D329-2A97E7DEEBFF}"/>
              </a:ext>
            </a:extLst>
          </p:cNvPr>
          <p:cNvSpPr txBox="1"/>
          <p:nvPr/>
        </p:nvSpPr>
        <p:spPr>
          <a:xfrm>
            <a:off x="609600" y="5537200"/>
            <a:ext cx="10972800" cy="300082"/>
          </a:xfrm>
          <a:prstGeom prst="rect">
            <a:avLst/>
          </a:prstGeom>
          <a:noFill/>
        </p:spPr>
        <p:txBody>
          <a:bodyPr vert="horz" wrap="square" lIns="25400" rIns="25400" rtlCol="0">
            <a:spAutoFit/>
          </a:bodyPr>
          <a:lstStyle/>
          <a:p>
            <a:r>
              <a:rPr lang="en-US" sz="1350" b="1">
                <a:solidFill>
                  <a:srgbClr val="7DD3FC"/>
                </a:solidFill>
                <a:latin typeface="Calibri" panose="020F0502020204030204" pitchFamily="34" charset="0"/>
              </a:rPr>
              <a:t>Every coloured state must trace back to a signal, a window and a rule, or nobody can explain it.</a:t>
            </a:r>
          </a:p>
        </p:txBody>
      </p:sp>
      <p:sp>
        <p:nvSpPr>
          <p:cNvPr id="25" name="Rectangle 24">
            <a:extLst>
              <a:ext uri="{FF2B5EF4-FFF2-40B4-BE49-F238E27FC236}">
                <a16:creationId xmlns:a16="http://schemas.microsoft.com/office/drawing/2014/main" id="{B2ADF07E-A9E1-C26E-FE51-3424B4476D6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254C525D-9FB7-850A-4CBC-D6713A8AFF93}"/>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The service view shows results; the model defines what they mean.</a:t>
            </a:r>
          </a:p>
        </p:txBody>
      </p:sp>
      <p:pic>
        <p:nvPicPr>
          <p:cNvPr id="28" name="SponsorBar" descr="CAS 2026 sponsors and #CloudAISummit2026">
            <a:extLst>
              <a:ext uri="{FF2B5EF4-FFF2-40B4-BE49-F238E27FC236}">
                <a16:creationId xmlns:a16="http://schemas.microsoft.com/office/drawing/2014/main" id="{6E4E2E82-7EE6-447D-0184-7FDE87232C8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19371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3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par>
                                <p:cTn id="40" presetID="10" presetClass="entr" presetSubtype="0" fill="hold"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3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3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3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300"/>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3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300"/>
                                        <p:tgtEl>
                                          <p:spTgt spid="21"/>
                                        </p:tgtEl>
                                      </p:cBhvr>
                                    </p:animEffect>
                                  </p:childTnLst>
                                </p:cTn>
                              </p:par>
                              <p:par>
                                <p:cTn id="58" presetID="10" presetClass="entr" presetSubtype="0" fill="hold"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3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300"/>
                                        <p:tgtEl>
                                          <p:spTgt spid="2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3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4" grpId="0"/>
      <p:bldP spid="15" grpId="0" animBg="1"/>
      <p:bldP spid="17" grpId="0" animBg="1"/>
      <p:bldP spid="19" grpId="0" animBg="1"/>
      <p:bldP spid="21" grpId="0" animBg="1"/>
      <p:bldP spid="23" grpId="0" animBg="1"/>
      <p:bldP spid="24"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F968EB-5E1A-8DB4-140C-DCAA73B4796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A7C8977B-87FF-00A5-EA5E-E8EA9885A238}"/>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D7AFB48-56D4-5835-8DF4-F7B558B602DF}"/>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How health rolls up</a:t>
            </a:r>
          </a:p>
        </p:txBody>
      </p:sp>
      <p:sp>
        <p:nvSpPr>
          <p:cNvPr id="5" name="Rectangle 4">
            <a:extLst>
              <a:ext uri="{FF2B5EF4-FFF2-40B4-BE49-F238E27FC236}">
                <a16:creationId xmlns:a16="http://schemas.microsoft.com/office/drawing/2014/main" id="{51F5529B-8B73-E822-DB13-CAE5F5AD415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763A642-F0DD-EB69-2194-4CD9111FE7AB}"/>
              </a:ext>
            </a:extLst>
          </p:cNvPr>
          <p:cNvSpPr txBox="1"/>
          <p:nvPr/>
        </p:nvSpPr>
        <p:spPr>
          <a:xfrm>
            <a:off x="762000" y="990600"/>
            <a:ext cx="10896600" cy="330860"/>
          </a:xfrm>
          <a:prstGeom prst="rect">
            <a:avLst/>
          </a:prstGeom>
          <a:noFill/>
        </p:spPr>
        <p:txBody>
          <a:bodyPr vert="horz" wrap="square" lIns="25400" rIns="25400" rtlCol="0">
            <a:spAutoFit/>
          </a:bodyPr>
          <a:lstStyle/>
          <a:p>
            <a:r>
              <a:rPr lang="en-US" sz="1550">
                <a:solidFill>
                  <a:srgbClr val="B8C6DE"/>
                </a:solidFill>
                <a:latin typeface="Calibri" panose="020F0502020204030204" pitchFamily="34" charset="0"/>
              </a:rPr>
              <a:t>The live IIC model, hm-tplabs-cas26-service-cus-01, as the picture of required versus redundant.</a:t>
            </a:r>
          </a:p>
        </p:txBody>
      </p:sp>
      <p:sp>
        <p:nvSpPr>
          <p:cNvPr id="7" name="SectionTag">
            <a:extLst>
              <a:ext uri="{FF2B5EF4-FFF2-40B4-BE49-F238E27FC236}">
                <a16:creationId xmlns:a16="http://schemas.microsoft.com/office/drawing/2014/main" id="{E9D6D6FE-4959-B8B6-E6A7-C54BB0909E37}"/>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8" name="Rectangle: Rounded Corners 7">
            <a:extLst>
              <a:ext uri="{FF2B5EF4-FFF2-40B4-BE49-F238E27FC236}">
                <a16:creationId xmlns:a16="http://schemas.microsoft.com/office/drawing/2014/main" id="{73AAA20C-6716-DD11-8349-F6A03974B21E}"/>
              </a:ext>
            </a:extLst>
          </p:cNvPr>
          <p:cNvSpPr/>
          <p:nvPr/>
        </p:nvSpPr>
        <p:spPr>
          <a:xfrm>
            <a:off x="4191000" y="1676400"/>
            <a:ext cx="3810000" cy="5588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b="1">
                <a:solidFill>
                  <a:srgbClr val="F1F5FB"/>
                </a:solidFill>
                <a:latin typeface="Calibri" panose="020F0502020204030204" pitchFamily="34" charset="0"/>
              </a:rPr>
              <a:t>IIC Hybrid Orders · worst of its children</a:t>
            </a:r>
          </a:p>
        </p:txBody>
      </p:sp>
      <p:cxnSp>
        <p:nvCxnSpPr>
          <p:cNvPr id="9" name="Straight Arrow Connector 8">
            <a:extLst>
              <a:ext uri="{FF2B5EF4-FFF2-40B4-BE49-F238E27FC236}">
                <a16:creationId xmlns:a16="http://schemas.microsoft.com/office/drawing/2014/main" id="{472A506B-58F0-2D1A-0372-4F1E7C2319B5}"/>
              </a:ext>
            </a:extLst>
          </p:cNvPr>
          <p:cNvCxnSpPr/>
          <p:nvPr/>
        </p:nvCxnSpPr>
        <p:spPr>
          <a:xfrm flipH="1">
            <a:off x="2324100" y="2235200"/>
            <a:ext cx="3136900" cy="25400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10" name="Rectangle: Rounded Corners 9">
            <a:extLst>
              <a:ext uri="{FF2B5EF4-FFF2-40B4-BE49-F238E27FC236}">
                <a16:creationId xmlns:a16="http://schemas.microsoft.com/office/drawing/2014/main" id="{CF78AA1D-4AA3-B14C-BB6F-2D9158F358FA}"/>
              </a:ext>
            </a:extLst>
          </p:cNvPr>
          <p:cNvSpPr/>
          <p:nvPr/>
        </p:nvSpPr>
        <p:spPr>
          <a:xfrm>
            <a:off x="609600" y="2489200"/>
            <a:ext cx="3429000" cy="5588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Customers can open the portal</a:t>
            </a:r>
          </a:p>
        </p:txBody>
      </p:sp>
      <p:sp>
        <p:nvSpPr>
          <p:cNvPr id="11" name="Rectangle: Rounded Corners 10">
            <a:extLst>
              <a:ext uri="{FF2B5EF4-FFF2-40B4-BE49-F238E27FC236}">
                <a16:creationId xmlns:a16="http://schemas.microsoft.com/office/drawing/2014/main" id="{7633FBE1-3C3C-53DA-AB0B-26ACEC3E6550}"/>
              </a:ext>
            </a:extLst>
          </p:cNvPr>
          <p:cNvSpPr/>
          <p:nvPr/>
        </p:nvSpPr>
        <p:spPr>
          <a:xfrm>
            <a:off x="889000" y="3276600"/>
            <a:ext cx="2870200" cy="5334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Container Apps origin · REDUNDANT</a:t>
            </a:r>
          </a:p>
        </p:txBody>
      </p:sp>
      <p:sp>
        <p:nvSpPr>
          <p:cNvPr id="12" name="Rectangle: Rounded Corners 11">
            <a:extLst>
              <a:ext uri="{FF2B5EF4-FFF2-40B4-BE49-F238E27FC236}">
                <a16:creationId xmlns:a16="http://schemas.microsoft.com/office/drawing/2014/main" id="{8A956CD1-0CA1-DA4D-15A3-BF2A1EB2C0F5}"/>
              </a:ext>
            </a:extLst>
          </p:cNvPr>
          <p:cNvSpPr/>
          <p:nvPr/>
        </p:nvSpPr>
        <p:spPr>
          <a:xfrm>
            <a:off x="889000" y="3962400"/>
            <a:ext cx="2870200" cy="5334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EKS origin · REDUNDANT</a:t>
            </a:r>
          </a:p>
        </p:txBody>
      </p:sp>
      <p:sp>
        <p:nvSpPr>
          <p:cNvPr id="13" name="TextBox 12">
            <a:extLst>
              <a:ext uri="{FF2B5EF4-FFF2-40B4-BE49-F238E27FC236}">
                <a16:creationId xmlns:a16="http://schemas.microsoft.com/office/drawing/2014/main" id="{B5EEF80F-47B9-AB91-6A26-F21C8FABFF8F}"/>
              </a:ext>
            </a:extLst>
          </p:cNvPr>
          <p:cNvSpPr txBox="1"/>
          <p:nvPr/>
        </p:nvSpPr>
        <p:spPr>
          <a:xfrm>
            <a:off x="609600" y="4622800"/>
            <a:ext cx="3429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one origin down = Degraded, not down</a:t>
            </a:r>
          </a:p>
        </p:txBody>
      </p:sp>
      <p:cxnSp>
        <p:nvCxnSpPr>
          <p:cNvPr id="14" name="Straight Arrow Connector 13">
            <a:extLst>
              <a:ext uri="{FF2B5EF4-FFF2-40B4-BE49-F238E27FC236}">
                <a16:creationId xmlns:a16="http://schemas.microsoft.com/office/drawing/2014/main" id="{C19E44FF-6643-CD79-DBC1-878B06F7F1AF}"/>
              </a:ext>
            </a:extLst>
          </p:cNvPr>
          <p:cNvCxnSpPr/>
          <p:nvPr/>
        </p:nvCxnSpPr>
        <p:spPr>
          <a:xfrm>
            <a:off x="6096000" y="2235200"/>
            <a:ext cx="0" cy="2540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C943FA1C-81BC-0E7D-4AD2-0A3E23536641}"/>
              </a:ext>
            </a:extLst>
          </p:cNvPr>
          <p:cNvSpPr/>
          <p:nvPr/>
        </p:nvSpPr>
        <p:spPr>
          <a:xfrm>
            <a:off x="4381500" y="2489200"/>
            <a:ext cx="3429000" cy="558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Customers can complete an order</a:t>
            </a:r>
          </a:p>
        </p:txBody>
      </p:sp>
      <p:sp>
        <p:nvSpPr>
          <p:cNvPr id="16" name="Rectangle: Rounded Corners 15">
            <a:extLst>
              <a:ext uri="{FF2B5EF4-FFF2-40B4-BE49-F238E27FC236}">
                <a16:creationId xmlns:a16="http://schemas.microsoft.com/office/drawing/2014/main" id="{75148EF8-53A3-508A-B0DF-D887E0151473}"/>
              </a:ext>
            </a:extLst>
          </p:cNvPr>
          <p:cNvSpPr/>
          <p:nvPr/>
        </p:nvSpPr>
        <p:spPr>
          <a:xfrm>
            <a:off x="4660900" y="3276600"/>
            <a:ext cx="2870200" cy="4826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Azure coordination · REQUIRED</a:t>
            </a:r>
          </a:p>
        </p:txBody>
      </p:sp>
      <p:sp>
        <p:nvSpPr>
          <p:cNvPr id="17" name="Rectangle: Rounded Corners 16">
            <a:extLst>
              <a:ext uri="{FF2B5EF4-FFF2-40B4-BE49-F238E27FC236}">
                <a16:creationId xmlns:a16="http://schemas.microsoft.com/office/drawing/2014/main" id="{A3864730-A1E1-4493-2E56-A868DBD825A0}"/>
              </a:ext>
            </a:extLst>
          </p:cNvPr>
          <p:cNvSpPr/>
          <p:nvPr/>
        </p:nvSpPr>
        <p:spPr>
          <a:xfrm>
            <a:off x="4660900" y="3860800"/>
            <a:ext cx="2870200" cy="4826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On-premises validation · REQUIRED</a:t>
            </a:r>
          </a:p>
        </p:txBody>
      </p:sp>
      <p:sp>
        <p:nvSpPr>
          <p:cNvPr id="18" name="Rectangle: Rounded Corners 17">
            <a:extLst>
              <a:ext uri="{FF2B5EF4-FFF2-40B4-BE49-F238E27FC236}">
                <a16:creationId xmlns:a16="http://schemas.microsoft.com/office/drawing/2014/main" id="{3020DA19-0F37-3CB3-7985-5144265ACBEB}"/>
              </a:ext>
            </a:extLst>
          </p:cNvPr>
          <p:cNvSpPr/>
          <p:nvPr/>
        </p:nvSpPr>
        <p:spPr>
          <a:xfrm>
            <a:off x="4660900" y="4445000"/>
            <a:ext cx="2870200" cy="4826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AWS fulfillment · REQUIRED</a:t>
            </a:r>
          </a:p>
        </p:txBody>
      </p:sp>
      <p:sp>
        <p:nvSpPr>
          <p:cNvPr id="19" name="TextBox 18">
            <a:extLst>
              <a:ext uri="{FF2B5EF4-FFF2-40B4-BE49-F238E27FC236}">
                <a16:creationId xmlns:a16="http://schemas.microsoft.com/office/drawing/2014/main" id="{48A5DE13-9A44-3355-04A1-C9A172F8304D}"/>
              </a:ext>
            </a:extLst>
          </p:cNvPr>
          <p:cNvSpPr txBox="1"/>
          <p:nvPr/>
        </p:nvSpPr>
        <p:spPr>
          <a:xfrm>
            <a:off x="4381500" y="5029200"/>
            <a:ext cx="3429000" cy="276999"/>
          </a:xfrm>
          <a:prstGeom prst="rect">
            <a:avLst/>
          </a:prstGeom>
          <a:noFill/>
        </p:spPr>
        <p:txBody>
          <a:bodyPr vert="horz" wrap="square" lIns="25400" rIns="25400" rtlCol="0">
            <a:spAutoFit/>
          </a:bodyPr>
          <a:lstStyle/>
          <a:p>
            <a:r>
              <a:rPr lang="en-US" sz="1200" b="1">
                <a:solidFill>
                  <a:srgbClr val="FD9A96"/>
                </a:solidFill>
                <a:latin typeface="Calibri" panose="020F0502020204030204" pitchFamily="34" charset="0"/>
              </a:rPr>
              <a:t>any one down = the commitment is Unhealthy</a:t>
            </a:r>
          </a:p>
        </p:txBody>
      </p:sp>
      <p:cxnSp>
        <p:nvCxnSpPr>
          <p:cNvPr id="20" name="Straight Arrow Connector 19">
            <a:extLst>
              <a:ext uri="{FF2B5EF4-FFF2-40B4-BE49-F238E27FC236}">
                <a16:creationId xmlns:a16="http://schemas.microsoft.com/office/drawing/2014/main" id="{B4093908-D9EE-CE04-90B5-26AA702837AB}"/>
              </a:ext>
            </a:extLst>
          </p:cNvPr>
          <p:cNvCxnSpPr/>
          <p:nvPr/>
        </p:nvCxnSpPr>
        <p:spPr>
          <a:xfrm>
            <a:off x="6731000" y="2235200"/>
            <a:ext cx="3136900" cy="25400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23F8BB7D-6C38-16BF-1ED1-2494EFF4FD77}"/>
              </a:ext>
            </a:extLst>
          </p:cNvPr>
          <p:cNvSpPr/>
          <p:nvPr/>
        </p:nvSpPr>
        <p:spPr>
          <a:xfrm>
            <a:off x="8153400" y="2489200"/>
            <a:ext cx="3429000" cy="5588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Operators can observe the service</a:t>
            </a:r>
          </a:p>
        </p:txBody>
      </p:sp>
      <p:sp>
        <p:nvSpPr>
          <p:cNvPr id="22" name="Rectangle: Rounded Corners 21">
            <a:extLst>
              <a:ext uri="{FF2B5EF4-FFF2-40B4-BE49-F238E27FC236}">
                <a16:creationId xmlns:a16="http://schemas.microsoft.com/office/drawing/2014/main" id="{02942086-B128-7BFC-BD8C-2968A962E7F6}"/>
              </a:ext>
            </a:extLst>
          </p:cNvPr>
          <p:cNvSpPr/>
          <p:nvPr/>
        </p:nvSpPr>
        <p:spPr>
          <a:xfrm>
            <a:off x="8432800" y="3276600"/>
            <a:ext cx="28702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Own signals:
the stalest evidence source</a:t>
            </a:r>
          </a:p>
        </p:txBody>
      </p:sp>
      <p:sp>
        <p:nvSpPr>
          <p:cNvPr id="23" name="TextBox 22">
            <a:extLst>
              <a:ext uri="{FF2B5EF4-FFF2-40B4-BE49-F238E27FC236}">
                <a16:creationId xmlns:a16="http://schemas.microsoft.com/office/drawing/2014/main" id="{EFAC7447-FE32-EFB1-7D3D-09BBD8EF5186}"/>
              </a:ext>
            </a:extLst>
          </p:cNvPr>
          <p:cNvSpPr txBox="1"/>
          <p:nvPr/>
        </p:nvSpPr>
        <p:spPr>
          <a:xfrm>
            <a:off x="8153400" y="4089400"/>
            <a:ext cx="3429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lost evidence = Unknown, not down</a:t>
            </a:r>
          </a:p>
        </p:txBody>
      </p:sp>
      <p:sp>
        <p:nvSpPr>
          <p:cNvPr id="24" name="TextBox 23">
            <a:extLst>
              <a:ext uri="{FF2B5EF4-FFF2-40B4-BE49-F238E27FC236}">
                <a16:creationId xmlns:a16="http://schemas.microsoft.com/office/drawing/2014/main" id="{1FCB6108-9C3E-03A7-9E9D-3748518D70D9}"/>
              </a:ext>
            </a:extLst>
          </p:cNvPr>
          <p:cNvSpPr txBox="1"/>
          <p:nvPr/>
        </p:nvSpPr>
        <p:spPr>
          <a:xfrm>
            <a:off x="609600" y="5384800"/>
            <a:ext cx="10972800" cy="284693"/>
          </a:xfrm>
          <a:prstGeom prst="rect">
            <a:avLst/>
          </a:prstGeom>
          <a:noFill/>
        </p:spPr>
        <p:txBody>
          <a:bodyPr vert="horz" wrap="square" lIns="25400" rIns="25400" rtlCol="0">
            <a:spAutoFit/>
          </a:bodyPr>
          <a:lstStyle/>
          <a:p>
            <a:r>
              <a:rPr lang="en-US" sz="1250" b="1">
                <a:solidFill>
                  <a:srgbClr val="FD9A96"/>
                </a:solidFill>
                <a:latin typeface="Calibri" panose="020F0502020204030204" pitchFamily="34" charset="0"/>
              </a:rPr>
              <a:t>Example: AWS fulfillment UNHEALTHY → Customers can complete an order UNHEALTHY → IIC Hybrid Orders UNHEALTHY</a:t>
            </a:r>
          </a:p>
        </p:txBody>
      </p:sp>
      <p:sp>
        <p:nvSpPr>
          <p:cNvPr id="25" name="TextBox 24">
            <a:extLst>
              <a:ext uri="{FF2B5EF4-FFF2-40B4-BE49-F238E27FC236}">
                <a16:creationId xmlns:a16="http://schemas.microsoft.com/office/drawing/2014/main" id="{C49122D2-DFC6-DA13-478A-7AB8360356FA}"/>
              </a:ext>
            </a:extLst>
          </p:cNvPr>
          <p:cNvSpPr txBox="1"/>
          <p:nvPr/>
        </p:nvSpPr>
        <p:spPr>
          <a:xfrm>
            <a:off x="609600" y="5664200"/>
            <a:ext cx="10972800" cy="284693"/>
          </a:xfrm>
          <a:prstGeom prst="rect">
            <a:avLst/>
          </a:prstGeom>
          <a:noFill/>
        </p:spPr>
        <p:txBody>
          <a:bodyPr vert="horz" wrap="square" lIns="25400" rIns="25400" rtlCol="0">
            <a:spAutoFit/>
          </a:bodyPr>
          <a:lstStyle/>
          <a:p>
            <a:r>
              <a:rPr lang="en-US" sz="1250" b="1">
                <a:solidFill>
                  <a:srgbClr val="7DD3FC"/>
                </a:solidFill>
                <a:latin typeface="Calibri" panose="020F0502020204030204" pitchFamily="34" charset="0"/>
              </a:rPr>
              <a:t>You decide what is required and what is redundant; that decision is how health rolls up.</a:t>
            </a:r>
          </a:p>
        </p:txBody>
      </p:sp>
      <p:sp>
        <p:nvSpPr>
          <p:cNvPr id="26" name="Rectangle 25">
            <a:extLst>
              <a:ext uri="{FF2B5EF4-FFF2-40B4-BE49-F238E27FC236}">
                <a16:creationId xmlns:a16="http://schemas.microsoft.com/office/drawing/2014/main" id="{2212EEB8-E90E-8EC0-2DBD-EDAD09E41EED}"/>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2E95356-C27B-4CCD-9064-8D44EA66219F}"/>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A required part failing is the service failing. A redundant part failing is a warning.</a:t>
            </a:r>
          </a:p>
        </p:txBody>
      </p:sp>
      <p:pic>
        <p:nvPicPr>
          <p:cNvPr id="29" name="SponsorBar" descr="CAS 2026 sponsors and #CloudAISummit2026">
            <a:extLst>
              <a:ext uri="{FF2B5EF4-FFF2-40B4-BE49-F238E27FC236}">
                <a16:creationId xmlns:a16="http://schemas.microsoft.com/office/drawing/2014/main" id="{842A1D77-CA00-3CAE-F72E-4C8EF15D09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448942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3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3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3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300"/>
                                        <p:tgtEl>
                                          <p:spTgt spid="1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300"/>
                                        <p:tgtEl>
                                          <p:spTgt spid="1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3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3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300"/>
                                        <p:tgtEl>
                                          <p:spTgt spid="19"/>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300"/>
                                        <p:tgtEl>
                                          <p:spTgt spid="2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300"/>
                                        <p:tgtEl>
                                          <p:spTgt spid="21"/>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300"/>
                                        <p:tgtEl>
                                          <p:spTgt spid="23"/>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30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3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P spid="12" grpId="0" animBg="1"/>
      <p:bldP spid="13" grpId="0"/>
      <p:bldP spid="15" grpId="0" animBg="1"/>
      <p:bldP spid="16" grpId="0" animBg="1"/>
      <p:bldP spid="17" grpId="0" animBg="1"/>
      <p:bldP spid="18" grpId="0" animBg="1"/>
      <p:bldP spid="19" grpId="0"/>
      <p:bldP spid="21" grpId="0" animBg="1"/>
      <p:bldP spid="22" grpId="0" animBg="1"/>
      <p:bldP spid="23" grpId="0"/>
      <p:bldP spid="24" grpId="0"/>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BA4D6C-39EE-5D0E-DCF8-102BF749111E}"/>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7859410-E46B-3054-E142-3AA7177DE7DF}"/>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1035432-C641-C7FF-1CF3-DF741C6DEB30}"/>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When evidence goes quiet</a:t>
            </a:r>
          </a:p>
        </p:txBody>
      </p:sp>
      <p:sp>
        <p:nvSpPr>
          <p:cNvPr id="5" name="Rectangle 4">
            <a:extLst>
              <a:ext uri="{FF2B5EF4-FFF2-40B4-BE49-F238E27FC236}">
                <a16:creationId xmlns:a16="http://schemas.microsoft.com/office/drawing/2014/main" id="{27FA4FF9-E757-A04F-C95B-22F5907F1BF3}"/>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732013ED-BBD1-84F4-8BC9-3C2FFE642030}"/>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Rectangle: Rounded Corners 6">
            <a:extLst>
              <a:ext uri="{FF2B5EF4-FFF2-40B4-BE49-F238E27FC236}">
                <a16:creationId xmlns:a16="http://schemas.microsoft.com/office/drawing/2014/main" id="{2CCDC4E6-8FAD-C2A9-A18F-C4ADBBFF06B2}"/>
              </a:ext>
            </a:extLst>
          </p:cNvPr>
          <p:cNvSpPr/>
          <p:nvPr/>
        </p:nvSpPr>
        <p:spPr>
          <a:xfrm>
            <a:off x="609600" y="1727200"/>
            <a:ext cx="2286000" cy="7620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EXPECTED SOURCE
resource + cadence</a:t>
            </a:r>
          </a:p>
        </p:txBody>
      </p:sp>
      <p:cxnSp>
        <p:nvCxnSpPr>
          <p:cNvPr id="8" name="Straight Arrow Connector 7">
            <a:extLst>
              <a:ext uri="{FF2B5EF4-FFF2-40B4-BE49-F238E27FC236}">
                <a16:creationId xmlns:a16="http://schemas.microsoft.com/office/drawing/2014/main" id="{E8F68980-855F-420F-62E2-0D90FBD69085}"/>
              </a:ext>
            </a:extLst>
          </p:cNvPr>
          <p:cNvCxnSpPr/>
          <p:nvPr/>
        </p:nvCxnSpPr>
        <p:spPr>
          <a:xfrm>
            <a:off x="2895600" y="2108200"/>
            <a:ext cx="787400" cy="0"/>
          </a:xfrm>
          <a:prstGeom prst="straightConnector1">
            <a:avLst/>
          </a:prstGeom>
          <a:ln w="28575">
            <a:solidFill>
              <a:srgbClr val="A5BEFF"/>
            </a:solidFill>
            <a:tailEnd type="arrow"/>
          </a:ln>
        </p:spPr>
        <p:style>
          <a:lnRef idx="2">
            <a:schemeClr val="accent1"/>
          </a:lnRef>
          <a:fillRef idx="0">
            <a:schemeClr val="accent1"/>
          </a:fillRef>
          <a:effectRef idx="1">
            <a:schemeClr val="accent1"/>
          </a:effectRef>
          <a:fontRef idx="minor">
            <a:schemeClr val="tx1"/>
          </a:fontRef>
        </p:style>
      </p:cxnSp>
      <p:sp>
        <p:nvSpPr>
          <p:cNvPr id="9" name="Diamond 8">
            <a:extLst>
              <a:ext uri="{FF2B5EF4-FFF2-40B4-BE49-F238E27FC236}">
                <a16:creationId xmlns:a16="http://schemas.microsoft.com/office/drawing/2014/main" id="{55071EAD-7C8E-03EB-7166-E8390CD05D48}"/>
              </a:ext>
            </a:extLst>
          </p:cNvPr>
          <p:cNvSpPr/>
          <p:nvPr/>
        </p:nvSpPr>
        <p:spPr>
          <a:xfrm>
            <a:off x="3683000" y="1790700"/>
            <a:ext cx="635000" cy="635000"/>
          </a:xfrm>
          <a:prstGeom prst="diamond">
            <a:avLst/>
          </a:prstGeom>
          <a:solidFill>
            <a:srgbClr val="283C7A"/>
          </a:solidFill>
          <a:ln w="19050">
            <a:solidFill>
              <a:srgbClr val="FAC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347B3EB-AA1C-E02E-B685-E2856F43D3A4}"/>
              </a:ext>
            </a:extLst>
          </p:cNvPr>
          <p:cNvSpPr txBox="1"/>
          <p:nvPr/>
        </p:nvSpPr>
        <p:spPr>
          <a:xfrm>
            <a:off x="3175000" y="1612900"/>
            <a:ext cx="1651000" cy="261610"/>
          </a:xfrm>
          <a:prstGeom prst="rect">
            <a:avLst/>
          </a:prstGeom>
          <a:noFill/>
        </p:spPr>
        <p:txBody>
          <a:bodyPr vert="horz" wrap="square" lIns="25400" rIns="25400" rtlCol="0">
            <a:spAutoFit/>
          </a:bodyPr>
          <a:lstStyle/>
          <a:p>
            <a:pPr algn="ctr"/>
            <a:r>
              <a:rPr lang="en-US" sz="1100" b="1">
                <a:solidFill>
                  <a:srgbClr val="FACC15"/>
                </a:solidFill>
                <a:latin typeface="Calibri" panose="020F0502020204030204" pitchFamily="34" charset="0"/>
              </a:rPr>
              <a:t>fresh and enough?</a:t>
            </a:r>
          </a:p>
        </p:txBody>
      </p:sp>
      <p:cxnSp>
        <p:nvCxnSpPr>
          <p:cNvPr id="11" name="Straight Arrow Connector 10">
            <a:extLst>
              <a:ext uri="{FF2B5EF4-FFF2-40B4-BE49-F238E27FC236}">
                <a16:creationId xmlns:a16="http://schemas.microsoft.com/office/drawing/2014/main" id="{E0D33DE2-9335-33B3-36F5-B7BCABA24EE6}"/>
              </a:ext>
            </a:extLst>
          </p:cNvPr>
          <p:cNvCxnSpPr/>
          <p:nvPr/>
        </p:nvCxnSpPr>
        <p:spPr>
          <a:xfrm>
            <a:off x="4318000" y="2108200"/>
            <a:ext cx="10160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121A3AE4-7041-5250-BD48-1EFD271A1BC7}"/>
              </a:ext>
            </a:extLst>
          </p:cNvPr>
          <p:cNvSpPr txBox="1"/>
          <p:nvPr/>
        </p:nvSpPr>
        <p:spPr>
          <a:xfrm>
            <a:off x="4572000" y="1981200"/>
            <a:ext cx="508000" cy="194925"/>
          </a:xfrm>
          <a:prstGeom prst="rect">
            <a:avLst/>
          </a:prstGeom>
          <a:solidFill>
            <a:srgbClr val="172554"/>
          </a:solidFill>
        </p:spPr>
        <p:txBody>
          <a:bodyPr vert="horz" wrap="square" lIns="25400" tIns="12700" rIns="25400" bIns="12700" rtlCol="0">
            <a:spAutoFit/>
          </a:bodyPr>
          <a:lstStyle/>
          <a:p>
            <a:pPr algn="ctr"/>
            <a:r>
              <a:rPr lang="en-US" sz="1100" b="1">
                <a:solidFill>
                  <a:srgbClr val="6EE7B7"/>
                </a:solidFill>
                <a:latin typeface="Calibri" panose="020F0502020204030204" pitchFamily="34" charset="0"/>
              </a:rPr>
              <a:t>yes</a:t>
            </a:r>
          </a:p>
        </p:txBody>
      </p:sp>
      <p:sp>
        <p:nvSpPr>
          <p:cNvPr id="13" name="Rectangle: Rounded Corners 12">
            <a:extLst>
              <a:ext uri="{FF2B5EF4-FFF2-40B4-BE49-F238E27FC236}">
                <a16:creationId xmlns:a16="http://schemas.microsoft.com/office/drawing/2014/main" id="{4894D5DB-85C8-B3EA-D2B4-4948F55303D8}"/>
              </a:ext>
            </a:extLst>
          </p:cNvPr>
          <p:cNvSpPr/>
          <p:nvPr/>
        </p:nvSpPr>
        <p:spPr>
          <a:xfrm>
            <a:off x="5334000" y="1727200"/>
            <a:ext cx="2286000" cy="762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KNOWN
evaluate the rule</a:t>
            </a:r>
          </a:p>
        </p:txBody>
      </p:sp>
      <p:cxnSp>
        <p:nvCxnSpPr>
          <p:cNvPr id="14" name="Straight Arrow Connector 13">
            <a:extLst>
              <a:ext uri="{FF2B5EF4-FFF2-40B4-BE49-F238E27FC236}">
                <a16:creationId xmlns:a16="http://schemas.microsoft.com/office/drawing/2014/main" id="{BFC61D86-8376-F0A1-CFBC-3B0B314956A5}"/>
              </a:ext>
            </a:extLst>
          </p:cNvPr>
          <p:cNvCxnSpPr/>
          <p:nvPr/>
        </p:nvCxnSpPr>
        <p:spPr>
          <a:xfrm>
            <a:off x="4000500" y="2425700"/>
            <a:ext cx="0" cy="622300"/>
          </a:xfrm>
          <a:prstGeom prst="straightConnector1">
            <a:avLst/>
          </a:prstGeom>
          <a:ln w="28575">
            <a:solidFill>
              <a:srgbClr val="B8C6DE"/>
            </a:solidFill>
            <a:tailEnd type="non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43108D3-B24F-D10F-1D3E-268749EBA045}"/>
              </a:ext>
            </a:extLst>
          </p:cNvPr>
          <p:cNvCxnSpPr/>
          <p:nvPr/>
        </p:nvCxnSpPr>
        <p:spPr>
          <a:xfrm>
            <a:off x="4000500" y="3048000"/>
            <a:ext cx="1333500" cy="0"/>
          </a:xfrm>
          <a:prstGeom prst="straightConnector1">
            <a:avLst/>
          </a:prstGeom>
          <a:ln w="28575">
            <a:solidFill>
              <a:srgbClr val="B8C6DE"/>
            </a:solidFill>
            <a:tailEnd type="arrow"/>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197A4059-2D53-02B5-6504-E308A6118B57}"/>
              </a:ext>
            </a:extLst>
          </p:cNvPr>
          <p:cNvSpPr txBox="1"/>
          <p:nvPr/>
        </p:nvSpPr>
        <p:spPr>
          <a:xfrm>
            <a:off x="4413250" y="2921000"/>
            <a:ext cx="508000" cy="194925"/>
          </a:xfrm>
          <a:prstGeom prst="rect">
            <a:avLst/>
          </a:prstGeom>
          <a:solidFill>
            <a:srgbClr val="172554"/>
          </a:solidFill>
        </p:spPr>
        <p:txBody>
          <a:bodyPr vert="horz" wrap="square" lIns="25400" tIns="12700" rIns="25400" bIns="12700" rtlCol="0">
            <a:spAutoFit/>
          </a:bodyPr>
          <a:lstStyle/>
          <a:p>
            <a:pPr algn="ctr"/>
            <a:r>
              <a:rPr lang="en-US" sz="1100" b="1">
                <a:solidFill>
                  <a:srgbClr val="B8C6DE"/>
                </a:solidFill>
                <a:latin typeface="Calibri" panose="020F0502020204030204" pitchFamily="34" charset="0"/>
              </a:rPr>
              <a:t>no</a:t>
            </a:r>
          </a:p>
        </p:txBody>
      </p:sp>
      <p:sp>
        <p:nvSpPr>
          <p:cNvPr id="17" name="Rectangle: Rounded Corners 16">
            <a:extLst>
              <a:ext uri="{FF2B5EF4-FFF2-40B4-BE49-F238E27FC236}">
                <a16:creationId xmlns:a16="http://schemas.microsoft.com/office/drawing/2014/main" id="{04B0171F-42B5-1B0A-13DA-DD92CE7FB6E3}"/>
              </a:ext>
            </a:extLst>
          </p:cNvPr>
          <p:cNvSpPr/>
          <p:nvPr/>
        </p:nvSpPr>
        <p:spPr>
          <a:xfrm>
            <a:off x="5334000" y="2717800"/>
            <a:ext cx="2286000" cy="6604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UNKNOWN
never Healthy</a:t>
            </a:r>
          </a:p>
        </p:txBody>
      </p:sp>
      <p:sp>
        <p:nvSpPr>
          <p:cNvPr id="18" name="TextBox 17">
            <a:extLst>
              <a:ext uri="{FF2B5EF4-FFF2-40B4-BE49-F238E27FC236}">
                <a16:creationId xmlns:a16="http://schemas.microsoft.com/office/drawing/2014/main" id="{A5E3781C-8610-3FFF-6E49-3CEC8D5967C4}"/>
              </a:ext>
            </a:extLst>
          </p:cNvPr>
          <p:cNvSpPr txBox="1"/>
          <p:nvPr/>
        </p:nvSpPr>
        <p:spPr>
          <a:xfrm>
            <a:off x="8001000" y="1905000"/>
            <a:ext cx="3581400" cy="307777"/>
          </a:xfrm>
          <a:prstGeom prst="rect">
            <a:avLst/>
          </a:prstGeom>
          <a:noFill/>
        </p:spPr>
        <p:txBody>
          <a:bodyPr vert="horz" wrap="square" lIns="25400" rIns="25400" rtlCol="0">
            <a:spAutoFit/>
          </a:bodyPr>
          <a:lstStyle/>
          <a:p>
            <a:r>
              <a:rPr lang="en-US" sz="1400" b="1">
                <a:solidFill>
                  <a:srgbClr val="F1F5FB"/>
                </a:solidFill>
                <a:latin typeface="Calibri" panose="020F0502020204030204" pitchFamily="34" charset="0"/>
              </a:rPr>
              <a:t>No evidence is not good news. It is Unknown.</a:t>
            </a:r>
          </a:p>
        </p:txBody>
      </p:sp>
      <p:sp>
        <p:nvSpPr>
          <p:cNvPr id="19" name="Rectangle: Rounded Corners 18">
            <a:extLst>
              <a:ext uri="{FF2B5EF4-FFF2-40B4-BE49-F238E27FC236}">
                <a16:creationId xmlns:a16="http://schemas.microsoft.com/office/drawing/2014/main" id="{2876C502-2688-867B-E7D7-F3DC55E79875}"/>
              </a:ext>
            </a:extLst>
          </p:cNvPr>
          <p:cNvSpPr/>
          <p:nvPr/>
        </p:nvSpPr>
        <p:spPr>
          <a:xfrm>
            <a:off x="4191000" y="3657600"/>
            <a:ext cx="3810000" cy="508000"/>
          </a:xfrm>
          <a:prstGeom prst="roundRect">
            <a:avLst/>
          </a:prstGeom>
          <a:solidFill>
            <a:srgbClr val="20326C"/>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6EE7B7"/>
                </a:solidFill>
                <a:latin typeface="Calibri" panose="020F0502020204030204" pitchFamily="34" charset="0"/>
              </a:rPr>
              <a:t>On-premises validation · HEALTHY</a:t>
            </a:r>
          </a:p>
        </p:txBody>
      </p:sp>
      <p:sp>
        <p:nvSpPr>
          <p:cNvPr id="20" name="Rectangle: Rounded Corners 19">
            <a:extLst>
              <a:ext uri="{FF2B5EF4-FFF2-40B4-BE49-F238E27FC236}">
                <a16:creationId xmlns:a16="http://schemas.microsoft.com/office/drawing/2014/main" id="{7A52CD3A-545D-6C8D-5E3F-F7CC11A88F08}"/>
              </a:ext>
            </a:extLst>
          </p:cNvPr>
          <p:cNvSpPr/>
          <p:nvPr/>
        </p:nvSpPr>
        <p:spPr>
          <a:xfrm>
            <a:off x="609600" y="4394200"/>
            <a:ext cx="3302000" cy="685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6EE7B7"/>
                </a:solidFill>
                <a:latin typeface="Calibri" panose="020F0502020204030204" pitchFamily="34" charset="0"/>
              </a:rPr>
              <a:t>SITE A · DATACENTER
HEALTHY · demonstrated: hvcl-ral-t1</a:t>
            </a:r>
          </a:p>
        </p:txBody>
      </p:sp>
      <p:cxnSp>
        <p:nvCxnSpPr>
          <p:cNvPr id="21" name="Straight Arrow Connector 20">
            <a:extLst>
              <a:ext uri="{FF2B5EF4-FFF2-40B4-BE49-F238E27FC236}">
                <a16:creationId xmlns:a16="http://schemas.microsoft.com/office/drawing/2014/main" id="{50C77771-EC12-23D5-8C3F-F89AD985A8E9}"/>
              </a:ext>
            </a:extLst>
          </p:cNvPr>
          <p:cNvCxnSpPr/>
          <p:nvPr/>
        </p:nvCxnSpPr>
        <p:spPr>
          <a:xfrm flipV="1">
            <a:off x="2260600" y="4165600"/>
            <a:ext cx="2819400" cy="2286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2" name="Rectangle: Rounded Corners 21">
            <a:extLst>
              <a:ext uri="{FF2B5EF4-FFF2-40B4-BE49-F238E27FC236}">
                <a16:creationId xmlns:a16="http://schemas.microsoft.com/office/drawing/2014/main" id="{34552711-847B-F9A0-C7F7-F1B2E6113481}"/>
              </a:ext>
            </a:extLst>
          </p:cNvPr>
          <p:cNvSpPr/>
          <p:nvPr/>
        </p:nvSpPr>
        <p:spPr>
          <a:xfrm>
            <a:off x="8280400" y="4394200"/>
            <a:ext cx="3302000" cy="685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6EE7B7"/>
                </a:solidFill>
                <a:latin typeface="Calibri" panose="020F0502020204030204" pitchFamily="34" charset="0"/>
              </a:rPr>
              <a:t>BRANCH / EDGE SITE
HEALTHY · conceptual</a:t>
            </a:r>
          </a:p>
        </p:txBody>
      </p:sp>
      <p:cxnSp>
        <p:nvCxnSpPr>
          <p:cNvPr id="23" name="Straight Arrow Connector 22">
            <a:extLst>
              <a:ext uri="{FF2B5EF4-FFF2-40B4-BE49-F238E27FC236}">
                <a16:creationId xmlns:a16="http://schemas.microsoft.com/office/drawing/2014/main" id="{637FEF32-584A-EEBF-7E36-AAB7FB2D5964}"/>
              </a:ext>
            </a:extLst>
          </p:cNvPr>
          <p:cNvCxnSpPr/>
          <p:nvPr/>
        </p:nvCxnSpPr>
        <p:spPr>
          <a:xfrm flipH="1" flipV="1">
            <a:off x="7112000" y="4165600"/>
            <a:ext cx="2819400" cy="2286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4BA9ED27-8210-26A7-B22E-265DD9AF8FB1}"/>
              </a:ext>
            </a:extLst>
          </p:cNvPr>
          <p:cNvSpPr/>
          <p:nvPr/>
        </p:nvSpPr>
        <p:spPr>
          <a:xfrm>
            <a:off x="4445000" y="4394200"/>
            <a:ext cx="3302000" cy="6858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B8C6DE"/>
                </a:solidFill>
                <a:latin typeface="Calibri" panose="020F0502020204030204" pitchFamily="34" charset="0"/>
              </a:rPr>
              <a:t>SITE B · SECOND DATACENTER
UNKNOWN · disconnected · conceptual</a:t>
            </a:r>
          </a:p>
        </p:txBody>
      </p:sp>
      <p:cxnSp>
        <p:nvCxnSpPr>
          <p:cNvPr id="25" name="Straight Arrow Connector 24">
            <a:extLst>
              <a:ext uri="{FF2B5EF4-FFF2-40B4-BE49-F238E27FC236}">
                <a16:creationId xmlns:a16="http://schemas.microsoft.com/office/drawing/2014/main" id="{35C1658D-B621-FF18-B779-7A410C242BEF}"/>
              </a:ext>
            </a:extLst>
          </p:cNvPr>
          <p:cNvCxnSpPr/>
          <p:nvPr/>
        </p:nvCxnSpPr>
        <p:spPr>
          <a:xfrm flipV="1">
            <a:off x="6096000" y="4165600"/>
            <a:ext cx="0" cy="228600"/>
          </a:xfrm>
          <a:prstGeom prst="straightConnector1">
            <a:avLst/>
          </a:prstGeom>
          <a:ln w="28575">
            <a:solidFill>
              <a:srgbClr val="849ACE"/>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6E9BD628-F872-244A-057B-06324B6E7514}"/>
              </a:ext>
            </a:extLst>
          </p:cNvPr>
          <p:cNvSpPr txBox="1"/>
          <p:nvPr/>
        </p:nvSpPr>
        <p:spPr>
          <a:xfrm>
            <a:off x="609600" y="5181600"/>
            <a:ext cx="109728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Parent rule: Unhealthy only if more than half the sites are unhealthy · Unknown sites are ignored by default</a:t>
            </a:r>
          </a:p>
        </p:txBody>
      </p:sp>
      <p:sp>
        <p:nvSpPr>
          <p:cNvPr id="27" name="TextBox 26">
            <a:extLst>
              <a:ext uri="{FF2B5EF4-FFF2-40B4-BE49-F238E27FC236}">
                <a16:creationId xmlns:a16="http://schemas.microsoft.com/office/drawing/2014/main" id="{3553EF01-A4CC-B93D-A285-4928E1022F88}"/>
              </a:ext>
            </a:extLst>
          </p:cNvPr>
          <p:cNvSpPr txBox="1"/>
          <p:nvPr/>
        </p:nvSpPr>
        <p:spPr>
          <a:xfrm>
            <a:off x="609600" y="5461000"/>
            <a:ext cx="109728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Still visible: the service tracks its stalest evidence source and alerts when one goes quiet.</a:t>
            </a:r>
          </a:p>
        </p:txBody>
      </p:sp>
      <p:sp>
        <p:nvSpPr>
          <p:cNvPr id="28" name="Rectangle 27">
            <a:extLst>
              <a:ext uri="{FF2B5EF4-FFF2-40B4-BE49-F238E27FC236}">
                <a16:creationId xmlns:a16="http://schemas.microsoft.com/office/drawing/2014/main" id="{ACECD1F7-D213-7491-298E-5F7BEDA485B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A53DC39-7BC1-5749-AAA4-8277BCFCB04B}"/>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Unknown is an operating state, not another shade of green. A disconnected site shows Unknown and does not fail the service.</a:t>
            </a:r>
          </a:p>
        </p:txBody>
      </p:sp>
      <p:pic>
        <p:nvPicPr>
          <p:cNvPr id="31" name="SponsorBar" descr="CAS 2026 sponsors and #CloudAISummit2026">
            <a:extLst>
              <a:ext uri="{FF2B5EF4-FFF2-40B4-BE49-F238E27FC236}">
                <a16:creationId xmlns:a16="http://schemas.microsoft.com/office/drawing/2014/main" id="{CFC0DB55-8C65-B4EF-D1DC-B271FA1940D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3974307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300"/>
                                        <p:tgtEl>
                                          <p:spTgt spid="14"/>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00"/>
                                        <p:tgtEl>
                                          <p:spTgt spid="1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300"/>
                                        <p:tgtEl>
                                          <p:spTgt spid="17"/>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fade">
                                      <p:cBhvr>
                                        <p:cTn id="42" dur="3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3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300"/>
                                        <p:tgtEl>
                                          <p:spTgt spid="20"/>
                                        </p:tgtEl>
                                      </p:cBhvr>
                                    </p:animEffect>
                                  </p:childTnLst>
                                </p:cTn>
                              </p:par>
                              <p:par>
                                <p:cTn id="51" presetID="10" presetClass="entr" presetSubtype="0" fill="hold" nodeType="with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300"/>
                                        <p:tgtEl>
                                          <p:spTgt spid="21"/>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300"/>
                                        <p:tgtEl>
                                          <p:spTgt spid="22"/>
                                        </p:tgtEl>
                                      </p:cBhvr>
                                    </p:animEffect>
                                  </p:childTnLst>
                                </p:cTn>
                              </p:par>
                              <p:par>
                                <p:cTn id="57" presetID="10" presetClass="entr" presetSubtype="0" fill="hold"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300"/>
                                        <p:tgtEl>
                                          <p:spTgt spid="2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300"/>
                                        <p:tgtEl>
                                          <p:spTgt spid="24"/>
                                        </p:tgtEl>
                                      </p:cBhvr>
                                    </p:animEffect>
                                  </p:childTnLst>
                                </p:cTn>
                              </p:par>
                              <p:par>
                                <p:cTn id="65" presetID="10" presetClass="entr" presetSubtype="0" fill="hold"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3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3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p:bldP spid="12" grpId="0" animBg="1"/>
      <p:bldP spid="13" grpId="0" animBg="1"/>
      <p:bldP spid="16" grpId="0" animBg="1"/>
      <p:bldP spid="17" grpId="0" animBg="1"/>
      <p:bldP spid="18" grpId="0"/>
      <p:bldP spid="19" grpId="0" animBg="1"/>
      <p:bldP spid="20" grpId="0" animBg="1"/>
      <p:bldP spid="22" grpId="0" animBg="1"/>
      <p:bldP spid="24" grpId="0" animBg="1"/>
      <p:bldP spid="26" grpId="0"/>
      <p:bldP spid="27"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9FF8B45-A07A-5EB0-14C9-A0299B24351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AB4EF2A-7E71-85C4-C728-DF8D480390A4}"/>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D642933-E4A1-B029-F5D2-B34FCC44E4B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Model configuration (1 of 2)</a:t>
            </a:r>
          </a:p>
        </p:txBody>
      </p:sp>
      <p:sp>
        <p:nvSpPr>
          <p:cNvPr id="5" name="Rectangle 4">
            <a:extLst>
              <a:ext uri="{FF2B5EF4-FFF2-40B4-BE49-F238E27FC236}">
                <a16:creationId xmlns:a16="http://schemas.microsoft.com/office/drawing/2014/main" id="{EEA7E418-A1DC-8B03-8839-AF9D38BF79EF}"/>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D1919CEF-6BA9-5D13-D6D9-0751A2952676}"/>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TextBox 6">
            <a:extLst>
              <a:ext uri="{FF2B5EF4-FFF2-40B4-BE49-F238E27FC236}">
                <a16:creationId xmlns:a16="http://schemas.microsoft.com/office/drawing/2014/main" id="{FFFD0EF9-031E-3284-9072-9090175BA6CB}"/>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3F662EDD-45C6-73BF-2EEC-757137DF0901}"/>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F30945E5-4D59-1788-21A7-62223CCF77CF}"/>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214BA19A-58E0-EF84-F2B0-45BF15357814}"/>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Open the IIC health model</a:t>
            </a:r>
          </a:p>
        </p:txBody>
      </p:sp>
      <p:sp>
        <p:nvSpPr>
          <p:cNvPr id="11" name="Rectangle: Rounded Corners 10">
            <a:extLst>
              <a:ext uri="{FF2B5EF4-FFF2-40B4-BE49-F238E27FC236}">
                <a16:creationId xmlns:a16="http://schemas.microsoft.com/office/drawing/2014/main" id="{21B0AE3A-6234-7DDF-BD8B-68DB4DB26EA7}"/>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D0C9898A-F46F-5CA7-8135-22B2A8E6CBE5}"/>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Read entities and relationship direction</a:t>
            </a:r>
          </a:p>
        </p:txBody>
      </p:sp>
      <p:sp>
        <p:nvSpPr>
          <p:cNvPr id="13" name="Rectangle: Rounded Corners 12">
            <a:extLst>
              <a:ext uri="{FF2B5EF4-FFF2-40B4-BE49-F238E27FC236}">
                <a16:creationId xmlns:a16="http://schemas.microsoft.com/office/drawing/2014/main" id="{CCF3E91C-39E2-FFCC-6532-8BED0030722A}"/>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E7E853AB-3CB2-7F8C-0406-A1807DFAA73F}"/>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Open one signal: query, window, thresholds</a:t>
            </a:r>
          </a:p>
        </p:txBody>
      </p:sp>
      <p:sp>
        <p:nvSpPr>
          <p:cNvPr id="15" name="Rectangle: Rounded Corners 14">
            <a:extLst>
              <a:ext uri="{FF2B5EF4-FFF2-40B4-BE49-F238E27FC236}">
                <a16:creationId xmlns:a16="http://schemas.microsoft.com/office/drawing/2014/main" id="{C9129D5E-E4EE-0E27-1545-4E449474641B}"/>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506D9488-C1FF-B831-393A-1D8E8B1EF2E5}"/>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Check aggregation and missing-data behaviour</a:t>
            </a:r>
          </a:p>
        </p:txBody>
      </p:sp>
      <p:sp>
        <p:nvSpPr>
          <p:cNvPr id="17" name="Rectangle: Rounded Corners 16">
            <a:extLst>
              <a:ext uri="{FF2B5EF4-FFF2-40B4-BE49-F238E27FC236}">
                <a16:creationId xmlns:a16="http://schemas.microsoft.com/office/drawing/2014/main" id="{E8A13C3F-5ECD-C893-CB86-7D956D256A67}"/>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3EC471B-1F01-4423-D0ED-D7D34F32B295}"/>
              </a:ext>
            </a:extLst>
          </p:cNvPr>
          <p:cNvSpPr txBox="1"/>
          <p:nvPr/>
        </p:nvSpPr>
        <p:spPr>
          <a:xfrm>
            <a:off x="6781800" y="2540000"/>
            <a:ext cx="4521200" cy="646331"/>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Every coloured state traces
to a named signal and rule</a:t>
            </a:r>
          </a:p>
        </p:txBody>
      </p:sp>
      <p:sp>
        <p:nvSpPr>
          <p:cNvPr id="19" name="Rectangle 18">
            <a:extLst>
              <a:ext uri="{FF2B5EF4-FFF2-40B4-BE49-F238E27FC236}">
                <a16:creationId xmlns:a16="http://schemas.microsoft.com/office/drawing/2014/main" id="{61CE93DA-EC0A-5298-AD57-EE58E88C8A35}"/>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622C54F-8C89-7DE8-C9C6-584D4F92D0EB}"/>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M04, stage 1 of 2. Read the configuration in the order the next stage uses.</a:t>
            </a:r>
          </a:p>
        </p:txBody>
      </p:sp>
      <p:pic>
        <p:nvPicPr>
          <p:cNvPr id="22" name="SponsorBar" descr="CAS 2026 sponsors and #CloudAISummit2026">
            <a:extLst>
              <a:ext uri="{FF2B5EF4-FFF2-40B4-BE49-F238E27FC236}">
                <a16:creationId xmlns:a16="http://schemas.microsoft.com/office/drawing/2014/main" id="{FE606CFB-0A87-2377-7F72-1C9593B4F17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473FA05A-56BB-51F9-9B69-3909C8928B01}"/>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D4105A07-60F3-9B1C-CFB8-A7B4EE20AD21}"/>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154755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F63AD06-8C39-9DD1-17F2-81FEDF1C5240}"/>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1056CAC-82FD-7A4C-5822-816D130BE79B}"/>
              </a:ext>
            </a:extLst>
          </p:cNvPr>
          <p:cNvSpPr/>
          <p:nvPr/>
        </p:nvSpPr>
        <p:spPr>
          <a:xfrm>
            <a:off x="0" y="1549400"/>
            <a:ext cx="12192000" cy="50800"/>
          </a:xfrm>
          <a:prstGeom prst="rect">
            <a:avLst/>
          </a:prstGeom>
          <a:solidFill>
            <a:srgbClr val="FACC1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AC68848-D885-53B0-3156-B734C4C025E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Current state (2 of 2)</a:t>
            </a:r>
          </a:p>
        </p:txBody>
      </p:sp>
      <p:sp>
        <p:nvSpPr>
          <p:cNvPr id="5" name="Rectangle 4">
            <a:extLst>
              <a:ext uri="{FF2B5EF4-FFF2-40B4-BE49-F238E27FC236}">
                <a16:creationId xmlns:a16="http://schemas.microsoft.com/office/drawing/2014/main" id="{0AB4CD29-3748-788D-B6D7-1610272BED17}"/>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94294F0A-93D0-A287-8050-95FAE543E8CB}"/>
              </a:ext>
            </a:extLst>
          </p:cNvPr>
          <p:cNvSpPr/>
          <p:nvPr/>
        </p:nvSpPr>
        <p:spPr>
          <a:xfrm>
            <a:off x="9042400" y="330200"/>
            <a:ext cx="2540000" cy="330200"/>
          </a:xfrm>
          <a:prstGeom prst="roundRect">
            <a:avLst/>
          </a:prstGeom>
          <a:solidFill>
            <a:srgbClr val="FACC1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4 · MODEL HEALTH</a:t>
            </a:r>
          </a:p>
        </p:txBody>
      </p:sp>
      <p:sp>
        <p:nvSpPr>
          <p:cNvPr id="7" name="TextBox 6">
            <a:extLst>
              <a:ext uri="{FF2B5EF4-FFF2-40B4-BE49-F238E27FC236}">
                <a16:creationId xmlns:a16="http://schemas.microsoft.com/office/drawing/2014/main" id="{C67C0E81-FD50-869C-A7D9-9F734347ECCE}"/>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4226C451-BE3E-7B0F-C5DF-8734981282BC}"/>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F8246203-5557-611B-70E6-7F3E62362546}"/>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88906C2D-D5A5-0A2A-2BFC-CE82676F7F38}"/>
              </a:ext>
            </a:extLst>
          </p:cNvPr>
          <p:cNvSpPr txBox="1"/>
          <p:nvPr/>
        </p:nvSpPr>
        <p:spPr>
          <a:xfrm>
            <a:off x="1295400" y="2209800"/>
            <a:ext cx="4826000" cy="584775"/>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Predict first: marvin fault → AWS fulfillment → order commitment → root</a:t>
            </a:r>
          </a:p>
        </p:txBody>
      </p:sp>
      <p:sp>
        <p:nvSpPr>
          <p:cNvPr id="11" name="Rectangle: Rounded Corners 10">
            <a:extLst>
              <a:ext uri="{FF2B5EF4-FFF2-40B4-BE49-F238E27FC236}">
                <a16:creationId xmlns:a16="http://schemas.microsoft.com/office/drawing/2014/main" id="{0804636E-5BCD-7767-8B9F-A6F235A0AC61}"/>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AEDA346A-F9C7-7ADD-462F-CA992BF4FCED}"/>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Start from current stage records and timestamps</a:t>
            </a:r>
          </a:p>
        </p:txBody>
      </p:sp>
      <p:sp>
        <p:nvSpPr>
          <p:cNvPr id="13" name="Rectangle: Rounded Corners 12">
            <a:extLst>
              <a:ext uri="{FF2B5EF4-FFF2-40B4-BE49-F238E27FC236}">
                <a16:creationId xmlns:a16="http://schemas.microsoft.com/office/drawing/2014/main" id="{DDD2DA3F-7457-CD6F-544C-E4B90C470BA2}"/>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37E0836B-589B-8A8A-65FE-B7409E4ABA6A}"/>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Evaluate the signal</a:t>
            </a:r>
          </a:p>
        </p:txBody>
      </p:sp>
      <p:sp>
        <p:nvSpPr>
          <p:cNvPr id="15" name="Rectangle: Rounded Corners 14">
            <a:extLst>
              <a:ext uri="{FF2B5EF4-FFF2-40B4-BE49-F238E27FC236}">
                <a16:creationId xmlns:a16="http://schemas.microsoft.com/office/drawing/2014/main" id="{7F09D474-6757-CED3-D2E2-2F96B5C6E931}"/>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52611800-6F3D-9750-7199-02DFA77341D0}"/>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Follow aggregation to the commitment</a:t>
            </a:r>
          </a:p>
        </p:txBody>
      </p:sp>
      <p:sp>
        <p:nvSpPr>
          <p:cNvPr id="17" name="Rectangle: Rounded Corners 16">
            <a:extLst>
              <a:ext uri="{FF2B5EF4-FFF2-40B4-BE49-F238E27FC236}">
                <a16:creationId xmlns:a16="http://schemas.microsoft.com/office/drawing/2014/main" id="{2B664750-87C9-50CE-42D4-D74562BF26E7}"/>
              </a:ext>
            </a:extLst>
          </p:cNvPr>
          <p:cNvSpPr/>
          <p:nvPr/>
        </p:nvSpPr>
        <p:spPr>
          <a:xfrm>
            <a:off x="609600" y="5257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5</a:t>
            </a:r>
          </a:p>
        </p:txBody>
      </p:sp>
      <p:sp>
        <p:nvSpPr>
          <p:cNvPr id="18" name="TextBox 17">
            <a:extLst>
              <a:ext uri="{FF2B5EF4-FFF2-40B4-BE49-F238E27FC236}">
                <a16:creationId xmlns:a16="http://schemas.microsoft.com/office/drawing/2014/main" id="{A04C3AFD-6E13-C85A-8552-0461A57C16C8}"/>
              </a:ext>
            </a:extLst>
          </p:cNvPr>
          <p:cNvSpPr txBox="1"/>
          <p:nvPr/>
        </p:nvSpPr>
        <p:spPr>
          <a:xfrm>
            <a:off x="1295400" y="5257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Trace propagation and check the prediction</a:t>
            </a:r>
          </a:p>
        </p:txBody>
      </p:sp>
      <p:sp>
        <p:nvSpPr>
          <p:cNvPr id="19" name="Rectangle: Rounded Corners 18">
            <a:extLst>
              <a:ext uri="{FF2B5EF4-FFF2-40B4-BE49-F238E27FC236}">
                <a16:creationId xmlns:a16="http://schemas.microsoft.com/office/drawing/2014/main" id="{DAADCD3A-080E-0ED8-6525-8DFD429ACDC5}"/>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3485C98-4F9C-EFCA-298E-69AE97BA8099}"/>
              </a:ext>
            </a:extLst>
          </p:cNvPr>
          <p:cNvSpPr txBox="1"/>
          <p:nvPr/>
        </p:nvSpPr>
        <p:spPr>
          <a:xfrm>
            <a:off x="6781800" y="2540000"/>
            <a:ext cx="4521200" cy="646331"/>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The state, its evidence,
its window and its limits</a:t>
            </a:r>
          </a:p>
        </p:txBody>
      </p:sp>
      <p:sp>
        <p:nvSpPr>
          <p:cNvPr id="21" name="Rectangle 20">
            <a:extLst>
              <a:ext uri="{FF2B5EF4-FFF2-40B4-BE49-F238E27FC236}">
                <a16:creationId xmlns:a16="http://schemas.microsoft.com/office/drawing/2014/main" id="{4DAD5D9E-D66B-80B1-F10D-5801100E6879}"/>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6C155D2-E04B-D6AD-0BE0-C01B59C28A58}"/>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M04, stage 2 of 2. If evidence is stale, show Unknown instead of forcing a colour.</a:t>
            </a:r>
          </a:p>
        </p:txBody>
      </p:sp>
      <p:pic>
        <p:nvPicPr>
          <p:cNvPr id="24" name="SponsorBar" descr="CAS 2026 sponsors and #CloudAISummit2026">
            <a:extLst>
              <a:ext uri="{FF2B5EF4-FFF2-40B4-BE49-F238E27FC236}">
                <a16:creationId xmlns:a16="http://schemas.microsoft.com/office/drawing/2014/main" id="{12068416-9495-67E7-1D6C-8BB19E5DB55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5" name="DemoMarkerBar">
            <a:extLst>
              <a:ext uri="{FF2B5EF4-FFF2-40B4-BE49-F238E27FC236}">
                <a16:creationId xmlns:a16="http://schemas.microsoft.com/office/drawing/2014/main" id="{2BA82648-80D0-290B-F68D-A99060C6B505}"/>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DemoMarkerText">
            <a:extLst>
              <a:ext uri="{FF2B5EF4-FFF2-40B4-BE49-F238E27FC236}">
                <a16:creationId xmlns:a16="http://schemas.microsoft.com/office/drawing/2014/main" id="{478E08BF-58C9-603D-28E4-56989210736E}"/>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37486224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BD420B-E39A-7850-61ED-5BB77ECBF341}"/>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0746B18-0CF8-1B72-81CE-A4C73CBEBC8C}"/>
              </a:ext>
            </a:extLst>
          </p:cNvPr>
          <p:cNvSpPr/>
          <p:nvPr/>
        </p:nvSpPr>
        <p:spPr>
          <a:xfrm>
            <a:off x="0" y="1549400"/>
            <a:ext cx="12192000" cy="50800"/>
          </a:xfrm>
          <a:prstGeom prst="rect">
            <a:avLst/>
          </a:prstGeom>
          <a:solidFill>
            <a:srgbClr val="FD9A9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C4F8FD-B133-06B3-70C4-1D772BB68C0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5 · Respond and prove recovery</a:t>
            </a:r>
          </a:p>
        </p:txBody>
      </p:sp>
      <p:sp>
        <p:nvSpPr>
          <p:cNvPr id="5" name="Rectangle 4">
            <a:extLst>
              <a:ext uri="{FF2B5EF4-FFF2-40B4-BE49-F238E27FC236}">
                <a16:creationId xmlns:a16="http://schemas.microsoft.com/office/drawing/2014/main" id="{77471F71-EF80-E54F-D17E-DDA68FDF824A}"/>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CDC0E843-7F8C-1E17-E6C7-97BB66831398}"/>
              </a:ext>
            </a:extLst>
          </p:cNvPr>
          <p:cNvSpPr/>
          <p:nvPr/>
        </p:nvSpPr>
        <p:spPr>
          <a:xfrm>
            <a:off x="9042400" y="330200"/>
            <a:ext cx="2540000" cy="330200"/>
          </a:xfrm>
          <a:prstGeom prst="roundRect">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5 · RESPOND + RECOVER</a:t>
            </a:r>
          </a:p>
        </p:txBody>
      </p:sp>
      <p:sp>
        <p:nvSpPr>
          <p:cNvPr id="7" name="TextBox 6">
            <a:extLst>
              <a:ext uri="{FF2B5EF4-FFF2-40B4-BE49-F238E27FC236}">
                <a16:creationId xmlns:a16="http://schemas.microsoft.com/office/drawing/2014/main" id="{C9D15384-CD5D-BCAC-130F-ED25F5C8EBA1}"/>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FD9A96"/>
                </a:solidFill>
                <a:latin typeface="Calibri" panose="020F0502020204030204" pitchFamily="34" charset="0"/>
              </a:rPr>
              <a:t>5</a:t>
            </a:r>
          </a:p>
        </p:txBody>
      </p:sp>
      <p:sp>
        <p:nvSpPr>
          <p:cNvPr id="8" name="TextBox 7">
            <a:extLst>
              <a:ext uri="{FF2B5EF4-FFF2-40B4-BE49-F238E27FC236}">
                <a16:creationId xmlns:a16="http://schemas.microsoft.com/office/drawing/2014/main" id="{5B506667-AF68-326E-AB1C-D1569A2C22BC}"/>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DDC22DDC-D465-79FD-EE66-EFBF028C4CDB}"/>
              </a:ext>
            </a:extLst>
          </p:cNvPr>
          <p:cNvSpPr txBox="1"/>
          <p:nvPr/>
        </p:nvSpPr>
        <p:spPr>
          <a:xfrm>
            <a:off x="2413000" y="1778000"/>
            <a:ext cx="9169400" cy="461665"/>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Who acts, and how do we prove the service recovered?</a:t>
            </a:r>
          </a:p>
        </p:txBody>
      </p:sp>
      <p:sp>
        <p:nvSpPr>
          <p:cNvPr id="10" name="TextBox 9">
            <a:extLst>
              <a:ext uri="{FF2B5EF4-FFF2-40B4-BE49-F238E27FC236}">
                <a16:creationId xmlns:a16="http://schemas.microsoft.com/office/drawing/2014/main" id="{7B353FC0-1D84-035E-4BB1-94CA8621CB97}"/>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2A00426F-B53B-761E-AC72-C6978A530E72}"/>
              </a:ext>
            </a:extLst>
          </p:cNvPr>
          <p:cNvSpPr txBox="1"/>
          <p:nvPr/>
        </p:nvSpPr>
        <p:spPr>
          <a:xfrm>
            <a:off x="2413000" y="30480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Alerts that carry context instead of alert sprawl, and recovery proven with fresh orders rather than a closed ticket.</a:t>
            </a:r>
          </a:p>
        </p:txBody>
      </p:sp>
      <p:sp>
        <p:nvSpPr>
          <p:cNvPr id="12" name="TextBox 11">
            <a:extLst>
              <a:ext uri="{FF2B5EF4-FFF2-40B4-BE49-F238E27FC236}">
                <a16:creationId xmlns:a16="http://schemas.microsoft.com/office/drawing/2014/main" id="{2257859B-5424-9B15-06C4-B8ABBD032120}"/>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E23E3A5F-B78D-D6BF-C6B1-D818275D3023}"/>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An alert only starts the work; recovery is a new observation, not a closed ticket.</a:t>
            </a:r>
          </a:p>
        </p:txBody>
      </p:sp>
      <p:sp>
        <p:nvSpPr>
          <p:cNvPr id="14" name="TextBox 13">
            <a:extLst>
              <a:ext uri="{FF2B5EF4-FFF2-40B4-BE49-F238E27FC236}">
                <a16:creationId xmlns:a16="http://schemas.microsoft.com/office/drawing/2014/main" id="{08AFA9D7-7ABE-2D5C-5669-10AB77317E77}"/>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A8E84028-9825-8AB3-BA10-572A7247A8C8}"/>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owner, bounded action, verified recovery</a:t>
            </a:r>
          </a:p>
        </p:txBody>
      </p:sp>
      <p:sp>
        <p:nvSpPr>
          <p:cNvPr id="16" name="Rectangle: Rounded Corners 15">
            <a:extLst>
              <a:ext uri="{FF2B5EF4-FFF2-40B4-BE49-F238E27FC236}">
                <a16:creationId xmlns:a16="http://schemas.microsoft.com/office/drawing/2014/main" id="{2AAFC0AA-F313-4F76-F82A-C0597D10B5B5}"/>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F80EDEE1-673C-24CB-0C29-855A26CB4112}"/>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14ECE944-7C67-A752-A894-56F8F906F65A}"/>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5042B359-315F-1B85-B18E-18002D6F49F6}"/>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34AF178B-92E4-E16A-C71D-5969D740B13B}"/>
              </a:ext>
            </a:extLst>
          </p:cNvPr>
          <p:cNvSpPr/>
          <p:nvPr/>
        </p:nvSpPr>
        <p:spPr>
          <a:xfrm>
            <a:off x="8026400" y="5334000"/>
            <a:ext cx="1752600" cy="508000"/>
          </a:xfrm>
          <a:prstGeom prst="roundRect">
            <a:avLst/>
          </a:prstGeom>
          <a:solidFill>
            <a:srgbClr val="FD9A96"/>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6651F663-42A6-33BE-00FD-D792A1AD395C}"/>
              </a:ext>
            </a:extLst>
          </p:cNvPr>
          <p:cNvSpPr/>
          <p:nvPr/>
        </p:nvSpPr>
        <p:spPr>
          <a:xfrm>
            <a:off x="9880600" y="5334000"/>
            <a:ext cx="1752600" cy="508000"/>
          </a:xfrm>
          <a:prstGeom prst="roundRect">
            <a:avLst/>
          </a:prstGeom>
          <a:solidFill>
            <a:srgbClr val="283C7A"/>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0A602FB5-E4EF-AF35-272E-D0C6656A318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061913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2CCB75-DC5D-19C8-BF17-8B339267DF1A}"/>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2A744EEB-6BEF-895C-03EA-CC2DFEB3CD45}"/>
              </a:ext>
            </a:extLst>
          </p:cNvPr>
          <p:cNvSpPr/>
          <p:nvPr/>
        </p:nvSpPr>
        <p:spPr>
          <a:xfrm>
            <a:off x="0" y="1549400"/>
            <a:ext cx="12192000" cy="50800"/>
          </a:xfrm>
          <a:prstGeom prst="rect">
            <a:avLst/>
          </a:prstGeom>
          <a:solidFill>
            <a:srgbClr val="FD9A9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A5D2254-F0E9-D1DE-21C3-39070C3277A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Alerts with context</a:t>
            </a:r>
          </a:p>
        </p:txBody>
      </p:sp>
      <p:sp>
        <p:nvSpPr>
          <p:cNvPr id="5" name="Rectangle 4">
            <a:extLst>
              <a:ext uri="{FF2B5EF4-FFF2-40B4-BE49-F238E27FC236}">
                <a16:creationId xmlns:a16="http://schemas.microsoft.com/office/drawing/2014/main" id="{98C28C43-130C-14AE-4365-E11F23B04605}"/>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87842A58-E70E-2A88-6FD0-AB25DC18A83D}"/>
              </a:ext>
            </a:extLst>
          </p:cNvPr>
          <p:cNvSpPr/>
          <p:nvPr/>
        </p:nvSpPr>
        <p:spPr>
          <a:xfrm>
            <a:off x="9042400" y="330200"/>
            <a:ext cx="2540000" cy="330200"/>
          </a:xfrm>
          <a:prstGeom prst="roundRect">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5 · RESPOND + RECOVER</a:t>
            </a:r>
          </a:p>
        </p:txBody>
      </p:sp>
      <p:sp>
        <p:nvSpPr>
          <p:cNvPr id="7" name="Rectangle: Rounded Corners 6">
            <a:extLst>
              <a:ext uri="{FF2B5EF4-FFF2-40B4-BE49-F238E27FC236}">
                <a16:creationId xmlns:a16="http://schemas.microsoft.com/office/drawing/2014/main" id="{93CD327A-7F56-CF3A-9AA6-258D6F57A114}"/>
              </a:ext>
            </a:extLst>
          </p:cNvPr>
          <p:cNvSpPr/>
          <p:nvPr/>
        </p:nvSpPr>
        <p:spPr>
          <a:xfrm>
            <a:off x="571500" y="2413000"/>
            <a:ext cx="2413000" cy="1219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CONDITION
a commitment or signal state</a:t>
            </a:r>
          </a:p>
        </p:txBody>
      </p:sp>
      <p:sp>
        <p:nvSpPr>
          <p:cNvPr id="8" name="Rectangle: Rounded Corners 7">
            <a:extLst>
              <a:ext uri="{FF2B5EF4-FFF2-40B4-BE49-F238E27FC236}">
                <a16:creationId xmlns:a16="http://schemas.microsoft.com/office/drawing/2014/main" id="{42C454DB-2D4B-DC3E-29F1-259B5AB83790}"/>
              </a:ext>
            </a:extLst>
          </p:cNvPr>
          <p:cNvSpPr/>
          <p:nvPr/>
        </p:nvSpPr>
        <p:spPr>
          <a:xfrm>
            <a:off x="3492500" y="2286000"/>
            <a:ext cx="2413000" cy="14732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CONTEXT
service · component · evidence · correlation ID</a:t>
            </a:r>
          </a:p>
        </p:txBody>
      </p:sp>
      <p:sp>
        <p:nvSpPr>
          <p:cNvPr id="9" name="Rectangle: Rounded Corners 8">
            <a:extLst>
              <a:ext uri="{FF2B5EF4-FFF2-40B4-BE49-F238E27FC236}">
                <a16:creationId xmlns:a16="http://schemas.microsoft.com/office/drawing/2014/main" id="{18609D3F-7BD9-9037-25C9-3389D82721BC}"/>
              </a:ext>
            </a:extLst>
          </p:cNvPr>
          <p:cNvSpPr/>
          <p:nvPr/>
        </p:nvSpPr>
        <p:spPr>
          <a:xfrm>
            <a:off x="6921500" y="2413000"/>
            <a:ext cx="2286000" cy="1219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OWNER
team · permission · runbook
no owner = not our alert</a:t>
            </a:r>
          </a:p>
        </p:txBody>
      </p:sp>
      <p:sp>
        <p:nvSpPr>
          <p:cNvPr id="10" name="Rectangle: Rounded Corners 9">
            <a:extLst>
              <a:ext uri="{FF2B5EF4-FFF2-40B4-BE49-F238E27FC236}">
                <a16:creationId xmlns:a16="http://schemas.microsoft.com/office/drawing/2014/main" id="{2ADA0165-824F-E2D4-7816-8569E1A46385}"/>
              </a:ext>
            </a:extLst>
          </p:cNvPr>
          <p:cNvSpPr/>
          <p:nvPr/>
        </p:nvSpPr>
        <p:spPr>
          <a:xfrm>
            <a:off x="9550400" y="2286000"/>
            <a:ext cx="2032000" cy="1473200"/>
          </a:xfrm>
          <a:prstGeom prst="roundRect">
            <a:avLst/>
          </a:prstGeom>
          <a:solidFill>
            <a:srgbClr val="20326C"/>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OUTCOME
act · verify · close or escalate</a:t>
            </a:r>
          </a:p>
        </p:txBody>
      </p:sp>
      <p:cxnSp>
        <p:nvCxnSpPr>
          <p:cNvPr id="11" name="Straight Arrow Connector 10">
            <a:extLst>
              <a:ext uri="{FF2B5EF4-FFF2-40B4-BE49-F238E27FC236}">
                <a16:creationId xmlns:a16="http://schemas.microsoft.com/office/drawing/2014/main" id="{10A86D5A-224D-B2BA-3255-47F692CCBB05}"/>
              </a:ext>
            </a:extLst>
          </p:cNvPr>
          <p:cNvCxnSpPr/>
          <p:nvPr/>
        </p:nvCxnSpPr>
        <p:spPr>
          <a:xfrm>
            <a:off x="2984500" y="3022600"/>
            <a:ext cx="508000" cy="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52EF1F49-6882-98A1-A246-1F1A2AABED80}"/>
              </a:ext>
            </a:extLst>
          </p:cNvPr>
          <p:cNvCxnSpPr/>
          <p:nvPr/>
        </p:nvCxnSpPr>
        <p:spPr>
          <a:xfrm>
            <a:off x="5905500" y="3022600"/>
            <a:ext cx="1016000" cy="0"/>
          </a:xfrm>
          <a:prstGeom prst="straightConnector1">
            <a:avLst/>
          </a:prstGeom>
          <a:ln w="28575">
            <a:solidFill>
              <a:srgbClr val="FD9A96"/>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9B65BDF-5F3E-8124-3C78-DC8E722F2AED}"/>
              </a:ext>
            </a:extLst>
          </p:cNvPr>
          <p:cNvSpPr txBox="1"/>
          <p:nvPr/>
        </p:nvSpPr>
        <p:spPr>
          <a:xfrm>
            <a:off x="5956300" y="2590800"/>
            <a:ext cx="914400" cy="261610"/>
          </a:xfrm>
          <a:prstGeom prst="rect">
            <a:avLst/>
          </a:prstGeom>
          <a:noFill/>
        </p:spPr>
        <p:txBody>
          <a:bodyPr vert="horz" wrap="square" lIns="25400" rIns="25400" rtlCol="0">
            <a:spAutoFit/>
          </a:bodyPr>
          <a:lstStyle/>
          <a:p>
            <a:pPr algn="ctr"/>
            <a:r>
              <a:rPr lang="en-US" sz="1100" b="1">
                <a:solidFill>
                  <a:srgbClr val="FD9A96"/>
                </a:solidFill>
                <a:latin typeface="Calibri" panose="020F0502020204030204" pitchFamily="34" charset="0"/>
              </a:rPr>
              <a:t>delivered?</a:t>
            </a:r>
          </a:p>
        </p:txBody>
      </p:sp>
      <p:cxnSp>
        <p:nvCxnSpPr>
          <p:cNvPr id="14" name="Straight Arrow Connector 13">
            <a:extLst>
              <a:ext uri="{FF2B5EF4-FFF2-40B4-BE49-F238E27FC236}">
                <a16:creationId xmlns:a16="http://schemas.microsoft.com/office/drawing/2014/main" id="{778C752A-86AC-4BDF-AC76-610A48AF52CD}"/>
              </a:ext>
            </a:extLst>
          </p:cNvPr>
          <p:cNvCxnSpPr/>
          <p:nvPr/>
        </p:nvCxnSpPr>
        <p:spPr>
          <a:xfrm>
            <a:off x="9207500" y="3022600"/>
            <a:ext cx="3429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1CC39B22-2265-E9F1-C4AD-2FFD33504D64}"/>
              </a:ext>
            </a:extLst>
          </p:cNvPr>
          <p:cNvSpPr/>
          <p:nvPr/>
        </p:nvSpPr>
        <p:spPr>
          <a:xfrm>
            <a:off x="2286000" y="3987800"/>
            <a:ext cx="7620000" cy="6350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A configured rule is not proof that a notification was delivered.</a:t>
            </a:r>
          </a:p>
        </p:txBody>
      </p:sp>
      <p:sp>
        <p:nvSpPr>
          <p:cNvPr id="16" name="Rectangle: Rounded Corners 15">
            <a:extLst>
              <a:ext uri="{FF2B5EF4-FFF2-40B4-BE49-F238E27FC236}">
                <a16:creationId xmlns:a16="http://schemas.microsoft.com/office/drawing/2014/main" id="{80C8D759-888D-9A67-F869-2BE91862B165}"/>
              </a:ext>
            </a:extLst>
          </p:cNvPr>
          <p:cNvSpPr/>
          <p:nvPr/>
        </p:nvSpPr>
        <p:spPr>
          <a:xfrm>
            <a:off x="609600" y="4724400"/>
            <a:ext cx="5181600" cy="9398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BEFORE
A flood of alerts, many for systems other teams own, plus 3 separate rules (stage failures, queue depth, latency) for one AWS fault, with no shared context.</a:t>
            </a:r>
          </a:p>
        </p:txBody>
      </p:sp>
      <p:sp>
        <p:nvSpPr>
          <p:cNvPr id="17" name="Rectangle: Rounded Corners 16">
            <a:extLst>
              <a:ext uri="{FF2B5EF4-FFF2-40B4-BE49-F238E27FC236}">
                <a16:creationId xmlns:a16="http://schemas.microsoft.com/office/drawing/2014/main" id="{2D0D52BB-6824-D7C6-1F38-66F3D6AAF03F}"/>
              </a:ext>
            </a:extLst>
          </p:cNvPr>
          <p:cNvSpPr/>
          <p:nvPr/>
        </p:nvSpPr>
        <p:spPr>
          <a:xfrm>
            <a:off x="6096000" y="4724400"/>
            <a:ext cx="5181600" cy="9398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F1F5FB"/>
                </a:solidFill>
                <a:latin typeface="Calibri" panose="020F0502020204030204" pitchFamily="34" charset="0"/>
              </a:rPr>
              <a:t>AFTER
One entity alert on Customers can complete an order, with a named owner: fires once per state change, resolves itself; noise for someone else's system never reaches you. Retire old rules once proven.</a:t>
            </a:r>
          </a:p>
        </p:txBody>
      </p:sp>
      <p:cxnSp>
        <p:nvCxnSpPr>
          <p:cNvPr id="18" name="Straight Arrow Connector 17">
            <a:extLst>
              <a:ext uri="{FF2B5EF4-FFF2-40B4-BE49-F238E27FC236}">
                <a16:creationId xmlns:a16="http://schemas.microsoft.com/office/drawing/2014/main" id="{FF956368-7E0A-94F8-22B7-AE60A2D47790}"/>
              </a:ext>
            </a:extLst>
          </p:cNvPr>
          <p:cNvCxnSpPr/>
          <p:nvPr/>
        </p:nvCxnSpPr>
        <p:spPr>
          <a:xfrm>
            <a:off x="5791200" y="5194300"/>
            <a:ext cx="304800" cy="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4A7C6F58-128C-560E-847A-217712AC4CD1}"/>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BF13011-E944-55EC-77FE-EBB3BD882160}"/>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The alert starts the work; it is not the outcome.</a:t>
            </a:r>
          </a:p>
        </p:txBody>
      </p:sp>
      <p:pic>
        <p:nvPicPr>
          <p:cNvPr id="22" name="SponsorBar" descr="CAS 2026 sponsors and #CloudAISummit2026">
            <a:extLst>
              <a:ext uri="{FF2B5EF4-FFF2-40B4-BE49-F238E27FC236}">
                <a16:creationId xmlns:a16="http://schemas.microsoft.com/office/drawing/2014/main" id="{D91EB187-A445-4EFE-6E8F-8F1B9F27D5E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428731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3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3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30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30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3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3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3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3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3" grpId="0"/>
      <p:bldP spid="15" grpId="0" animBg="1"/>
      <p:bldP spid="16"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FDF3A2-DC1A-4324-AEC1-8583997E83E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4C5F61C-54FD-4FD4-D1A3-7D868873BAD7}"/>
              </a:ext>
            </a:extLst>
          </p:cNvPr>
          <p:cNvSpPr/>
          <p:nvPr/>
        </p:nvSpPr>
        <p:spPr>
          <a:xfrm>
            <a:off x="0" y="1549400"/>
            <a:ext cx="12192000" cy="50800"/>
          </a:xfrm>
          <a:prstGeom prst="rect">
            <a:avLst/>
          </a:prstGeom>
          <a:solidFill>
            <a:srgbClr val="FD9A9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BA77B332-2CFE-6C92-0F2B-4973FAC750BC}"/>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Recovery is a new observation</a:t>
            </a:r>
          </a:p>
        </p:txBody>
      </p:sp>
      <p:sp>
        <p:nvSpPr>
          <p:cNvPr id="5" name="Rectangle 4">
            <a:extLst>
              <a:ext uri="{FF2B5EF4-FFF2-40B4-BE49-F238E27FC236}">
                <a16:creationId xmlns:a16="http://schemas.microsoft.com/office/drawing/2014/main" id="{26B2F9C8-E0EC-DF44-FFCE-878B4267934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7B7EBB8F-5A5F-CB36-AA86-7CD9600E241B}"/>
              </a:ext>
            </a:extLst>
          </p:cNvPr>
          <p:cNvSpPr/>
          <p:nvPr/>
        </p:nvSpPr>
        <p:spPr>
          <a:xfrm>
            <a:off x="9042400" y="330200"/>
            <a:ext cx="2540000" cy="330200"/>
          </a:xfrm>
          <a:prstGeom prst="roundRect">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5 · RESPOND + RECOVER</a:t>
            </a:r>
          </a:p>
        </p:txBody>
      </p:sp>
      <p:sp>
        <p:nvSpPr>
          <p:cNvPr id="7" name="Rectangle: Rounded Corners 6">
            <a:extLst>
              <a:ext uri="{FF2B5EF4-FFF2-40B4-BE49-F238E27FC236}">
                <a16:creationId xmlns:a16="http://schemas.microsoft.com/office/drawing/2014/main" id="{77B64A80-97C5-279E-A34B-0CB1F672A016}"/>
              </a:ext>
            </a:extLst>
          </p:cNvPr>
          <p:cNvSpPr/>
          <p:nvPr/>
        </p:nvSpPr>
        <p:spPr>
          <a:xfrm>
            <a:off x="609600" y="1854200"/>
            <a:ext cx="1930400" cy="11176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SEE IT
the service view: an order commitment is Unhealthy</a:t>
            </a:r>
          </a:p>
        </p:txBody>
      </p:sp>
      <p:cxnSp>
        <p:nvCxnSpPr>
          <p:cNvPr id="8" name="Straight Arrow Connector 7">
            <a:extLst>
              <a:ext uri="{FF2B5EF4-FFF2-40B4-BE49-F238E27FC236}">
                <a16:creationId xmlns:a16="http://schemas.microsoft.com/office/drawing/2014/main" id="{6A4C5D2D-82A3-47ED-B0E0-3B47DB95E451}"/>
              </a:ext>
            </a:extLst>
          </p:cNvPr>
          <p:cNvCxnSpPr/>
          <p:nvPr/>
        </p:nvCxnSpPr>
        <p:spPr>
          <a:xfrm>
            <a:off x="2540000" y="24130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C0C58382-8291-003B-1CCD-FC57245E3316}"/>
              </a:ext>
            </a:extLst>
          </p:cNvPr>
          <p:cNvSpPr/>
          <p:nvPr/>
        </p:nvSpPr>
        <p:spPr>
          <a:xfrm>
            <a:off x="2844800" y="1854200"/>
            <a:ext cx="1930400" cy="11176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EXPLAIN IT
the model: which entity, which signal</a:t>
            </a:r>
          </a:p>
        </p:txBody>
      </p:sp>
      <p:cxnSp>
        <p:nvCxnSpPr>
          <p:cNvPr id="10" name="Straight Arrow Connector 9">
            <a:extLst>
              <a:ext uri="{FF2B5EF4-FFF2-40B4-BE49-F238E27FC236}">
                <a16:creationId xmlns:a16="http://schemas.microsoft.com/office/drawing/2014/main" id="{9EADF20A-E6E1-7C0C-9DB4-735E55788A60}"/>
              </a:ext>
            </a:extLst>
          </p:cNvPr>
          <p:cNvCxnSpPr/>
          <p:nvPr/>
        </p:nvCxnSpPr>
        <p:spPr>
          <a:xfrm>
            <a:off x="4775200" y="24130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BB07D23C-E4B3-6F9C-2381-382771AFF60D}"/>
              </a:ext>
            </a:extLst>
          </p:cNvPr>
          <p:cNvSpPr/>
          <p:nvPr/>
        </p:nvSpPr>
        <p:spPr>
          <a:xfrm>
            <a:off x="5080000" y="1854200"/>
            <a:ext cx="1930400" cy="11176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FIX IT
one bounded change by the owner</a:t>
            </a:r>
          </a:p>
        </p:txBody>
      </p:sp>
      <p:cxnSp>
        <p:nvCxnSpPr>
          <p:cNvPr id="12" name="Straight Arrow Connector 11">
            <a:extLst>
              <a:ext uri="{FF2B5EF4-FFF2-40B4-BE49-F238E27FC236}">
                <a16:creationId xmlns:a16="http://schemas.microsoft.com/office/drawing/2014/main" id="{B23EED94-F928-7D97-517F-CB67F528E146}"/>
              </a:ext>
            </a:extLst>
          </p:cNvPr>
          <p:cNvCxnSpPr/>
          <p:nvPr/>
        </p:nvCxnSpPr>
        <p:spPr>
          <a:xfrm>
            <a:off x="7010400" y="24130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17052476-0F18-C180-9F04-E7E8572E880C}"/>
              </a:ext>
            </a:extLst>
          </p:cNvPr>
          <p:cNvSpPr/>
          <p:nvPr/>
        </p:nvSpPr>
        <p:spPr>
          <a:xfrm>
            <a:off x="7315200" y="1854200"/>
            <a:ext cx="1930400" cy="11176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PROVE IT
fresh orders complete; nothing waiting in the queue</a:t>
            </a:r>
          </a:p>
        </p:txBody>
      </p:sp>
      <p:cxnSp>
        <p:nvCxnSpPr>
          <p:cNvPr id="14" name="Straight Arrow Connector 13">
            <a:extLst>
              <a:ext uri="{FF2B5EF4-FFF2-40B4-BE49-F238E27FC236}">
                <a16:creationId xmlns:a16="http://schemas.microsoft.com/office/drawing/2014/main" id="{C62FED92-7050-DEF7-46B2-E43F83F85FDD}"/>
              </a:ext>
            </a:extLst>
          </p:cNvPr>
          <p:cNvCxnSpPr/>
          <p:nvPr/>
        </p:nvCxnSpPr>
        <p:spPr>
          <a:xfrm>
            <a:off x="9245600" y="24130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60089F35-92F5-85AC-5153-47673375E7C3}"/>
              </a:ext>
            </a:extLst>
          </p:cNvPr>
          <p:cNvSpPr/>
          <p:nvPr/>
        </p:nvSpPr>
        <p:spPr>
          <a:xfrm>
            <a:off x="9550400" y="1854200"/>
            <a:ext cx="1930400" cy="11176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WATCH IT CATCH UP
the model and the alert recover later</a:t>
            </a:r>
          </a:p>
        </p:txBody>
      </p:sp>
      <p:sp>
        <p:nvSpPr>
          <p:cNvPr id="16" name="TextBox 15">
            <a:extLst>
              <a:ext uri="{FF2B5EF4-FFF2-40B4-BE49-F238E27FC236}">
                <a16:creationId xmlns:a16="http://schemas.microsoft.com/office/drawing/2014/main" id="{5CF14614-85CD-BE9E-29D7-F7625F0782AF}"/>
              </a:ext>
            </a:extLst>
          </p:cNvPr>
          <p:cNvSpPr txBox="1"/>
          <p:nvPr/>
        </p:nvSpPr>
        <p:spPr>
          <a:xfrm>
            <a:off x="609600" y="3251200"/>
            <a:ext cx="5080000" cy="261610"/>
          </a:xfrm>
          <a:prstGeom prst="rect">
            <a:avLst/>
          </a:prstGeom>
          <a:noFill/>
        </p:spPr>
        <p:txBody>
          <a:bodyPr vert="horz" wrap="square" lIns="25400" rIns="25400" rtlCol="0">
            <a:spAutoFit/>
          </a:bodyPr>
          <a:lstStyle/>
          <a:p>
            <a:r>
              <a:rPr lang="en-US" sz="1100" b="1">
                <a:solidFill>
                  <a:srgbClr val="B8C6DE"/>
                </a:solidFill>
                <a:latin typeface="Calibri" panose="020F0502020204030204" pitchFamily="34" charset="0"/>
              </a:rPr>
              <a:t>FOUR CLOCKS · they do not move together</a:t>
            </a:r>
          </a:p>
        </p:txBody>
      </p:sp>
      <p:cxnSp>
        <p:nvCxnSpPr>
          <p:cNvPr id="17" name="Straight Arrow Connector 16">
            <a:extLst>
              <a:ext uri="{FF2B5EF4-FFF2-40B4-BE49-F238E27FC236}">
                <a16:creationId xmlns:a16="http://schemas.microsoft.com/office/drawing/2014/main" id="{83776BCA-92F3-699D-B2DE-4F782A84EEA6}"/>
              </a:ext>
            </a:extLst>
          </p:cNvPr>
          <p:cNvCxnSpPr/>
          <p:nvPr/>
        </p:nvCxnSpPr>
        <p:spPr>
          <a:xfrm>
            <a:off x="762000" y="3759200"/>
            <a:ext cx="108204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552F68FA-D996-99A6-CA24-1C6E18230CE4}"/>
              </a:ext>
            </a:extLst>
          </p:cNvPr>
          <p:cNvCxnSpPr/>
          <p:nvPr/>
        </p:nvCxnSpPr>
        <p:spPr>
          <a:xfrm>
            <a:off x="1905000" y="3759200"/>
            <a:ext cx="0" cy="152400"/>
          </a:xfrm>
          <a:prstGeom prst="straightConnector1">
            <a:avLst/>
          </a:prstGeom>
          <a:ln w="28575">
            <a:solidFill>
              <a:srgbClr val="A5BEFF"/>
            </a:solidFill>
            <a:tailEnd type="none"/>
          </a:ln>
        </p:spPr>
        <p:style>
          <a:lnRef idx="2">
            <a:schemeClr val="accent1"/>
          </a:lnRef>
          <a:fillRef idx="0">
            <a:schemeClr val="accent1"/>
          </a:fillRef>
          <a:effectRef idx="1">
            <a:schemeClr val="accent1"/>
          </a:effectRef>
          <a:fontRef idx="minor">
            <a:schemeClr val="tx1"/>
          </a:fontRef>
        </p:style>
      </p:cxnSp>
      <p:sp>
        <p:nvSpPr>
          <p:cNvPr id="19" name="Rectangle: Rounded Corners 18">
            <a:extLst>
              <a:ext uri="{FF2B5EF4-FFF2-40B4-BE49-F238E27FC236}">
                <a16:creationId xmlns:a16="http://schemas.microsoft.com/office/drawing/2014/main" id="{99F3B54F-07EF-C41E-9326-CDA76862CBD1}"/>
              </a:ext>
            </a:extLst>
          </p:cNvPr>
          <p:cNvSpPr/>
          <p:nvPr/>
        </p:nvSpPr>
        <p:spPr>
          <a:xfrm>
            <a:off x="762000" y="3911600"/>
            <a:ext cx="2286000" cy="660400"/>
          </a:xfrm>
          <a:prstGeom prst="roundRect">
            <a:avLst/>
          </a:prstGeom>
          <a:solidFill>
            <a:srgbClr val="283C7A"/>
          </a:solidFill>
          <a:ln w="15875">
            <a:solidFill>
              <a:srgbClr val="A5BE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ORDER RESULT
T0</a:t>
            </a:r>
          </a:p>
        </p:txBody>
      </p:sp>
      <p:cxnSp>
        <p:nvCxnSpPr>
          <p:cNvPr id="20" name="Straight Arrow Connector 19">
            <a:extLst>
              <a:ext uri="{FF2B5EF4-FFF2-40B4-BE49-F238E27FC236}">
                <a16:creationId xmlns:a16="http://schemas.microsoft.com/office/drawing/2014/main" id="{DAF71838-5DCD-9BA5-B680-319A338A1051}"/>
              </a:ext>
            </a:extLst>
          </p:cNvPr>
          <p:cNvCxnSpPr/>
          <p:nvPr/>
        </p:nvCxnSpPr>
        <p:spPr>
          <a:xfrm>
            <a:off x="4724400" y="3759200"/>
            <a:ext cx="0" cy="152400"/>
          </a:xfrm>
          <a:prstGeom prst="straightConnector1">
            <a:avLst/>
          </a:prstGeom>
          <a:ln w="28575">
            <a:solidFill>
              <a:srgbClr val="6EE7B7"/>
            </a:solidFill>
            <a:tailEnd type="none"/>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ADE3E05A-64D7-DCDD-78E4-1C3DD207538D}"/>
              </a:ext>
            </a:extLst>
          </p:cNvPr>
          <p:cNvSpPr/>
          <p:nvPr/>
        </p:nvSpPr>
        <p:spPr>
          <a:xfrm>
            <a:off x="3581400" y="3911600"/>
            <a:ext cx="2286000" cy="6604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RECORD ARRIVES
T0 + 30 s to 2 min (agent route)</a:t>
            </a:r>
          </a:p>
        </p:txBody>
      </p:sp>
      <p:cxnSp>
        <p:nvCxnSpPr>
          <p:cNvPr id="22" name="Straight Arrow Connector 21">
            <a:extLst>
              <a:ext uri="{FF2B5EF4-FFF2-40B4-BE49-F238E27FC236}">
                <a16:creationId xmlns:a16="http://schemas.microsoft.com/office/drawing/2014/main" id="{19391BB5-D8CD-12AB-6269-39C5B2B080D7}"/>
              </a:ext>
            </a:extLst>
          </p:cNvPr>
          <p:cNvCxnSpPr/>
          <p:nvPr/>
        </p:nvCxnSpPr>
        <p:spPr>
          <a:xfrm>
            <a:off x="7543800" y="3759200"/>
            <a:ext cx="0" cy="152400"/>
          </a:xfrm>
          <a:prstGeom prst="straightConnector1">
            <a:avLst/>
          </a:prstGeom>
          <a:ln w="28575">
            <a:solidFill>
              <a:srgbClr val="D0B6FF"/>
            </a:solidFill>
            <a:tailEnd type="none"/>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4CD9CBAE-2DF0-04F2-9456-9722674DF211}"/>
              </a:ext>
            </a:extLst>
          </p:cNvPr>
          <p:cNvSpPr/>
          <p:nvPr/>
        </p:nvSpPr>
        <p:spPr>
          <a:xfrm>
            <a:off x="6400800" y="3911600"/>
            <a:ext cx="2286000" cy="6604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MODEL RE-EVALUATES
T0 + its window</a:t>
            </a:r>
          </a:p>
        </p:txBody>
      </p:sp>
      <p:cxnSp>
        <p:nvCxnSpPr>
          <p:cNvPr id="24" name="Straight Arrow Connector 23">
            <a:extLst>
              <a:ext uri="{FF2B5EF4-FFF2-40B4-BE49-F238E27FC236}">
                <a16:creationId xmlns:a16="http://schemas.microsoft.com/office/drawing/2014/main" id="{DC22558F-2F44-D160-4D9F-4A75B3B44678}"/>
              </a:ext>
            </a:extLst>
          </p:cNvPr>
          <p:cNvCxnSpPr/>
          <p:nvPr/>
        </p:nvCxnSpPr>
        <p:spPr>
          <a:xfrm>
            <a:off x="10363200" y="3759200"/>
            <a:ext cx="0" cy="152400"/>
          </a:xfrm>
          <a:prstGeom prst="straightConnector1">
            <a:avLst/>
          </a:prstGeom>
          <a:ln w="28575">
            <a:solidFill>
              <a:srgbClr val="FACC15"/>
            </a:solidFill>
            <a:tailEnd type="none"/>
          </a:ln>
        </p:spPr>
        <p:style>
          <a:lnRef idx="2">
            <a:schemeClr val="accent1"/>
          </a:lnRef>
          <a:fillRef idx="0">
            <a:schemeClr val="accent1"/>
          </a:fillRef>
          <a:effectRef idx="1">
            <a:schemeClr val="accent1"/>
          </a:effectRef>
          <a:fontRef idx="minor">
            <a:schemeClr val="tx1"/>
          </a:fontRef>
        </p:style>
      </p:cxnSp>
      <p:sp>
        <p:nvSpPr>
          <p:cNvPr id="25" name="Rectangle: Rounded Corners 24">
            <a:extLst>
              <a:ext uri="{FF2B5EF4-FFF2-40B4-BE49-F238E27FC236}">
                <a16:creationId xmlns:a16="http://schemas.microsoft.com/office/drawing/2014/main" id="{30C56589-6094-D4D9-D171-632C48471EE6}"/>
              </a:ext>
            </a:extLst>
          </p:cNvPr>
          <p:cNvSpPr/>
          <p:nvPr/>
        </p:nvSpPr>
        <p:spPr>
          <a:xfrm>
            <a:off x="9220200" y="3911600"/>
            <a:ext cx="2286000" cy="6604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ALERT RESOLVES
T0 + its frequency</a:t>
            </a:r>
          </a:p>
        </p:txBody>
      </p:sp>
      <p:sp>
        <p:nvSpPr>
          <p:cNvPr id="26" name="TextBox 25">
            <a:extLst>
              <a:ext uri="{FF2B5EF4-FFF2-40B4-BE49-F238E27FC236}">
                <a16:creationId xmlns:a16="http://schemas.microsoft.com/office/drawing/2014/main" id="{B9624E0F-098B-E0E2-8781-1142795BB487}"/>
              </a:ext>
            </a:extLst>
          </p:cNvPr>
          <p:cNvSpPr txBox="1"/>
          <p:nvPr/>
        </p:nvSpPr>
        <p:spPr>
          <a:xfrm>
            <a:off x="609600" y="4775200"/>
            <a:ext cx="10972800" cy="292388"/>
          </a:xfrm>
          <a:prstGeom prst="rect">
            <a:avLst/>
          </a:prstGeom>
          <a:noFill/>
        </p:spPr>
        <p:txBody>
          <a:bodyPr vert="horz" wrap="square" lIns="25400" rIns="25400" rtlCol="0">
            <a:spAutoFit/>
          </a:bodyPr>
          <a:lstStyle/>
          <a:p>
            <a:r>
              <a:rPr lang="en-US" sz="1300" b="1">
                <a:solidFill>
                  <a:srgbClr val="7DD3FC"/>
                </a:solidFill>
                <a:latin typeface="Calibri" panose="020F0502020204030204" pitchFamily="34" charset="0"/>
              </a:rPr>
              <a:t>Capture a timestamp at every layer. Recovery is proven by new customer evidence; the dashboards catch up afterwards.</a:t>
            </a:r>
          </a:p>
        </p:txBody>
      </p:sp>
      <p:sp>
        <p:nvSpPr>
          <p:cNvPr id="27" name="TextBox 26">
            <a:extLst>
              <a:ext uri="{FF2B5EF4-FFF2-40B4-BE49-F238E27FC236}">
                <a16:creationId xmlns:a16="http://schemas.microsoft.com/office/drawing/2014/main" id="{C99D106A-55FF-BA63-C67C-AC038171255A}"/>
              </a:ext>
            </a:extLst>
          </p:cNvPr>
          <p:cNvSpPr txBox="1"/>
          <p:nvPr/>
        </p:nvSpPr>
        <p:spPr>
          <a:xfrm>
            <a:off x="609600" y="5105400"/>
            <a:ext cx="10972800" cy="292388"/>
          </a:xfrm>
          <a:prstGeom prst="rect">
            <a:avLst/>
          </a:prstGeom>
          <a:noFill/>
        </p:spPr>
        <p:txBody>
          <a:bodyPr vert="horz" wrap="square" lIns="25400" rIns="25400" rtlCol="0">
            <a:spAutoFit/>
          </a:bodyPr>
          <a:lstStyle/>
          <a:p>
            <a:r>
              <a:rPr lang="en-US" sz="1300">
                <a:solidFill>
                  <a:srgbClr val="F1F5FB"/>
                </a:solidFill>
                <a:latin typeface="Calibri" panose="020F0502020204030204" pitchFamily="34" charset="0"/>
              </a:rPr>
              <a:t>Roles: the fulfillment owner makes the change; the service owner declares the service recovered.</a:t>
            </a:r>
          </a:p>
        </p:txBody>
      </p:sp>
      <p:sp>
        <p:nvSpPr>
          <p:cNvPr id="28" name="Rectangle 27">
            <a:extLst>
              <a:ext uri="{FF2B5EF4-FFF2-40B4-BE49-F238E27FC236}">
                <a16:creationId xmlns:a16="http://schemas.microsoft.com/office/drawing/2014/main" id="{0C13727D-66EE-41FF-B41E-913845A6D629}"/>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ADDA003-1471-7802-2269-C83FF0258106}"/>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A successful command proves execution, not customer recovery.</a:t>
            </a:r>
          </a:p>
        </p:txBody>
      </p:sp>
      <p:pic>
        <p:nvPicPr>
          <p:cNvPr id="31" name="SponsorBar" descr="CAS 2026 sponsors and #CloudAISummit2026">
            <a:extLst>
              <a:ext uri="{FF2B5EF4-FFF2-40B4-BE49-F238E27FC236}">
                <a16:creationId xmlns:a16="http://schemas.microsoft.com/office/drawing/2014/main" id="{5649DE8A-DE5A-0E3C-B7C6-202CB10244C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1561599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0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300"/>
                                        <p:tgtEl>
                                          <p:spTgt spid="19"/>
                                        </p:tgtEl>
                                      </p:cBhvr>
                                    </p:animEffect>
                                  </p:childTnLst>
                                </p:cTn>
                              </p:par>
                              <p:par>
                                <p:cTn id="54" presetID="10"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30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300"/>
                                        <p:tgtEl>
                                          <p:spTgt spid="21"/>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300"/>
                                        <p:tgtEl>
                                          <p:spTgt spid="2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3"/>
                                        </p:tgtEl>
                                        <p:attrNameLst>
                                          <p:attrName>style.visibility</p:attrName>
                                        </p:attrNameLst>
                                      </p:cBhvr>
                                      <p:to>
                                        <p:strVal val="visible"/>
                                      </p:to>
                                    </p:set>
                                    <p:animEffect transition="in" filter="fade">
                                      <p:cBhvr>
                                        <p:cTn id="65" dur="300"/>
                                        <p:tgtEl>
                                          <p:spTgt spid="23"/>
                                        </p:tgtEl>
                                      </p:cBhvr>
                                    </p:animEffect>
                                  </p:childTnLst>
                                </p:cTn>
                              </p:par>
                              <p:par>
                                <p:cTn id="66" presetID="10" presetClass="entr" presetSubtype="0"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fade">
                                      <p:cBhvr>
                                        <p:cTn id="68" dur="300"/>
                                        <p:tgtEl>
                                          <p:spTgt spid="2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300"/>
                                        <p:tgtEl>
                                          <p:spTgt spid="2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3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3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6" grpId="0"/>
      <p:bldP spid="19" grpId="0" animBg="1"/>
      <p:bldP spid="21" grpId="0" animBg="1"/>
      <p:bldP spid="23" grpId="0" animBg="1"/>
      <p:bldP spid="25" grpId="0" animBg="1"/>
      <p:bldP spid="26" grpId="0"/>
      <p:bldP spid="27"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574C73-5BE7-7D4C-5960-4DBC1B400B55}"/>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4A905F9-BB88-C41B-0A7D-B2A3379565AB}"/>
              </a:ext>
            </a:extLst>
          </p:cNvPr>
          <p:cNvSpPr/>
          <p:nvPr/>
        </p:nvSpPr>
        <p:spPr>
          <a:xfrm>
            <a:off x="0" y="1549400"/>
            <a:ext cx="12192000" cy="50800"/>
          </a:xfrm>
          <a:prstGeom prst="rect">
            <a:avLst/>
          </a:prstGeom>
          <a:solidFill>
            <a:srgbClr val="FD9A9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665EE75-76F3-069F-4C8D-0FF1B7C4539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Recovery</a:t>
            </a:r>
          </a:p>
        </p:txBody>
      </p:sp>
      <p:sp>
        <p:nvSpPr>
          <p:cNvPr id="5" name="Rectangle 4">
            <a:extLst>
              <a:ext uri="{FF2B5EF4-FFF2-40B4-BE49-F238E27FC236}">
                <a16:creationId xmlns:a16="http://schemas.microsoft.com/office/drawing/2014/main" id="{FD109D81-A033-CF18-9DE0-E2401F9A2CD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C46DA013-B5D6-80BF-05F7-69EC204ED11D}"/>
              </a:ext>
            </a:extLst>
          </p:cNvPr>
          <p:cNvSpPr/>
          <p:nvPr/>
        </p:nvSpPr>
        <p:spPr>
          <a:xfrm>
            <a:off x="9042400" y="330200"/>
            <a:ext cx="2540000" cy="330200"/>
          </a:xfrm>
          <a:prstGeom prst="roundRect">
            <a:avLst/>
          </a:prstGeom>
          <a:solidFill>
            <a:srgbClr val="FD9A9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5 · RESPOND + RECOVER</a:t>
            </a:r>
          </a:p>
        </p:txBody>
      </p:sp>
      <p:sp>
        <p:nvSpPr>
          <p:cNvPr id="7" name="TextBox 6">
            <a:extLst>
              <a:ext uri="{FF2B5EF4-FFF2-40B4-BE49-F238E27FC236}">
                <a16:creationId xmlns:a16="http://schemas.microsoft.com/office/drawing/2014/main" id="{739B8EF4-1ABE-0D1F-7520-722D9F190F87}"/>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5A2E76EA-DD08-78AA-83B1-6B85AE61FABA}"/>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BD4178BB-CEAD-7C3A-99DD-98078DB055A8}"/>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DE0B4123-29B7-77C2-BAC9-A18A5BDAE178}"/>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Set the AWS worker back to Healthy</a:t>
            </a:r>
          </a:p>
        </p:txBody>
      </p:sp>
      <p:sp>
        <p:nvSpPr>
          <p:cNvPr id="11" name="Rectangle: Rounded Corners 10">
            <a:extLst>
              <a:ext uri="{FF2B5EF4-FFF2-40B4-BE49-F238E27FC236}">
                <a16:creationId xmlns:a16="http://schemas.microsoft.com/office/drawing/2014/main" id="{8F3F6408-0BB9-C620-A922-137A0BC44BE4}"/>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5FD453D2-73F6-40F5-067C-1BCAB04C7ABD}"/>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Place a few new demo-tagged orders</a:t>
            </a:r>
          </a:p>
        </p:txBody>
      </p:sp>
      <p:sp>
        <p:nvSpPr>
          <p:cNvPr id="13" name="Rectangle: Rounded Corners 12">
            <a:extLst>
              <a:ext uri="{FF2B5EF4-FFF2-40B4-BE49-F238E27FC236}">
                <a16:creationId xmlns:a16="http://schemas.microsoft.com/office/drawing/2014/main" id="{2C323712-BD0B-F1A2-A2EE-44DA723616E2}"/>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A311770D-738B-7DC4-1285-BAA212FFA951}"/>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Confirm every stage and every order completed</a:t>
            </a:r>
          </a:p>
        </p:txBody>
      </p:sp>
      <p:sp>
        <p:nvSpPr>
          <p:cNvPr id="15" name="Rectangle: Rounded Corners 14">
            <a:extLst>
              <a:ext uri="{FF2B5EF4-FFF2-40B4-BE49-F238E27FC236}">
                <a16:creationId xmlns:a16="http://schemas.microsoft.com/office/drawing/2014/main" id="{52475131-A8AB-E527-887C-DBC8194AA59D}"/>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3765CE09-84C3-A6DB-126D-C67B6D8E0272}"/>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Watch the model and alert catch up</a:t>
            </a:r>
          </a:p>
        </p:txBody>
      </p:sp>
      <p:sp>
        <p:nvSpPr>
          <p:cNvPr id="17" name="Rectangle: Rounded Corners 16">
            <a:extLst>
              <a:ext uri="{FF2B5EF4-FFF2-40B4-BE49-F238E27FC236}">
                <a16:creationId xmlns:a16="http://schemas.microsoft.com/office/drawing/2014/main" id="{167D1414-A110-FE43-34F9-E7A999092141}"/>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F26B23C-95A9-70BA-B4A5-D02EFDBE834E}"/>
              </a:ext>
            </a:extLst>
          </p:cNvPr>
          <p:cNvSpPr txBox="1"/>
          <p:nvPr/>
        </p:nvSpPr>
        <p:spPr>
          <a:xfrm>
            <a:off x="6781800" y="2540000"/>
            <a:ext cx="4521200" cy="1754326"/>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New correlation IDs: several orders complete
Nothing left waiting in the queue
Model and alert recover later,
with their timestamps</a:t>
            </a:r>
          </a:p>
        </p:txBody>
      </p:sp>
      <p:sp>
        <p:nvSpPr>
          <p:cNvPr id="19" name="Rectangle 18">
            <a:extLst>
              <a:ext uri="{FF2B5EF4-FFF2-40B4-BE49-F238E27FC236}">
                <a16:creationId xmlns:a16="http://schemas.microsoft.com/office/drawing/2014/main" id="{77513FD1-8F85-D26B-605F-DDC6CE7BB8D5}"/>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4648A3E-3ECB-1E41-BB62-63272BCD6B4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M03, stage 2 of 2. Recovery is a new observation, not a recycled screenshot.</a:t>
            </a:r>
          </a:p>
        </p:txBody>
      </p:sp>
      <p:pic>
        <p:nvPicPr>
          <p:cNvPr id="22" name="SponsorBar" descr="CAS 2026 sponsors and #CloudAISummit2026">
            <a:extLst>
              <a:ext uri="{FF2B5EF4-FFF2-40B4-BE49-F238E27FC236}">
                <a16:creationId xmlns:a16="http://schemas.microsoft.com/office/drawing/2014/main" id="{035F0774-D2AD-8350-FA47-1532C75A83A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D8D30E6F-515C-71C8-41E7-E9DB1BCD9429}"/>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D2BBBE96-2225-AF3E-EA76-3BB8C9CB5098}"/>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41709515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D30463-16F4-9AF4-DE54-75DE28BA28D7}"/>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A8847C4-C6F2-AEE4-3C48-E76771D7686A}"/>
              </a:ext>
            </a:extLst>
          </p:cNvPr>
          <p:cNvSpPr/>
          <p:nvPr/>
        </p:nvSpPr>
        <p:spPr>
          <a:xfrm>
            <a:off x="0" y="1549400"/>
            <a:ext cx="12192000" cy="50800"/>
          </a:xfrm>
          <a:prstGeom prst="rect">
            <a:avLst/>
          </a:prstGeom>
          <a:solidFill>
            <a:srgbClr val="BEF26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2CBA874-7861-6663-ACBD-8ECDDCDA579A}"/>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6 · Keep it affordable and useful</a:t>
            </a:r>
          </a:p>
        </p:txBody>
      </p:sp>
      <p:sp>
        <p:nvSpPr>
          <p:cNvPr id="5" name="Rectangle 4">
            <a:extLst>
              <a:ext uri="{FF2B5EF4-FFF2-40B4-BE49-F238E27FC236}">
                <a16:creationId xmlns:a16="http://schemas.microsoft.com/office/drawing/2014/main" id="{39DCEAFA-FA66-5809-8CFF-11CD44A77E42}"/>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F7BEB706-67C9-342E-72C4-5A6850771A6E}"/>
              </a:ext>
            </a:extLst>
          </p:cNvPr>
          <p:cNvSpPr/>
          <p:nvPr/>
        </p:nvSpPr>
        <p:spPr>
          <a:xfrm>
            <a:off x="9042400" y="330200"/>
            <a:ext cx="2540000" cy="330200"/>
          </a:xfrm>
          <a:prstGeom prst="roundRect">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6 · AFFORDABLE + USEFUL</a:t>
            </a:r>
          </a:p>
        </p:txBody>
      </p:sp>
      <p:sp>
        <p:nvSpPr>
          <p:cNvPr id="7" name="TextBox 6">
            <a:extLst>
              <a:ext uri="{FF2B5EF4-FFF2-40B4-BE49-F238E27FC236}">
                <a16:creationId xmlns:a16="http://schemas.microsoft.com/office/drawing/2014/main" id="{9EB5C131-D409-2FDC-C7FC-E13A185409DB}"/>
              </a:ext>
            </a:extLst>
          </p:cNvPr>
          <p:cNvSpPr txBox="1"/>
          <p:nvPr/>
        </p:nvSpPr>
        <p:spPr>
          <a:xfrm>
            <a:off x="609600" y="1752600"/>
            <a:ext cx="1524000" cy="1446550"/>
          </a:xfrm>
          <a:prstGeom prst="rect">
            <a:avLst/>
          </a:prstGeom>
          <a:noFill/>
        </p:spPr>
        <p:txBody>
          <a:bodyPr vert="horz" rtlCol="0">
            <a:spAutoFit/>
          </a:bodyPr>
          <a:lstStyle/>
          <a:p>
            <a:r>
              <a:rPr lang="en-US" sz="8800" b="1">
                <a:solidFill>
                  <a:srgbClr val="BEF264"/>
                </a:solidFill>
                <a:latin typeface="Calibri" panose="020F0502020204030204" pitchFamily="34" charset="0"/>
              </a:rPr>
              <a:t>6</a:t>
            </a:r>
          </a:p>
        </p:txBody>
      </p:sp>
      <p:sp>
        <p:nvSpPr>
          <p:cNvPr id="8" name="TextBox 7">
            <a:extLst>
              <a:ext uri="{FF2B5EF4-FFF2-40B4-BE49-F238E27FC236}">
                <a16:creationId xmlns:a16="http://schemas.microsoft.com/office/drawing/2014/main" id="{9FA9BB5F-811C-28B1-6AEF-29410681D92B}"/>
              </a:ext>
            </a:extLst>
          </p:cNvPr>
          <p:cNvSpPr txBox="1"/>
          <p:nvPr/>
        </p:nvSpPr>
        <p:spPr>
          <a:xfrm>
            <a:off x="685800" y="3124200"/>
            <a:ext cx="1397000" cy="307777"/>
          </a:xfrm>
          <a:prstGeom prst="rect">
            <a:avLst/>
          </a:prstGeom>
          <a:noFill/>
        </p:spPr>
        <p:txBody>
          <a:bodyPr vert="horz" wrap="square" lIns="25400" rIns="25400" rtlCol="0">
            <a:spAutoFit/>
          </a:bodyPr>
          <a:lstStyle/>
          <a:p>
            <a:r>
              <a:rPr lang="en-US" sz="1400" b="1">
                <a:solidFill>
                  <a:srgbClr val="B8C6DE"/>
                </a:solidFill>
                <a:latin typeface="Calibri" panose="020F0502020204030204" pitchFamily="34" charset="0"/>
              </a:rPr>
              <a:t>OF 6</a:t>
            </a:r>
          </a:p>
        </p:txBody>
      </p:sp>
      <p:sp>
        <p:nvSpPr>
          <p:cNvPr id="9" name="TextBox 8">
            <a:extLst>
              <a:ext uri="{FF2B5EF4-FFF2-40B4-BE49-F238E27FC236}">
                <a16:creationId xmlns:a16="http://schemas.microsoft.com/office/drawing/2014/main" id="{0F1D0623-A1F4-388F-82C4-F66F663364BB}"/>
              </a:ext>
            </a:extLst>
          </p:cNvPr>
          <p:cNvSpPr txBox="1"/>
          <p:nvPr/>
        </p:nvSpPr>
        <p:spPr>
          <a:xfrm>
            <a:off x="2413000" y="1778000"/>
            <a:ext cx="9169400" cy="461665"/>
          </a:xfrm>
          <a:prstGeom prst="rect">
            <a:avLst/>
          </a:prstGeom>
          <a:noFill/>
        </p:spPr>
        <p:txBody>
          <a:bodyPr vert="horz" wrap="square" lIns="25400" rIns="25400" rtlCol="0">
            <a:spAutoFit/>
          </a:bodyPr>
          <a:lstStyle/>
          <a:p>
            <a:r>
              <a:rPr lang="en-US" sz="2400" b="1">
                <a:solidFill>
                  <a:srgbClr val="F1F5FB"/>
                </a:solidFill>
                <a:latin typeface="Calibri" panose="020F0502020204030204" pitchFamily="34" charset="0"/>
              </a:rPr>
              <a:t>What does the evidence cost, and how do we keep the view useful?</a:t>
            </a:r>
          </a:p>
        </p:txBody>
      </p:sp>
      <p:sp>
        <p:nvSpPr>
          <p:cNvPr id="10" name="TextBox 9">
            <a:extLst>
              <a:ext uri="{FF2B5EF4-FFF2-40B4-BE49-F238E27FC236}">
                <a16:creationId xmlns:a16="http://schemas.microsoft.com/office/drawing/2014/main" id="{D2D158E5-627F-EB73-26BF-D02430E63FBD}"/>
              </a:ext>
            </a:extLst>
          </p:cNvPr>
          <p:cNvSpPr txBox="1"/>
          <p:nvPr/>
        </p:nvSpPr>
        <p:spPr>
          <a:xfrm>
            <a:off x="2413000" y="2819400"/>
            <a:ext cx="3810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WHAT IT COVERS</a:t>
            </a:r>
          </a:p>
        </p:txBody>
      </p:sp>
      <p:sp>
        <p:nvSpPr>
          <p:cNvPr id="11" name="TextBox 10">
            <a:extLst>
              <a:ext uri="{FF2B5EF4-FFF2-40B4-BE49-F238E27FC236}">
                <a16:creationId xmlns:a16="http://schemas.microsoft.com/office/drawing/2014/main" id="{C7CE7DDF-D16A-971F-25A0-9AF0851079C6}"/>
              </a:ext>
            </a:extLst>
          </p:cNvPr>
          <p:cNvSpPr txBox="1"/>
          <p:nvPr/>
        </p:nvSpPr>
        <p:spPr>
          <a:xfrm>
            <a:off x="2413000" y="3048000"/>
            <a:ext cx="9169400" cy="523220"/>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Coverage, volume and retention trade-offs with real lab numbers; the freshness-and-cost demo; the operating cycle, including collecting the same thing twice.</a:t>
            </a:r>
          </a:p>
        </p:txBody>
      </p:sp>
      <p:sp>
        <p:nvSpPr>
          <p:cNvPr id="12" name="TextBox 11">
            <a:extLst>
              <a:ext uri="{FF2B5EF4-FFF2-40B4-BE49-F238E27FC236}">
                <a16:creationId xmlns:a16="http://schemas.microsoft.com/office/drawing/2014/main" id="{3FEC7D18-A57E-BACB-2832-E59C836229B1}"/>
              </a:ext>
            </a:extLst>
          </p:cNvPr>
          <p:cNvSpPr txBox="1"/>
          <p:nvPr/>
        </p:nvSpPr>
        <p:spPr>
          <a:xfrm>
            <a:off x="2413000" y="3733800"/>
            <a:ext cx="38100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WHY IT'S HERE</a:t>
            </a:r>
          </a:p>
        </p:txBody>
      </p:sp>
      <p:sp>
        <p:nvSpPr>
          <p:cNvPr id="13" name="TextBox 12">
            <a:extLst>
              <a:ext uri="{FF2B5EF4-FFF2-40B4-BE49-F238E27FC236}">
                <a16:creationId xmlns:a16="http://schemas.microsoft.com/office/drawing/2014/main" id="{216D55B0-78DD-1FA1-CC5B-F3645E09D000}"/>
              </a:ext>
            </a:extLst>
          </p:cNvPr>
          <p:cNvSpPr txBox="1"/>
          <p:nvPr/>
        </p:nvSpPr>
        <p:spPr>
          <a:xfrm>
            <a:off x="2413000" y="3962400"/>
            <a:ext cx="9169400" cy="307777"/>
          </a:xfrm>
          <a:prstGeom prst="rect">
            <a:avLst/>
          </a:prstGeom>
          <a:noFill/>
        </p:spPr>
        <p:txBody>
          <a:bodyPr vert="horz" wrap="square" lIns="25400" rIns="25400" rtlCol="0">
            <a:spAutoFit/>
          </a:bodyPr>
          <a:lstStyle/>
          <a:p>
            <a:r>
              <a:rPr lang="en-US" sz="1400">
                <a:solidFill>
                  <a:srgbClr val="F1F5FB"/>
                </a:solidFill>
                <a:latin typeface="Calibri" panose="020F0502020204030204" pitchFamily="34" charset="0"/>
              </a:rPr>
              <a:t>Observability nobody can afford or maintain decays; every signal needs a question and an owner.</a:t>
            </a:r>
          </a:p>
        </p:txBody>
      </p:sp>
      <p:sp>
        <p:nvSpPr>
          <p:cNvPr id="14" name="TextBox 13">
            <a:extLst>
              <a:ext uri="{FF2B5EF4-FFF2-40B4-BE49-F238E27FC236}">
                <a16:creationId xmlns:a16="http://schemas.microsoft.com/office/drawing/2014/main" id="{F48F0703-1D56-680C-2B62-8379771D5AA8}"/>
              </a:ext>
            </a:extLst>
          </p:cNvPr>
          <p:cNvSpPr txBox="1"/>
          <p:nvPr/>
        </p:nvSpPr>
        <p:spPr>
          <a:xfrm>
            <a:off x="2413000" y="4470400"/>
            <a:ext cx="3810000" cy="276999"/>
          </a:xfrm>
          <a:prstGeom prst="rect">
            <a:avLst/>
          </a:prstGeom>
          <a:noFill/>
        </p:spPr>
        <p:txBody>
          <a:bodyPr vert="horz" wrap="square" lIns="25400" rIns="25400" rtlCol="0">
            <a:spAutoFit/>
          </a:bodyPr>
          <a:lstStyle/>
          <a:p>
            <a:r>
              <a:rPr lang="en-US" sz="1200" b="1">
                <a:solidFill>
                  <a:srgbClr val="6EE7B7"/>
                </a:solidFill>
                <a:latin typeface="Calibri" panose="020F0502020204030204" pitchFamily="34" charset="0"/>
              </a:rPr>
              <a:t>PART OF OBSERVABILITY</a:t>
            </a:r>
          </a:p>
        </p:txBody>
      </p:sp>
      <p:sp>
        <p:nvSpPr>
          <p:cNvPr id="15" name="TextBox 14">
            <a:extLst>
              <a:ext uri="{FF2B5EF4-FFF2-40B4-BE49-F238E27FC236}">
                <a16:creationId xmlns:a16="http://schemas.microsoft.com/office/drawing/2014/main" id="{E099582D-F46E-E299-AD35-FA6BF65CE65C}"/>
              </a:ext>
            </a:extLst>
          </p:cNvPr>
          <p:cNvSpPr txBox="1"/>
          <p:nvPr/>
        </p:nvSpPr>
        <p:spPr>
          <a:xfrm>
            <a:off x="2413000" y="4699000"/>
            <a:ext cx="9169400" cy="323165"/>
          </a:xfrm>
          <a:prstGeom prst="rect">
            <a:avLst/>
          </a:prstGeom>
          <a:noFill/>
        </p:spPr>
        <p:txBody>
          <a:bodyPr vert="horz" wrap="square" lIns="25400" rIns="25400" rtlCol="0">
            <a:spAutoFit/>
          </a:bodyPr>
          <a:lstStyle/>
          <a:p>
            <a:r>
              <a:rPr lang="en-US" sz="1500" b="1">
                <a:solidFill>
                  <a:srgbClr val="F1F5FB"/>
                </a:solidFill>
                <a:latin typeface="Calibri" panose="020F0502020204030204" pitchFamily="34" charset="0"/>
              </a:rPr>
              <a:t>keeping it true over time</a:t>
            </a:r>
          </a:p>
        </p:txBody>
      </p:sp>
      <p:sp>
        <p:nvSpPr>
          <p:cNvPr id="16" name="Rectangle: Rounded Corners 15">
            <a:extLst>
              <a:ext uri="{FF2B5EF4-FFF2-40B4-BE49-F238E27FC236}">
                <a16:creationId xmlns:a16="http://schemas.microsoft.com/office/drawing/2014/main" id="{DB9806A2-0465-8DC1-9B0E-6B591D9FFFE4}"/>
              </a:ext>
            </a:extLst>
          </p:cNvPr>
          <p:cNvSpPr/>
          <p:nvPr/>
        </p:nvSpPr>
        <p:spPr>
          <a:xfrm>
            <a:off x="609600" y="5334000"/>
            <a:ext cx="1752600" cy="5080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Define the service</a:t>
            </a:r>
          </a:p>
        </p:txBody>
      </p:sp>
      <p:sp>
        <p:nvSpPr>
          <p:cNvPr id="17" name="Rectangle: Rounded Corners 16">
            <a:extLst>
              <a:ext uri="{FF2B5EF4-FFF2-40B4-BE49-F238E27FC236}">
                <a16:creationId xmlns:a16="http://schemas.microsoft.com/office/drawing/2014/main" id="{49BAEF1F-2DEF-DEE1-BE8D-CF6A2115767B}"/>
              </a:ext>
            </a:extLst>
          </p:cNvPr>
          <p:cNvSpPr/>
          <p:nvPr/>
        </p:nvSpPr>
        <p:spPr>
          <a:xfrm>
            <a:off x="2463800" y="5334000"/>
            <a:ext cx="1752600" cy="5080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See every part</a:t>
            </a:r>
          </a:p>
        </p:txBody>
      </p:sp>
      <p:sp>
        <p:nvSpPr>
          <p:cNvPr id="18" name="Rectangle: Rounded Corners 17">
            <a:extLst>
              <a:ext uri="{FF2B5EF4-FFF2-40B4-BE49-F238E27FC236}">
                <a16:creationId xmlns:a16="http://schemas.microsoft.com/office/drawing/2014/main" id="{57FFB79E-2397-7980-F0C2-268D3AD82AFD}"/>
              </a:ext>
            </a:extLst>
          </p:cNvPr>
          <p:cNvSpPr/>
          <p:nvPr/>
        </p:nvSpPr>
        <p:spPr>
          <a:xfrm>
            <a:off x="4318000" y="5334000"/>
            <a:ext cx="1752600" cy="5080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When an order fails</a:t>
            </a:r>
          </a:p>
        </p:txBody>
      </p:sp>
      <p:sp>
        <p:nvSpPr>
          <p:cNvPr id="19" name="Rectangle: Rounded Corners 18">
            <a:extLst>
              <a:ext uri="{FF2B5EF4-FFF2-40B4-BE49-F238E27FC236}">
                <a16:creationId xmlns:a16="http://schemas.microsoft.com/office/drawing/2014/main" id="{6A41564D-B400-66E8-8635-EC7C441F1F41}"/>
              </a:ext>
            </a:extLst>
          </p:cNvPr>
          <p:cNvSpPr/>
          <p:nvPr/>
        </p:nvSpPr>
        <p:spPr>
          <a:xfrm>
            <a:off x="6172200" y="5334000"/>
            <a:ext cx="1752600" cy="5080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Model health</a:t>
            </a:r>
          </a:p>
        </p:txBody>
      </p:sp>
      <p:sp>
        <p:nvSpPr>
          <p:cNvPr id="20" name="Rectangle: Rounded Corners 19">
            <a:extLst>
              <a:ext uri="{FF2B5EF4-FFF2-40B4-BE49-F238E27FC236}">
                <a16:creationId xmlns:a16="http://schemas.microsoft.com/office/drawing/2014/main" id="{C5D3D42C-57CC-57F0-3DA3-D7B401755A50}"/>
              </a:ext>
            </a:extLst>
          </p:cNvPr>
          <p:cNvSpPr/>
          <p:nvPr/>
        </p:nvSpPr>
        <p:spPr>
          <a:xfrm>
            <a:off x="8026400" y="5334000"/>
            <a:ext cx="1752600" cy="5080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B8C6DE"/>
                </a:solidFill>
                <a:latin typeface="Calibri" panose="020F0502020204030204" pitchFamily="34" charset="0"/>
              </a:rPr>
              <a:t>Respond + recover</a:t>
            </a:r>
          </a:p>
        </p:txBody>
      </p:sp>
      <p:sp>
        <p:nvSpPr>
          <p:cNvPr id="21" name="Rectangle: Rounded Corners 20">
            <a:extLst>
              <a:ext uri="{FF2B5EF4-FFF2-40B4-BE49-F238E27FC236}">
                <a16:creationId xmlns:a16="http://schemas.microsoft.com/office/drawing/2014/main" id="{319E6676-0387-2D86-F8C8-1D372AEF1948}"/>
              </a:ext>
            </a:extLst>
          </p:cNvPr>
          <p:cNvSpPr/>
          <p:nvPr/>
        </p:nvSpPr>
        <p:spPr>
          <a:xfrm>
            <a:off x="9880600" y="5334000"/>
            <a:ext cx="1752600" cy="508000"/>
          </a:xfrm>
          <a:prstGeom prst="roundRect">
            <a:avLst/>
          </a:prstGeom>
          <a:solidFill>
            <a:srgbClr val="BEF264"/>
          </a:solidFill>
          <a:ln w="15875">
            <a:solidFill>
              <a:srgbClr val="BEF264"/>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b="1">
                <a:solidFill>
                  <a:srgbClr val="0F172A"/>
                </a:solidFill>
                <a:latin typeface="Calibri" panose="020F0502020204030204" pitchFamily="34" charset="0"/>
              </a:rPr>
              <a:t>Affordable + useful</a:t>
            </a:r>
          </a:p>
        </p:txBody>
      </p:sp>
      <p:pic>
        <p:nvPicPr>
          <p:cNvPr id="23" name="SponsorBar" descr="CAS 2026 sponsors and #CloudAISummit2026">
            <a:extLst>
              <a:ext uri="{FF2B5EF4-FFF2-40B4-BE49-F238E27FC236}">
                <a16:creationId xmlns:a16="http://schemas.microsoft.com/office/drawing/2014/main" id="{04A2A489-F7BF-F8EE-1B37-1B30D0B727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3198078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B53B32D-11DC-4964-188E-C2AEA5E7DC19}"/>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08608FE-8872-9911-220B-E5BE4821B23C}"/>
              </a:ext>
            </a:extLst>
          </p:cNvPr>
          <p:cNvSpPr/>
          <p:nvPr/>
        </p:nvSpPr>
        <p:spPr>
          <a:xfrm>
            <a:off x="0" y="1549400"/>
            <a:ext cx="12192000" cy="50800"/>
          </a:xfrm>
          <a:prstGeom prst="rect">
            <a:avLst/>
          </a:prstGeom>
          <a:solidFill>
            <a:srgbClr val="BEF26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ACDF0CC-A641-5371-B591-AFA3C6250F75}"/>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Evidence trade-offs</a:t>
            </a:r>
          </a:p>
        </p:txBody>
      </p:sp>
      <p:sp>
        <p:nvSpPr>
          <p:cNvPr id="5" name="Rectangle 4">
            <a:extLst>
              <a:ext uri="{FF2B5EF4-FFF2-40B4-BE49-F238E27FC236}">
                <a16:creationId xmlns:a16="http://schemas.microsoft.com/office/drawing/2014/main" id="{A7B5CB74-2665-C6FC-4341-9B707F4AC6F8}"/>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3C28D718-9EFD-7BBF-621E-0700A9F7825D}"/>
              </a:ext>
            </a:extLst>
          </p:cNvPr>
          <p:cNvSpPr/>
          <p:nvPr/>
        </p:nvSpPr>
        <p:spPr>
          <a:xfrm>
            <a:off x="9042400" y="330200"/>
            <a:ext cx="2540000" cy="330200"/>
          </a:xfrm>
          <a:prstGeom prst="roundRect">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6 · AFFORDABLE + USEFUL</a:t>
            </a:r>
          </a:p>
        </p:txBody>
      </p:sp>
      <p:sp>
        <p:nvSpPr>
          <p:cNvPr id="7" name="Rectangle: Rounded Corners 6">
            <a:extLst>
              <a:ext uri="{FF2B5EF4-FFF2-40B4-BE49-F238E27FC236}">
                <a16:creationId xmlns:a16="http://schemas.microsoft.com/office/drawing/2014/main" id="{1AD91B7A-8941-0F72-23CA-A984E3DA2885}"/>
              </a:ext>
            </a:extLst>
          </p:cNvPr>
          <p:cNvSpPr/>
          <p:nvPr/>
        </p:nvSpPr>
        <p:spPr>
          <a:xfrm>
            <a:off x="4826000" y="1727200"/>
            <a:ext cx="2540000" cy="7620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COVERAGE
questions we can answer</a:t>
            </a:r>
          </a:p>
        </p:txBody>
      </p:sp>
      <p:sp>
        <p:nvSpPr>
          <p:cNvPr id="8" name="Rectangle: Rounded Corners 7">
            <a:extLst>
              <a:ext uri="{FF2B5EF4-FFF2-40B4-BE49-F238E27FC236}">
                <a16:creationId xmlns:a16="http://schemas.microsoft.com/office/drawing/2014/main" id="{74B5A0BA-90EC-8B10-7FC6-B9E3EFDCB77E}"/>
              </a:ext>
            </a:extLst>
          </p:cNvPr>
          <p:cNvSpPr/>
          <p:nvPr/>
        </p:nvSpPr>
        <p:spPr>
          <a:xfrm>
            <a:off x="2159000" y="3378200"/>
            <a:ext cx="25400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VOLUME + COST</a:t>
            </a:r>
          </a:p>
        </p:txBody>
      </p:sp>
      <p:sp>
        <p:nvSpPr>
          <p:cNvPr id="9" name="Rectangle: Rounded Corners 8">
            <a:extLst>
              <a:ext uri="{FF2B5EF4-FFF2-40B4-BE49-F238E27FC236}">
                <a16:creationId xmlns:a16="http://schemas.microsoft.com/office/drawing/2014/main" id="{240299EF-323C-2A08-588A-9E626669E439}"/>
              </a:ext>
            </a:extLst>
          </p:cNvPr>
          <p:cNvSpPr/>
          <p:nvPr/>
        </p:nvSpPr>
        <p:spPr>
          <a:xfrm>
            <a:off x="7493000" y="3378200"/>
            <a:ext cx="2540000" cy="711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RETENTION
how far back</a:t>
            </a:r>
          </a:p>
        </p:txBody>
      </p:sp>
      <p:cxnSp>
        <p:nvCxnSpPr>
          <p:cNvPr id="10" name="Straight Arrow Connector 9">
            <a:extLst>
              <a:ext uri="{FF2B5EF4-FFF2-40B4-BE49-F238E27FC236}">
                <a16:creationId xmlns:a16="http://schemas.microsoft.com/office/drawing/2014/main" id="{DE4C6A01-5420-158E-B841-24A4DC248409}"/>
              </a:ext>
            </a:extLst>
          </p:cNvPr>
          <p:cNvCxnSpPr/>
          <p:nvPr/>
        </p:nvCxnSpPr>
        <p:spPr>
          <a:xfrm flipH="1">
            <a:off x="3810000" y="2489200"/>
            <a:ext cx="1524000" cy="889000"/>
          </a:xfrm>
          <a:prstGeom prst="straightConnector1">
            <a:avLst/>
          </a:prstGeom>
          <a:ln w="28575">
            <a:solidFill>
              <a:srgbClr val="FACC15"/>
            </a:solidFill>
            <a:tailEnd type="arrow"/>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CAFA6AF6-1AB0-5659-3C1C-EC4BFE0BEF03}"/>
              </a:ext>
            </a:extLst>
          </p:cNvPr>
          <p:cNvCxnSpPr/>
          <p:nvPr/>
        </p:nvCxnSpPr>
        <p:spPr>
          <a:xfrm>
            <a:off x="6858000" y="2489200"/>
            <a:ext cx="1524000" cy="889000"/>
          </a:xfrm>
          <a:prstGeom prst="straightConnector1">
            <a:avLst/>
          </a:prstGeom>
          <a:ln w="28575">
            <a:solidFill>
              <a:srgbClr val="6EE7B7"/>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BFC24EB3-D073-C322-A7B5-AE05139573D0}"/>
              </a:ext>
            </a:extLst>
          </p:cNvPr>
          <p:cNvCxnSpPr/>
          <p:nvPr/>
        </p:nvCxnSpPr>
        <p:spPr>
          <a:xfrm>
            <a:off x="4699000" y="3733800"/>
            <a:ext cx="27940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4B2C9D6C-D4B4-88D5-5EB3-3866990FA068}"/>
              </a:ext>
            </a:extLst>
          </p:cNvPr>
          <p:cNvSpPr txBox="1"/>
          <p:nvPr/>
        </p:nvSpPr>
        <p:spPr>
          <a:xfrm>
            <a:off x="5753100" y="3606800"/>
            <a:ext cx="685800" cy="194925"/>
          </a:xfrm>
          <a:prstGeom prst="rect">
            <a:avLst/>
          </a:prstGeom>
          <a:solidFill>
            <a:srgbClr val="172554"/>
          </a:solidFill>
        </p:spPr>
        <p:txBody>
          <a:bodyPr vert="horz" wrap="square" lIns="25400" tIns="12700" rIns="25400" bIns="12700" rtlCol="0">
            <a:spAutoFit/>
          </a:bodyPr>
          <a:lstStyle/>
          <a:p>
            <a:pPr algn="ctr"/>
            <a:r>
              <a:rPr lang="en-US" sz="1100" b="1">
                <a:solidFill>
                  <a:srgbClr val="7DD3FC"/>
                </a:solidFill>
                <a:latin typeface="Calibri" panose="020F0502020204030204" pitchFamily="34" charset="0"/>
              </a:rPr>
              <a:t>balance</a:t>
            </a:r>
          </a:p>
        </p:txBody>
      </p:sp>
      <p:sp>
        <p:nvSpPr>
          <p:cNvPr id="14" name="Rectangle: Rounded Corners 13">
            <a:extLst>
              <a:ext uri="{FF2B5EF4-FFF2-40B4-BE49-F238E27FC236}">
                <a16:creationId xmlns:a16="http://schemas.microsoft.com/office/drawing/2014/main" id="{A593B019-DA40-C9B1-0BCE-70600EFEAD1C}"/>
              </a:ext>
            </a:extLst>
          </p:cNvPr>
          <p:cNvSpPr/>
          <p:nvPr/>
        </p:nvSpPr>
        <p:spPr>
          <a:xfrm>
            <a:off x="762000" y="4368800"/>
            <a:ext cx="10668000" cy="8382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Meters to name: Log Analytics ingestion per GB by table plan (Analytics, Basic, Auxiliary) · retention beyond the included period · Azure Monitor workspace samples ingested and queried · alert rules and time series monitored</a:t>
            </a:r>
          </a:p>
        </p:txBody>
      </p:sp>
      <p:sp>
        <p:nvSpPr>
          <p:cNvPr id="15" name="TextBox 14">
            <a:extLst>
              <a:ext uri="{FF2B5EF4-FFF2-40B4-BE49-F238E27FC236}">
                <a16:creationId xmlns:a16="http://schemas.microsoft.com/office/drawing/2014/main" id="{4EFA8B52-D054-CD21-42A4-8E98F1C3468A}"/>
              </a:ext>
            </a:extLst>
          </p:cNvPr>
          <p:cNvSpPr txBox="1"/>
          <p:nvPr/>
        </p:nvSpPr>
        <p:spPr>
          <a:xfrm>
            <a:off x="762000" y="5308600"/>
            <a:ext cx="10668000" cy="292388"/>
          </a:xfrm>
          <a:prstGeom prst="rect">
            <a:avLst/>
          </a:prstGeom>
          <a:noFill/>
        </p:spPr>
        <p:txBody>
          <a:bodyPr vert="horz" wrap="square" lIns="25400" rIns="25400" rtlCol="0">
            <a:spAutoFit/>
          </a:bodyPr>
          <a:lstStyle/>
          <a:p>
            <a:r>
              <a:rPr lang="en-US" sz="1300" b="1">
                <a:solidFill>
                  <a:srgbClr val="FACC15"/>
                </a:solidFill>
                <a:latin typeface="Calibri" panose="020F0502020204030204" pitchFamily="34" charset="0"/>
              </a:rPr>
              <a:t>This lab, whole estate, 7 days: 8.1 GB billable (Perf 1.41, AppTraces 1.25, ContainerInventory 1.21 GB). Order stage records: 0.011 GB.</a:t>
            </a:r>
          </a:p>
        </p:txBody>
      </p:sp>
      <p:sp>
        <p:nvSpPr>
          <p:cNvPr id="16" name="Rectangle 15">
            <a:extLst>
              <a:ext uri="{FF2B5EF4-FFF2-40B4-BE49-F238E27FC236}">
                <a16:creationId xmlns:a16="http://schemas.microsoft.com/office/drawing/2014/main" id="{2E267CE5-A4C1-6B84-5544-6ECC2834FC99}"/>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6E2112CB-5734-7CDF-81DC-A749C1BB52A1}"/>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Decision record: signal → question → owner → grain → retention → meter → accepted blind spot.</a:t>
            </a:r>
          </a:p>
        </p:txBody>
      </p:sp>
      <p:pic>
        <p:nvPicPr>
          <p:cNvPr id="19" name="SponsorBar" descr="CAS 2026 sponsors and #CloudAISummit2026">
            <a:extLst>
              <a:ext uri="{FF2B5EF4-FFF2-40B4-BE49-F238E27FC236}">
                <a16:creationId xmlns:a16="http://schemas.microsoft.com/office/drawing/2014/main" id="{61C27F60-7D85-E0F4-2834-70DF9ED004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7765889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BF3803-B914-6AD9-1256-55F359368DCA}"/>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DF75475-3A2B-CEA6-111A-AB6BD90C140B}"/>
              </a:ext>
            </a:extLst>
          </p:cNvPr>
          <p:cNvSpPr/>
          <p:nvPr/>
        </p:nvSpPr>
        <p:spPr>
          <a:xfrm>
            <a:off x="0" y="1549400"/>
            <a:ext cx="12192000" cy="50800"/>
          </a:xfrm>
          <a:prstGeom prst="rect">
            <a:avLst/>
          </a:prstGeom>
          <a:solidFill>
            <a:srgbClr val="BEF26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59DD541-2D9D-E332-E501-F548B0BAB0FE}"/>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Keeping it useful</a:t>
            </a:r>
          </a:p>
        </p:txBody>
      </p:sp>
      <p:sp>
        <p:nvSpPr>
          <p:cNvPr id="5" name="Rectangle 4">
            <a:extLst>
              <a:ext uri="{FF2B5EF4-FFF2-40B4-BE49-F238E27FC236}">
                <a16:creationId xmlns:a16="http://schemas.microsoft.com/office/drawing/2014/main" id="{6AC82061-10B0-504E-48F2-D26B8A81BA75}"/>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677145D0-2F97-A8D7-0CF8-6E01C8F8495A}"/>
              </a:ext>
            </a:extLst>
          </p:cNvPr>
          <p:cNvSpPr/>
          <p:nvPr/>
        </p:nvSpPr>
        <p:spPr>
          <a:xfrm>
            <a:off x="9042400" y="330200"/>
            <a:ext cx="2540000" cy="330200"/>
          </a:xfrm>
          <a:prstGeom prst="roundRect">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6 · AFFORDABLE + USEFUL</a:t>
            </a:r>
          </a:p>
        </p:txBody>
      </p:sp>
      <p:sp>
        <p:nvSpPr>
          <p:cNvPr id="7" name="Rectangle: Rounded Corners 6">
            <a:extLst>
              <a:ext uri="{FF2B5EF4-FFF2-40B4-BE49-F238E27FC236}">
                <a16:creationId xmlns:a16="http://schemas.microsoft.com/office/drawing/2014/main" id="{C09E3A2D-D782-938F-CD4E-CC44EB369035}"/>
              </a:ext>
            </a:extLst>
          </p:cNvPr>
          <p:cNvSpPr/>
          <p:nvPr/>
        </p:nvSpPr>
        <p:spPr>
          <a:xfrm>
            <a:off x="609600" y="2286000"/>
            <a:ext cx="1930400" cy="1066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INVENTORY
expected sources</a:t>
            </a:r>
          </a:p>
        </p:txBody>
      </p:sp>
      <p:cxnSp>
        <p:nvCxnSpPr>
          <p:cNvPr id="8" name="Straight Arrow Connector 7">
            <a:extLst>
              <a:ext uri="{FF2B5EF4-FFF2-40B4-BE49-F238E27FC236}">
                <a16:creationId xmlns:a16="http://schemas.microsoft.com/office/drawing/2014/main" id="{522D7835-496B-F286-7A36-438EC5E564B6}"/>
              </a:ext>
            </a:extLst>
          </p:cNvPr>
          <p:cNvCxnSpPr/>
          <p:nvPr/>
        </p:nvCxnSpPr>
        <p:spPr>
          <a:xfrm>
            <a:off x="2540000" y="28194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9" name="Rectangle: Rounded Corners 8">
            <a:extLst>
              <a:ext uri="{FF2B5EF4-FFF2-40B4-BE49-F238E27FC236}">
                <a16:creationId xmlns:a16="http://schemas.microsoft.com/office/drawing/2014/main" id="{6DAB91A8-6C06-CE8D-CC78-2D9157946040}"/>
              </a:ext>
            </a:extLst>
          </p:cNvPr>
          <p:cNvSpPr/>
          <p:nvPr/>
        </p:nvSpPr>
        <p:spPr>
          <a:xfrm>
            <a:off x="2844800" y="2286000"/>
            <a:ext cx="1930400" cy="1066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MEASURE
volume + freshness</a:t>
            </a:r>
          </a:p>
        </p:txBody>
      </p:sp>
      <p:cxnSp>
        <p:nvCxnSpPr>
          <p:cNvPr id="10" name="Straight Arrow Connector 9">
            <a:extLst>
              <a:ext uri="{FF2B5EF4-FFF2-40B4-BE49-F238E27FC236}">
                <a16:creationId xmlns:a16="http://schemas.microsoft.com/office/drawing/2014/main" id="{F26C4B1E-B741-F4E5-1DC9-4247E532D248}"/>
              </a:ext>
            </a:extLst>
          </p:cNvPr>
          <p:cNvCxnSpPr/>
          <p:nvPr/>
        </p:nvCxnSpPr>
        <p:spPr>
          <a:xfrm>
            <a:off x="4775200" y="28194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1" name="Rectangle: Rounded Corners 10">
            <a:extLst>
              <a:ext uri="{FF2B5EF4-FFF2-40B4-BE49-F238E27FC236}">
                <a16:creationId xmlns:a16="http://schemas.microsoft.com/office/drawing/2014/main" id="{AF1D1464-447A-01C5-8D44-097246E76823}"/>
              </a:ext>
            </a:extLst>
          </p:cNvPr>
          <p:cNvSpPr/>
          <p:nvPr/>
        </p:nvSpPr>
        <p:spPr>
          <a:xfrm>
            <a:off x="5080000" y="2286000"/>
            <a:ext cx="1930400" cy="10668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TUNE
signal · window · route</a:t>
            </a:r>
          </a:p>
        </p:txBody>
      </p:sp>
      <p:cxnSp>
        <p:nvCxnSpPr>
          <p:cNvPr id="12" name="Straight Arrow Connector 11">
            <a:extLst>
              <a:ext uri="{FF2B5EF4-FFF2-40B4-BE49-F238E27FC236}">
                <a16:creationId xmlns:a16="http://schemas.microsoft.com/office/drawing/2014/main" id="{7D334FE2-E7DC-F099-B10B-3EF560DD375B}"/>
              </a:ext>
            </a:extLst>
          </p:cNvPr>
          <p:cNvCxnSpPr/>
          <p:nvPr/>
        </p:nvCxnSpPr>
        <p:spPr>
          <a:xfrm>
            <a:off x="7010400" y="28194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FE092601-5694-2EC8-9216-DD098FA4D073}"/>
              </a:ext>
            </a:extLst>
          </p:cNvPr>
          <p:cNvSpPr/>
          <p:nvPr/>
        </p:nvSpPr>
        <p:spPr>
          <a:xfrm>
            <a:off x="7315200" y="2286000"/>
            <a:ext cx="1930400" cy="1066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REVIEW
noise + missed impact</a:t>
            </a:r>
          </a:p>
        </p:txBody>
      </p:sp>
      <p:cxnSp>
        <p:nvCxnSpPr>
          <p:cNvPr id="14" name="Straight Arrow Connector 13">
            <a:extLst>
              <a:ext uri="{FF2B5EF4-FFF2-40B4-BE49-F238E27FC236}">
                <a16:creationId xmlns:a16="http://schemas.microsoft.com/office/drawing/2014/main" id="{3E23E4DD-AEDB-15BF-27CE-F18555E38688}"/>
              </a:ext>
            </a:extLst>
          </p:cNvPr>
          <p:cNvCxnSpPr/>
          <p:nvPr/>
        </p:nvCxnSpPr>
        <p:spPr>
          <a:xfrm>
            <a:off x="9245600" y="2819400"/>
            <a:ext cx="304800" cy="0"/>
          </a:xfrm>
          <a:prstGeom prst="straightConnector1">
            <a:avLst/>
          </a:prstGeom>
          <a:ln w="28575">
            <a:solidFill>
              <a:srgbClr val="7DD3FC"/>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8E47B1CA-C360-C2DC-8C85-C96E6F798E6B}"/>
              </a:ext>
            </a:extLst>
          </p:cNvPr>
          <p:cNvSpPr/>
          <p:nvPr/>
        </p:nvSpPr>
        <p:spPr>
          <a:xfrm>
            <a:off x="9550400" y="2286000"/>
            <a:ext cx="1930400" cy="1066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OWN
runbook + escalation</a:t>
            </a:r>
          </a:p>
        </p:txBody>
      </p:sp>
      <p:cxnSp>
        <p:nvCxnSpPr>
          <p:cNvPr id="16" name="Straight Arrow Connector 15">
            <a:extLst>
              <a:ext uri="{FF2B5EF4-FFF2-40B4-BE49-F238E27FC236}">
                <a16:creationId xmlns:a16="http://schemas.microsoft.com/office/drawing/2014/main" id="{7A609285-1A8C-CBB1-C0A6-9450E5765265}"/>
              </a:ext>
            </a:extLst>
          </p:cNvPr>
          <p:cNvCxnSpPr/>
          <p:nvPr/>
        </p:nvCxnSpPr>
        <p:spPr>
          <a:xfrm>
            <a:off x="10515600" y="3352800"/>
            <a:ext cx="0" cy="533400"/>
          </a:xfrm>
          <a:prstGeom prst="straightConnector1">
            <a:avLst/>
          </a:prstGeom>
          <a:ln w="28575">
            <a:solidFill>
              <a:srgbClr val="6EE7B7"/>
            </a:solidFill>
            <a:prstDash val="dash"/>
            <a:tailEnd type="none"/>
          </a:ln>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5AEB2C99-1B78-4728-1A43-65EFFBED0DB5}"/>
              </a:ext>
            </a:extLst>
          </p:cNvPr>
          <p:cNvCxnSpPr/>
          <p:nvPr/>
        </p:nvCxnSpPr>
        <p:spPr>
          <a:xfrm flipH="1">
            <a:off x="1574800" y="3886200"/>
            <a:ext cx="8940800" cy="0"/>
          </a:xfrm>
          <a:prstGeom prst="straightConnector1">
            <a:avLst/>
          </a:prstGeom>
          <a:ln w="28575">
            <a:solidFill>
              <a:srgbClr val="6EE7B7"/>
            </a:solidFill>
            <a:prstDash val="dash"/>
            <a:tailEnd type="non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779DD237-A7AB-2E77-406E-DC3EFF2D7497}"/>
              </a:ext>
            </a:extLst>
          </p:cNvPr>
          <p:cNvSpPr txBox="1"/>
          <p:nvPr/>
        </p:nvSpPr>
        <p:spPr>
          <a:xfrm>
            <a:off x="3873500" y="3759200"/>
            <a:ext cx="4343400" cy="194925"/>
          </a:xfrm>
          <a:prstGeom prst="rect">
            <a:avLst/>
          </a:prstGeom>
          <a:solidFill>
            <a:srgbClr val="172554"/>
          </a:solidFill>
        </p:spPr>
        <p:txBody>
          <a:bodyPr vert="horz" wrap="square" lIns="25400" tIns="12700" rIns="25400" bIns="12700" rtlCol="0">
            <a:spAutoFit/>
          </a:bodyPr>
          <a:lstStyle/>
          <a:p>
            <a:pPr algn="ctr"/>
            <a:r>
              <a:rPr lang="en-US" sz="1100" b="1">
                <a:solidFill>
                  <a:srgbClr val="6EE7B7"/>
                </a:solidFill>
                <a:latin typeface="Calibri" panose="020F0502020204030204" pitchFamily="34" charset="0"/>
              </a:rPr>
              <a:t>repeat when architecture, owners or expectations change</a:t>
            </a:r>
          </a:p>
        </p:txBody>
      </p:sp>
      <p:cxnSp>
        <p:nvCxnSpPr>
          <p:cNvPr id="19" name="Straight Arrow Connector 18">
            <a:extLst>
              <a:ext uri="{FF2B5EF4-FFF2-40B4-BE49-F238E27FC236}">
                <a16:creationId xmlns:a16="http://schemas.microsoft.com/office/drawing/2014/main" id="{EB7CCFDF-A4FF-A27B-98A8-5E8E352D942D}"/>
              </a:ext>
            </a:extLst>
          </p:cNvPr>
          <p:cNvCxnSpPr/>
          <p:nvPr/>
        </p:nvCxnSpPr>
        <p:spPr>
          <a:xfrm flipV="1">
            <a:off x="1574800" y="3352800"/>
            <a:ext cx="0" cy="533400"/>
          </a:xfrm>
          <a:prstGeom prst="straightConnector1">
            <a:avLst/>
          </a:prstGeom>
          <a:ln w="28575">
            <a:solidFill>
              <a:srgbClr val="6EE7B7"/>
            </a:solidFill>
            <a:prstDash val="dash"/>
            <a:tailEnd type="arrow"/>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9F8AE362-A8A6-77F1-5C99-387D8E029663}"/>
              </a:ext>
            </a:extLst>
          </p:cNvPr>
          <p:cNvSpPr txBox="1"/>
          <p:nvPr/>
        </p:nvSpPr>
        <p:spPr>
          <a:xfrm>
            <a:off x="609600" y="4165600"/>
            <a:ext cx="109728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The most common waste: one source collected by two overlapping routes into duplicated records, charts and alerts. Inventory routes before adding another.</a:t>
            </a:r>
          </a:p>
        </p:txBody>
      </p:sp>
      <p:sp>
        <p:nvSpPr>
          <p:cNvPr id="21" name="Rectangle: Rounded Corners 20">
            <a:extLst>
              <a:ext uri="{FF2B5EF4-FFF2-40B4-BE49-F238E27FC236}">
                <a16:creationId xmlns:a16="http://schemas.microsoft.com/office/drawing/2014/main" id="{1341DF6F-3A4D-6210-49F5-BA92344DEA6F}"/>
              </a:ext>
            </a:extLst>
          </p:cNvPr>
          <p:cNvSpPr/>
          <p:nvPr/>
        </p:nvSpPr>
        <p:spPr>
          <a:xfrm>
            <a:off x="1397000" y="4546600"/>
            <a:ext cx="9398000" cy="838200"/>
          </a:xfrm>
          <a:prstGeom prst="roundRect">
            <a:avLst/>
          </a:prstGeom>
          <a:solidFill>
            <a:srgbClr val="20326C"/>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400">
                <a:solidFill>
                  <a:srgbClr val="F1F5FB"/>
                </a:solidFill>
                <a:latin typeface="Calibri" panose="020F0502020204030204" pitchFamily="34" charset="0"/>
              </a:rPr>
              <a:t>Retire: alerts nobody acts on · orphaned dashboards · collection with no named question. Resolve: unexplained states. Reassign: stale owners.</a:t>
            </a:r>
          </a:p>
        </p:txBody>
      </p:sp>
      <p:sp>
        <p:nvSpPr>
          <p:cNvPr id="22" name="Rectangle 21">
            <a:extLst>
              <a:ext uri="{FF2B5EF4-FFF2-40B4-BE49-F238E27FC236}">
                <a16:creationId xmlns:a16="http://schemas.microsoft.com/office/drawing/2014/main" id="{E7855AAA-6EA8-2CE1-3278-5F7C9F380C62}"/>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703FCF1-4576-325B-5DAF-F5DC0476DE3C}"/>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Coverage, tuning and ownership are maintenance work.</a:t>
            </a:r>
          </a:p>
        </p:txBody>
      </p:sp>
      <p:pic>
        <p:nvPicPr>
          <p:cNvPr id="25" name="SponsorBar" descr="CAS 2026 sponsors and #CloudAISummit2026">
            <a:extLst>
              <a:ext uri="{FF2B5EF4-FFF2-40B4-BE49-F238E27FC236}">
                <a16:creationId xmlns:a16="http://schemas.microsoft.com/office/drawing/2014/main" id="{4A9FAD51-8D43-DB9D-2575-27D035D561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78714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300"/>
                                        <p:tgtEl>
                                          <p:spTgt spid="1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3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3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3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30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3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300"/>
                                        <p:tgtEl>
                                          <p:spTgt spid="16"/>
                                        </p:tgtEl>
                                      </p:cBhvr>
                                    </p:animEffect>
                                  </p:childTnLst>
                                </p:cTn>
                              </p:par>
                              <p:par>
                                <p:cTn id="45" presetID="10"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3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300"/>
                                        <p:tgtEl>
                                          <p:spTgt spid="18"/>
                                        </p:tgtEl>
                                      </p:cBhvr>
                                    </p:animEffect>
                                  </p:childTnLst>
                                </p:cTn>
                              </p:par>
                              <p:par>
                                <p:cTn id="51" presetID="10"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300"/>
                                        <p:tgtEl>
                                          <p:spTgt spid="1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300"/>
                                        <p:tgtEl>
                                          <p:spTgt spid="20"/>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3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animBg="1"/>
      <p:bldP spid="15" grpId="0" animBg="1"/>
      <p:bldP spid="18" grpId="0" animBg="1"/>
      <p:bldP spid="20" grpId="0"/>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AA8E9B-C643-BBCC-0554-DEF0B3A61106}"/>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B18C9B0-0D39-9BF9-03F0-36A123F27D9D}"/>
              </a:ext>
            </a:extLst>
          </p:cNvPr>
          <p:cNvSpPr/>
          <p:nvPr/>
        </p:nvSpPr>
        <p:spPr>
          <a:xfrm>
            <a:off x="0" y="1549400"/>
            <a:ext cx="12192000" cy="50800"/>
          </a:xfrm>
          <a:prstGeom prst="rect">
            <a:avLst/>
          </a:prstGeom>
          <a:solidFill>
            <a:srgbClr val="BEF26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0D6FC00-1E96-F153-5481-BB88237E2E62}"/>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DEMO: Freshness and cost</a:t>
            </a:r>
          </a:p>
        </p:txBody>
      </p:sp>
      <p:sp>
        <p:nvSpPr>
          <p:cNvPr id="5" name="Rectangle 4">
            <a:extLst>
              <a:ext uri="{FF2B5EF4-FFF2-40B4-BE49-F238E27FC236}">
                <a16:creationId xmlns:a16="http://schemas.microsoft.com/office/drawing/2014/main" id="{7B5401B3-7475-1591-8280-25216E58B080}"/>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ectionTag">
            <a:extLst>
              <a:ext uri="{FF2B5EF4-FFF2-40B4-BE49-F238E27FC236}">
                <a16:creationId xmlns:a16="http://schemas.microsoft.com/office/drawing/2014/main" id="{60AAF736-2E17-9245-C272-2ED26045B536}"/>
              </a:ext>
            </a:extLst>
          </p:cNvPr>
          <p:cNvSpPr/>
          <p:nvPr/>
        </p:nvSpPr>
        <p:spPr>
          <a:xfrm>
            <a:off x="9042400" y="330200"/>
            <a:ext cx="2540000" cy="330200"/>
          </a:xfrm>
          <a:prstGeom prst="roundRect">
            <a:avLst/>
          </a:prstGeom>
          <a:solidFill>
            <a:srgbClr val="BEF26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76200" tIns="0" rIns="76200" bIns="0" rtlCol="0" anchor="ctr"/>
          <a:lstStyle/>
          <a:p>
            <a:pPr algn="ctr"/>
            <a:r>
              <a:rPr lang="en-US" sz="1100" b="1">
                <a:solidFill>
                  <a:srgbClr val="0F172A"/>
                </a:solidFill>
                <a:latin typeface="Calibri" panose="020F0502020204030204" pitchFamily="34" charset="0"/>
              </a:rPr>
              <a:t>6 · AFFORDABLE + USEFUL</a:t>
            </a:r>
          </a:p>
        </p:txBody>
      </p:sp>
      <p:sp>
        <p:nvSpPr>
          <p:cNvPr id="7" name="TextBox 6">
            <a:extLst>
              <a:ext uri="{FF2B5EF4-FFF2-40B4-BE49-F238E27FC236}">
                <a16:creationId xmlns:a16="http://schemas.microsoft.com/office/drawing/2014/main" id="{40B591B5-5891-A90F-1CC4-C683601F370C}"/>
              </a:ext>
            </a:extLst>
          </p:cNvPr>
          <p:cNvSpPr txBox="1"/>
          <p:nvPr/>
        </p:nvSpPr>
        <p:spPr>
          <a:xfrm>
            <a:off x="609600" y="1651000"/>
            <a:ext cx="5207000" cy="276999"/>
          </a:xfrm>
          <a:prstGeom prst="rect">
            <a:avLst/>
          </a:prstGeom>
          <a:noFill/>
        </p:spPr>
        <p:txBody>
          <a:bodyPr vert="horz" wrap="square" lIns="25400" rIns="25400" rtlCol="0">
            <a:spAutoFit/>
          </a:bodyPr>
          <a:lstStyle/>
          <a:p>
            <a:r>
              <a:rPr lang="en-US" sz="1200" b="1">
                <a:solidFill>
                  <a:srgbClr val="7DD3FC"/>
                </a:solidFill>
                <a:latin typeface="Calibri" panose="020F0502020204030204" pitchFamily="34" charset="0"/>
              </a:rPr>
              <a:t>LIVE WALKTHROUGH</a:t>
            </a:r>
          </a:p>
        </p:txBody>
      </p:sp>
      <p:sp>
        <p:nvSpPr>
          <p:cNvPr id="8" name="TextBox 7">
            <a:extLst>
              <a:ext uri="{FF2B5EF4-FFF2-40B4-BE49-F238E27FC236}">
                <a16:creationId xmlns:a16="http://schemas.microsoft.com/office/drawing/2014/main" id="{31141B93-68EB-5BD2-AB82-051A4A935B1D}"/>
              </a:ext>
            </a:extLst>
          </p:cNvPr>
          <p:cNvSpPr txBox="1"/>
          <p:nvPr/>
        </p:nvSpPr>
        <p:spPr>
          <a:xfrm>
            <a:off x="6680200" y="1651000"/>
            <a:ext cx="4902200" cy="276999"/>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WHAT THE RESULT MUST SHOW</a:t>
            </a:r>
          </a:p>
        </p:txBody>
      </p:sp>
      <p:sp>
        <p:nvSpPr>
          <p:cNvPr id="9" name="Rectangle: Rounded Corners 8">
            <a:extLst>
              <a:ext uri="{FF2B5EF4-FFF2-40B4-BE49-F238E27FC236}">
                <a16:creationId xmlns:a16="http://schemas.microsoft.com/office/drawing/2014/main" id="{7DC6B0D2-06A7-FB31-B1B1-E5E1D8B77097}"/>
              </a:ext>
            </a:extLst>
          </p:cNvPr>
          <p:cNvSpPr/>
          <p:nvPr/>
        </p:nvSpPr>
        <p:spPr>
          <a:xfrm>
            <a:off x="609600" y="2209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1</a:t>
            </a:r>
          </a:p>
        </p:txBody>
      </p:sp>
      <p:sp>
        <p:nvSpPr>
          <p:cNvPr id="10" name="TextBox 9">
            <a:extLst>
              <a:ext uri="{FF2B5EF4-FFF2-40B4-BE49-F238E27FC236}">
                <a16:creationId xmlns:a16="http://schemas.microsoft.com/office/drawing/2014/main" id="{CC20B825-00C4-056B-001E-EC3E09102EDF}"/>
              </a:ext>
            </a:extLst>
          </p:cNvPr>
          <p:cNvSpPr txBox="1"/>
          <p:nvPr/>
        </p:nvSpPr>
        <p:spPr>
          <a:xfrm>
            <a:off x="1295400" y="2209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Query the last timestamp per source and stage</a:t>
            </a:r>
          </a:p>
        </p:txBody>
      </p:sp>
      <p:sp>
        <p:nvSpPr>
          <p:cNvPr id="11" name="Rectangle: Rounded Corners 10">
            <a:extLst>
              <a:ext uri="{FF2B5EF4-FFF2-40B4-BE49-F238E27FC236}">
                <a16:creationId xmlns:a16="http://schemas.microsoft.com/office/drawing/2014/main" id="{B2C79470-3129-839E-5CD0-AF5A033AA624}"/>
              </a:ext>
            </a:extLst>
          </p:cNvPr>
          <p:cNvSpPr/>
          <p:nvPr/>
        </p:nvSpPr>
        <p:spPr>
          <a:xfrm>
            <a:off x="609600" y="2971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2</a:t>
            </a:r>
          </a:p>
        </p:txBody>
      </p:sp>
      <p:sp>
        <p:nvSpPr>
          <p:cNvPr id="12" name="TextBox 11">
            <a:extLst>
              <a:ext uri="{FF2B5EF4-FFF2-40B4-BE49-F238E27FC236}">
                <a16:creationId xmlns:a16="http://schemas.microsoft.com/office/drawing/2014/main" id="{E50B6B96-3549-CBDC-610E-BCFCC26F208A}"/>
              </a:ext>
            </a:extLst>
          </p:cNvPr>
          <p:cNvSpPr txBox="1"/>
          <p:nvPr/>
        </p:nvSpPr>
        <p:spPr>
          <a:xfrm>
            <a:off x="1295400" y="2971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Compare with the expected cadence</a:t>
            </a:r>
          </a:p>
        </p:txBody>
      </p:sp>
      <p:sp>
        <p:nvSpPr>
          <p:cNvPr id="13" name="Rectangle: Rounded Corners 12">
            <a:extLst>
              <a:ext uri="{FF2B5EF4-FFF2-40B4-BE49-F238E27FC236}">
                <a16:creationId xmlns:a16="http://schemas.microsoft.com/office/drawing/2014/main" id="{503345B0-3A55-AADC-69C5-84B0E238B809}"/>
              </a:ext>
            </a:extLst>
          </p:cNvPr>
          <p:cNvSpPr/>
          <p:nvPr/>
        </p:nvSpPr>
        <p:spPr>
          <a:xfrm>
            <a:off x="609600" y="3733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3</a:t>
            </a:r>
          </a:p>
        </p:txBody>
      </p:sp>
      <p:sp>
        <p:nvSpPr>
          <p:cNvPr id="14" name="TextBox 13">
            <a:extLst>
              <a:ext uri="{FF2B5EF4-FFF2-40B4-BE49-F238E27FC236}">
                <a16:creationId xmlns:a16="http://schemas.microsoft.com/office/drawing/2014/main" id="{FABB5065-B77C-1852-300A-FF21DC981B77}"/>
              </a:ext>
            </a:extLst>
          </p:cNvPr>
          <p:cNvSpPr txBox="1"/>
          <p:nvPr/>
        </p:nvSpPr>
        <p:spPr>
          <a:xfrm>
            <a:off x="1295400" y="3733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Run billable volume by table</a:t>
            </a:r>
          </a:p>
        </p:txBody>
      </p:sp>
      <p:sp>
        <p:nvSpPr>
          <p:cNvPr id="15" name="Rectangle: Rounded Corners 14">
            <a:extLst>
              <a:ext uri="{FF2B5EF4-FFF2-40B4-BE49-F238E27FC236}">
                <a16:creationId xmlns:a16="http://schemas.microsoft.com/office/drawing/2014/main" id="{AF516F71-4C3A-A8DB-6342-2A43676FE118}"/>
              </a:ext>
            </a:extLst>
          </p:cNvPr>
          <p:cNvSpPr/>
          <p:nvPr/>
        </p:nvSpPr>
        <p:spPr>
          <a:xfrm>
            <a:off x="609600" y="4495800"/>
            <a:ext cx="444500" cy="4445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500" b="1">
                <a:solidFill>
                  <a:srgbClr val="7DD3FC"/>
                </a:solidFill>
                <a:latin typeface="Calibri" panose="020F0502020204030204" pitchFamily="34" charset="0"/>
              </a:rPr>
              <a:t>4</a:t>
            </a:r>
          </a:p>
        </p:txBody>
      </p:sp>
      <p:sp>
        <p:nvSpPr>
          <p:cNvPr id="16" name="TextBox 15">
            <a:extLst>
              <a:ext uri="{FF2B5EF4-FFF2-40B4-BE49-F238E27FC236}">
                <a16:creationId xmlns:a16="http://schemas.microsoft.com/office/drawing/2014/main" id="{66B8EC8E-6324-293C-D9E8-40DF9A7B7077}"/>
              </a:ext>
            </a:extLst>
          </p:cNvPr>
          <p:cNvSpPr txBox="1"/>
          <p:nvPr/>
        </p:nvSpPr>
        <p:spPr>
          <a:xfrm>
            <a:off x="1295400" y="4495800"/>
            <a:ext cx="4826000" cy="338554"/>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Name one reduction and the question it loses</a:t>
            </a:r>
          </a:p>
        </p:txBody>
      </p:sp>
      <p:sp>
        <p:nvSpPr>
          <p:cNvPr id="17" name="Rectangle: Rounded Corners 16">
            <a:extLst>
              <a:ext uri="{FF2B5EF4-FFF2-40B4-BE49-F238E27FC236}">
                <a16:creationId xmlns:a16="http://schemas.microsoft.com/office/drawing/2014/main" id="{0E20128C-CBA5-FAB9-08FE-002A9E567FD0}"/>
              </a:ext>
            </a:extLst>
          </p:cNvPr>
          <p:cNvSpPr/>
          <p:nvPr/>
        </p:nvSpPr>
        <p:spPr>
          <a:xfrm>
            <a:off x="6527800" y="2082800"/>
            <a:ext cx="5054600" cy="3378200"/>
          </a:xfrm>
          <a:prstGeom prst="roundRect">
            <a:avLst/>
          </a:prstGeom>
          <a:solidFill>
            <a:srgbClr val="283C7A"/>
          </a:solidFill>
          <a:ln w="19050">
            <a:solidFill>
              <a:srgbClr val="FACC15"/>
            </a:solidFill>
          </a:ln>
          <a:effectLst>
            <a:outerShdw blurRad="38100" dist="37357" dir="2700000" rotWithShape="0">
              <a:scrgbClr r="0" g="0" b="0">
                <a:alpha val="12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A3F06F0-06A4-EE75-8164-090F12790A86}"/>
              </a:ext>
            </a:extLst>
          </p:cNvPr>
          <p:cNvSpPr txBox="1"/>
          <p:nvPr/>
        </p:nvSpPr>
        <p:spPr>
          <a:xfrm>
            <a:off x="6781800" y="2540000"/>
            <a:ext cx="4521200" cy="1477328"/>
          </a:xfrm>
          <a:prstGeom prst="rect">
            <a:avLst/>
          </a:prstGeom>
          <a:noFill/>
        </p:spPr>
        <p:txBody>
          <a:bodyPr vert="horz" wrap="square" lIns="25400" rIns="25400" rtlCol="0">
            <a:spAutoFit/>
          </a:bodyPr>
          <a:lstStyle/>
          <a:p>
            <a:r>
              <a:rPr lang="en-US">
                <a:solidFill>
                  <a:srgbClr val="F1F5FB"/>
                </a:solidFill>
                <a:latin typeface="Calibri" panose="020F0502020204030204" pitchFamily="34" charset="0"/>
              </a:rPr>
              <a:t>Freshness per source
Volume by table, priced at current rates
One decision recorded</a:t>
            </a:r>
          </a:p>
        </p:txBody>
      </p:sp>
      <p:sp>
        <p:nvSpPr>
          <p:cNvPr id="19" name="Rectangle 18">
            <a:extLst>
              <a:ext uri="{FF2B5EF4-FFF2-40B4-BE49-F238E27FC236}">
                <a16:creationId xmlns:a16="http://schemas.microsoft.com/office/drawing/2014/main" id="{8CA033B0-6C1F-E8A9-F1EB-1884628E6BC7}"/>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0E88928-3C6C-7C73-443B-307F34803FC7}"/>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Runbook M05. The decision structure from the last two slides, on real data.</a:t>
            </a:r>
          </a:p>
        </p:txBody>
      </p:sp>
      <p:pic>
        <p:nvPicPr>
          <p:cNvPr id="22" name="SponsorBar" descr="CAS 2026 sponsors and #CloudAISummit2026">
            <a:extLst>
              <a:ext uri="{FF2B5EF4-FFF2-40B4-BE49-F238E27FC236}">
                <a16:creationId xmlns:a16="http://schemas.microsoft.com/office/drawing/2014/main" id="{C173E13B-7811-240B-9CAC-32508E81ED1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
        <p:nvSpPr>
          <p:cNvPr id="23" name="DemoMarkerBar">
            <a:extLst>
              <a:ext uri="{FF2B5EF4-FFF2-40B4-BE49-F238E27FC236}">
                <a16:creationId xmlns:a16="http://schemas.microsoft.com/office/drawing/2014/main" id="{E7E82460-4CE8-011E-C300-8381069B0B47}"/>
              </a:ext>
            </a:extLst>
          </p:cNvPr>
          <p:cNvSpPr/>
          <p:nvPr/>
        </p:nvSpPr>
        <p:spPr>
          <a:xfrm>
            <a:off x="0" y="0"/>
            <a:ext cx="457200" cy="6858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DemoMarkerText">
            <a:extLst>
              <a:ext uri="{FF2B5EF4-FFF2-40B4-BE49-F238E27FC236}">
                <a16:creationId xmlns:a16="http://schemas.microsoft.com/office/drawing/2014/main" id="{5479771E-1368-56BF-6458-A5B86165FBCC}"/>
              </a:ext>
            </a:extLst>
          </p:cNvPr>
          <p:cNvSpPr txBox="1"/>
          <p:nvPr/>
        </p:nvSpPr>
        <p:spPr>
          <a:xfrm>
            <a:off x="0" y="0"/>
            <a:ext cx="457200" cy="6858000"/>
          </a:xfrm>
          <a:prstGeom prst="rect">
            <a:avLst/>
          </a:prstGeom>
          <a:noFill/>
        </p:spPr>
        <p:txBody>
          <a:bodyPr vert="vert270" wrap="none" lIns="0" tIns="0" rIns="0" bIns="0" rtlCol="0" anchor="ctr">
            <a:noAutofit/>
          </a:bodyPr>
          <a:lstStyle/>
          <a:p>
            <a:pPr algn="ctr"/>
            <a:r>
              <a:rPr lang="en-US" sz="2600" b="1" spc="6000">
                <a:solidFill>
                  <a:srgbClr val="0F172A"/>
                </a:solidFill>
                <a:latin typeface="Calibri" panose="020F0502020204030204" pitchFamily="34" charset="0"/>
              </a:rPr>
              <a:t>DEMO</a:t>
            </a:r>
          </a:p>
        </p:txBody>
      </p:sp>
    </p:spTree>
    <p:extLst>
      <p:ext uri="{BB962C8B-B14F-4D97-AF65-F5344CB8AC3E}">
        <p14:creationId xmlns:p14="http://schemas.microsoft.com/office/powerpoint/2010/main" val="22930462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EB2C9C4-AD0E-D4A4-A0C0-E75C5A83B7C2}"/>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872101AC-2E41-BE66-56B7-3E937BD95BED}"/>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2A0ADE9-4170-C349-7513-42E1EDDD9F68}"/>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Back to that meeting</a:t>
            </a:r>
          </a:p>
        </p:txBody>
      </p:sp>
      <p:sp>
        <p:nvSpPr>
          <p:cNvPr id="5" name="Rectangle 4">
            <a:extLst>
              <a:ext uri="{FF2B5EF4-FFF2-40B4-BE49-F238E27FC236}">
                <a16:creationId xmlns:a16="http://schemas.microsoft.com/office/drawing/2014/main" id="{E3BF6685-DDC1-347B-DC26-DA578D4EC66D}"/>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8A959DA-8B16-2722-8D89-A1CA4EB9FC5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625600"/>
            <a:ext cx="3403600" cy="1397000"/>
          </a:xfrm>
          <a:prstGeom prst="rect">
            <a:avLst/>
          </a:prstGeom>
        </p:spPr>
      </p:pic>
      <p:sp>
        <p:nvSpPr>
          <p:cNvPr id="8" name="TextBox 7">
            <a:extLst>
              <a:ext uri="{FF2B5EF4-FFF2-40B4-BE49-F238E27FC236}">
                <a16:creationId xmlns:a16="http://schemas.microsoft.com/office/drawing/2014/main" id="{1F6DDBBE-4AED-8D61-53C8-48FD94B60E17}"/>
              </a:ext>
            </a:extLst>
          </p:cNvPr>
          <p:cNvSpPr txBox="1"/>
          <p:nvPr/>
        </p:nvSpPr>
        <p:spPr>
          <a:xfrm>
            <a:off x="609600" y="3175000"/>
            <a:ext cx="3403600" cy="261610"/>
          </a:xfrm>
          <a:prstGeom prst="rect">
            <a:avLst/>
          </a:prstGeom>
          <a:noFill/>
        </p:spPr>
        <p:txBody>
          <a:bodyPr vert="horz" wrap="square" lIns="25400" rIns="25400" rtlCol="0">
            <a:spAutoFit/>
          </a:bodyPr>
          <a:lstStyle/>
          <a:p>
            <a:r>
              <a:rPr lang="en-US" sz="1100" b="1">
                <a:solidFill>
                  <a:srgbClr val="FACC15"/>
                </a:solidFill>
                <a:latin typeface="Calibri" panose="020F0502020204030204" pitchFamily="34" charset="0"/>
              </a:rPr>
              <a:t>WHAT WAS PROPOSED</a:t>
            </a:r>
          </a:p>
        </p:txBody>
      </p:sp>
      <p:sp>
        <p:nvSpPr>
          <p:cNvPr id="9" name="Rectangle: Rounded Corners 8">
            <a:extLst>
              <a:ext uri="{FF2B5EF4-FFF2-40B4-BE49-F238E27FC236}">
                <a16:creationId xmlns:a16="http://schemas.microsoft.com/office/drawing/2014/main" id="{F9D3830A-AC07-2BB1-0B34-8AF289DA7E34}"/>
              </a:ext>
            </a:extLst>
          </p:cNvPr>
          <p:cNvSpPr/>
          <p:nvPr/>
        </p:nvSpPr>
        <p:spPr>
          <a:xfrm>
            <a:off x="609600" y="3454400"/>
            <a:ext cx="34036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"A new monitoring tool, just for our labs"</a:t>
            </a:r>
          </a:p>
        </p:txBody>
      </p:sp>
      <p:sp>
        <p:nvSpPr>
          <p:cNvPr id="10" name="Rectangle: Rounded Corners 9">
            <a:extLst>
              <a:ext uri="{FF2B5EF4-FFF2-40B4-BE49-F238E27FC236}">
                <a16:creationId xmlns:a16="http://schemas.microsoft.com/office/drawing/2014/main" id="{2E2998FF-9433-0814-CC79-65F3128499D3}"/>
              </a:ext>
            </a:extLst>
          </p:cNvPr>
          <p:cNvSpPr/>
          <p:nvPr/>
        </p:nvSpPr>
        <p:spPr>
          <a:xfrm>
            <a:off x="609600" y="4318000"/>
            <a:ext cx="3403600" cy="711200"/>
          </a:xfrm>
          <a:prstGeom prst="roundRect">
            <a:avLst/>
          </a:prstGeom>
          <a:solidFill>
            <a:srgbClr val="283C7A"/>
          </a:solidFill>
          <a:ln w="15875">
            <a:solidFill>
              <a:srgbClr val="FACC15"/>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"On-premises first: our two datacenters"</a:t>
            </a:r>
          </a:p>
        </p:txBody>
      </p:sp>
      <p:sp>
        <p:nvSpPr>
          <p:cNvPr id="11" name="TextBox 10">
            <a:extLst>
              <a:ext uri="{FF2B5EF4-FFF2-40B4-BE49-F238E27FC236}">
                <a16:creationId xmlns:a16="http://schemas.microsoft.com/office/drawing/2014/main" id="{2C951795-0073-261D-546E-1E742379967B}"/>
              </a:ext>
            </a:extLst>
          </p:cNvPr>
          <p:cNvSpPr txBox="1"/>
          <p:nvPr/>
        </p:nvSpPr>
        <p:spPr>
          <a:xfrm>
            <a:off x="4419600" y="1625600"/>
            <a:ext cx="71628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WHAT I WOULD SAY NOW</a:t>
            </a:r>
          </a:p>
        </p:txBody>
      </p:sp>
      <p:sp>
        <p:nvSpPr>
          <p:cNvPr id="12" name="Rectangle: Rounded Corners 11">
            <a:extLst>
              <a:ext uri="{FF2B5EF4-FFF2-40B4-BE49-F238E27FC236}">
                <a16:creationId xmlns:a16="http://schemas.microsoft.com/office/drawing/2014/main" id="{1711284A-5091-F3FC-D952-9A65BBD64582}"/>
              </a:ext>
            </a:extLst>
          </p:cNvPr>
          <p:cNvSpPr/>
          <p:nvPr/>
        </p:nvSpPr>
        <p:spPr>
          <a:xfrm>
            <a:off x="4419600" y="1905000"/>
            <a:ext cx="7162800" cy="711200"/>
          </a:xfrm>
          <a:prstGeom prst="roundRect">
            <a:avLst/>
          </a:prstGeom>
          <a:solidFill>
            <a:srgbClr val="283C7A"/>
          </a:solidFill>
          <a:ln w="15875">
            <a:solidFill>
              <a:srgbClr val="6EE7B7"/>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Define the service first
a lab, like an order, needs parts in more than one place</a:t>
            </a:r>
          </a:p>
        </p:txBody>
      </p:sp>
      <p:sp>
        <p:nvSpPr>
          <p:cNvPr id="13" name="Rectangle: Rounded Corners 12">
            <a:extLst>
              <a:ext uri="{FF2B5EF4-FFF2-40B4-BE49-F238E27FC236}">
                <a16:creationId xmlns:a16="http://schemas.microsoft.com/office/drawing/2014/main" id="{21F2166C-F530-F8FF-4CF3-D926F074E59A}"/>
              </a:ext>
            </a:extLst>
          </p:cNvPr>
          <p:cNvSpPr/>
          <p:nvPr/>
        </p:nvSpPr>
        <p:spPr>
          <a:xfrm>
            <a:off x="4419600" y="2743200"/>
            <a:ext cx="7162800" cy="711200"/>
          </a:xfrm>
          <a:prstGeom prst="roundRect">
            <a:avLst/>
          </a:prstGeom>
          <a:solidFill>
            <a:srgbClr val="283C7A"/>
          </a:solidFill>
          <a:ln w="15875">
            <a:solidFill>
              <a:srgbClr val="FB923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See every part
Arc put the AWS and on-premises workers in the same workspace as Azure: one single pane of glass</a:t>
            </a:r>
          </a:p>
        </p:txBody>
      </p:sp>
      <p:sp>
        <p:nvSpPr>
          <p:cNvPr id="14" name="Rectangle: Rounded Corners 13">
            <a:extLst>
              <a:ext uri="{FF2B5EF4-FFF2-40B4-BE49-F238E27FC236}">
                <a16:creationId xmlns:a16="http://schemas.microsoft.com/office/drawing/2014/main" id="{D34B6566-D986-3BBD-5714-BC5E334BC667}"/>
              </a:ext>
            </a:extLst>
          </p:cNvPr>
          <p:cNvSpPr/>
          <p:nvPr/>
        </p:nvSpPr>
        <p:spPr>
          <a:xfrm>
            <a:off x="4419600" y="3581400"/>
            <a:ext cx="7162800" cy="711200"/>
          </a:xfrm>
          <a:prstGeom prst="roundRect">
            <a:avLst/>
          </a:prstGeom>
          <a:solidFill>
            <a:srgbClr val="283C7A"/>
          </a:solidFill>
          <a:ln w="15875">
            <a:solidFill>
              <a:srgbClr val="D0B6FF"/>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Read impact from the people using it down
the machines were healthy while every order failed</a:t>
            </a:r>
          </a:p>
        </p:txBody>
      </p:sp>
      <p:sp>
        <p:nvSpPr>
          <p:cNvPr id="15" name="Rectangle: Rounded Corners 14">
            <a:extLst>
              <a:ext uri="{FF2B5EF4-FFF2-40B4-BE49-F238E27FC236}">
                <a16:creationId xmlns:a16="http://schemas.microsoft.com/office/drawing/2014/main" id="{A5595378-5A5E-C330-CF7D-B985ECC2C26B}"/>
              </a:ext>
            </a:extLst>
          </p:cNvPr>
          <p:cNvSpPr/>
          <p:nvPr/>
        </p:nvSpPr>
        <p:spPr>
          <a:xfrm>
            <a:off x="4419600" y="4419600"/>
            <a:ext cx="7162800" cy="711200"/>
          </a:xfrm>
          <a:prstGeom prst="roundRect">
            <a:avLst/>
          </a:prstGeom>
          <a:solidFill>
            <a:srgbClr val="283C7A"/>
          </a:solidFill>
          <a:ln w="15875">
            <a:solidFill>
              <a:srgbClr val="FD9A96"/>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a:solidFill>
                  <a:srgbClr val="F1F5FB"/>
                </a:solidFill>
                <a:latin typeface="Calibri" panose="020F0502020204030204" pitchFamily="34" charset="0"/>
              </a:rPr>
              <a:t>Prove recovery with fresh evidence
and let the dashboards catch up</a:t>
            </a:r>
          </a:p>
        </p:txBody>
      </p:sp>
      <p:sp>
        <p:nvSpPr>
          <p:cNvPr id="16" name="TextBox 15">
            <a:extLst>
              <a:ext uri="{FF2B5EF4-FFF2-40B4-BE49-F238E27FC236}">
                <a16:creationId xmlns:a16="http://schemas.microsoft.com/office/drawing/2014/main" id="{A23E9045-6EE2-057C-BD21-AC6930509835}"/>
              </a:ext>
            </a:extLst>
          </p:cNvPr>
          <p:cNvSpPr txBox="1"/>
          <p:nvPr/>
        </p:nvSpPr>
        <p:spPr>
          <a:xfrm>
            <a:off x="4419600" y="5308600"/>
            <a:ext cx="71628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Same data. Bigger question.</a:t>
            </a:r>
          </a:p>
        </p:txBody>
      </p:sp>
      <p:sp>
        <p:nvSpPr>
          <p:cNvPr id="17" name="Rectangle 16">
            <a:extLst>
              <a:ext uri="{FF2B5EF4-FFF2-40B4-BE49-F238E27FC236}">
                <a16:creationId xmlns:a16="http://schemas.microsoft.com/office/drawing/2014/main" id="{F0798402-BF67-9D69-582B-526F5D74DEAF}"/>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6BB2EC9-2EF9-2E9C-304F-E638783CCC94}"/>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Monitoring tells you a server is up. Observability tells you whether the customer was served, wherever the service runs.</a:t>
            </a:r>
          </a:p>
        </p:txBody>
      </p:sp>
      <p:pic>
        <p:nvPicPr>
          <p:cNvPr id="20" name="SponsorBar" descr="CAS 2026 sponsors and #CloudAISummit2026">
            <a:extLst>
              <a:ext uri="{FF2B5EF4-FFF2-40B4-BE49-F238E27FC236}">
                <a16:creationId xmlns:a16="http://schemas.microsoft.com/office/drawing/2014/main" id="{F9FBB292-4ECF-56E8-D326-CD33B051A60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640402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3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3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3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3" name="TextBox 2"/>
          <p:cNvSpPr txBox="1"/>
          <p:nvPr/>
        </p:nvSpPr>
        <p:spPr>
          <a:xfrm>
            <a:off x="822960" y="1600200"/>
            <a:ext cx="10545775" cy="771750"/>
          </a:xfrm>
          <a:prstGeom prst="rect">
            <a:avLst/>
          </a:prstGeom>
          <a:noFill/>
        </p:spPr>
        <p:txBody>
          <a:bodyPr wrap="square" anchor="t">
            <a:spAutoFit/>
          </a:bodyPr>
          <a:lstStyle/>
          <a:p>
            <a:pPr algn="l">
              <a:lnSpc>
                <a:spcPct val="115000"/>
              </a:lnSpc>
            </a:pPr>
            <a:r>
              <a:rPr sz="4200" b="1">
                <a:solidFill>
                  <a:srgbClr val="F1F5FB"/>
                </a:solidFill>
                <a:latin typeface="Segoe UI"/>
              </a:rPr>
              <a:t>Let's keep the conversation going.</a:t>
            </a:r>
          </a:p>
        </p:txBody>
      </p:sp>
      <p:sp>
        <p:nvSpPr>
          <p:cNvPr id="4" name="Rectangle 3"/>
          <p:cNvSpPr/>
          <p:nvPr/>
        </p:nvSpPr>
        <p:spPr>
          <a:xfrm>
            <a:off x="822960" y="2670048"/>
            <a:ext cx="1005840" cy="50800"/>
          </a:xfrm>
          <a:prstGeom prst="rect">
            <a:avLst/>
          </a:prstGeom>
          <a:solidFill>
            <a:srgbClr val="7DD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907792"/>
            <a:ext cx="10545775" cy="448200"/>
          </a:xfrm>
          <a:prstGeom prst="rect">
            <a:avLst/>
          </a:prstGeom>
          <a:noFill/>
        </p:spPr>
        <p:txBody>
          <a:bodyPr wrap="square" anchor="t">
            <a:spAutoFit/>
          </a:bodyPr>
          <a:lstStyle/>
          <a:p>
            <a:pPr algn="l">
              <a:lnSpc>
                <a:spcPct val="115000"/>
              </a:lnSpc>
            </a:pPr>
            <a:r>
              <a:rPr sz="2200" b="0">
                <a:solidFill>
                  <a:srgbClr val="7DD3FC"/>
                </a:solidFill>
                <a:latin typeface="Segoe UI"/>
              </a:rPr>
              <a:t>Kristopher Turner · This Is My Demo</a:t>
            </a:r>
          </a:p>
        </p:txBody>
      </p:sp>
      <p:sp>
        <p:nvSpPr>
          <p:cNvPr id="6" name="Rounded Rectangle 5"/>
          <p:cNvSpPr/>
          <p:nvPr/>
        </p:nvSpPr>
        <p:spPr>
          <a:xfrm>
            <a:off x="822960" y="3794760"/>
            <a:ext cx="4937760" cy="566928"/>
          </a:xfrm>
          <a:prstGeom prst="roundRect">
            <a:avLst/>
          </a:prstGeom>
          <a:solidFill>
            <a:srgbClr val="20326C"/>
          </a:solidFill>
          <a:ln w="12700">
            <a:solidFill>
              <a:srgbClr val="7DD3FC"/>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900" b="1">
                <a:solidFill>
                  <a:srgbClr val="F1F5FB"/>
                </a:solidFill>
                <a:latin typeface="Segoe UI"/>
              </a:rPr>
              <a:t>thisismydemo.cloud</a:t>
            </a:r>
          </a:p>
        </p:txBody>
      </p:sp>
      <p:sp>
        <p:nvSpPr>
          <p:cNvPr id="7" name="Rounded Rectangle 6"/>
          <p:cNvSpPr/>
          <p:nvPr/>
        </p:nvSpPr>
        <p:spPr>
          <a:xfrm>
            <a:off x="822960" y="4507992"/>
            <a:ext cx="4937760" cy="566928"/>
          </a:xfrm>
          <a:prstGeom prst="roundRect">
            <a:avLst/>
          </a:prstGeom>
          <a:solidFill>
            <a:srgbClr val="20326C"/>
          </a:solidFill>
          <a:ln w="12700">
            <a:solidFill>
              <a:srgbClr val="7DD3FC"/>
            </a:solidFill>
          </a:ln>
          <a:effectLst/>
        </p:spPr>
        <p:style>
          <a:lnRef idx="1">
            <a:schemeClr val="accent1"/>
          </a:lnRef>
          <a:fillRef idx="3">
            <a:schemeClr val="accent1"/>
          </a:fillRef>
          <a:effectRef idx="2">
            <a:schemeClr val="accent1"/>
          </a:effectRef>
          <a:fontRef idx="minor">
            <a:schemeClr val="lt1"/>
          </a:fontRef>
        </p:style>
        <p:txBody>
          <a:bodyPr wrap="square" lIns="201168" rtlCol="0" anchor="ctr"/>
          <a:lstStyle/>
          <a:p>
            <a:pPr algn="ctr"/>
            <a:r>
              <a:rPr sz="1900" b="1">
                <a:solidFill>
                  <a:srgbClr val="F1F5FB"/>
                </a:solidFill>
                <a:latin typeface="Segoe UI"/>
              </a:rPr>
              <a:t>github.com/thisismydemo/cas26</a:t>
            </a:r>
          </a:p>
        </p:txBody>
      </p:sp>
      <p:sp>
        <p:nvSpPr>
          <p:cNvPr id="8" name="TextBox 7"/>
          <p:cNvSpPr txBox="1"/>
          <p:nvPr/>
        </p:nvSpPr>
        <p:spPr>
          <a:xfrm>
            <a:off x="822960" y="5312664"/>
            <a:ext cx="10545775" cy="367345"/>
          </a:xfrm>
          <a:prstGeom prst="rect">
            <a:avLst/>
          </a:prstGeom>
          <a:noFill/>
        </p:spPr>
        <p:txBody>
          <a:bodyPr wrap="square" anchor="t">
            <a:spAutoFit/>
          </a:bodyPr>
          <a:lstStyle/>
          <a:p>
            <a:pPr algn="l">
              <a:lnSpc>
                <a:spcPct val="115000"/>
              </a:lnSpc>
            </a:pPr>
            <a:r>
              <a:rPr lang="en-US" sz="1700" b="0">
                <a:solidFill>
                  <a:srgbClr val="F1F5FB"/>
                </a:solidFill>
                <a:latin typeface="Segoe UI"/>
              </a:rPr>
              <a:t>Session materials, commands and implementation notes are in the repository.</a:t>
            </a:r>
            <a:endParaRPr sz="1700" b="0">
              <a:solidFill>
                <a:srgbClr val="F1F5FB"/>
              </a:solidFill>
              <a:latin typeface="Segoe UI"/>
            </a:endParaRPr>
          </a:p>
        </p:txBody>
      </p:sp>
      <p:pic>
        <p:nvPicPr>
          <p:cNvPr id="9" name="SponsorBar" descr="CAS 2026 sponsors and #CloudAISummit2026">
            <a:extLst>
              <a:ext uri="{FF2B5EF4-FFF2-40B4-BE49-F238E27FC236}">
                <a16:creationId xmlns:a16="http://schemas.microsoft.com/office/drawing/2014/main" id="{90AA280B-B24F-8CE3-A741-DC31FA5CAFA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custDataLst>
      <p:tags r:id="rId1"/>
    </p:custDataLst>
    <p:extLst>
      <p:ext uri="{BB962C8B-B14F-4D97-AF65-F5344CB8AC3E}">
        <p14:creationId xmlns:p14="http://schemas.microsoft.com/office/powerpoint/2010/main" val="13505921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D27D93-5987-25E2-E955-544D91A39FBF}"/>
              </a:ext>
            </a:extLst>
          </p:cNvPr>
          <p:cNvSpPr txBox="1"/>
          <p:nvPr/>
        </p:nvSpPr>
        <p:spPr>
          <a:xfrm>
            <a:off x="685800" y="457200"/>
            <a:ext cx="10820400" cy="523220"/>
          </a:xfrm>
          <a:prstGeom prst="rect">
            <a:avLst/>
          </a:prstGeom>
          <a:noFill/>
        </p:spPr>
        <p:txBody>
          <a:bodyPr vert="horz" wrap="square" lIns="0" tIns="0" rIns="0" bIns="0" rtlCol="0">
            <a:spAutoFit/>
          </a:bodyPr>
          <a:lstStyle/>
          <a:p>
            <a:r>
              <a:rPr lang="en-US" sz="3400" b="1">
                <a:solidFill>
                  <a:srgbClr val="F1F5FB"/>
                </a:solidFill>
                <a:latin typeface="Calibri" panose="020F0502020204030204" pitchFamily="34" charset="0"/>
              </a:rPr>
              <a:t>Other sessions worth attending</a:t>
            </a:r>
          </a:p>
        </p:txBody>
      </p:sp>
      <p:sp>
        <p:nvSpPr>
          <p:cNvPr id="3" name="TextBox 2">
            <a:extLst>
              <a:ext uri="{FF2B5EF4-FFF2-40B4-BE49-F238E27FC236}">
                <a16:creationId xmlns:a16="http://schemas.microsoft.com/office/drawing/2014/main" id="{CE36BAE0-AE6E-2E96-9D61-AE251081B027}"/>
              </a:ext>
            </a:extLst>
          </p:cNvPr>
          <p:cNvSpPr txBox="1"/>
          <p:nvPr/>
        </p:nvSpPr>
        <p:spPr>
          <a:xfrm>
            <a:off x="685800" y="1193800"/>
            <a:ext cx="10820400" cy="276999"/>
          </a:xfrm>
          <a:prstGeom prst="rect">
            <a:avLst/>
          </a:prstGeom>
          <a:noFill/>
        </p:spPr>
        <p:txBody>
          <a:bodyPr vert="horz" wrap="square" lIns="0" tIns="0" rIns="0" bIns="0" rtlCol="0">
            <a:spAutoFit/>
          </a:bodyPr>
          <a:lstStyle/>
          <a:p>
            <a:r>
              <a:rPr lang="en-US">
                <a:solidFill>
                  <a:srgbClr val="F1F5FB"/>
                </a:solidFill>
                <a:latin typeface="Calibri" panose="020F0502020204030204" pitchFamily="34" charset="0"/>
              </a:rPr>
              <a:t>Optional next sessions | All times Central (CT)</a:t>
            </a:r>
          </a:p>
        </p:txBody>
      </p:sp>
      <p:sp>
        <p:nvSpPr>
          <p:cNvPr id="4" name="Rectangle 3">
            <a:extLst>
              <a:ext uri="{FF2B5EF4-FFF2-40B4-BE49-F238E27FC236}">
                <a16:creationId xmlns:a16="http://schemas.microsoft.com/office/drawing/2014/main" id="{30BF76E8-F994-3081-9F45-BC916AF20C28}"/>
              </a:ext>
            </a:extLst>
          </p:cNvPr>
          <p:cNvSpPr/>
          <p:nvPr/>
        </p:nvSpPr>
        <p:spPr>
          <a:xfrm>
            <a:off x="685800" y="1816100"/>
            <a:ext cx="10820400" cy="1371600"/>
          </a:xfrm>
          <a:prstGeom prst="rect">
            <a:avLst/>
          </a:prstGeom>
          <a:solidFill>
            <a:srgbClr val="20326C"/>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CFDF134-C376-D273-689F-1F62011A275E}"/>
              </a:ext>
            </a:extLst>
          </p:cNvPr>
          <p:cNvSpPr txBox="1"/>
          <p:nvPr/>
        </p:nvSpPr>
        <p:spPr>
          <a:xfrm>
            <a:off x="889000" y="1930400"/>
            <a:ext cx="10414000" cy="677108"/>
          </a:xfrm>
          <a:prstGeom prst="rect">
            <a:avLst/>
          </a:prstGeom>
          <a:noFill/>
        </p:spPr>
        <p:txBody>
          <a:bodyPr vert="horz" wrap="square" lIns="0" tIns="0" rIns="0" bIns="0" rtlCol="0">
            <a:spAutoFit/>
          </a:bodyPr>
          <a:lstStyle/>
          <a:p>
            <a:r>
              <a:rPr lang="en-US" sz="2200" b="1">
                <a:solidFill>
                  <a:srgbClr val="F1F5FB"/>
                </a:solidFill>
                <a:latin typeface="Calibri" panose="020F0502020204030204" pitchFamily="34" charset="0"/>
              </a:rPr>
              <a:t>From On-Prem to Cloud-Native: A 20-Year Journey in Architecture, Security, and Modernization</a:t>
            </a:r>
          </a:p>
        </p:txBody>
      </p:sp>
      <p:sp>
        <p:nvSpPr>
          <p:cNvPr id="6" name="TextBox 5">
            <a:extLst>
              <a:ext uri="{FF2B5EF4-FFF2-40B4-BE49-F238E27FC236}">
                <a16:creationId xmlns:a16="http://schemas.microsoft.com/office/drawing/2014/main" id="{B8EC4A22-CF4B-C3FF-7493-ED9897C2EDFF}"/>
              </a:ext>
            </a:extLst>
          </p:cNvPr>
          <p:cNvSpPr txBox="1"/>
          <p:nvPr/>
        </p:nvSpPr>
        <p:spPr>
          <a:xfrm>
            <a:off x="889000" y="2679700"/>
            <a:ext cx="10414000" cy="276999"/>
          </a:xfrm>
          <a:prstGeom prst="rect">
            <a:avLst/>
          </a:prstGeom>
          <a:noFill/>
        </p:spPr>
        <p:txBody>
          <a:bodyPr vert="horz" wrap="square" lIns="0" tIns="0" rIns="0" bIns="0" rtlCol="0">
            <a:spAutoFit/>
          </a:bodyPr>
          <a:lstStyle/>
          <a:p>
            <a:r>
              <a:rPr lang="en-US">
                <a:solidFill>
                  <a:srgbClr val="7DD3FC"/>
                </a:solidFill>
                <a:latin typeface="Calibri" panose="020F0502020204030204" pitchFamily="34" charset="0"/>
              </a:rPr>
              <a:t>John Smith | Thu Oct 1 • 1:15 PM • Clarity</a:t>
            </a:r>
          </a:p>
        </p:txBody>
      </p:sp>
      <p:sp>
        <p:nvSpPr>
          <p:cNvPr id="7" name="Rectangle 6">
            <a:extLst>
              <a:ext uri="{FF2B5EF4-FFF2-40B4-BE49-F238E27FC236}">
                <a16:creationId xmlns:a16="http://schemas.microsoft.com/office/drawing/2014/main" id="{22C9F4EA-BBC0-F730-B715-8B7E6862CD34}"/>
              </a:ext>
            </a:extLst>
          </p:cNvPr>
          <p:cNvSpPr/>
          <p:nvPr/>
        </p:nvSpPr>
        <p:spPr>
          <a:xfrm>
            <a:off x="685800" y="3314700"/>
            <a:ext cx="10820400" cy="1371600"/>
          </a:xfrm>
          <a:prstGeom prst="rect">
            <a:avLst/>
          </a:prstGeom>
          <a:solidFill>
            <a:srgbClr val="20326C"/>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68D8C77-140C-570F-9A92-F55DD146EE2E}"/>
              </a:ext>
            </a:extLst>
          </p:cNvPr>
          <p:cNvSpPr txBox="1"/>
          <p:nvPr/>
        </p:nvSpPr>
        <p:spPr>
          <a:xfrm>
            <a:off x="889000" y="3429000"/>
            <a:ext cx="10414000" cy="338554"/>
          </a:xfrm>
          <a:prstGeom prst="rect">
            <a:avLst/>
          </a:prstGeom>
          <a:noFill/>
        </p:spPr>
        <p:txBody>
          <a:bodyPr vert="horz" wrap="square" lIns="0" tIns="0" rIns="0" bIns="0" rtlCol="0">
            <a:spAutoFit/>
          </a:bodyPr>
          <a:lstStyle/>
          <a:p>
            <a:r>
              <a:rPr lang="en-US" sz="2200" b="1">
                <a:solidFill>
                  <a:srgbClr val="F1F5FB"/>
                </a:solidFill>
                <a:latin typeface="Calibri" panose="020F0502020204030204" pitchFamily="34" charset="0"/>
              </a:rPr>
              <a:t>Engineering for Reliability and Stability in the Azure Messaging Services</a:t>
            </a:r>
          </a:p>
        </p:txBody>
      </p:sp>
      <p:sp>
        <p:nvSpPr>
          <p:cNvPr id="9" name="TextBox 8">
            <a:extLst>
              <a:ext uri="{FF2B5EF4-FFF2-40B4-BE49-F238E27FC236}">
                <a16:creationId xmlns:a16="http://schemas.microsoft.com/office/drawing/2014/main" id="{C13989B2-C89D-223A-81AD-112915D01A3A}"/>
              </a:ext>
            </a:extLst>
          </p:cNvPr>
          <p:cNvSpPr txBox="1"/>
          <p:nvPr/>
        </p:nvSpPr>
        <p:spPr>
          <a:xfrm>
            <a:off x="889000" y="4178300"/>
            <a:ext cx="10414000" cy="276999"/>
          </a:xfrm>
          <a:prstGeom prst="rect">
            <a:avLst/>
          </a:prstGeom>
          <a:noFill/>
        </p:spPr>
        <p:txBody>
          <a:bodyPr vert="horz" wrap="square" lIns="0" tIns="0" rIns="0" bIns="0" rtlCol="0">
            <a:spAutoFit/>
          </a:bodyPr>
          <a:lstStyle/>
          <a:p>
            <a:r>
              <a:rPr lang="nl-NL">
                <a:solidFill>
                  <a:srgbClr val="7DD3FC"/>
                </a:solidFill>
                <a:latin typeface="Calibri" panose="020F0502020204030204" pitchFamily="34" charset="0"/>
              </a:rPr>
              <a:t>Eldert Grootenboer | Thu Oct 1 • 3:00 PM • Clarity</a:t>
            </a:r>
            <a:endParaRPr lang="en-US">
              <a:solidFill>
                <a:srgbClr val="7DD3FC"/>
              </a:solidFill>
              <a:latin typeface="Calibri" panose="020F0502020204030204" pitchFamily="34" charset="0"/>
            </a:endParaRPr>
          </a:p>
        </p:txBody>
      </p:sp>
      <p:sp>
        <p:nvSpPr>
          <p:cNvPr id="10" name="Rectangle 9">
            <a:extLst>
              <a:ext uri="{FF2B5EF4-FFF2-40B4-BE49-F238E27FC236}">
                <a16:creationId xmlns:a16="http://schemas.microsoft.com/office/drawing/2014/main" id="{12BB548F-09F9-E514-42F5-87EDA85D477B}"/>
              </a:ext>
            </a:extLst>
          </p:cNvPr>
          <p:cNvSpPr/>
          <p:nvPr/>
        </p:nvSpPr>
        <p:spPr>
          <a:xfrm>
            <a:off x="685800" y="4813300"/>
            <a:ext cx="10820400" cy="1371600"/>
          </a:xfrm>
          <a:prstGeom prst="rect">
            <a:avLst/>
          </a:prstGeom>
          <a:solidFill>
            <a:srgbClr val="20326C"/>
          </a:solidFill>
          <a:ln w="9525" cap="flat" cmpd="sng" algn="ctr">
            <a:noFill/>
            <a:prstDash val="solid"/>
          </a:ln>
          <a:effectLst>
            <a:outerShdw blurRad="40000" dist="230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03CA3B8-A614-E4BD-DC12-25EEE93B30F5}"/>
              </a:ext>
            </a:extLst>
          </p:cNvPr>
          <p:cNvSpPr txBox="1"/>
          <p:nvPr/>
        </p:nvSpPr>
        <p:spPr>
          <a:xfrm>
            <a:off x="889000" y="4927600"/>
            <a:ext cx="10414000" cy="338554"/>
          </a:xfrm>
          <a:prstGeom prst="rect">
            <a:avLst/>
          </a:prstGeom>
          <a:noFill/>
        </p:spPr>
        <p:txBody>
          <a:bodyPr vert="horz" wrap="square" lIns="0" tIns="0" rIns="0" bIns="0" rtlCol="0">
            <a:spAutoFit/>
          </a:bodyPr>
          <a:lstStyle/>
          <a:p>
            <a:r>
              <a:rPr lang="en-US" sz="2200" b="1">
                <a:solidFill>
                  <a:srgbClr val="F1F5FB"/>
                </a:solidFill>
                <a:latin typeface="Calibri" panose="020F0502020204030204" pitchFamily="34" charset="0"/>
              </a:rPr>
              <a:t>Integrate Azure Monitor alerts from servers with your ITSM system</a:t>
            </a:r>
          </a:p>
        </p:txBody>
      </p:sp>
      <p:sp>
        <p:nvSpPr>
          <p:cNvPr id="12" name="TextBox 11">
            <a:extLst>
              <a:ext uri="{FF2B5EF4-FFF2-40B4-BE49-F238E27FC236}">
                <a16:creationId xmlns:a16="http://schemas.microsoft.com/office/drawing/2014/main" id="{BF96AD8B-EEAB-3D88-2C5D-2B415DF20291}"/>
              </a:ext>
            </a:extLst>
          </p:cNvPr>
          <p:cNvSpPr txBox="1"/>
          <p:nvPr/>
        </p:nvSpPr>
        <p:spPr>
          <a:xfrm>
            <a:off x="889000" y="5676900"/>
            <a:ext cx="10414000" cy="276999"/>
          </a:xfrm>
          <a:prstGeom prst="rect">
            <a:avLst/>
          </a:prstGeom>
          <a:noFill/>
        </p:spPr>
        <p:txBody>
          <a:bodyPr vert="horz" wrap="square" lIns="0" tIns="0" rIns="0" bIns="0" rtlCol="0">
            <a:spAutoFit/>
          </a:bodyPr>
          <a:lstStyle/>
          <a:p>
            <a:r>
              <a:rPr lang="en-US">
                <a:solidFill>
                  <a:srgbClr val="7DD3FC"/>
                </a:solidFill>
                <a:latin typeface="Calibri" panose="020F0502020204030204" pitchFamily="34" charset="0"/>
              </a:rPr>
              <a:t>John Joyner | Fri Oct 2 • 3:00 PM • Clarity</a:t>
            </a:r>
          </a:p>
        </p:txBody>
      </p:sp>
      <p:pic>
        <p:nvPicPr>
          <p:cNvPr id="14" name="SponsorBar" descr="CAS 2026 sponsors and #CloudAISummit2026">
            <a:extLst>
              <a:ext uri="{FF2B5EF4-FFF2-40B4-BE49-F238E27FC236}">
                <a16:creationId xmlns:a16="http://schemas.microsoft.com/office/drawing/2014/main" id="{4DCC6E75-C4A1-6A75-9A52-35A4C8E7E2B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custDataLst>
      <p:tags r:id="rId1"/>
    </p:custDataLst>
    <p:extLst>
      <p:ext uri="{BB962C8B-B14F-4D97-AF65-F5344CB8AC3E}">
        <p14:creationId xmlns:p14="http://schemas.microsoft.com/office/powerpoint/2010/main" val="40042885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39E4AE-ECD5-0543-4C3D-D6124698369D}"/>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4EC12E0-EC1C-50F8-A0A2-8ECB6D0A62C2}"/>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1F82E0E-0942-503B-EE76-7A9D7B1291BB}"/>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A sponsor worth a visit: StratoLens</a:t>
            </a:r>
          </a:p>
        </p:txBody>
      </p:sp>
      <p:sp>
        <p:nvSpPr>
          <p:cNvPr id="5" name="Rectangle 4">
            <a:extLst>
              <a:ext uri="{FF2B5EF4-FFF2-40B4-BE49-F238E27FC236}">
                <a16:creationId xmlns:a16="http://schemas.microsoft.com/office/drawing/2014/main" id="{99B635EE-6A9E-DAC0-24E3-B2720499B413}"/>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B763213E-2E94-0CD0-DBAC-1D295EA8EE8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727200"/>
            <a:ext cx="3429000" cy="1981200"/>
          </a:xfrm>
          <a:prstGeom prst="rect">
            <a:avLst/>
          </a:prstGeom>
        </p:spPr>
      </p:pic>
      <p:sp>
        <p:nvSpPr>
          <p:cNvPr id="8" name="Rectangle: Rounded Corners 7">
            <a:extLst>
              <a:ext uri="{FF2B5EF4-FFF2-40B4-BE49-F238E27FC236}">
                <a16:creationId xmlns:a16="http://schemas.microsoft.com/office/drawing/2014/main" id="{DBA3FD0E-FF09-FF21-7CDC-49C2047D71CF}"/>
              </a:ext>
            </a:extLst>
          </p:cNvPr>
          <p:cNvSpPr/>
          <p:nvPr/>
        </p:nvSpPr>
        <p:spPr>
          <a:xfrm>
            <a:off x="609600" y="3860800"/>
            <a:ext cx="3429000" cy="8128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300" b="1">
                <a:solidFill>
                  <a:srgbClr val="F1F5FB"/>
                </a:solidFill>
                <a:latin typeface="Calibri" panose="020F0502020204030204" pitchFamily="34" charset="0"/>
              </a:rPr>
              <a:t>"See your whole Azure estate. Your data never leaves it."</a:t>
            </a:r>
          </a:p>
        </p:txBody>
      </p:sp>
      <p:sp>
        <p:nvSpPr>
          <p:cNvPr id="9" name="TextBox 8">
            <a:extLst>
              <a:ext uri="{FF2B5EF4-FFF2-40B4-BE49-F238E27FC236}">
                <a16:creationId xmlns:a16="http://schemas.microsoft.com/office/drawing/2014/main" id="{76277043-1168-BF44-695C-E164704AE34C}"/>
              </a:ext>
            </a:extLst>
          </p:cNvPr>
          <p:cNvSpPr txBox="1"/>
          <p:nvPr/>
        </p:nvSpPr>
        <p:spPr>
          <a:xfrm>
            <a:off x="609600" y="4800600"/>
            <a:ext cx="3429000" cy="461665"/>
          </a:xfrm>
          <a:prstGeom prst="rect">
            <a:avLst/>
          </a:prstGeom>
          <a:noFill/>
        </p:spPr>
        <p:txBody>
          <a:bodyPr vert="horz" wrap="square" lIns="25400" rIns="25400" rtlCol="0">
            <a:spAutoFit/>
          </a:bodyPr>
          <a:lstStyle/>
          <a:p>
            <a:r>
              <a:rPr lang="en-US" sz="1200">
                <a:solidFill>
                  <a:srgbClr val="B8C6DE"/>
                </a:solidFill>
                <a:latin typeface="Calibri" panose="020F0502020204030204" pitchFamily="34" charset="0"/>
              </a:rPr>
              <a:t>getstratolens.com · sponsor of Cloud &amp; AI Summit 2026</a:t>
            </a:r>
          </a:p>
        </p:txBody>
      </p:sp>
      <p:sp>
        <p:nvSpPr>
          <p:cNvPr id="10" name="TextBox 9">
            <a:extLst>
              <a:ext uri="{FF2B5EF4-FFF2-40B4-BE49-F238E27FC236}">
                <a16:creationId xmlns:a16="http://schemas.microsoft.com/office/drawing/2014/main" id="{A517C7A1-E6D1-C4B2-F37A-9B0E36013170}"/>
              </a:ext>
            </a:extLst>
          </p:cNvPr>
          <p:cNvSpPr txBox="1"/>
          <p:nvPr/>
        </p:nvSpPr>
        <p:spPr>
          <a:xfrm>
            <a:off x="4445000" y="1625600"/>
            <a:ext cx="7137400" cy="261610"/>
          </a:xfrm>
          <a:prstGeom prst="rect">
            <a:avLst/>
          </a:prstGeom>
          <a:noFill/>
        </p:spPr>
        <p:txBody>
          <a:bodyPr vert="horz" wrap="square" lIns="25400" rIns="25400" rtlCol="0">
            <a:spAutoFit/>
          </a:bodyPr>
          <a:lstStyle/>
          <a:p>
            <a:r>
              <a:rPr lang="en-US" sz="1100" b="1">
                <a:solidFill>
                  <a:srgbClr val="7DD3FC"/>
                </a:solidFill>
                <a:latin typeface="Calibri" panose="020F0502020204030204" pitchFamily="34" charset="0"/>
              </a:rPr>
              <a:t>WHAT THEY DO (in their words)</a:t>
            </a:r>
          </a:p>
        </p:txBody>
      </p:sp>
      <p:sp>
        <p:nvSpPr>
          <p:cNvPr id="11" name="Rectangle: Rounded Corners 10">
            <a:extLst>
              <a:ext uri="{FF2B5EF4-FFF2-40B4-BE49-F238E27FC236}">
                <a16:creationId xmlns:a16="http://schemas.microsoft.com/office/drawing/2014/main" id="{97BA6499-4511-7F41-4326-5DDBBBF3A269}"/>
              </a:ext>
            </a:extLst>
          </p:cNvPr>
          <p:cNvSpPr/>
          <p:nvPr/>
        </p:nvSpPr>
        <p:spPr>
          <a:xfrm>
            <a:off x="4445000" y="1905000"/>
            <a:ext cx="7137400" cy="508000"/>
          </a:xfrm>
          <a:prstGeom prst="roundRect">
            <a:avLst/>
          </a:prstGeom>
          <a:solidFill>
            <a:srgbClr val="283C7A"/>
          </a:solidFill>
          <a:ln w="15875">
            <a:solidFill>
              <a:srgbClr val="7DD3FC"/>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Change observability for Azure, self-hosted in your own tenant; deployed from the Azure Marketplace in under 15 minutes</a:t>
            </a:r>
          </a:p>
        </p:txBody>
      </p:sp>
      <p:sp>
        <p:nvSpPr>
          <p:cNvPr id="12" name="Rectangle: Rounded Corners 11">
            <a:extLst>
              <a:ext uri="{FF2B5EF4-FFF2-40B4-BE49-F238E27FC236}">
                <a16:creationId xmlns:a16="http://schemas.microsoft.com/office/drawing/2014/main" id="{9D00F290-8A6D-44CF-76CF-8B804F13F8C8}"/>
              </a:ext>
            </a:extLst>
          </p:cNvPr>
          <p:cNvSpPr/>
          <p:nvPr/>
        </p:nvSpPr>
        <p:spPr>
          <a:xfrm>
            <a:off x="4445000" y="2514600"/>
            <a:ext cx="7137400" cy="508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Change tracking: what changed, who changed it, and when</a:t>
            </a:r>
          </a:p>
        </p:txBody>
      </p:sp>
      <p:sp>
        <p:nvSpPr>
          <p:cNvPr id="13" name="Rectangle: Rounded Corners 12">
            <a:extLst>
              <a:ext uri="{FF2B5EF4-FFF2-40B4-BE49-F238E27FC236}">
                <a16:creationId xmlns:a16="http://schemas.microsoft.com/office/drawing/2014/main" id="{C64C28C5-CFF2-1C7E-7169-6003B8D7B267}"/>
              </a:ext>
            </a:extLst>
          </p:cNvPr>
          <p:cNvSpPr/>
          <p:nvPr/>
        </p:nvSpPr>
        <p:spPr>
          <a:xfrm>
            <a:off x="4445000" y="3124200"/>
            <a:ext cx="7137400" cy="508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Cost anomaly detection and orphaned resources</a:t>
            </a:r>
          </a:p>
        </p:txBody>
      </p:sp>
      <p:sp>
        <p:nvSpPr>
          <p:cNvPr id="14" name="Rectangle: Rounded Corners 13">
            <a:extLst>
              <a:ext uri="{FF2B5EF4-FFF2-40B4-BE49-F238E27FC236}">
                <a16:creationId xmlns:a16="http://schemas.microsoft.com/office/drawing/2014/main" id="{FB2A7191-34B6-3D0F-880A-2E6899B80758}"/>
              </a:ext>
            </a:extLst>
          </p:cNvPr>
          <p:cNvSpPr/>
          <p:nvPr/>
        </p:nvSpPr>
        <p:spPr>
          <a:xfrm>
            <a:off x="4445000" y="3733800"/>
            <a:ext cx="7137400" cy="508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Access: stale and over-privileged role assignments</a:t>
            </a:r>
          </a:p>
        </p:txBody>
      </p:sp>
      <p:sp>
        <p:nvSpPr>
          <p:cNvPr id="15" name="Rectangle: Rounded Corners 14">
            <a:extLst>
              <a:ext uri="{FF2B5EF4-FFF2-40B4-BE49-F238E27FC236}">
                <a16:creationId xmlns:a16="http://schemas.microsoft.com/office/drawing/2014/main" id="{9CF3ACE0-2DE4-0545-3813-C130B00880DD}"/>
              </a:ext>
            </a:extLst>
          </p:cNvPr>
          <p:cNvSpPr/>
          <p:nvPr/>
        </p:nvSpPr>
        <p:spPr>
          <a:xfrm>
            <a:off x="4445000" y="4343400"/>
            <a:ext cx="7137400" cy="5080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r>
              <a:rPr lang="en-US" sz="1200">
                <a:solidFill>
                  <a:srgbClr val="F1F5FB"/>
                </a:solidFill>
                <a:latin typeface="Calibri" panose="020F0502020204030204" pitchFamily="34" charset="0"/>
              </a:rPr>
              <a:t>Network topology and Azure Policy change tracking</a:t>
            </a:r>
          </a:p>
        </p:txBody>
      </p:sp>
      <p:sp>
        <p:nvSpPr>
          <p:cNvPr id="16" name="TextBox 15">
            <a:extLst>
              <a:ext uri="{FF2B5EF4-FFF2-40B4-BE49-F238E27FC236}">
                <a16:creationId xmlns:a16="http://schemas.microsoft.com/office/drawing/2014/main" id="{9E3BBA5F-4492-E415-CF3B-99FD24527138}"/>
              </a:ext>
            </a:extLst>
          </p:cNvPr>
          <p:cNvSpPr txBox="1"/>
          <p:nvPr/>
        </p:nvSpPr>
        <p:spPr>
          <a:xfrm>
            <a:off x="4445000" y="5029200"/>
            <a:ext cx="7137400" cy="461665"/>
          </a:xfrm>
          <a:prstGeom prst="rect">
            <a:avLst/>
          </a:prstGeom>
          <a:noFill/>
        </p:spPr>
        <p:txBody>
          <a:bodyPr vert="horz" wrap="square" lIns="25400" rIns="25400" rtlCol="0">
            <a:spAutoFit/>
          </a:bodyPr>
          <a:lstStyle/>
          <a:p>
            <a:r>
              <a:rPr lang="en-US" sz="1200" b="1">
                <a:solidFill>
                  <a:srgbClr val="FACC15"/>
                </a:solidFill>
                <a:latin typeface="Calibri" panose="020F0502020204030204" pitchFamily="34" charset="0"/>
              </a:rPr>
              <a:t>WHERE IT FITS THIS SESSION: the change, cost and access half of the evidence on the Azure side. Azure only today.</a:t>
            </a:r>
          </a:p>
        </p:txBody>
      </p:sp>
      <p:sp>
        <p:nvSpPr>
          <p:cNvPr id="17" name="Rectangle 16">
            <a:extLst>
              <a:ext uri="{FF2B5EF4-FFF2-40B4-BE49-F238E27FC236}">
                <a16:creationId xmlns:a16="http://schemas.microsoft.com/office/drawing/2014/main" id="{5E9A554F-81E2-BC57-7E80-1E8B72562587}"/>
              </a:ext>
            </a:extLst>
          </p:cNvPr>
          <p:cNvSpPr/>
          <p:nvPr/>
        </p:nvSpPr>
        <p:spPr>
          <a:xfrm>
            <a:off x="609600" y="6019800"/>
            <a:ext cx="63500" cy="3810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579F3C6-D825-6DC9-384D-D34CF5318ED1}"/>
              </a:ext>
            </a:extLst>
          </p:cNvPr>
          <p:cNvSpPr txBox="1"/>
          <p:nvPr/>
        </p:nvSpPr>
        <p:spPr>
          <a:xfrm>
            <a:off x="812800" y="5994400"/>
            <a:ext cx="10769600" cy="307777"/>
          </a:xfrm>
          <a:prstGeom prst="rect">
            <a:avLst/>
          </a:prstGeom>
          <a:noFill/>
        </p:spPr>
        <p:txBody>
          <a:bodyPr vert="horz" wrap="square" lIns="25400" rIns="25400" rtlCol="0">
            <a:spAutoFit/>
          </a:bodyPr>
          <a:lstStyle/>
          <a:p>
            <a:r>
              <a:rPr lang="en-US" sz="1400" b="1">
                <a:solidFill>
                  <a:srgbClr val="7DD3FC"/>
                </a:solidFill>
                <a:latin typeface="Calibri" panose="020F0502020204030204" pitchFamily="34" charset="0"/>
              </a:rPr>
              <a:t>Observability is a practice, not one product. Go and ask them how they see change.</a:t>
            </a:r>
          </a:p>
        </p:txBody>
      </p:sp>
      <p:pic>
        <p:nvPicPr>
          <p:cNvPr id="20" name="SponsorBar" descr="CAS 2026 sponsors and #CloudAISummit2026">
            <a:extLst>
              <a:ext uri="{FF2B5EF4-FFF2-40B4-BE49-F238E27FC236}">
                <a16:creationId xmlns:a16="http://schemas.microsoft.com/office/drawing/2014/main" id="{F656526C-CEF4-F2BA-903D-8D43C4D7DFD4}"/>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8664200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p:cNvSpPr/>
          <p:nvPr/>
        </p:nvSpPr>
        <p:spPr>
          <a:xfrm>
            <a:off x="822960" y="2377440"/>
            <a:ext cx="1005840" cy="50800"/>
          </a:xfrm>
          <a:prstGeom prst="rect">
            <a:avLst/>
          </a:prstGeom>
          <a:solidFill>
            <a:srgbClr val="7DD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2697480"/>
            <a:ext cx="10545775" cy="965905"/>
          </a:xfrm>
          <a:prstGeom prst="rect">
            <a:avLst/>
          </a:prstGeom>
          <a:noFill/>
        </p:spPr>
        <p:txBody>
          <a:bodyPr wrap="square" anchor="t">
            <a:spAutoFit/>
          </a:bodyPr>
          <a:lstStyle/>
          <a:p>
            <a:pPr algn="l">
              <a:lnSpc>
                <a:spcPct val="115000"/>
              </a:lnSpc>
            </a:pPr>
            <a:r>
              <a:rPr sz="5400" b="1">
                <a:solidFill>
                  <a:srgbClr val="F1F5FB"/>
                </a:solidFill>
                <a:latin typeface="Segoe UI"/>
              </a:rPr>
              <a:t>Questions?</a:t>
            </a:r>
          </a:p>
        </p:txBody>
      </p:sp>
      <p:pic>
        <p:nvPicPr>
          <p:cNvPr id="6" name="SponsorBar" descr="CAS 2026 sponsors and #CloudAISummit2026">
            <a:extLst>
              <a:ext uri="{FF2B5EF4-FFF2-40B4-BE49-F238E27FC236}">
                <a16:creationId xmlns:a16="http://schemas.microsoft.com/office/drawing/2014/main" id="{6923DD20-4A37-12A9-CA88-389DF0F646A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custDataLst>
      <p:tags r:id="rId1"/>
    </p:custDataLst>
    <p:extLst>
      <p:ext uri="{BB962C8B-B14F-4D97-AF65-F5344CB8AC3E}">
        <p14:creationId xmlns:p14="http://schemas.microsoft.com/office/powerpoint/2010/main" val="36952116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72554"/>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2556094-9F78-96DA-0C7F-BAC64033F277}"/>
              </a:ext>
            </a:extLst>
          </p:cNvPr>
          <p:cNvSpPr/>
          <p:nvPr/>
        </p:nvSpPr>
        <p:spPr>
          <a:xfrm>
            <a:off x="0" y="0"/>
            <a:ext cx="12192000" cy="1600200"/>
          </a:xfrm>
          <a:prstGeom prst="rect">
            <a:avLst/>
          </a:prstGeom>
          <a:solidFill>
            <a:srgbClr val="20326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20C28AB-44C9-3041-71AA-451C588BD01D}"/>
              </a:ext>
            </a:extLst>
          </p:cNvPr>
          <p:cNvSpPr/>
          <p:nvPr/>
        </p:nvSpPr>
        <p:spPr>
          <a:xfrm>
            <a:off x="0" y="1549400"/>
            <a:ext cx="12192000" cy="508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BEFCD75-B231-E68A-1E4E-0C42EAE394C6}"/>
              </a:ext>
            </a:extLst>
          </p:cNvPr>
          <p:cNvSpPr txBox="1"/>
          <p:nvPr/>
        </p:nvSpPr>
        <p:spPr>
          <a:xfrm>
            <a:off x="762000" y="355600"/>
            <a:ext cx="10896600" cy="523220"/>
          </a:xfrm>
          <a:prstGeom prst="rect">
            <a:avLst/>
          </a:prstGeom>
          <a:noFill/>
        </p:spPr>
        <p:txBody>
          <a:bodyPr vert="horz" wrap="square" lIns="25400" rIns="25400" rtlCol="0">
            <a:spAutoFit/>
          </a:bodyPr>
          <a:lstStyle/>
          <a:p>
            <a:r>
              <a:rPr lang="en-US" sz="2800" b="1">
                <a:solidFill>
                  <a:srgbClr val="F1F5FB"/>
                </a:solidFill>
                <a:latin typeface="Calibri" panose="020F0502020204030204" pitchFamily="34" charset="0"/>
              </a:rPr>
              <a:t>Thank you — feedback &amp; resources</a:t>
            </a:r>
          </a:p>
        </p:txBody>
      </p:sp>
      <p:sp>
        <p:nvSpPr>
          <p:cNvPr id="5" name="Rectangle 4">
            <a:extLst>
              <a:ext uri="{FF2B5EF4-FFF2-40B4-BE49-F238E27FC236}">
                <a16:creationId xmlns:a16="http://schemas.microsoft.com/office/drawing/2014/main" id="{FA91EE4E-6C92-478C-3986-1CA5F4EAF60C}"/>
              </a:ext>
            </a:extLst>
          </p:cNvPr>
          <p:cNvSpPr/>
          <p:nvPr/>
        </p:nvSpPr>
        <p:spPr>
          <a:xfrm>
            <a:off x="558800" y="381000"/>
            <a:ext cx="63500" cy="482600"/>
          </a:xfrm>
          <a:prstGeom prst="rect">
            <a:avLst/>
          </a:prstGeom>
          <a:solidFill>
            <a:srgbClr val="7DD3F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0ADD1A0-6C6E-84BF-D9DB-E54D8163906B}"/>
              </a:ext>
            </a:extLst>
          </p:cNvPr>
          <p:cNvSpPr txBox="1"/>
          <p:nvPr/>
        </p:nvSpPr>
        <p:spPr>
          <a:xfrm>
            <a:off x="609600" y="1016000"/>
            <a:ext cx="10972800" cy="307777"/>
          </a:xfrm>
          <a:prstGeom prst="rect">
            <a:avLst/>
          </a:prstGeom>
          <a:noFill/>
        </p:spPr>
        <p:txBody>
          <a:bodyPr vert="horz" wrap="square" lIns="25400" rIns="25400" rtlCol="0">
            <a:spAutoFit/>
          </a:bodyPr>
          <a:lstStyle/>
          <a:p>
            <a:r>
              <a:rPr lang="en-US" sz="1400">
                <a:solidFill>
                  <a:srgbClr val="B8C6DE"/>
                </a:solidFill>
                <a:latin typeface="Calibri" panose="020F0502020204030204" pitchFamily="34" charset="0"/>
              </a:rPr>
              <a:t>Monitoring What Microsoft Doesn't Host · Whole-Service Observability</a:t>
            </a:r>
          </a:p>
        </p:txBody>
      </p:sp>
      <p:sp>
        <p:nvSpPr>
          <p:cNvPr id="7" name="Rectangle: Rounded Corners 6">
            <a:extLst>
              <a:ext uri="{FF2B5EF4-FFF2-40B4-BE49-F238E27FC236}">
                <a16:creationId xmlns:a16="http://schemas.microsoft.com/office/drawing/2014/main" id="{1696495D-F952-1552-F3B6-151C67043CD4}"/>
              </a:ext>
            </a:extLst>
          </p:cNvPr>
          <p:cNvSpPr/>
          <p:nvPr/>
        </p:nvSpPr>
        <p:spPr>
          <a:xfrm>
            <a:off x="609600" y="1701800"/>
            <a:ext cx="3810000" cy="4419600"/>
          </a:xfrm>
          <a:prstGeom prst="roundRect">
            <a:avLst/>
          </a:prstGeom>
          <a:solidFill>
            <a:srgbClr val="283C7A"/>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F1F5FB"/>
              </a:solidFill>
              <a:latin typeface="Calibri" panose="020F0502020204030204" pitchFamily="34" charset="0"/>
            </a:endParaRPr>
          </a:p>
        </p:txBody>
      </p:sp>
      <p:sp>
        <p:nvSpPr>
          <p:cNvPr id="8" name="TextBox 7">
            <a:extLst>
              <a:ext uri="{FF2B5EF4-FFF2-40B4-BE49-F238E27FC236}">
                <a16:creationId xmlns:a16="http://schemas.microsoft.com/office/drawing/2014/main" id="{EAAC3AA0-C826-5A7D-C625-F7B3F6321CBE}"/>
              </a:ext>
            </a:extLst>
          </p:cNvPr>
          <p:cNvSpPr txBox="1"/>
          <p:nvPr/>
        </p:nvSpPr>
        <p:spPr>
          <a:xfrm>
            <a:off x="762000" y="1803400"/>
            <a:ext cx="3505200" cy="381000"/>
          </a:xfrm>
          <a:prstGeom prst="rect">
            <a:avLst/>
          </a:prstGeom>
          <a:noFill/>
        </p:spPr>
        <p:txBody>
          <a:bodyPr vert="horz" wrap="square" lIns="25400" rIns="25400" rtlCol="0">
            <a:spAutoFit/>
          </a:bodyPr>
          <a:lstStyle/>
          <a:p>
            <a:pPr algn="ctr"/>
            <a:r>
              <a:rPr lang="en-US" b="1">
                <a:solidFill>
                  <a:srgbClr val="F1F5FB"/>
                </a:solidFill>
                <a:latin typeface="Calibri" panose="020F0502020204030204" pitchFamily="34" charset="0"/>
              </a:rPr>
              <a:t>Help shape the next session</a:t>
            </a:r>
          </a:p>
        </p:txBody>
      </p:sp>
      <p:pic>
        <p:nvPicPr>
          <p:cNvPr id="10" name="Picture 9">
            <a:extLst>
              <a:ext uri="{FF2B5EF4-FFF2-40B4-BE49-F238E27FC236}">
                <a16:creationId xmlns:a16="http://schemas.microsoft.com/office/drawing/2014/main" id="{9C3B1041-A651-59E5-80EA-2CF6687372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44600" y="2311400"/>
            <a:ext cx="2540000" cy="2540000"/>
          </a:xfrm>
          <a:prstGeom prst="rect">
            <a:avLst/>
          </a:prstGeom>
        </p:spPr>
      </p:pic>
      <p:sp>
        <p:nvSpPr>
          <p:cNvPr id="11" name="TextBox 10">
            <a:extLst>
              <a:ext uri="{FF2B5EF4-FFF2-40B4-BE49-F238E27FC236}">
                <a16:creationId xmlns:a16="http://schemas.microsoft.com/office/drawing/2014/main" id="{B41C127E-9825-40DD-7FC0-ED18AACC08B5}"/>
              </a:ext>
            </a:extLst>
          </p:cNvPr>
          <p:cNvSpPr txBox="1"/>
          <p:nvPr/>
        </p:nvSpPr>
        <p:spPr>
          <a:xfrm>
            <a:off x="762000" y="5003800"/>
            <a:ext cx="3505200" cy="523220"/>
          </a:xfrm>
          <a:prstGeom prst="rect">
            <a:avLst/>
          </a:prstGeom>
          <a:noFill/>
        </p:spPr>
        <p:txBody>
          <a:bodyPr vert="horz" wrap="square" lIns="25400" rIns="25400" rtlCol="0">
            <a:spAutoFit/>
          </a:bodyPr>
          <a:lstStyle/>
          <a:p>
            <a:pPr algn="ctr"/>
            <a:r>
              <a:rPr lang="en-US" sz="1400" b="1">
                <a:solidFill>
                  <a:srgbClr val="F1F5FB"/>
                </a:solidFill>
                <a:latin typeface="Calibri" panose="020F0502020204030204" pitchFamily="34" charset="0"/>
              </a:rPr>
              <a:t>Feedback: Monitoring What Microsoft Doesn't Host</a:t>
            </a:r>
          </a:p>
        </p:txBody>
      </p:sp>
      <p:sp>
        <p:nvSpPr>
          <p:cNvPr id="12" name="TextBox 11">
            <a:extLst>
              <a:ext uri="{FF2B5EF4-FFF2-40B4-BE49-F238E27FC236}">
                <a16:creationId xmlns:a16="http://schemas.microsoft.com/office/drawing/2014/main" id="{07E75D59-35DC-53B8-BA3C-BC09C6D1AA1B}"/>
              </a:ext>
            </a:extLst>
          </p:cNvPr>
          <p:cNvSpPr txBox="1"/>
          <p:nvPr/>
        </p:nvSpPr>
        <p:spPr>
          <a:xfrm>
            <a:off x="762000" y="5588000"/>
            <a:ext cx="3505200" cy="261610"/>
          </a:xfrm>
          <a:prstGeom prst="rect">
            <a:avLst/>
          </a:prstGeom>
          <a:noFill/>
        </p:spPr>
        <p:txBody>
          <a:bodyPr vert="horz" wrap="square" lIns="25400" rIns="25400" rtlCol="0">
            <a:spAutoFit/>
          </a:bodyPr>
          <a:lstStyle/>
          <a:p>
            <a:pPr algn="ctr"/>
            <a:r>
              <a:rPr lang="en-US" sz="1100">
                <a:solidFill>
                  <a:srgbClr val="F1F5FB"/>
                </a:solidFill>
                <a:latin typeface="Calibri" panose="020F0502020204030204" pitchFamily="34" charset="0"/>
              </a:rPr>
              <a:t>Scan while the slide is visible.</a:t>
            </a:r>
          </a:p>
        </p:txBody>
      </p:sp>
      <p:sp>
        <p:nvSpPr>
          <p:cNvPr id="13" name="Rectangle: Rounded Corners 12">
            <a:extLst>
              <a:ext uri="{FF2B5EF4-FFF2-40B4-BE49-F238E27FC236}">
                <a16:creationId xmlns:a16="http://schemas.microsoft.com/office/drawing/2014/main" id="{99EB465F-0A35-05AE-B194-9F8D20D6361B}"/>
              </a:ext>
            </a:extLst>
          </p:cNvPr>
          <p:cNvSpPr/>
          <p:nvPr/>
        </p:nvSpPr>
        <p:spPr>
          <a:xfrm>
            <a:off x="4826000" y="1701800"/>
            <a:ext cx="6756400" cy="4419600"/>
          </a:xfrm>
          <a:prstGeom prst="roundRect">
            <a:avLst/>
          </a:prstGeom>
          <a:solidFill>
            <a:srgbClr val="20326C"/>
          </a:solidFill>
          <a:ln w="15875">
            <a:solidFill>
              <a:srgbClr val="849ACE"/>
            </a:solidFill>
          </a:ln>
          <a:effectLst>
            <a:outerShdw blurRad="38100" dist="37357" dir="2700000" rotWithShape="0">
              <a:scrgbClr r="0" g="0" b="0">
                <a:alpha val="14000"/>
              </a:sc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27000" rIns="127000" rtlCol="0" anchor="ctr"/>
          <a:lstStyle/>
          <a:p>
            <a:pPr algn="ctr"/>
            <a:endParaRPr lang="en-US" sz="1400">
              <a:solidFill>
                <a:srgbClr val="F1F5FB"/>
              </a:solidFill>
              <a:latin typeface="Calibri" panose="020F0502020204030204" pitchFamily="34" charset="0"/>
            </a:endParaRPr>
          </a:p>
        </p:txBody>
      </p:sp>
      <p:sp>
        <p:nvSpPr>
          <p:cNvPr id="14" name="TextBox 13">
            <a:extLst>
              <a:ext uri="{FF2B5EF4-FFF2-40B4-BE49-F238E27FC236}">
                <a16:creationId xmlns:a16="http://schemas.microsoft.com/office/drawing/2014/main" id="{0CA8F0A6-5B45-6852-5764-B46C04DC556C}"/>
              </a:ext>
            </a:extLst>
          </p:cNvPr>
          <p:cNvSpPr txBox="1"/>
          <p:nvPr/>
        </p:nvSpPr>
        <p:spPr>
          <a:xfrm>
            <a:off x="5130800" y="1854200"/>
            <a:ext cx="6096000" cy="415498"/>
          </a:xfrm>
          <a:prstGeom prst="rect">
            <a:avLst/>
          </a:prstGeom>
          <a:noFill/>
        </p:spPr>
        <p:txBody>
          <a:bodyPr vert="horz" wrap="square" lIns="25400" rIns="25400" rtlCol="0">
            <a:spAutoFit/>
          </a:bodyPr>
          <a:lstStyle/>
          <a:p>
            <a:r>
              <a:rPr lang="en-US" sz="2100" b="1">
                <a:solidFill>
                  <a:srgbClr val="F1F5FB"/>
                </a:solidFill>
                <a:latin typeface="Calibri" panose="020F0502020204030204" pitchFamily="34" charset="0"/>
              </a:rPr>
              <a:t>Take the resources with you</a:t>
            </a:r>
          </a:p>
        </p:txBody>
      </p:sp>
      <p:sp>
        <p:nvSpPr>
          <p:cNvPr id="15" name="TextBox 14">
            <a:extLst>
              <a:ext uri="{FF2B5EF4-FFF2-40B4-BE49-F238E27FC236}">
                <a16:creationId xmlns:a16="http://schemas.microsoft.com/office/drawing/2014/main" id="{74A8F1DC-23B3-6A7F-F9A2-3E2A39A1D97B}"/>
              </a:ext>
            </a:extLst>
          </p:cNvPr>
          <p:cNvSpPr txBox="1"/>
          <p:nvPr/>
        </p:nvSpPr>
        <p:spPr>
          <a:xfrm>
            <a:off x="5130800" y="2438400"/>
            <a:ext cx="6096000" cy="1569660"/>
          </a:xfrm>
          <a:prstGeom prst="rect">
            <a:avLst/>
          </a:prstGeom>
          <a:noFill/>
        </p:spPr>
        <p:txBody>
          <a:bodyPr vert="horz" wrap="square" lIns="25400" rIns="25400" rtlCol="0">
            <a:spAutoFit/>
          </a:bodyPr>
          <a:lstStyle/>
          <a:p>
            <a:r>
              <a:rPr lang="en-US" sz="1600">
                <a:solidFill>
                  <a:srgbClr val="F1F5FB"/>
                </a:solidFill>
                <a:latin typeface="Calibri" panose="020F0502020204030204" pitchFamily="34" charset="0"/>
              </a:rPr>
              <a:t>The public repository includes:
•  session storyboard and decks
•  attendee notes and the companion handout
•  demo runbooks, queries and fixtures
•  the IIC Hybrid Orders design and health model</a:t>
            </a:r>
          </a:p>
        </p:txBody>
      </p:sp>
      <p:sp>
        <p:nvSpPr>
          <p:cNvPr id="16" name="TextBox 15">
            <a:hlinkClick r:id="rId4"/>
            <a:extLst>
              <a:ext uri="{FF2B5EF4-FFF2-40B4-BE49-F238E27FC236}">
                <a16:creationId xmlns:a16="http://schemas.microsoft.com/office/drawing/2014/main" id="{4FB110A7-2FD1-ECCE-F114-9E057840009F}"/>
              </a:ext>
            </a:extLst>
          </p:cNvPr>
          <p:cNvSpPr txBox="1"/>
          <p:nvPr/>
        </p:nvSpPr>
        <p:spPr>
          <a:xfrm>
            <a:off x="5130800" y="4826000"/>
            <a:ext cx="6096000" cy="381000"/>
          </a:xfrm>
          <a:prstGeom prst="rect">
            <a:avLst/>
          </a:prstGeom>
          <a:noFill/>
        </p:spPr>
        <p:txBody>
          <a:bodyPr vert="horz" wrap="square" lIns="25400" rIns="25400" rtlCol="0">
            <a:spAutoFit/>
          </a:bodyPr>
          <a:lstStyle/>
          <a:p>
            <a:r>
              <a:rPr lang="en-US" b="1">
                <a:solidFill>
                  <a:srgbClr val="7DD3FC"/>
                </a:solidFill>
                <a:latin typeface="Calibri" panose="020F0502020204030204" pitchFamily="34" charset="0"/>
              </a:rPr>
              <a:t>github.com/thisismydemo/cas26</a:t>
            </a:r>
          </a:p>
        </p:txBody>
      </p:sp>
      <p:sp>
        <p:nvSpPr>
          <p:cNvPr id="17" name="TextBox 16">
            <a:extLst>
              <a:ext uri="{FF2B5EF4-FFF2-40B4-BE49-F238E27FC236}">
                <a16:creationId xmlns:a16="http://schemas.microsoft.com/office/drawing/2014/main" id="{F194879B-A459-D512-6865-2E575D8579B0}"/>
              </a:ext>
            </a:extLst>
          </p:cNvPr>
          <p:cNvSpPr txBox="1"/>
          <p:nvPr/>
        </p:nvSpPr>
        <p:spPr>
          <a:xfrm>
            <a:off x="5130800" y="5334000"/>
            <a:ext cx="6096000" cy="461665"/>
          </a:xfrm>
          <a:prstGeom prst="rect">
            <a:avLst/>
          </a:prstGeom>
          <a:noFill/>
        </p:spPr>
        <p:txBody>
          <a:bodyPr vert="horz" wrap="square" lIns="25400" rIns="25400" rtlCol="0">
            <a:spAutoFit/>
          </a:bodyPr>
          <a:lstStyle/>
          <a:p>
            <a:r>
              <a:rPr lang="en-US" sz="1200">
                <a:solidFill>
                  <a:srgbClr val="B8C6DE"/>
                </a:solidFill>
                <a:latin typeface="Calibri" panose="020F0502020204030204" pitchFamily="34" charset="0"/>
              </a:rPr>
              <a:t>Private credentials and environment-specific configuration are not included. Questions, feedback and follow-up are welcome.</a:t>
            </a:r>
          </a:p>
        </p:txBody>
      </p:sp>
      <p:pic>
        <p:nvPicPr>
          <p:cNvPr id="19" name="SponsorBar" descr="CAS 2026 sponsors and #CloudAISummit2026">
            <a:extLst>
              <a:ext uri="{FF2B5EF4-FFF2-40B4-BE49-F238E27FC236}">
                <a16:creationId xmlns:a16="http://schemas.microsoft.com/office/drawing/2014/main" id="{E6498306-587B-C3EE-9EEF-C2D13FB9B43E}"/>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0" y="6400800"/>
            <a:ext cx="12192000" cy="457200"/>
          </a:xfrm>
          <a:prstGeom prst="rect">
            <a:avLst/>
          </a:prstGeom>
        </p:spPr>
      </p:pic>
    </p:spTree>
    <p:extLst>
      <p:ext uri="{BB962C8B-B14F-4D97-AF65-F5344CB8AC3E}">
        <p14:creationId xmlns:p14="http://schemas.microsoft.com/office/powerpoint/2010/main" val="28848297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NTENT_ID" val="M10"/>
</p:tagLst>
</file>

<file path=ppt/tags/tag2.xml><?xml version="1.0" encoding="utf-8"?>
<p:tagLst xmlns:a="http://schemas.openxmlformats.org/drawingml/2006/main" xmlns:r="http://schemas.openxmlformats.org/officeDocument/2006/relationships" xmlns:p="http://schemas.openxmlformats.org/presentationml/2006/main">
  <p:tag name="CONTENT_ID" val="M10b"/>
</p:tagLst>
</file>

<file path=ppt/tags/tag3.xml><?xml version="1.0" encoding="utf-8"?>
<p:tagLst xmlns:a="http://schemas.openxmlformats.org/drawingml/2006/main" xmlns:r="http://schemas.openxmlformats.org/officeDocument/2006/relationships" xmlns:p="http://schemas.openxmlformats.org/presentationml/2006/main">
  <p:tag name="CONTENT_ID" val="M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12317</Words>
  <Application>Microsoft Office PowerPoint</Application>
  <PresentationFormat>Custom</PresentationFormat>
  <Paragraphs>841</Paragraphs>
  <Slides>44</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Aptos Display</vt: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Kristopher Turner</dc:creator>
  <cp:lastModifiedBy>Kristopher Turner</cp:lastModifiedBy>
  <cp:revision>2</cp:revision>
  <dcterms:created xsi:type="dcterms:W3CDTF">2026-10-01T14:16:41Z</dcterms:created>
  <dcterms:modified xsi:type="dcterms:W3CDTF">2026-10-01T14:16:45Z</dcterms:modified>
</cp:coreProperties>
</file>