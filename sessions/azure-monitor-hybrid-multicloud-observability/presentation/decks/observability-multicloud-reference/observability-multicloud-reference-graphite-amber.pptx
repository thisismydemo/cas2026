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DEE3E3-A4D1-4966-B78F-78FE0DF6A15B}"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5C052-BCF6-4AA7-9CC9-D5D892F63530}" type="slidenum">
              <a:rPr lang="en-US" smtClean="0"/>
              <a:t>‹#›</a:t>
            </a:fld>
            <a:endParaRPr lang="en-US"/>
          </a:p>
        </p:txBody>
      </p:sp>
    </p:spTree>
    <p:extLst>
      <p:ext uri="{BB962C8B-B14F-4D97-AF65-F5344CB8AC3E}">
        <p14:creationId xmlns:p14="http://schemas.microsoft.com/office/powerpoint/2010/main" val="1784573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A reference deck: read it end to end once, then use chapters on their own. It is not tied to any one application or lab; every example is generic and every command is one you can adapt.</a:t>
            </a:r>
          </a:p>
        </p:txBody>
      </p:sp>
      <p:sp>
        <p:nvSpPr>
          <p:cNvPr id="4" name="Slide Number Placeholder 3"/>
          <p:cNvSpPr>
            <a:spLocks noGrp="1"/>
          </p:cNvSpPr>
          <p:nvPr>
            <p:ph type="sldNum" sz="quarter" idx="5"/>
          </p:nvPr>
        </p:nvSpPr>
        <p:spPr/>
        <p:txBody>
          <a:bodyPr/>
          <a:lstStyle/>
          <a:p>
            <a:fld id="{F135C052-BCF6-4AA7-9CC9-D5D892F63530}" type="slidenum">
              <a:rPr lang="en-US" smtClean="0"/>
              <a:t>1</a:t>
            </a:fld>
            <a:endParaRPr lang="en-US"/>
          </a:p>
        </p:txBody>
      </p:sp>
    </p:spTree>
    <p:extLst>
      <p:ext uri="{BB962C8B-B14F-4D97-AF65-F5344CB8AC3E}">
        <p14:creationId xmlns:p14="http://schemas.microsoft.com/office/powerpoint/2010/main" val="904238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presenter slide reused from the Observability session. Nothing else from that session is reused here.</a:t>
            </a:r>
          </a:p>
        </p:txBody>
      </p:sp>
      <p:sp>
        <p:nvSpPr>
          <p:cNvPr id="4" name="Slide Number Placeholder 3"/>
          <p:cNvSpPr>
            <a:spLocks noGrp="1"/>
          </p:cNvSpPr>
          <p:nvPr>
            <p:ph type="sldNum" sz="quarter" idx="5"/>
          </p:nvPr>
        </p:nvSpPr>
        <p:spPr/>
        <p:txBody>
          <a:bodyPr/>
          <a:lstStyle/>
          <a:p>
            <a:fld id="{F135C052-BCF6-4AA7-9CC9-D5D892F63530}" type="slidenum">
              <a:rPr lang="en-US" smtClean="0"/>
              <a:t>2</a:t>
            </a:fld>
            <a:endParaRPr lang="en-US"/>
          </a:p>
        </p:txBody>
      </p:sp>
    </p:spTree>
    <p:extLst>
      <p:ext uri="{BB962C8B-B14F-4D97-AF65-F5344CB8AC3E}">
        <p14:creationId xmlns:p14="http://schemas.microsoft.com/office/powerpoint/2010/main" val="547731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how to read it: chapters 1 and 2 for everyone, 3 to 7 for the people who will build it, 8 for the people who will run it. Everything marked PREVIEW is subject to change; check Learn before you commit to it in production.</a:t>
            </a:r>
          </a:p>
        </p:txBody>
      </p:sp>
      <p:sp>
        <p:nvSpPr>
          <p:cNvPr id="4" name="Slide Number Placeholder 3"/>
          <p:cNvSpPr>
            <a:spLocks noGrp="1"/>
          </p:cNvSpPr>
          <p:nvPr>
            <p:ph type="sldNum" sz="quarter" idx="5"/>
          </p:nvPr>
        </p:nvSpPr>
        <p:spPr/>
        <p:txBody>
          <a:bodyPr/>
          <a:lstStyle/>
          <a:p>
            <a:fld id="{F135C052-BCF6-4AA7-9CC9-D5D892F63530}" type="slidenum">
              <a:rPr lang="en-US" smtClean="0"/>
              <a:t>3</a:t>
            </a:fld>
            <a:endParaRPr lang="en-US"/>
          </a:p>
        </p:txBody>
      </p:sp>
    </p:spTree>
    <p:extLst>
      <p:ext uri="{BB962C8B-B14F-4D97-AF65-F5344CB8AC3E}">
        <p14:creationId xmlns:p14="http://schemas.microsoft.com/office/powerpoint/2010/main" val="3993485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Eight chapters. The first two set the language; three and four are the two halves of the platform (control and data); five, six and seven are the lifecycle; eight is the appendix.</a:t>
            </a:r>
          </a:p>
        </p:txBody>
      </p:sp>
      <p:sp>
        <p:nvSpPr>
          <p:cNvPr id="4" name="Slide Number Placeholder 3"/>
          <p:cNvSpPr>
            <a:spLocks noGrp="1"/>
          </p:cNvSpPr>
          <p:nvPr>
            <p:ph type="sldNum" sz="quarter" idx="5"/>
          </p:nvPr>
        </p:nvSpPr>
        <p:spPr/>
        <p:txBody>
          <a:bodyPr/>
          <a:lstStyle/>
          <a:p>
            <a:fld id="{F135C052-BCF6-4AA7-9CC9-D5D892F63530}" type="slidenum">
              <a:rPr lang="en-US" smtClean="0"/>
              <a:t>4</a:t>
            </a:fld>
            <a:endParaRPr lang="en-US"/>
          </a:p>
        </p:txBody>
      </p:sp>
    </p:spTree>
    <p:extLst>
      <p:ext uri="{BB962C8B-B14F-4D97-AF65-F5344CB8AC3E}">
        <p14:creationId xmlns:p14="http://schemas.microsoft.com/office/powerpoint/2010/main" val="1538106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5</a:t>
            </a:fld>
            <a:endParaRPr lang="en-US"/>
          </a:p>
        </p:txBody>
      </p:sp>
    </p:spTree>
    <p:extLst>
      <p:ext uri="{BB962C8B-B14F-4D97-AF65-F5344CB8AC3E}">
        <p14:creationId xmlns:p14="http://schemas.microsoft.com/office/powerpoint/2010/main" val="1287560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it once. The two sentences under it are the split the whole deck uses: monitoring is collect and present; observability is explain and operate. Both are needed; the second is what most estates lack.</a:t>
            </a:r>
          </a:p>
        </p:txBody>
      </p:sp>
      <p:sp>
        <p:nvSpPr>
          <p:cNvPr id="4" name="Slide Number Placeholder 3"/>
          <p:cNvSpPr>
            <a:spLocks noGrp="1"/>
          </p:cNvSpPr>
          <p:nvPr>
            <p:ph type="sldNum" sz="quarter" idx="5"/>
          </p:nvPr>
        </p:nvSpPr>
        <p:spPr/>
        <p:txBody>
          <a:bodyPr/>
          <a:lstStyle/>
          <a:p>
            <a:fld id="{F135C052-BCF6-4AA7-9CC9-D5D892F63530}" type="slidenum">
              <a:rPr lang="en-US" smtClean="0"/>
              <a:t>6</a:t>
            </a:fld>
            <a:endParaRPr lang="en-US"/>
          </a:p>
        </p:txBody>
      </p:sp>
    </p:spTree>
    <p:extLst>
      <p:ext uri="{BB962C8B-B14F-4D97-AF65-F5344CB8AC3E}">
        <p14:creationId xmlns:p14="http://schemas.microsoft.com/office/powerpoint/2010/main" val="246096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Monitoring is necessary and not sufficient. The right column is what you add: a service boundary, dependencies, impact, an owner and proof of recovery. Same data, bigger question.</a:t>
            </a:r>
          </a:p>
        </p:txBody>
      </p:sp>
      <p:sp>
        <p:nvSpPr>
          <p:cNvPr id="4" name="Slide Number Placeholder 3"/>
          <p:cNvSpPr>
            <a:spLocks noGrp="1"/>
          </p:cNvSpPr>
          <p:nvPr>
            <p:ph type="sldNum" sz="quarter" idx="5"/>
          </p:nvPr>
        </p:nvSpPr>
        <p:spPr/>
        <p:txBody>
          <a:bodyPr/>
          <a:lstStyle/>
          <a:p>
            <a:fld id="{F135C052-BCF6-4AA7-9CC9-D5D892F63530}" type="slidenum">
              <a:rPr lang="en-US" smtClean="0"/>
              <a:t>7</a:t>
            </a:fld>
            <a:endParaRPr lang="en-US"/>
          </a:p>
        </p:txBody>
      </p:sp>
    </p:spTree>
    <p:extLst>
      <p:ext uri="{BB962C8B-B14F-4D97-AF65-F5344CB8AC3E}">
        <p14:creationId xmlns:p14="http://schemas.microsoft.com/office/powerpoint/2010/main" val="3052439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Metrics, logs and traces are the usual three pillars. A multicloud estate needs five more kinds of signal to explain anything: events (what changed), topology (what depends on what), user experience (who is affected), security telemetry (who did what) and the context that joins them all. Context is the one most teams skip and the one that makes correlation possible.</a:t>
            </a:r>
          </a:p>
        </p:txBody>
      </p:sp>
      <p:sp>
        <p:nvSpPr>
          <p:cNvPr id="4" name="Slide Number Placeholder 3"/>
          <p:cNvSpPr>
            <a:spLocks noGrp="1"/>
          </p:cNvSpPr>
          <p:nvPr>
            <p:ph type="sldNum" sz="quarter" idx="5"/>
          </p:nvPr>
        </p:nvSpPr>
        <p:spPr/>
        <p:txBody>
          <a:bodyPr/>
          <a:lstStyle/>
          <a:p>
            <a:fld id="{F135C052-BCF6-4AA7-9CC9-D5D892F63530}" type="slidenum">
              <a:rPr lang="en-US" smtClean="0"/>
              <a:t>8</a:t>
            </a:fld>
            <a:endParaRPr lang="en-US"/>
          </a:p>
        </p:txBody>
      </p:sp>
    </p:spTree>
    <p:extLst>
      <p:ext uri="{BB962C8B-B14F-4D97-AF65-F5344CB8AC3E}">
        <p14:creationId xmlns:p14="http://schemas.microsoft.com/office/powerpoint/2010/main" val="2265528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whole map, twenty areas. Chapters 3 to 7 of this deck say how Azure covers each of them for an estate that is not all in Azure. Nobody needs all twenty on day one; the planning chapter says how to pick.</a:t>
            </a:r>
          </a:p>
        </p:txBody>
      </p:sp>
      <p:sp>
        <p:nvSpPr>
          <p:cNvPr id="4" name="Slide Number Placeholder 3"/>
          <p:cNvSpPr>
            <a:spLocks noGrp="1"/>
          </p:cNvSpPr>
          <p:nvPr>
            <p:ph type="sldNum" sz="quarter" idx="5"/>
          </p:nvPr>
        </p:nvSpPr>
        <p:spPr/>
        <p:txBody>
          <a:bodyPr/>
          <a:lstStyle/>
          <a:p>
            <a:fld id="{F135C052-BCF6-4AA7-9CC9-D5D892F63530}" type="slidenum">
              <a:rPr lang="en-US" smtClean="0"/>
              <a:t>9</a:t>
            </a:fld>
            <a:endParaRPr lang="en-US"/>
          </a:p>
        </p:txBody>
      </p:sp>
    </p:spTree>
    <p:extLst>
      <p:ext uri="{BB962C8B-B14F-4D97-AF65-F5344CB8AC3E}">
        <p14:creationId xmlns:p14="http://schemas.microsoft.com/office/powerpoint/2010/main" val="129963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Eleven areas are about collecting evidence; nine are about turning it into operation. Most estates over-invest in the left column and under-invest in the right. The right column is where observability differs from monitoring.</a:t>
            </a:r>
          </a:p>
        </p:txBody>
      </p:sp>
      <p:sp>
        <p:nvSpPr>
          <p:cNvPr id="4" name="Slide Number Placeholder 3"/>
          <p:cNvSpPr>
            <a:spLocks noGrp="1"/>
          </p:cNvSpPr>
          <p:nvPr>
            <p:ph type="sldNum" sz="quarter" idx="5"/>
          </p:nvPr>
        </p:nvSpPr>
        <p:spPr/>
        <p:txBody>
          <a:bodyPr/>
          <a:lstStyle/>
          <a:p>
            <a:fld id="{F135C052-BCF6-4AA7-9CC9-D5D892F63530}" type="slidenum">
              <a:rPr lang="en-US" smtClean="0"/>
              <a:t>10</a:t>
            </a:fld>
            <a:endParaRPr lang="en-US"/>
          </a:p>
        </p:txBody>
      </p:sp>
    </p:spTree>
    <p:extLst>
      <p:ext uri="{BB962C8B-B14F-4D97-AF65-F5344CB8AC3E}">
        <p14:creationId xmlns:p14="http://schemas.microsoft.com/office/powerpoint/2010/main" val="3744566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questions, in the order an incident asks them. Every signal, dashboard and alert in the rest of the deck exists to answer one of these. If a signal answers none of them, chapter 7 says to retire it.</a:t>
            </a:r>
          </a:p>
        </p:txBody>
      </p:sp>
      <p:sp>
        <p:nvSpPr>
          <p:cNvPr id="4" name="Slide Number Placeholder 3"/>
          <p:cNvSpPr>
            <a:spLocks noGrp="1"/>
          </p:cNvSpPr>
          <p:nvPr>
            <p:ph type="sldNum" sz="quarter" idx="5"/>
          </p:nvPr>
        </p:nvSpPr>
        <p:spPr/>
        <p:txBody>
          <a:bodyPr/>
          <a:lstStyle/>
          <a:p>
            <a:fld id="{F135C052-BCF6-4AA7-9CC9-D5D892F63530}" type="slidenum">
              <a:rPr lang="en-US" smtClean="0"/>
              <a:t>11</a:t>
            </a:fld>
            <a:endParaRPr lang="en-US"/>
          </a:p>
        </p:txBody>
      </p:sp>
    </p:spTree>
    <p:extLst>
      <p:ext uri="{BB962C8B-B14F-4D97-AF65-F5344CB8AC3E}">
        <p14:creationId xmlns:p14="http://schemas.microsoft.com/office/powerpoint/2010/main" val="719778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it to place your own estate. Most teams with a corporate monitoring tool are at Collect, with islands of Correlate. The rest of the deck is the path from Collect to Govern with Azure as the management plane.</a:t>
            </a:r>
          </a:p>
        </p:txBody>
      </p:sp>
      <p:sp>
        <p:nvSpPr>
          <p:cNvPr id="4" name="Slide Number Placeholder 3"/>
          <p:cNvSpPr>
            <a:spLocks noGrp="1"/>
          </p:cNvSpPr>
          <p:nvPr>
            <p:ph type="sldNum" sz="quarter" idx="5"/>
          </p:nvPr>
        </p:nvSpPr>
        <p:spPr/>
        <p:txBody>
          <a:bodyPr/>
          <a:lstStyle/>
          <a:p>
            <a:fld id="{F135C052-BCF6-4AA7-9CC9-D5D892F63530}" type="slidenum">
              <a:rPr lang="en-US" smtClean="0"/>
              <a:t>12</a:t>
            </a:fld>
            <a:endParaRPr lang="en-US"/>
          </a:p>
        </p:txBody>
      </p:sp>
    </p:spTree>
    <p:extLst>
      <p:ext uri="{BB962C8B-B14F-4D97-AF65-F5344CB8AC3E}">
        <p14:creationId xmlns:p14="http://schemas.microsoft.com/office/powerpoint/2010/main" val="892427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13</a:t>
            </a:fld>
            <a:endParaRPr lang="en-US"/>
          </a:p>
        </p:txBody>
      </p:sp>
    </p:spTree>
    <p:extLst>
      <p:ext uri="{BB962C8B-B14F-4D97-AF65-F5344CB8AC3E}">
        <p14:creationId xmlns:p14="http://schemas.microsoft.com/office/powerpoint/2010/main" val="1249947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places, one service. Two datacenters on VMware or Hyper-V with SCVMM, Azure, AWS, GCP, and edge or branch sites, with Kubernetes in several of them. The question is never which place is healthy; it is whether the service that crosses them is working. Point at each box and name what you run there.</a:t>
            </a:r>
          </a:p>
        </p:txBody>
      </p:sp>
      <p:sp>
        <p:nvSpPr>
          <p:cNvPr id="4" name="Slide Number Placeholder 3"/>
          <p:cNvSpPr>
            <a:spLocks noGrp="1"/>
          </p:cNvSpPr>
          <p:nvPr>
            <p:ph type="sldNum" sz="quarter" idx="5"/>
          </p:nvPr>
        </p:nvSpPr>
        <p:spPr/>
        <p:txBody>
          <a:bodyPr/>
          <a:lstStyle/>
          <a:p>
            <a:fld id="{F135C052-BCF6-4AA7-9CC9-D5D892F63530}" type="slidenum">
              <a:rPr lang="en-US" smtClean="0"/>
              <a:t>14</a:t>
            </a:fld>
            <a:endParaRPr lang="en-US"/>
          </a:p>
        </p:txBody>
      </p:sp>
    </p:spTree>
    <p:extLst>
      <p:ext uri="{BB962C8B-B14F-4D97-AF65-F5344CB8AC3E}">
        <p14:creationId xmlns:p14="http://schemas.microsoft.com/office/powerpoint/2010/main" val="2030001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pivot of the whole deck. Site-first is the natural outcome of buying a tool per platform. Service-first needs a single management plane and a single data plane that every place reports into, which is what chapters 3 and 4 build.</a:t>
            </a:r>
          </a:p>
        </p:txBody>
      </p:sp>
      <p:sp>
        <p:nvSpPr>
          <p:cNvPr id="4" name="Slide Number Placeholder 3"/>
          <p:cNvSpPr>
            <a:spLocks noGrp="1"/>
          </p:cNvSpPr>
          <p:nvPr>
            <p:ph type="sldNum" sz="quarter" idx="5"/>
          </p:nvPr>
        </p:nvSpPr>
        <p:spPr/>
        <p:txBody>
          <a:bodyPr/>
          <a:lstStyle/>
          <a:p>
            <a:fld id="{F135C052-BCF6-4AA7-9CC9-D5D892F63530}" type="slidenum">
              <a:rPr lang="en-US" smtClean="0"/>
              <a:t>15</a:t>
            </a:fld>
            <a:endParaRPr lang="en-US"/>
          </a:p>
        </p:txBody>
      </p:sp>
    </p:spTree>
    <p:extLst>
      <p:ext uri="{BB962C8B-B14F-4D97-AF65-F5344CB8AC3E}">
        <p14:creationId xmlns:p14="http://schemas.microsoft.com/office/powerpoint/2010/main" val="1363153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planes, kept separate on purpose. The management plane is how a machine or cluster anywhere becomes a resource you can govern: identity, policy, RBAC, inventory, extensions. The data plane is how its evidence travels: agents, rules, endpoints, workspaces, OpenTelemetry. Azure Arc is the management plane; Azure Monitor is the data plane. Confusing them is why people think an Arc-connected server is monitored when it is only registered.</a:t>
            </a:r>
          </a:p>
        </p:txBody>
      </p:sp>
      <p:sp>
        <p:nvSpPr>
          <p:cNvPr id="4" name="Slide Number Placeholder 3"/>
          <p:cNvSpPr>
            <a:spLocks noGrp="1"/>
          </p:cNvSpPr>
          <p:nvPr>
            <p:ph type="sldNum" sz="quarter" idx="5"/>
          </p:nvPr>
        </p:nvSpPr>
        <p:spPr/>
        <p:txBody>
          <a:bodyPr/>
          <a:lstStyle/>
          <a:p>
            <a:fld id="{F135C052-BCF6-4AA7-9CC9-D5D892F63530}" type="slidenum">
              <a:rPr lang="en-US" smtClean="0"/>
              <a:t>16</a:t>
            </a:fld>
            <a:endParaRPr lang="en-US"/>
          </a:p>
        </p:txBody>
      </p:sp>
    </p:spTree>
    <p:extLst>
      <p:ext uri="{BB962C8B-B14F-4D97-AF65-F5344CB8AC3E}">
        <p14:creationId xmlns:p14="http://schemas.microsoft.com/office/powerpoint/2010/main" val="1916229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case for Azure as the plane in one slide. The point is not that Azure is the best monitor; it is that Arc gives every machine and cluster the same resource model, identity and policy, and the data plane then has one shape everywhere.</a:t>
            </a:r>
          </a:p>
        </p:txBody>
      </p:sp>
      <p:sp>
        <p:nvSpPr>
          <p:cNvPr id="4" name="Slide Number Placeholder 3"/>
          <p:cNvSpPr>
            <a:spLocks noGrp="1"/>
          </p:cNvSpPr>
          <p:nvPr>
            <p:ph type="sldNum" sz="quarter" idx="5"/>
          </p:nvPr>
        </p:nvSpPr>
        <p:spPr/>
        <p:txBody>
          <a:bodyPr/>
          <a:lstStyle/>
          <a:p>
            <a:fld id="{F135C052-BCF6-4AA7-9CC9-D5D892F63530}" type="slidenum">
              <a:rPr lang="en-US" smtClean="0"/>
              <a:t>17</a:t>
            </a:fld>
            <a:endParaRPr lang="en-US"/>
          </a:p>
        </p:txBody>
      </p:sp>
    </p:spTree>
    <p:extLst>
      <p:ext uri="{BB962C8B-B14F-4D97-AF65-F5344CB8AC3E}">
        <p14:creationId xmlns:p14="http://schemas.microsoft.com/office/powerpoint/2010/main" val="2382695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Honest scoping. Azure becomes the plane for machines and clusters everywhere; the other clouds keep their native platform telemetry (CloudWatch, Cloud Monitoring) for their managed services, and the connector gives you inventory of those services in Azure. You do not replace CloudWatch; you stop depending on it for the question that crosses clouds.</a:t>
            </a:r>
          </a:p>
        </p:txBody>
      </p:sp>
      <p:sp>
        <p:nvSpPr>
          <p:cNvPr id="4" name="Slide Number Placeholder 3"/>
          <p:cNvSpPr>
            <a:spLocks noGrp="1"/>
          </p:cNvSpPr>
          <p:nvPr>
            <p:ph type="sldNum" sz="quarter" idx="5"/>
          </p:nvPr>
        </p:nvSpPr>
        <p:spPr/>
        <p:txBody>
          <a:bodyPr/>
          <a:lstStyle/>
          <a:p>
            <a:fld id="{F135C052-BCF6-4AA7-9CC9-D5D892F63530}" type="slidenum">
              <a:rPr lang="en-US" smtClean="0"/>
              <a:t>18</a:t>
            </a:fld>
            <a:endParaRPr lang="en-US"/>
          </a:p>
        </p:txBody>
      </p:sp>
    </p:spTree>
    <p:extLst>
      <p:ext uri="{BB962C8B-B14F-4D97-AF65-F5344CB8AC3E}">
        <p14:creationId xmlns:p14="http://schemas.microsoft.com/office/powerpoint/2010/main" val="65638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19</a:t>
            </a:fld>
            <a:endParaRPr lang="en-US"/>
          </a:p>
        </p:txBody>
      </p:sp>
    </p:spTree>
    <p:extLst>
      <p:ext uri="{BB962C8B-B14F-4D97-AF65-F5344CB8AC3E}">
        <p14:creationId xmlns:p14="http://schemas.microsoft.com/office/powerpoint/2010/main" val="52047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Arc projects a non-Azure resource into Azure Resource Manager. The machine gets a resource ID, a managed identity, tags, RBAC and policy, exactly like an Azure VM; nothing about the machine moves. Everything else in this chapter is a way of creating that projection for a different kind of estate.</a:t>
            </a:r>
          </a:p>
        </p:txBody>
      </p:sp>
      <p:sp>
        <p:nvSpPr>
          <p:cNvPr id="4" name="Slide Number Placeholder 3"/>
          <p:cNvSpPr>
            <a:spLocks noGrp="1"/>
          </p:cNvSpPr>
          <p:nvPr>
            <p:ph type="sldNum" sz="quarter" idx="5"/>
          </p:nvPr>
        </p:nvSpPr>
        <p:spPr/>
        <p:txBody>
          <a:bodyPr/>
          <a:lstStyle/>
          <a:p>
            <a:fld id="{F135C052-BCF6-4AA7-9CC9-D5D892F63530}" type="slidenum">
              <a:rPr lang="en-US" smtClean="0"/>
              <a:t>20</a:t>
            </a:fld>
            <a:endParaRPr lang="en-US"/>
          </a:p>
        </p:txBody>
      </p:sp>
    </p:spTree>
    <p:extLst>
      <p:ext uri="{BB962C8B-B14F-4D97-AF65-F5344CB8AC3E}">
        <p14:creationId xmlns:p14="http://schemas.microsoft.com/office/powerpoint/2010/main" val="2780721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Seven products under one name. For observability the ones that matter most are servers, Kubernetes and the connector; VMware and SCVMM add platform inventory and let you enable guest management at scale from Azure.</a:t>
            </a:r>
          </a:p>
        </p:txBody>
      </p:sp>
      <p:sp>
        <p:nvSpPr>
          <p:cNvPr id="4" name="Slide Number Placeholder 3"/>
          <p:cNvSpPr>
            <a:spLocks noGrp="1"/>
          </p:cNvSpPr>
          <p:nvPr>
            <p:ph type="sldNum" sz="quarter" idx="5"/>
          </p:nvPr>
        </p:nvSpPr>
        <p:spPr/>
        <p:txBody>
          <a:bodyPr/>
          <a:lstStyle/>
          <a:p>
            <a:fld id="{F135C052-BCF6-4AA7-9CC9-D5D892F63530}" type="slidenum">
              <a:rPr lang="en-US" smtClean="0"/>
              <a:t>21</a:t>
            </a:fld>
            <a:endParaRPr lang="en-US"/>
          </a:p>
        </p:txBody>
      </p:sp>
    </p:spTree>
    <p:extLst>
      <p:ext uri="{BB962C8B-B14F-4D97-AF65-F5344CB8AC3E}">
        <p14:creationId xmlns:p14="http://schemas.microsoft.com/office/powerpoint/2010/main" val="40303972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agent, three services: the hybrid instance metadata service (identity and metadata), the guest configuration service (policy and machine configuration), and the extension manager (installs the Azure Monitor Agent, Dependency agent, Defender, custom scripts). Everything is outbound HTTPS 443. The agent itself collects no telemetry; that is the extensions' job.</a:t>
            </a:r>
          </a:p>
        </p:txBody>
      </p:sp>
      <p:sp>
        <p:nvSpPr>
          <p:cNvPr id="4" name="Slide Number Placeholder 3"/>
          <p:cNvSpPr>
            <a:spLocks noGrp="1"/>
          </p:cNvSpPr>
          <p:nvPr>
            <p:ph type="sldNum" sz="quarter" idx="5"/>
          </p:nvPr>
        </p:nvSpPr>
        <p:spPr/>
        <p:txBody>
          <a:bodyPr/>
          <a:lstStyle/>
          <a:p>
            <a:fld id="{F135C052-BCF6-4AA7-9CC9-D5D892F63530}" type="slidenum">
              <a:rPr lang="en-US" smtClean="0"/>
              <a:t>22</a:t>
            </a:fld>
            <a:endParaRPr lang="en-US"/>
          </a:p>
        </p:txBody>
      </p:sp>
    </p:spTree>
    <p:extLst>
      <p:ext uri="{BB962C8B-B14F-4D97-AF65-F5344CB8AC3E}">
        <p14:creationId xmlns:p14="http://schemas.microsoft.com/office/powerpoint/2010/main" val="5099344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it plainly: the reason to prefer Arc over installing agents by hand is that each machine becomes a first-class identity. Telemetry from anywhere can be authorised the same way as telemetry from Azure.</a:t>
            </a:r>
          </a:p>
        </p:txBody>
      </p:sp>
      <p:sp>
        <p:nvSpPr>
          <p:cNvPr id="4" name="Slide Number Placeholder 3"/>
          <p:cNvSpPr>
            <a:spLocks noGrp="1"/>
          </p:cNvSpPr>
          <p:nvPr>
            <p:ph type="sldNum" sz="quarter" idx="5"/>
          </p:nvPr>
        </p:nvSpPr>
        <p:spPr/>
        <p:txBody>
          <a:bodyPr/>
          <a:lstStyle/>
          <a:p>
            <a:fld id="{F135C052-BCF6-4AA7-9CC9-D5D892F63530}" type="slidenum">
              <a:rPr lang="en-US" smtClean="0"/>
              <a:t>23</a:t>
            </a:fld>
            <a:endParaRPr lang="en-US"/>
          </a:p>
        </p:txBody>
      </p:sp>
    </p:spTree>
    <p:extLst>
      <p:ext uri="{BB962C8B-B14F-4D97-AF65-F5344CB8AC3E}">
        <p14:creationId xmlns:p14="http://schemas.microsoft.com/office/powerpoint/2010/main" val="13450303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ways out. Direct over HTTPS 443 to the public endpoints; through your proxy (the agent supports proxy configuration; TLS inspection works because the agent does not pin certificates); through Azure Arc gateway, which cuts the endpoint list to eight for the agent but needs internet access and does not support Private Link; or through an Azure Arc Private Link Scope over ExpressRoute or VPN, where traffic stays on your network but Entra ID and Resource Manager remain public. Pick per site, not per estate.</a:t>
            </a:r>
          </a:p>
        </p:txBody>
      </p:sp>
      <p:sp>
        <p:nvSpPr>
          <p:cNvPr id="4" name="Slide Number Placeholder 3"/>
          <p:cNvSpPr>
            <a:spLocks noGrp="1"/>
          </p:cNvSpPr>
          <p:nvPr>
            <p:ph type="sldNum" sz="quarter" idx="5"/>
          </p:nvPr>
        </p:nvSpPr>
        <p:spPr/>
        <p:txBody>
          <a:bodyPr/>
          <a:lstStyle/>
          <a:p>
            <a:fld id="{F135C052-BCF6-4AA7-9CC9-D5D892F63530}" type="slidenum">
              <a:rPr lang="en-US" smtClean="0"/>
              <a:t>24</a:t>
            </a:fld>
            <a:endParaRPr lang="en-US"/>
          </a:p>
        </p:txBody>
      </p:sp>
    </p:spTree>
    <p:extLst>
      <p:ext uri="{BB962C8B-B14F-4D97-AF65-F5344CB8AC3E}">
        <p14:creationId xmlns:p14="http://schemas.microsoft.com/office/powerpoint/2010/main" val="40839190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core list for Arc-enabled servers in the public cloud; extensions add their own (the Azure Monitor Agent needs the ingestion endpoints in chapter 4). Allow the regional Entra endpoints, not only the global one. Arc gateway collapses most of this to eight endpoints; Private Link covers the two marked private and nothing else.</a:t>
            </a:r>
          </a:p>
        </p:txBody>
      </p:sp>
      <p:sp>
        <p:nvSpPr>
          <p:cNvPr id="4" name="Slide Number Placeholder 3"/>
          <p:cNvSpPr>
            <a:spLocks noGrp="1"/>
          </p:cNvSpPr>
          <p:nvPr>
            <p:ph type="sldNum" sz="quarter" idx="5"/>
          </p:nvPr>
        </p:nvSpPr>
        <p:spPr/>
        <p:txBody>
          <a:bodyPr/>
          <a:lstStyle/>
          <a:p>
            <a:fld id="{F135C052-BCF6-4AA7-9CC9-D5D892F63530}" type="slidenum">
              <a:rPr lang="en-US" smtClean="0"/>
              <a:t>25</a:t>
            </a:fld>
            <a:endParaRPr lang="en-US"/>
          </a:p>
        </p:txBody>
      </p:sp>
    </p:spTree>
    <p:extLst>
      <p:ext uri="{BB962C8B-B14F-4D97-AF65-F5344CB8AC3E}">
        <p14:creationId xmlns:p14="http://schemas.microsoft.com/office/powerpoint/2010/main" val="1940147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Interactive for the first ten, a service principal with the onboarding role and your existing push tooling for the rest. Tag at connect time: site, owner, environment, cost centre. Everything in chapter 5 keys off those tags. For VMware and SCVMM estates, the resource bridge can enable guest management in bulk instead.</a:t>
            </a:r>
          </a:p>
        </p:txBody>
      </p:sp>
      <p:sp>
        <p:nvSpPr>
          <p:cNvPr id="4" name="Slide Number Placeholder 3"/>
          <p:cNvSpPr>
            <a:spLocks noGrp="1"/>
          </p:cNvSpPr>
          <p:nvPr>
            <p:ph type="sldNum" sz="quarter" idx="5"/>
          </p:nvPr>
        </p:nvSpPr>
        <p:spPr/>
        <p:txBody>
          <a:bodyPr/>
          <a:lstStyle/>
          <a:p>
            <a:fld id="{F135C052-BCF6-4AA7-9CC9-D5D892F63530}" type="slidenum">
              <a:rPr lang="en-US" smtClean="0"/>
              <a:t>26</a:t>
            </a:fld>
            <a:endParaRPr lang="en-US"/>
          </a:p>
        </p:txBody>
      </p:sp>
    </p:spTree>
    <p:extLst>
      <p:ext uri="{BB962C8B-B14F-4D97-AF65-F5344CB8AC3E}">
        <p14:creationId xmlns:p14="http://schemas.microsoft.com/office/powerpoint/2010/main" val="2850847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resource bridge is an appliance VM (a small Kubernetes management cluster) deployed in your private cloud with credentials to vCenter or SCVMM. It discovers the inventory and projects it into Azure; from there you can start, stop, resize and, for observability, enable guest management, which installs the same Connected Machine agent. One bridge per vCenter (up to 9,500 VMs); vCenter 8 today; no Private Link; upgrade at least every six months. The bridge is a control plane, not a data path: telemetry still goes agent to Azure Monitor.</a:t>
            </a:r>
          </a:p>
        </p:txBody>
      </p:sp>
      <p:sp>
        <p:nvSpPr>
          <p:cNvPr id="4" name="Slide Number Placeholder 3"/>
          <p:cNvSpPr>
            <a:spLocks noGrp="1"/>
          </p:cNvSpPr>
          <p:nvPr>
            <p:ph type="sldNum" sz="quarter" idx="5"/>
          </p:nvPr>
        </p:nvSpPr>
        <p:spPr/>
        <p:txBody>
          <a:bodyPr/>
          <a:lstStyle/>
          <a:p>
            <a:fld id="{F135C052-BCF6-4AA7-9CC9-D5D892F63530}" type="slidenum">
              <a:rPr lang="en-US" smtClean="0"/>
              <a:t>27</a:t>
            </a:fld>
            <a:endParaRPr lang="en-US"/>
          </a:p>
        </p:txBody>
      </p:sp>
    </p:spTree>
    <p:extLst>
      <p:ext uri="{BB962C8B-B14F-4D97-AF65-F5344CB8AC3E}">
        <p14:creationId xmlns:p14="http://schemas.microsoft.com/office/powerpoint/2010/main" val="13507545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command projects a cluster; the agents run in the azure-arc namespace and talk outbound. From then on the cluster takes cluster extensions like any AKS cluster, which is how Container insights and Managed Prometheus arrive on EKS and GKE. Arc gateway is also available for Kubernetes to simplify egress.</a:t>
            </a:r>
          </a:p>
        </p:txBody>
      </p:sp>
      <p:sp>
        <p:nvSpPr>
          <p:cNvPr id="4" name="Slide Number Placeholder 3"/>
          <p:cNvSpPr>
            <a:spLocks noGrp="1"/>
          </p:cNvSpPr>
          <p:nvPr>
            <p:ph type="sldNum" sz="quarter" idx="5"/>
          </p:nvPr>
        </p:nvSpPr>
        <p:spPr/>
        <p:txBody>
          <a:bodyPr/>
          <a:lstStyle/>
          <a:p>
            <a:fld id="{F135C052-BCF6-4AA7-9CC9-D5D892F63530}" type="slidenum">
              <a:rPr lang="en-US" smtClean="0"/>
              <a:t>28</a:t>
            </a:fld>
            <a:endParaRPr lang="en-US"/>
          </a:p>
        </p:txBody>
      </p:sp>
    </p:spTree>
    <p:extLst>
      <p:ext uri="{BB962C8B-B14F-4D97-AF65-F5344CB8AC3E}">
        <p14:creationId xmlns:p14="http://schemas.microsoft.com/office/powerpoint/2010/main" val="349205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AWS you have two routes. The multicloud connector (a CloudFormation template you deploy in the account) gives you Inventory of more than a hundred AWS services as Azure resources in a resource group named AWS_&lt;account&gt;, and Arc onboarding: it discovers EC2 instances, uses Systems Manager (SSM agent, an IAM role, a scheduled Lambda by default daily) to install the Connected Machine agent, and can onboard EKS clusters (PREVIEW). Or you push the agent yourself with your own tooling. Filter onboarding by region and tag. Limits: one resource group per account, at most 980 accounts per subscription.</a:t>
            </a:r>
          </a:p>
        </p:txBody>
      </p:sp>
      <p:sp>
        <p:nvSpPr>
          <p:cNvPr id="4" name="Slide Number Placeholder 3"/>
          <p:cNvSpPr>
            <a:spLocks noGrp="1"/>
          </p:cNvSpPr>
          <p:nvPr>
            <p:ph type="sldNum" sz="quarter" idx="5"/>
          </p:nvPr>
        </p:nvSpPr>
        <p:spPr/>
        <p:txBody>
          <a:bodyPr/>
          <a:lstStyle/>
          <a:p>
            <a:fld id="{F135C052-BCF6-4AA7-9CC9-D5D892F63530}" type="slidenum">
              <a:rPr lang="en-US" smtClean="0"/>
              <a:t>29</a:t>
            </a:fld>
            <a:endParaRPr lang="en-US"/>
          </a:p>
        </p:txBody>
      </p:sp>
    </p:spTree>
    <p:extLst>
      <p:ext uri="{BB962C8B-B14F-4D97-AF65-F5344CB8AC3E}">
        <p14:creationId xmlns:p14="http://schemas.microsoft.com/office/powerpoint/2010/main" val="3063098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GCP is a step behind AWS in the connector but identical in the agent and Kubernetes paths. Plan GCP on the agent and connectedk8s paths and treat the connector as a bonus for inventory.</a:t>
            </a:r>
          </a:p>
        </p:txBody>
      </p:sp>
      <p:sp>
        <p:nvSpPr>
          <p:cNvPr id="4" name="Slide Number Placeholder 3"/>
          <p:cNvSpPr>
            <a:spLocks noGrp="1"/>
          </p:cNvSpPr>
          <p:nvPr>
            <p:ph type="sldNum" sz="quarter" idx="5"/>
          </p:nvPr>
        </p:nvSpPr>
        <p:spPr/>
        <p:txBody>
          <a:bodyPr/>
          <a:lstStyle/>
          <a:p>
            <a:fld id="{F135C052-BCF6-4AA7-9CC9-D5D892F63530}" type="slidenum">
              <a:rPr lang="en-US" smtClean="0"/>
              <a:t>30</a:t>
            </a:fld>
            <a:endParaRPr lang="en-US"/>
          </a:p>
        </p:txBody>
      </p:sp>
    </p:spTree>
    <p:extLst>
      <p:ext uri="{BB962C8B-B14F-4D97-AF65-F5344CB8AC3E}">
        <p14:creationId xmlns:p14="http://schemas.microsoft.com/office/powerpoint/2010/main" val="26004059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built-in initiatives (Linux and Windows) install the agent and associate the rule on every current and future Arc machine in scope; evaluation is every 24 hours or on demand. Resource Graph is your inventory across all estates because the connector and Arc already made them resources. These two habits replace spreadsheets.</a:t>
            </a:r>
          </a:p>
        </p:txBody>
      </p:sp>
      <p:sp>
        <p:nvSpPr>
          <p:cNvPr id="4" name="Slide Number Placeholder 3"/>
          <p:cNvSpPr>
            <a:spLocks noGrp="1"/>
          </p:cNvSpPr>
          <p:nvPr>
            <p:ph type="sldNum" sz="quarter" idx="5"/>
          </p:nvPr>
        </p:nvSpPr>
        <p:spPr/>
        <p:txBody>
          <a:bodyPr/>
          <a:lstStyle/>
          <a:p>
            <a:fld id="{F135C052-BCF6-4AA7-9CC9-D5D892F63530}" type="slidenum">
              <a:rPr lang="en-US" smtClean="0"/>
              <a:t>31</a:t>
            </a:fld>
            <a:endParaRPr lang="en-US"/>
          </a:p>
        </p:txBody>
      </p:sp>
    </p:spTree>
    <p:extLst>
      <p:ext uri="{BB962C8B-B14F-4D97-AF65-F5344CB8AC3E}">
        <p14:creationId xmlns:p14="http://schemas.microsoft.com/office/powerpoint/2010/main" val="1949924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you run on the left, Arc in the middle turning each into a resource with an identity, Azure governance on the right: Policy, RBAC, tags, Resource Graph, Defender. No telemetry has moved yet; that is chapter 4.</a:t>
            </a:r>
          </a:p>
        </p:txBody>
      </p:sp>
      <p:sp>
        <p:nvSpPr>
          <p:cNvPr id="4" name="Slide Number Placeholder 3"/>
          <p:cNvSpPr>
            <a:spLocks noGrp="1"/>
          </p:cNvSpPr>
          <p:nvPr>
            <p:ph type="sldNum" sz="quarter" idx="5"/>
          </p:nvPr>
        </p:nvSpPr>
        <p:spPr/>
        <p:txBody>
          <a:bodyPr/>
          <a:lstStyle/>
          <a:p>
            <a:fld id="{F135C052-BCF6-4AA7-9CC9-D5D892F63530}" type="slidenum">
              <a:rPr lang="en-US" smtClean="0"/>
              <a:t>32</a:t>
            </a:fld>
            <a:endParaRPr lang="en-US"/>
          </a:p>
        </p:txBody>
      </p:sp>
    </p:spTree>
    <p:extLst>
      <p:ext uri="{BB962C8B-B14F-4D97-AF65-F5344CB8AC3E}">
        <p14:creationId xmlns:p14="http://schemas.microsoft.com/office/powerpoint/2010/main" val="27938079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33</a:t>
            </a:fld>
            <a:endParaRPr lang="en-US"/>
          </a:p>
        </p:txBody>
      </p:sp>
    </p:spTree>
    <p:extLst>
      <p:ext uri="{BB962C8B-B14F-4D97-AF65-F5344CB8AC3E}">
        <p14:creationId xmlns:p14="http://schemas.microsoft.com/office/powerpoint/2010/main" val="32502231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picture of the whole data plane. Sources on the left (Arc servers, Arc Kubernetes, Azure resources, applications, other clouds' platform logs); collection in the middle (the Azure Monitor Agent with data collection rules, cluster extensions, OpenTelemetry, diagnostic settings, the logs ingestion API, Prometheus remote write); stores on the right (Log Analytics workspace for logs and metrics tables, Azure Monitor workspace for Prometheus, Application Insights on a workspace); consumers above (Log Analytics, Metrics explorer, Managed Grafana, workbooks, Health Models, alerts, Sentinel). Every later slide zooms into one arrow.</a:t>
            </a:r>
          </a:p>
        </p:txBody>
      </p:sp>
      <p:sp>
        <p:nvSpPr>
          <p:cNvPr id="4" name="Slide Number Placeholder 3"/>
          <p:cNvSpPr>
            <a:spLocks noGrp="1"/>
          </p:cNvSpPr>
          <p:nvPr>
            <p:ph type="sldNum" sz="quarter" idx="5"/>
          </p:nvPr>
        </p:nvSpPr>
        <p:spPr/>
        <p:txBody>
          <a:bodyPr/>
          <a:lstStyle/>
          <a:p>
            <a:fld id="{F135C052-BCF6-4AA7-9CC9-D5D892F63530}" type="slidenum">
              <a:rPr lang="en-US" smtClean="0"/>
              <a:t>34</a:t>
            </a:fld>
            <a:endParaRPr lang="en-US"/>
          </a:p>
        </p:txBody>
      </p:sp>
    </p:spTree>
    <p:extLst>
      <p:ext uri="{BB962C8B-B14F-4D97-AF65-F5344CB8AC3E}">
        <p14:creationId xmlns:p14="http://schemas.microsoft.com/office/powerpoint/2010/main" val="1086566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one workspace per tenant and only add more for residency, legal or Sentinel-scale reasons. Resource-context RBAC lets a team see only the resources it owns inside a shared workspace, so access is not a reason to split. Every extra workspace is one more place correlation breaks.</a:t>
            </a:r>
          </a:p>
        </p:txBody>
      </p:sp>
      <p:sp>
        <p:nvSpPr>
          <p:cNvPr id="4" name="Slide Number Placeholder 3"/>
          <p:cNvSpPr>
            <a:spLocks noGrp="1"/>
          </p:cNvSpPr>
          <p:nvPr>
            <p:ph type="sldNum" sz="quarter" idx="5"/>
          </p:nvPr>
        </p:nvSpPr>
        <p:spPr/>
        <p:txBody>
          <a:bodyPr/>
          <a:lstStyle/>
          <a:p>
            <a:fld id="{F135C052-BCF6-4AA7-9CC9-D5D892F63530}" type="slidenum">
              <a:rPr lang="en-US" smtClean="0"/>
              <a:t>35</a:t>
            </a:fld>
            <a:endParaRPr lang="en-US"/>
          </a:p>
        </p:txBody>
      </p:sp>
    </p:spTree>
    <p:extLst>
      <p:ext uri="{BB962C8B-B14F-4D97-AF65-F5344CB8AC3E}">
        <p14:creationId xmlns:p14="http://schemas.microsoft.com/office/powerpoint/2010/main" val="30451735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objects. The agent runs on the machine (as an Arc extension) and does nothing until a data collection rule is associated with it. The rule says data sources (performance counters, Windows events, Syslog, text logs, IIS logs, custom JSON), optional transformation (KQL applied at ingestion to filter or reshape), and destinations (which workspace, which table; metrics can also go to Azure Monitor Metrics). A data collection endpoint is needed for private link and for custom text or JSON logs. One rule can serve thousands of machines; associate by Policy.</a:t>
            </a:r>
          </a:p>
        </p:txBody>
      </p:sp>
      <p:sp>
        <p:nvSpPr>
          <p:cNvPr id="4" name="Slide Number Placeholder 3"/>
          <p:cNvSpPr>
            <a:spLocks noGrp="1"/>
          </p:cNvSpPr>
          <p:nvPr>
            <p:ph type="sldNum" sz="quarter" idx="5"/>
          </p:nvPr>
        </p:nvSpPr>
        <p:spPr/>
        <p:txBody>
          <a:bodyPr/>
          <a:lstStyle/>
          <a:p>
            <a:fld id="{F135C052-BCF6-4AA7-9CC9-D5D892F63530}" type="slidenum">
              <a:rPr lang="en-US" smtClean="0"/>
              <a:t>36</a:t>
            </a:fld>
            <a:endParaRPr lang="en-US"/>
          </a:p>
        </p:txBody>
      </p:sp>
    </p:spTree>
    <p:extLst>
      <p:ext uri="{BB962C8B-B14F-4D97-AF65-F5344CB8AC3E}">
        <p14:creationId xmlns:p14="http://schemas.microsoft.com/office/powerpoint/2010/main" val="19872792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three parts: dataSources (what), dataFlows with an optional transformKql (shape and filter at ingestion, which is your first cost control), destinations (where). Create it with az monitor data-collection rule create --rule-file; associate it with az monitor data-collection rule association create or, at scale, the Policy initiatives from chapter 3.</a:t>
            </a:r>
          </a:p>
        </p:txBody>
      </p:sp>
      <p:sp>
        <p:nvSpPr>
          <p:cNvPr id="4" name="Slide Number Placeholder 3"/>
          <p:cNvSpPr>
            <a:spLocks noGrp="1"/>
          </p:cNvSpPr>
          <p:nvPr>
            <p:ph type="sldNum" sz="quarter" idx="5"/>
          </p:nvPr>
        </p:nvSpPr>
        <p:spPr/>
        <p:txBody>
          <a:bodyPr/>
          <a:lstStyle/>
          <a:p>
            <a:fld id="{F135C052-BCF6-4AA7-9CC9-D5D892F63530}" type="slidenum">
              <a:rPr lang="en-US" smtClean="0"/>
              <a:t>37</a:t>
            </a:fld>
            <a:endParaRPr lang="en-US"/>
          </a:p>
        </p:txBody>
      </p:sp>
    </p:spTree>
    <p:extLst>
      <p:ext uri="{BB962C8B-B14F-4D97-AF65-F5344CB8AC3E}">
        <p14:creationId xmlns:p14="http://schemas.microsoft.com/office/powerpoint/2010/main" val="7550931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deliberately short list. Every row answers a question from chapter 1. The agent can collect far more; chapter 7 explains why you should not until a question needs it.</a:t>
            </a:r>
          </a:p>
        </p:txBody>
      </p:sp>
      <p:sp>
        <p:nvSpPr>
          <p:cNvPr id="4" name="Slide Number Placeholder 3"/>
          <p:cNvSpPr>
            <a:spLocks noGrp="1"/>
          </p:cNvSpPr>
          <p:nvPr>
            <p:ph type="sldNum" sz="quarter" idx="5"/>
          </p:nvPr>
        </p:nvSpPr>
        <p:spPr/>
        <p:txBody>
          <a:bodyPr/>
          <a:lstStyle/>
          <a:p>
            <a:fld id="{F135C052-BCF6-4AA7-9CC9-D5D892F63530}" type="slidenum">
              <a:rPr lang="en-US" smtClean="0"/>
              <a:t>38</a:t>
            </a:fld>
            <a:endParaRPr lang="en-US"/>
          </a:p>
        </p:txBody>
      </p:sp>
    </p:spTree>
    <p:extLst>
      <p:ext uri="{BB962C8B-B14F-4D97-AF65-F5344CB8AC3E}">
        <p14:creationId xmlns:p14="http://schemas.microsoft.com/office/powerpoint/2010/main" val="23070577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extensions on an Arc-enabled cluster do the work on EKS, GKE or on-premises exactly as on AKS. Container insights (a containerised Azure Monitor Agent) ships stdout and stderr, Kubernetes events and node and pod inventory to the Log Analytics workspace. Managed Prometheus scrapes metrics into an Azure Monitor workspace, visualised in Managed Grafana and queried with PromQL; Container insights can now draw its views from Prometheus data (PREVIEW on Arc clusters). Clusters you cannot Arc-enable can still send metrics with Prometheus remote write. Control-plane logs are only available where the platform exposes them (AKS diagnostic settings); for EKS and GKE keep those in CloudWatch and Cloud Logging.</a:t>
            </a:r>
          </a:p>
        </p:txBody>
      </p:sp>
      <p:sp>
        <p:nvSpPr>
          <p:cNvPr id="4" name="Slide Number Placeholder 3"/>
          <p:cNvSpPr>
            <a:spLocks noGrp="1"/>
          </p:cNvSpPr>
          <p:nvPr>
            <p:ph type="sldNum" sz="quarter" idx="5"/>
          </p:nvPr>
        </p:nvSpPr>
        <p:spPr/>
        <p:txBody>
          <a:bodyPr/>
          <a:lstStyle/>
          <a:p>
            <a:fld id="{F135C052-BCF6-4AA7-9CC9-D5D892F63530}" type="slidenum">
              <a:rPr lang="en-US" smtClean="0"/>
              <a:t>39</a:t>
            </a:fld>
            <a:endParaRPr lang="en-US"/>
          </a:p>
        </p:txBody>
      </p:sp>
    </p:spTree>
    <p:extLst>
      <p:ext uri="{BB962C8B-B14F-4D97-AF65-F5344CB8AC3E}">
        <p14:creationId xmlns:p14="http://schemas.microsoft.com/office/powerpoint/2010/main" val="26692462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extensions, one per store. The names and settings are what the portal does for you; running them from the CLI means they go into source control and a pipeline. Managed Grafana is the shared front end for Prometheus and for Log Analytics.</a:t>
            </a:r>
          </a:p>
        </p:txBody>
      </p:sp>
      <p:sp>
        <p:nvSpPr>
          <p:cNvPr id="4" name="Slide Number Placeholder 3"/>
          <p:cNvSpPr>
            <a:spLocks noGrp="1"/>
          </p:cNvSpPr>
          <p:nvPr>
            <p:ph type="sldNum" sz="quarter" idx="5"/>
          </p:nvPr>
        </p:nvSpPr>
        <p:spPr/>
        <p:txBody>
          <a:bodyPr/>
          <a:lstStyle/>
          <a:p>
            <a:fld id="{F135C052-BCF6-4AA7-9CC9-D5D892F63530}" type="slidenum">
              <a:rPr lang="en-US" smtClean="0"/>
              <a:t>40</a:t>
            </a:fld>
            <a:endParaRPr lang="en-US"/>
          </a:p>
        </p:txBody>
      </p:sp>
    </p:spTree>
    <p:extLst>
      <p:ext uri="{BB962C8B-B14F-4D97-AF65-F5344CB8AC3E}">
        <p14:creationId xmlns:p14="http://schemas.microsoft.com/office/powerpoint/2010/main" val="1698889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ways to get application telemetry in, all OpenTelemetry. The Azure Monitor OpenTelemetry Distro (.NET, Java, Node.js, Python) is the supported in-process path with sampling, Entra authentication, live metrics and offline retry. Native OTLP ingestion lets any OpenTelemetry-instrumented app send through an OpenTelemetry Collector (0.132 or later with the Azure authentication extension) or through the Azure Monitor Agent on Arc servers (gRPC on localhost: 4317 metrics, 4319 logs and traces); OTLP is HTTP protobuf on the collector path. Application Insights stores it in the workspace with OpenTelemetry semantic conventions, so KQL joins app traces to the machine evidence next to them.</a:t>
            </a:r>
          </a:p>
        </p:txBody>
      </p:sp>
      <p:sp>
        <p:nvSpPr>
          <p:cNvPr id="4" name="Slide Number Placeholder 3"/>
          <p:cNvSpPr>
            <a:spLocks noGrp="1"/>
          </p:cNvSpPr>
          <p:nvPr>
            <p:ph type="sldNum" sz="quarter" idx="5"/>
          </p:nvPr>
        </p:nvSpPr>
        <p:spPr/>
        <p:txBody>
          <a:bodyPr/>
          <a:lstStyle/>
          <a:p>
            <a:fld id="{F135C052-BCF6-4AA7-9CC9-D5D892F63530}" type="slidenum">
              <a:rPr lang="en-US" smtClean="0"/>
              <a:t>41</a:t>
            </a:fld>
            <a:endParaRPr lang="en-US"/>
          </a:p>
        </p:txBody>
      </p:sp>
    </p:spTree>
    <p:extLst>
      <p:ext uri="{BB962C8B-B14F-4D97-AF65-F5344CB8AC3E}">
        <p14:creationId xmlns:p14="http://schemas.microsoft.com/office/powerpoint/2010/main" val="3945435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shape, not a copy-paste file: receivers take OTLP from the apps on the host, the resource processor stamps the cloud and the service namespace so every record carries context, the azureauth extension uses the Arc managed identity, and the exporter sends OTLP over HTTP to the regional Azure Monitor ingestion endpoint. Check the current collector docs for the exact exporter and endpoint names before you deploy.</a:t>
            </a:r>
          </a:p>
        </p:txBody>
      </p:sp>
      <p:sp>
        <p:nvSpPr>
          <p:cNvPr id="4" name="Slide Number Placeholder 3"/>
          <p:cNvSpPr>
            <a:spLocks noGrp="1"/>
          </p:cNvSpPr>
          <p:nvPr>
            <p:ph type="sldNum" sz="quarter" idx="5"/>
          </p:nvPr>
        </p:nvSpPr>
        <p:spPr/>
        <p:txBody>
          <a:bodyPr/>
          <a:lstStyle/>
          <a:p>
            <a:fld id="{F135C052-BCF6-4AA7-9CC9-D5D892F63530}" type="slidenum">
              <a:rPr lang="en-US" smtClean="0"/>
              <a:t>42</a:t>
            </a:fld>
            <a:endParaRPr lang="en-US"/>
          </a:p>
        </p:txBody>
      </p:sp>
    </p:spTree>
    <p:extLst>
      <p:ext uri="{BB962C8B-B14F-4D97-AF65-F5344CB8AC3E}">
        <p14:creationId xmlns:p14="http://schemas.microsoft.com/office/powerpoint/2010/main" val="34365114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other clouds' platform logs do not have to move. Move the subset that the service question needs (who changed what, which audit event preceded the failure) and leave the rest in CloudWatch and Cloud Logging where it is cheaper and already retained.</a:t>
            </a:r>
          </a:p>
        </p:txBody>
      </p:sp>
      <p:sp>
        <p:nvSpPr>
          <p:cNvPr id="4" name="Slide Number Placeholder 3"/>
          <p:cNvSpPr>
            <a:spLocks noGrp="1"/>
          </p:cNvSpPr>
          <p:nvPr>
            <p:ph type="sldNum" sz="quarter" idx="5"/>
          </p:nvPr>
        </p:nvSpPr>
        <p:spPr/>
        <p:txBody>
          <a:bodyPr/>
          <a:lstStyle/>
          <a:p>
            <a:fld id="{F135C052-BCF6-4AA7-9CC9-D5D892F63530}" type="slidenum">
              <a:rPr lang="en-US" smtClean="0"/>
              <a:t>43</a:t>
            </a:fld>
            <a:endParaRPr lang="en-US"/>
          </a:p>
        </p:txBody>
      </p:sp>
    </p:spTree>
    <p:extLst>
      <p:ext uri="{BB962C8B-B14F-4D97-AF65-F5344CB8AC3E}">
        <p14:creationId xmlns:p14="http://schemas.microsoft.com/office/powerpoint/2010/main" val="8751870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Anything that can make an HTTPS call with a token can be a source: batch jobs, network tooling, a worker in another cloud, a synthetic probe. Declare the schema, create the rule, grant Monitoring Metrics Publisher on the rule to the sender identity, post JSON. The same path carries the service-level records (which order, which stage, how long) that chapter 5 says to design.</a:t>
            </a:r>
          </a:p>
        </p:txBody>
      </p:sp>
      <p:sp>
        <p:nvSpPr>
          <p:cNvPr id="4" name="Slide Number Placeholder 3"/>
          <p:cNvSpPr>
            <a:spLocks noGrp="1"/>
          </p:cNvSpPr>
          <p:nvPr>
            <p:ph type="sldNum" sz="quarter" idx="5"/>
          </p:nvPr>
        </p:nvSpPr>
        <p:spPr/>
        <p:txBody>
          <a:bodyPr/>
          <a:lstStyle/>
          <a:p>
            <a:fld id="{F135C052-BCF6-4AA7-9CC9-D5D892F63530}" type="slidenum">
              <a:rPr lang="en-US" smtClean="0"/>
              <a:t>44</a:t>
            </a:fld>
            <a:endParaRPr lang="en-US"/>
          </a:p>
        </p:txBody>
      </p:sp>
    </p:spTree>
    <p:extLst>
      <p:ext uri="{BB962C8B-B14F-4D97-AF65-F5344CB8AC3E}">
        <p14:creationId xmlns:p14="http://schemas.microsoft.com/office/powerpoint/2010/main" val="2771032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cost model in one table. The plan is per table, so one workspace mixes all three. Alerts only work on Analytics tables; Auxiliary is immutable after creation. Chapter 5 says how to assign plans to the signals you planned; chapter 7 says how to review them.</a:t>
            </a:r>
          </a:p>
        </p:txBody>
      </p:sp>
      <p:sp>
        <p:nvSpPr>
          <p:cNvPr id="4" name="Slide Number Placeholder 3"/>
          <p:cNvSpPr>
            <a:spLocks noGrp="1"/>
          </p:cNvSpPr>
          <p:nvPr>
            <p:ph type="sldNum" sz="quarter" idx="5"/>
          </p:nvPr>
        </p:nvSpPr>
        <p:spPr/>
        <p:txBody>
          <a:bodyPr/>
          <a:lstStyle/>
          <a:p>
            <a:fld id="{F135C052-BCF6-4AA7-9CC9-D5D892F63530}" type="slidenum">
              <a:rPr lang="en-US" smtClean="0"/>
              <a:t>45</a:t>
            </a:fld>
            <a:endParaRPr lang="en-US"/>
          </a:p>
        </p:txBody>
      </p:sp>
    </p:spTree>
    <p:extLst>
      <p:ext uri="{BB962C8B-B14F-4D97-AF65-F5344CB8AC3E}">
        <p14:creationId xmlns:p14="http://schemas.microsoft.com/office/powerpoint/2010/main" val="966809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levers, in the order to pull them. Transformations and table plans are the two that most estates never touch and that pay back first.</a:t>
            </a:r>
          </a:p>
        </p:txBody>
      </p:sp>
      <p:sp>
        <p:nvSpPr>
          <p:cNvPr id="4" name="Slide Number Placeholder 3"/>
          <p:cNvSpPr>
            <a:spLocks noGrp="1"/>
          </p:cNvSpPr>
          <p:nvPr>
            <p:ph type="sldNum" sz="quarter" idx="5"/>
          </p:nvPr>
        </p:nvSpPr>
        <p:spPr/>
        <p:txBody>
          <a:bodyPr/>
          <a:lstStyle/>
          <a:p>
            <a:fld id="{F135C052-BCF6-4AA7-9CC9-D5D892F63530}" type="slidenum">
              <a:rPr lang="en-US" smtClean="0"/>
              <a:t>46</a:t>
            </a:fld>
            <a:endParaRPr lang="en-US"/>
          </a:p>
        </p:txBody>
      </p:sp>
    </p:spTree>
    <p:extLst>
      <p:ext uri="{BB962C8B-B14F-4D97-AF65-F5344CB8AC3E}">
        <p14:creationId xmlns:p14="http://schemas.microsoft.com/office/powerpoint/2010/main" val="4933244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 to the architecture with every arrow now named. Every estate feeds the same stores through the same four collection paths: the agent and its rules, cluster extensions, OpenTelemetry, and the ingestion API; platform logs join through diagnostic settings and connectors.</a:t>
            </a:r>
          </a:p>
        </p:txBody>
      </p:sp>
      <p:sp>
        <p:nvSpPr>
          <p:cNvPr id="4" name="Slide Number Placeholder 3"/>
          <p:cNvSpPr>
            <a:spLocks noGrp="1"/>
          </p:cNvSpPr>
          <p:nvPr>
            <p:ph type="sldNum" sz="quarter" idx="5"/>
          </p:nvPr>
        </p:nvSpPr>
        <p:spPr/>
        <p:txBody>
          <a:bodyPr/>
          <a:lstStyle/>
          <a:p>
            <a:fld id="{F135C052-BCF6-4AA7-9CC9-D5D892F63530}" type="slidenum">
              <a:rPr lang="en-US" smtClean="0"/>
              <a:t>47</a:t>
            </a:fld>
            <a:endParaRPr lang="en-US"/>
          </a:p>
        </p:txBody>
      </p:sp>
    </p:spTree>
    <p:extLst>
      <p:ext uri="{BB962C8B-B14F-4D97-AF65-F5344CB8AC3E}">
        <p14:creationId xmlns:p14="http://schemas.microsoft.com/office/powerpoint/2010/main" val="33713772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48</a:t>
            </a:fld>
            <a:endParaRPr lang="en-US"/>
          </a:p>
        </p:txBody>
      </p:sp>
    </p:spTree>
    <p:extLst>
      <p:ext uri="{BB962C8B-B14F-4D97-AF65-F5344CB8AC3E}">
        <p14:creationId xmlns:p14="http://schemas.microsoft.com/office/powerpoint/2010/main" val="35130213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Nine decisions in order. The failure mode is starting at step 5 (install agents, collect everything) and never doing 1 to 4, which leaves you with data nobody can interpret and alerts nobody owns.</a:t>
            </a:r>
          </a:p>
        </p:txBody>
      </p:sp>
      <p:sp>
        <p:nvSpPr>
          <p:cNvPr id="4" name="Slide Number Placeholder 3"/>
          <p:cNvSpPr>
            <a:spLocks noGrp="1"/>
          </p:cNvSpPr>
          <p:nvPr>
            <p:ph type="sldNum" sz="quarter" idx="5"/>
          </p:nvPr>
        </p:nvSpPr>
        <p:spPr/>
        <p:txBody>
          <a:bodyPr/>
          <a:lstStyle/>
          <a:p>
            <a:fld id="{F135C052-BCF6-4AA7-9CC9-D5D892F63530}" type="slidenum">
              <a:rPr lang="en-US" smtClean="0"/>
              <a:t>49</a:t>
            </a:fld>
            <a:endParaRPr lang="en-US"/>
          </a:p>
        </p:txBody>
      </p:sp>
    </p:spTree>
    <p:extLst>
      <p:ext uri="{BB962C8B-B14F-4D97-AF65-F5344CB8AC3E}">
        <p14:creationId xmlns:p14="http://schemas.microsoft.com/office/powerpoint/2010/main" val="15719886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Inventory is the one planning step that never finishes; make it a query, not a document. The tag set is small on purpose: six tags you enforce beat twenty you aspire to.</a:t>
            </a:r>
          </a:p>
        </p:txBody>
      </p:sp>
      <p:sp>
        <p:nvSpPr>
          <p:cNvPr id="4" name="Slide Number Placeholder 3"/>
          <p:cNvSpPr>
            <a:spLocks noGrp="1"/>
          </p:cNvSpPr>
          <p:nvPr>
            <p:ph type="sldNum" sz="quarter" idx="5"/>
          </p:nvPr>
        </p:nvSpPr>
        <p:spPr/>
        <p:txBody>
          <a:bodyPr/>
          <a:lstStyle/>
          <a:p>
            <a:fld id="{F135C052-BCF6-4AA7-9CC9-D5D892F63530}" type="slidenum">
              <a:rPr lang="en-US" smtClean="0"/>
              <a:t>50</a:t>
            </a:fld>
            <a:endParaRPr lang="en-US"/>
          </a:p>
        </p:txBody>
      </p:sp>
    </p:spTree>
    <p:extLst>
      <p:ext uri="{BB962C8B-B14F-4D97-AF65-F5344CB8AC3E}">
        <p14:creationId xmlns:p14="http://schemas.microsoft.com/office/powerpoint/2010/main" val="225717658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Draw each service as the chain a user's request crosses, not as a list of servers: entry (DNS, load balancer, gateway), front ends, back ends, data, and the external or other-cloud dependencies. Mark each dependency required or redundant; that decision drives health rollup later. Where the chain crosses a cloud or a site, mark the link: that is where evidence usually goes missing. Expect four to eight boundaries for a typical estate, not forty.</a:t>
            </a:r>
          </a:p>
        </p:txBody>
      </p:sp>
      <p:sp>
        <p:nvSpPr>
          <p:cNvPr id="4" name="Slide Number Placeholder 3"/>
          <p:cNvSpPr>
            <a:spLocks noGrp="1"/>
          </p:cNvSpPr>
          <p:nvPr>
            <p:ph type="sldNum" sz="quarter" idx="5"/>
          </p:nvPr>
        </p:nvSpPr>
        <p:spPr/>
        <p:txBody>
          <a:bodyPr/>
          <a:lstStyle/>
          <a:p>
            <a:fld id="{F135C052-BCF6-4AA7-9CC9-D5D892F63530}" type="slidenum">
              <a:rPr lang="en-US" smtClean="0"/>
              <a:t>51</a:t>
            </a:fld>
            <a:endParaRPr lang="en-US"/>
          </a:p>
        </p:txBody>
      </p:sp>
    </p:spTree>
    <p:extLst>
      <p:ext uri="{BB962C8B-B14F-4D97-AF65-F5344CB8AC3E}">
        <p14:creationId xmlns:p14="http://schemas.microsoft.com/office/powerpoint/2010/main" val="38933400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or three commitments per service, each with a measurable indicator, a target and a named evidence source. Freshness of evidence is itself a commitment: if the data stops, the state is Unknown, not Healthy. SLOs give alerts a reason and give cost reviews a yardstick.</a:t>
            </a:r>
          </a:p>
        </p:txBody>
      </p:sp>
      <p:sp>
        <p:nvSpPr>
          <p:cNvPr id="4" name="Slide Number Placeholder 3"/>
          <p:cNvSpPr>
            <a:spLocks noGrp="1"/>
          </p:cNvSpPr>
          <p:nvPr>
            <p:ph type="sldNum" sz="quarter" idx="5"/>
          </p:nvPr>
        </p:nvSpPr>
        <p:spPr/>
        <p:txBody>
          <a:bodyPr/>
          <a:lstStyle/>
          <a:p>
            <a:fld id="{F135C052-BCF6-4AA7-9CC9-D5D892F63530}" type="slidenum">
              <a:rPr lang="en-US" smtClean="0"/>
              <a:t>52</a:t>
            </a:fld>
            <a:endParaRPr lang="en-US"/>
          </a:p>
        </p:txBody>
      </p:sp>
    </p:spTree>
    <p:extLst>
      <p:ext uri="{BB962C8B-B14F-4D97-AF65-F5344CB8AC3E}">
        <p14:creationId xmlns:p14="http://schemas.microsoft.com/office/powerpoint/2010/main" val="3717865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row per layer; every signal names its source and its store before anyone installs anything. Writing this table is the moment you discover duplicated collection, missing owners and the tables that will cost the most.</a:t>
            </a:r>
          </a:p>
        </p:txBody>
      </p:sp>
      <p:sp>
        <p:nvSpPr>
          <p:cNvPr id="4" name="Slide Number Placeholder 3"/>
          <p:cNvSpPr>
            <a:spLocks noGrp="1"/>
          </p:cNvSpPr>
          <p:nvPr>
            <p:ph type="sldNum" sz="quarter" idx="5"/>
          </p:nvPr>
        </p:nvSpPr>
        <p:spPr/>
        <p:txBody>
          <a:bodyPr/>
          <a:lstStyle/>
          <a:p>
            <a:fld id="{F135C052-BCF6-4AA7-9CC9-D5D892F63530}" type="slidenum">
              <a:rPr lang="en-US" smtClean="0"/>
              <a:t>53</a:t>
            </a:fld>
            <a:endParaRPr lang="en-US"/>
          </a:p>
        </p:txBody>
      </p:sp>
    </p:spTree>
    <p:extLst>
      <p:ext uri="{BB962C8B-B14F-4D97-AF65-F5344CB8AC3E}">
        <p14:creationId xmlns:p14="http://schemas.microsoft.com/office/powerpoint/2010/main" val="17956447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least glamorous and most valuable design decision. Agree the ID and the tag names before the first agent goes on, and enforce them with Policy and code review.</a:t>
            </a:r>
          </a:p>
        </p:txBody>
      </p:sp>
      <p:sp>
        <p:nvSpPr>
          <p:cNvPr id="4" name="Slide Number Placeholder 3"/>
          <p:cNvSpPr>
            <a:spLocks noGrp="1"/>
          </p:cNvSpPr>
          <p:nvPr>
            <p:ph type="sldNum" sz="quarter" idx="5"/>
          </p:nvPr>
        </p:nvSpPr>
        <p:spPr/>
        <p:txBody>
          <a:bodyPr/>
          <a:lstStyle/>
          <a:p>
            <a:fld id="{F135C052-BCF6-4AA7-9CC9-D5D892F63530}" type="slidenum">
              <a:rPr lang="en-US" smtClean="0"/>
              <a:t>54</a:t>
            </a:fld>
            <a:endParaRPr lang="en-US"/>
          </a:p>
        </p:txBody>
      </p:sp>
    </p:spTree>
    <p:extLst>
      <p:ext uri="{BB962C8B-B14F-4D97-AF65-F5344CB8AC3E}">
        <p14:creationId xmlns:p14="http://schemas.microsoft.com/office/powerpoint/2010/main" val="4113921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alert is a condition, with context, to an owner, with a verified outcome. Conditions come from four places: metric alerts (near real time, static or dynamic thresholds), log search alerts (KQL on a schedule from 1 minute to 24 hours), Prometheus rules, and health model state changes. Severity maps to response time, not to how scary the metric sounds. Action groups route by owner tag and severity to Teams, email, SMS, ITSM, Logic Apps or an automation runbook. Processing rules suppress during maintenance. Every alert carries the service, the resource ID, the evidence query and the runbook link, or it does not ship.</a:t>
            </a:r>
          </a:p>
        </p:txBody>
      </p:sp>
      <p:sp>
        <p:nvSpPr>
          <p:cNvPr id="4" name="Slide Number Placeholder 3"/>
          <p:cNvSpPr>
            <a:spLocks noGrp="1"/>
          </p:cNvSpPr>
          <p:nvPr>
            <p:ph type="sldNum" sz="quarter" idx="5"/>
          </p:nvPr>
        </p:nvSpPr>
        <p:spPr/>
        <p:txBody>
          <a:bodyPr/>
          <a:lstStyle/>
          <a:p>
            <a:fld id="{F135C052-BCF6-4AA7-9CC9-D5D892F63530}" type="slidenum">
              <a:rPr lang="en-US" smtClean="0"/>
              <a:t>55</a:t>
            </a:fld>
            <a:endParaRPr lang="en-US"/>
          </a:p>
        </p:txBody>
      </p:sp>
    </p:spTree>
    <p:extLst>
      <p:ext uri="{BB962C8B-B14F-4D97-AF65-F5344CB8AC3E}">
        <p14:creationId xmlns:p14="http://schemas.microsoft.com/office/powerpoint/2010/main" val="8751902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audiences, three kinds of view, built in that order. The service view is what makes the single pane of glass real: one place that says whether each service works, wherever its parts run.</a:t>
            </a:r>
          </a:p>
        </p:txBody>
      </p:sp>
      <p:sp>
        <p:nvSpPr>
          <p:cNvPr id="4" name="Slide Number Placeholder 3"/>
          <p:cNvSpPr>
            <a:spLocks noGrp="1"/>
          </p:cNvSpPr>
          <p:nvPr>
            <p:ph type="sldNum" sz="quarter" idx="5"/>
          </p:nvPr>
        </p:nvSpPr>
        <p:spPr/>
        <p:txBody>
          <a:bodyPr/>
          <a:lstStyle/>
          <a:p>
            <a:fld id="{F135C052-BCF6-4AA7-9CC9-D5D892F63530}" type="slidenum">
              <a:rPr lang="en-US" smtClean="0"/>
              <a:t>56</a:t>
            </a:fld>
            <a:endParaRPr lang="en-US"/>
          </a:p>
        </p:txBody>
      </p:sp>
    </p:spTree>
    <p:extLst>
      <p:ext uri="{BB962C8B-B14F-4D97-AF65-F5344CB8AC3E}">
        <p14:creationId xmlns:p14="http://schemas.microsoft.com/office/powerpoint/2010/main" val="36935791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Azure Monitor Health Models (PREVIEW) make the service boundary a resource. Entities (root, Azure resource, generic) represent the service, its commitments and its components, including Arc-enabled machines and clusters; relationships carry impact (required or redundant); signals (metric, log query, PromQL, Resource Health, external) turn evidence into Healthy, Degraded, Unhealthy or Unknown; alerts fire once per state change to the same action groups; discovery rules keep the model aligned with Resource Graph; nested models roll services into a portfolio. Deployable with Bicep and the CLI. This is the modern form of the SCOM distributed application.</a:t>
            </a:r>
          </a:p>
        </p:txBody>
      </p:sp>
      <p:sp>
        <p:nvSpPr>
          <p:cNvPr id="4" name="Slide Number Placeholder 3"/>
          <p:cNvSpPr>
            <a:spLocks noGrp="1"/>
          </p:cNvSpPr>
          <p:nvPr>
            <p:ph type="sldNum" sz="quarter" idx="5"/>
          </p:nvPr>
        </p:nvSpPr>
        <p:spPr/>
        <p:txBody>
          <a:bodyPr/>
          <a:lstStyle/>
          <a:p>
            <a:fld id="{F135C052-BCF6-4AA7-9CC9-D5D892F63530}" type="slidenum">
              <a:rPr lang="en-US" smtClean="0"/>
              <a:t>57</a:t>
            </a:fld>
            <a:endParaRPr lang="en-US"/>
          </a:p>
        </p:txBody>
      </p:sp>
    </p:spTree>
    <p:extLst>
      <p:ext uri="{BB962C8B-B14F-4D97-AF65-F5344CB8AC3E}">
        <p14:creationId xmlns:p14="http://schemas.microsoft.com/office/powerpoint/2010/main" val="30739432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Decide access before the data arrives, because retrofitting it means re-educating every team. Resource-context access is the feature that makes one workspace workable for many teams.</a:t>
            </a:r>
          </a:p>
        </p:txBody>
      </p:sp>
      <p:sp>
        <p:nvSpPr>
          <p:cNvPr id="4" name="Slide Number Placeholder 3"/>
          <p:cNvSpPr>
            <a:spLocks noGrp="1"/>
          </p:cNvSpPr>
          <p:nvPr>
            <p:ph type="sldNum" sz="quarter" idx="5"/>
          </p:nvPr>
        </p:nvSpPr>
        <p:spPr/>
        <p:txBody>
          <a:bodyPr/>
          <a:lstStyle/>
          <a:p>
            <a:fld id="{F135C052-BCF6-4AA7-9CC9-D5D892F63530}" type="slidenum">
              <a:rPr lang="en-US" smtClean="0"/>
              <a:t>58</a:t>
            </a:fld>
            <a:endParaRPr lang="en-US"/>
          </a:p>
        </p:txBody>
      </p:sp>
    </p:spTree>
    <p:extLst>
      <p:ext uri="{BB962C8B-B14F-4D97-AF65-F5344CB8AC3E}">
        <p14:creationId xmlns:p14="http://schemas.microsoft.com/office/powerpoint/2010/main" val="7286949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Budget by table and by service, not by workspace. Build the estimate from the signal catalogue (GB per source per day) before you onboard, then compare monthly in cost analysis and the workspace usage queries.</a:t>
            </a:r>
          </a:p>
        </p:txBody>
      </p:sp>
      <p:sp>
        <p:nvSpPr>
          <p:cNvPr id="4" name="Slide Number Placeholder 3"/>
          <p:cNvSpPr>
            <a:spLocks noGrp="1"/>
          </p:cNvSpPr>
          <p:nvPr>
            <p:ph type="sldNum" sz="quarter" idx="5"/>
          </p:nvPr>
        </p:nvSpPr>
        <p:spPr/>
        <p:txBody>
          <a:bodyPr/>
          <a:lstStyle/>
          <a:p>
            <a:fld id="{F135C052-BCF6-4AA7-9CC9-D5D892F63530}" type="slidenum">
              <a:rPr lang="en-US" smtClean="0"/>
              <a:t>59</a:t>
            </a:fld>
            <a:endParaRPr lang="en-US"/>
          </a:p>
        </p:txBody>
      </p:sp>
    </p:spTree>
    <p:extLst>
      <p:ext uri="{BB962C8B-B14F-4D97-AF65-F5344CB8AC3E}">
        <p14:creationId xmlns:p14="http://schemas.microsoft.com/office/powerpoint/2010/main" val="10013402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phases. Zero: the foundation in Azure (management groups, workspaces, endpoints, rules, policy initiatives, action groups, Grafana). One: the datacenters, servers first, then VMware or SCVMM through the resource bridge, then on-premises Kubernetes. Two: AWS through the connector or the agent, EKS as Arc Kubernetes. Three: GCP, agent and connectedk8s, connector where available. Four: applications with OpenTelemetry and service records. Five: service health, health models, owned alerts, and the operating cycle. Each phase ends with the same exit check: evidence arriving from every in-scope source, within cadence, with tags and owners.</a:t>
            </a:r>
          </a:p>
        </p:txBody>
      </p:sp>
      <p:sp>
        <p:nvSpPr>
          <p:cNvPr id="4" name="Slide Number Placeholder 3"/>
          <p:cNvSpPr>
            <a:spLocks noGrp="1"/>
          </p:cNvSpPr>
          <p:nvPr>
            <p:ph type="sldNum" sz="quarter" idx="5"/>
          </p:nvPr>
        </p:nvSpPr>
        <p:spPr/>
        <p:txBody>
          <a:bodyPr/>
          <a:lstStyle/>
          <a:p>
            <a:fld id="{F135C052-BCF6-4AA7-9CC9-D5D892F63530}" type="slidenum">
              <a:rPr lang="en-US" smtClean="0"/>
              <a:t>60</a:t>
            </a:fld>
            <a:endParaRPr lang="en-US"/>
          </a:p>
        </p:txBody>
      </p:sp>
    </p:spTree>
    <p:extLst>
      <p:ext uri="{BB962C8B-B14F-4D97-AF65-F5344CB8AC3E}">
        <p14:creationId xmlns:p14="http://schemas.microsoft.com/office/powerpoint/2010/main" val="39710052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same eight checks close every phase. Write them as queries where possible so the exit is measured, not asserted.</a:t>
            </a:r>
          </a:p>
        </p:txBody>
      </p:sp>
      <p:sp>
        <p:nvSpPr>
          <p:cNvPr id="4" name="Slide Number Placeholder 3"/>
          <p:cNvSpPr>
            <a:spLocks noGrp="1"/>
          </p:cNvSpPr>
          <p:nvPr>
            <p:ph type="sldNum" sz="quarter" idx="5"/>
          </p:nvPr>
        </p:nvSpPr>
        <p:spPr/>
        <p:txBody>
          <a:bodyPr/>
          <a:lstStyle/>
          <a:p>
            <a:fld id="{F135C052-BCF6-4AA7-9CC9-D5D892F63530}" type="slidenum">
              <a:rPr lang="en-US" smtClean="0"/>
              <a:t>61</a:t>
            </a:fld>
            <a:endParaRPr lang="en-US"/>
          </a:p>
        </p:txBody>
      </p:sp>
    </p:spTree>
    <p:extLst>
      <p:ext uri="{BB962C8B-B14F-4D97-AF65-F5344CB8AC3E}">
        <p14:creationId xmlns:p14="http://schemas.microsoft.com/office/powerpoint/2010/main" val="28062297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62</a:t>
            </a:fld>
            <a:endParaRPr lang="en-US"/>
          </a:p>
        </p:txBody>
      </p:sp>
    </p:spTree>
    <p:extLst>
      <p:ext uri="{BB962C8B-B14F-4D97-AF65-F5344CB8AC3E}">
        <p14:creationId xmlns:p14="http://schemas.microsoft.com/office/powerpoint/2010/main" val="10143733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in this slide is Azure-side and can be a single Bicep deployment. Nothing talks to a datacenter yet. Do it once, review it with the owners, and only then connect the first machine.</a:t>
            </a:r>
          </a:p>
        </p:txBody>
      </p:sp>
      <p:sp>
        <p:nvSpPr>
          <p:cNvPr id="4" name="Slide Number Placeholder 3"/>
          <p:cNvSpPr>
            <a:spLocks noGrp="1"/>
          </p:cNvSpPr>
          <p:nvPr>
            <p:ph type="sldNum" sz="quarter" idx="5"/>
          </p:nvPr>
        </p:nvSpPr>
        <p:spPr/>
        <p:txBody>
          <a:bodyPr/>
          <a:lstStyle/>
          <a:p>
            <a:fld id="{F135C052-BCF6-4AA7-9CC9-D5D892F63530}" type="slidenum">
              <a:rPr lang="en-US" smtClean="0"/>
              <a:t>63</a:t>
            </a:fld>
            <a:endParaRPr lang="en-US"/>
          </a:p>
        </p:txBody>
      </p:sp>
    </p:spTree>
    <p:extLst>
      <p:ext uri="{BB962C8B-B14F-4D97-AF65-F5344CB8AC3E}">
        <p14:creationId xmlns:p14="http://schemas.microsoft.com/office/powerpoint/2010/main" val="29584794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point is that the foundation is a deployment, not a sequence of portal clicks. The resource types and API versions here are current at the time of writing; the ellipses are where the catalogue from chapter 5 goes.</a:t>
            </a:r>
          </a:p>
        </p:txBody>
      </p:sp>
      <p:sp>
        <p:nvSpPr>
          <p:cNvPr id="4" name="Slide Number Placeholder 3"/>
          <p:cNvSpPr>
            <a:spLocks noGrp="1"/>
          </p:cNvSpPr>
          <p:nvPr>
            <p:ph type="sldNum" sz="quarter" idx="5"/>
          </p:nvPr>
        </p:nvSpPr>
        <p:spPr/>
        <p:txBody>
          <a:bodyPr/>
          <a:lstStyle/>
          <a:p>
            <a:fld id="{F135C052-BCF6-4AA7-9CC9-D5D892F63530}" type="slidenum">
              <a:rPr lang="en-US" smtClean="0"/>
              <a:t>64</a:t>
            </a:fld>
            <a:endParaRPr lang="en-US"/>
          </a:p>
        </p:txBody>
      </p:sp>
    </p:spTree>
    <p:extLst>
      <p:ext uri="{BB962C8B-B14F-4D97-AF65-F5344CB8AC3E}">
        <p14:creationId xmlns:p14="http://schemas.microsoft.com/office/powerpoint/2010/main" val="23072207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Datacenters first because you own the network and can fix connectivity fastest. The resource bridge is optional for observability but it is the only way to enable guest management at scale from Azure on VMware and SCVMM without touching each VM.</a:t>
            </a:r>
          </a:p>
        </p:txBody>
      </p:sp>
      <p:sp>
        <p:nvSpPr>
          <p:cNvPr id="4" name="Slide Number Placeholder 3"/>
          <p:cNvSpPr>
            <a:spLocks noGrp="1"/>
          </p:cNvSpPr>
          <p:nvPr>
            <p:ph type="sldNum" sz="quarter" idx="5"/>
          </p:nvPr>
        </p:nvSpPr>
        <p:spPr/>
        <p:txBody>
          <a:bodyPr/>
          <a:lstStyle/>
          <a:p>
            <a:fld id="{F135C052-BCF6-4AA7-9CC9-D5D892F63530}" type="slidenum">
              <a:rPr lang="en-US" smtClean="0"/>
              <a:t>65</a:t>
            </a:fld>
            <a:endParaRPr lang="en-US"/>
          </a:p>
        </p:txBody>
      </p:sp>
    </p:spTree>
    <p:extLst>
      <p:ext uri="{BB962C8B-B14F-4D97-AF65-F5344CB8AC3E}">
        <p14:creationId xmlns:p14="http://schemas.microsoft.com/office/powerpoint/2010/main" val="2779744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Most onboarding failures are network. Settle the path per site before the pilot and write it into the onboarding runbook.</a:t>
            </a:r>
          </a:p>
        </p:txBody>
      </p:sp>
      <p:sp>
        <p:nvSpPr>
          <p:cNvPr id="4" name="Slide Number Placeholder 3"/>
          <p:cNvSpPr>
            <a:spLocks noGrp="1"/>
          </p:cNvSpPr>
          <p:nvPr>
            <p:ph type="sldNum" sz="quarter" idx="5"/>
          </p:nvPr>
        </p:nvSpPr>
        <p:spPr/>
        <p:txBody>
          <a:bodyPr/>
          <a:lstStyle/>
          <a:p>
            <a:fld id="{F135C052-BCF6-4AA7-9CC9-D5D892F63530}" type="slidenum">
              <a:rPr lang="en-US" smtClean="0"/>
              <a:t>66</a:t>
            </a:fld>
            <a:endParaRPr lang="en-US"/>
          </a:p>
        </p:txBody>
      </p:sp>
    </p:spTree>
    <p:extLst>
      <p:ext uri="{BB962C8B-B14F-4D97-AF65-F5344CB8AC3E}">
        <p14:creationId xmlns:p14="http://schemas.microsoft.com/office/powerpoint/2010/main" val="398685785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connector saves the agent push and gives you inventory of AWS services in Resource Graph. Where an account cannot run it, the plain agent path works on any EC2 instance with outbound HTTPS.</a:t>
            </a:r>
          </a:p>
        </p:txBody>
      </p:sp>
      <p:sp>
        <p:nvSpPr>
          <p:cNvPr id="4" name="Slide Number Placeholder 3"/>
          <p:cNvSpPr>
            <a:spLocks noGrp="1"/>
          </p:cNvSpPr>
          <p:nvPr>
            <p:ph type="sldNum" sz="quarter" idx="5"/>
          </p:nvPr>
        </p:nvSpPr>
        <p:spPr/>
        <p:txBody>
          <a:bodyPr/>
          <a:lstStyle/>
          <a:p>
            <a:fld id="{F135C052-BCF6-4AA7-9CC9-D5D892F63530}" type="slidenum">
              <a:rPr lang="en-US" smtClean="0"/>
              <a:t>67</a:t>
            </a:fld>
            <a:endParaRPr lang="en-US"/>
          </a:p>
        </p:txBody>
      </p:sp>
    </p:spTree>
    <p:extLst>
      <p:ext uri="{BB962C8B-B14F-4D97-AF65-F5344CB8AC3E}">
        <p14:creationId xmlns:p14="http://schemas.microsoft.com/office/powerpoint/2010/main" val="26177899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Same shape as AWS, one step behind in the connector. Plan on the agent and connectedk8s paths and treat the connector as inventory.</a:t>
            </a:r>
          </a:p>
        </p:txBody>
      </p:sp>
      <p:sp>
        <p:nvSpPr>
          <p:cNvPr id="4" name="Slide Number Placeholder 3"/>
          <p:cNvSpPr>
            <a:spLocks noGrp="1"/>
          </p:cNvSpPr>
          <p:nvPr>
            <p:ph type="sldNum" sz="quarter" idx="5"/>
          </p:nvPr>
        </p:nvSpPr>
        <p:spPr/>
        <p:txBody>
          <a:bodyPr/>
          <a:lstStyle/>
          <a:p>
            <a:fld id="{F135C052-BCF6-4AA7-9CC9-D5D892F63530}" type="slidenum">
              <a:rPr lang="en-US" smtClean="0"/>
              <a:t>68</a:t>
            </a:fld>
            <a:endParaRPr lang="en-US"/>
          </a:p>
        </p:txBody>
      </p:sp>
    </p:spTree>
    <p:extLst>
      <p:ext uri="{BB962C8B-B14F-4D97-AF65-F5344CB8AC3E}">
        <p14:creationId xmlns:p14="http://schemas.microsoft.com/office/powerpoint/2010/main" val="421448554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Applications are phase 4, not phase 1, because the plumbing has to be there first. The exit test is one query that follows one transaction across every place it touched.</a:t>
            </a:r>
          </a:p>
        </p:txBody>
      </p:sp>
      <p:sp>
        <p:nvSpPr>
          <p:cNvPr id="4" name="Slide Number Placeholder 3"/>
          <p:cNvSpPr>
            <a:spLocks noGrp="1"/>
          </p:cNvSpPr>
          <p:nvPr>
            <p:ph type="sldNum" sz="quarter" idx="5"/>
          </p:nvPr>
        </p:nvSpPr>
        <p:spPr/>
        <p:txBody>
          <a:bodyPr/>
          <a:lstStyle/>
          <a:p>
            <a:fld id="{F135C052-BCF6-4AA7-9CC9-D5D892F63530}" type="slidenum">
              <a:rPr lang="en-US" smtClean="0"/>
              <a:t>69</a:t>
            </a:fld>
            <a:endParaRPr lang="en-US"/>
          </a:p>
        </p:txBody>
      </p:sp>
    </p:spTree>
    <p:extLst>
      <p:ext uri="{BB962C8B-B14F-4D97-AF65-F5344CB8AC3E}">
        <p14:creationId xmlns:p14="http://schemas.microsoft.com/office/powerpoint/2010/main" val="9292911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One transaction ID joins the application's own stage records, Application Insights dependencies and the heartbeat of the machines involved, wherever they run. If this query works for one transaction, correlation across clouds is real; if it does not, go back to the context slide in chapter 5.</a:t>
            </a:r>
          </a:p>
        </p:txBody>
      </p:sp>
      <p:sp>
        <p:nvSpPr>
          <p:cNvPr id="4" name="Slide Number Placeholder 3"/>
          <p:cNvSpPr>
            <a:spLocks noGrp="1"/>
          </p:cNvSpPr>
          <p:nvPr>
            <p:ph type="sldNum" sz="quarter" idx="5"/>
          </p:nvPr>
        </p:nvSpPr>
        <p:spPr/>
        <p:txBody>
          <a:bodyPr/>
          <a:lstStyle/>
          <a:p>
            <a:fld id="{F135C052-BCF6-4AA7-9CC9-D5D892F63530}" type="slidenum">
              <a:rPr lang="en-US" smtClean="0"/>
              <a:t>70</a:t>
            </a:fld>
            <a:endParaRPr lang="en-US"/>
          </a:p>
        </p:txBody>
      </p:sp>
    </p:spTree>
    <p:extLst>
      <p:ext uri="{BB962C8B-B14F-4D97-AF65-F5344CB8AC3E}">
        <p14:creationId xmlns:p14="http://schemas.microsoft.com/office/powerpoint/2010/main" val="333263068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observability becomes visible to people who are not engineers: one state per service, one alert per state change, one owner. Everything before it was plumbing.</a:t>
            </a:r>
          </a:p>
        </p:txBody>
      </p:sp>
      <p:sp>
        <p:nvSpPr>
          <p:cNvPr id="4" name="Slide Number Placeholder 3"/>
          <p:cNvSpPr>
            <a:spLocks noGrp="1"/>
          </p:cNvSpPr>
          <p:nvPr>
            <p:ph type="sldNum" sz="quarter" idx="5"/>
          </p:nvPr>
        </p:nvSpPr>
        <p:spPr/>
        <p:txBody>
          <a:bodyPr/>
          <a:lstStyle/>
          <a:p>
            <a:fld id="{F135C052-BCF6-4AA7-9CC9-D5D892F63530}" type="slidenum">
              <a:rPr lang="en-US" smtClean="0"/>
              <a:t>71</a:t>
            </a:fld>
            <a:endParaRPr lang="en-US"/>
          </a:p>
        </p:txBody>
      </p:sp>
    </p:spTree>
    <p:extLst>
      <p:ext uri="{BB962C8B-B14F-4D97-AF65-F5344CB8AC3E}">
        <p14:creationId xmlns:p14="http://schemas.microsoft.com/office/powerpoint/2010/main" val="297926819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queries you run at the end of every phase and every week after. The first joins the inventory (Resource Graph from inside Log Analytics) to Heartbeat so that machines that never reported show up, which a Heartbeat-only query cannot do. The second is the cost reality check against the plan.</a:t>
            </a:r>
          </a:p>
        </p:txBody>
      </p:sp>
      <p:sp>
        <p:nvSpPr>
          <p:cNvPr id="4" name="Slide Number Placeholder 3"/>
          <p:cNvSpPr>
            <a:spLocks noGrp="1"/>
          </p:cNvSpPr>
          <p:nvPr>
            <p:ph type="sldNum" sz="quarter" idx="5"/>
          </p:nvPr>
        </p:nvSpPr>
        <p:spPr/>
        <p:txBody>
          <a:bodyPr/>
          <a:lstStyle/>
          <a:p>
            <a:fld id="{F135C052-BCF6-4AA7-9CC9-D5D892F63530}" type="slidenum">
              <a:rPr lang="en-US" smtClean="0"/>
              <a:t>72</a:t>
            </a:fld>
            <a:endParaRPr lang="en-US"/>
          </a:p>
        </p:txBody>
      </p:sp>
    </p:spTree>
    <p:extLst>
      <p:ext uri="{BB962C8B-B14F-4D97-AF65-F5344CB8AC3E}">
        <p14:creationId xmlns:p14="http://schemas.microsoft.com/office/powerpoint/2010/main" val="34176889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73</a:t>
            </a:fld>
            <a:endParaRPr lang="en-US"/>
          </a:p>
        </p:txBody>
      </p:sp>
    </p:spTree>
    <p:extLst>
      <p:ext uri="{BB962C8B-B14F-4D97-AF65-F5344CB8AC3E}">
        <p14:creationId xmlns:p14="http://schemas.microsoft.com/office/powerpoint/2010/main" val="372038352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steps, every time. The two that distinguish observability from monitoring are explain (the model and evidence, not a hunch) and prove (fresh transactions, not a dashboard turning green).</a:t>
            </a:r>
          </a:p>
        </p:txBody>
      </p:sp>
      <p:sp>
        <p:nvSpPr>
          <p:cNvPr id="4" name="Slide Number Placeholder 3"/>
          <p:cNvSpPr>
            <a:spLocks noGrp="1"/>
          </p:cNvSpPr>
          <p:nvPr>
            <p:ph type="sldNum" sz="quarter" idx="5"/>
          </p:nvPr>
        </p:nvSpPr>
        <p:spPr/>
        <p:txBody>
          <a:bodyPr/>
          <a:lstStyle/>
          <a:p>
            <a:fld id="{F135C052-BCF6-4AA7-9CC9-D5D892F63530}" type="slidenum">
              <a:rPr lang="en-US" smtClean="0"/>
              <a:t>74</a:t>
            </a:fld>
            <a:endParaRPr lang="en-US"/>
          </a:p>
        </p:txBody>
      </p:sp>
    </p:spTree>
    <p:extLst>
      <p:ext uri="{BB962C8B-B14F-4D97-AF65-F5344CB8AC3E}">
        <p14:creationId xmlns:p14="http://schemas.microsoft.com/office/powerpoint/2010/main" val="422278885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Change is the first question an investigator asks and the one most estates cannot answer across clouds. A deployment-event table is cheap and answers it.</a:t>
            </a:r>
          </a:p>
        </p:txBody>
      </p:sp>
      <p:sp>
        <p:nvSpPr>
          <p:cNvPr id="4" name="Slide Number Placeholder 3"/>
          <p:cNvSpPr>
            <a:spLocks noGrp="1"/>
          </p:cNvSpPr>
          <p:nvPr>
            <p:ph type="sldNum" sz="quarter" idx="5"/>
          </p:nvPr>
        </p:nvSpPr>
        <p:spPr/>
        <p:txBody>
          <a:bodyPr/>
          <a:lstStyle/>
          <a:p>
            <a:fld id="{F135C052-BCF6-4AA7-9CC9-D5D892F63530}" type="slidenum">
              <a:rPr lang="en-US" smtClean="0"/>
              <a:t>75</a:t>
            </a:fld>
            <a:endParaRPr lang="en-US"/>
          </a:p>
        </p:txBody>
      </p:sp>
    </p:spTree>
    <p:extLst>
      <p:ext uri="{BB962C8B-B14F-4D97-AF65-F5344CB8AC3E}">
        <p14:creationId xmlns:p14="http://schemas.microsoft.com/office/powerpoint/2010/main" val="40343105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Review monthly. The rules that fire and lead to nothing are retired; the ones that fired and nobody acted on get an owner or go. Alert sprawl is a maintenance failure, not a tooling failure.</a:t>
            </a:r>
          </a:p>
        </p:txBody>
      </p:sp>
      <p:sp>
        <p:nvSpPr>
          <p:cNvPr id="4" name="Slide Number Placeholder 3"/>
          <p:cNvSpPr>
            <a:spLocks noGrp="1"/>
          </p:cNvSpPr>
          <p:nvPr>
            <p:ph type="sldNum" sz="quarter" idx="5"/>
          </p:nvPr>
        </p:nvSpPr>
        <p:spPr/>
        <p:txBody>
          <a:bodyPr/>
          <a:lstStyle/>
          <a:p>
            <a:fld id="{F135C052-BCF6-4AA7-9CC9-D5D892F63530}" type="slidenum">
              <a:rPr lang="en-US" smtClean="0"/>
              <a:t>76</a:t>
            </a:fld>
            <a:endParaRPr lang="en-US"/>
          </a:p>
        </p:txBody>
      </p:sp>
    </p:spTree>
    <p:extLst>
      <p:ext uri="{BB962C8B-B14F-4D97-AF65-F5344CB8AC3E}">
        <p14:creationId xmlns:p14="http://schemas.microsoft.com/office/powerpoint/2010/main" val="15694218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Cost is a signal about design. A table that costs a lot and answers a question is fine; a table that costs a lot and answers none is the first thing to cut, and the decision record says why.</a:t>
            </a:r>
          </a:p>
        </p:txBody>
      </p:sp>
      <p:sp>
        <p:nvSpPr>
          <p:cNvPr id="4" name="Slide Number Placeholder 3"/>
          <p:cNvSpPr>
            <a:spLocks noGrp="1"/>
          </p:cNvSpPr>
          <p:nvPr>
            <p:ph type="sldNum" sz="quarter" idx="5"/>
          </p:nvPr>
        </p:nvSpPr>
        <p:spPr/>
        <p:txBody>
          <a:bodyPr/>
          <a:lstStyle/>
          <a:p>
            <a:fld id="{F135C052-BCF6-4AA7-9CC9-D5D892F63530}" type="slidenum">
              <a:rPr lang="en-US" smtClean="0"/>
              <a:t>77</a:t>
            </a:fld>
            <a:endParaRPr lang="en-US"/>
          </a:p>
        </p:txBody>
      </p:sp>
    </p:spTree>
    <p:extLst>
      <p:ext uri="{BB962C8B-B14F-4D97-AF65-F5344CB8AC3E}">
        <p14:creationId xmlns:p14="http://schemas.microsoft.com/office/powerpoint/2010/main" val="2479199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management plane drifts like anything else. These are the five things that silently break observability months after a successful rollout.</a:t>
            </a:r>
          </a:p>
        </p:txBody>
      </p:sp>
      <p:sp>
        <p:nvSpPr>
          <p:cNvPr id="4" name="Slide Number Placeholder 3"/>
          <p:cNvSpPr>
            <a:spLocks noGrp="1"/>
          </p:cNvSpPr>
          <p:nvPr>
            <p:ph type="sldNum" sz="quarter" idx="5"/>
          </p:nvPr>
        </p:nvSpPr>
        <p:spPr/>
        <p:txBody>
          <a:bodyPr/>
          <a:lstStyle/>
          <a:p>
            <a:fld id="{F135C052-BCF6-4AA7-9CC9-D5D892F63530}" type="slidenum">
              <a:rPr lang="en-US" smtClean="0"/>
              <a:t>78</a:t>
            </a:fld>
            <a:endParaRPr lang="en-US"/>
          </a:p>
        </p:txBody>
      </p:sp>
    </p:spTree>
    <p:extLst>
      <p:ext uri="{BB962C8B-B14F-4D97-AF65-F5344CB8AC3E}">
        <p14:creationId xmlns:p14="http://schemas.microsoft.com/office/powerpoint/2010/main" val="242369662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nobody watches the watchers, the first sign that telemetry stopped is an incident that nobody saw coming. Treat the platform as a service with its own commitment: the platform is visible.</a:t>
            </a:r>
          </a:p>
        </p:txBody>
      </p:sp>
      <p:sp>
        <p:nvSpPr>
          <p:cNvPr id="4" name="Slide Number Placeholder 3"/>
          <p:cNvSpPr>
            <a:spLocks noGrp="1"/>
          </p:cNvSpPr>
          <p:nvPr>
            <p:ph type="sldNum" sz="quarter" idx="5"/>
          </p:nvPr>
        </p:nvSpPr>
        <p:spPr/>
        <p:txBody>
          <a:bodyPr/>
          <a:lstStyle/>
          <a:p>
            <a:fld id="{F135C052-BCF6-4AA7-9CC9-D5D892F63530}" type="slidenum">
              <a:rPr lang="en-US" smtClean="0"/>
              <a:t>79</a:t>
            </a:fld>
            <a:endParaRPr lang="en-US"/>
          </a:p>
        </p:txBody>
      </p:sp>
    </p:spTree>
    <p:extLst>
      <p:ext uri="{BB962C8B-B14F-4D97-AF65-F5344CB8AC3E}">
        <p14:creationId xmlns:p14="http://schemas.microsoft.com/office/powerpoint/2010/main" val="83668503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Five stages that repeat. The trigger for a new lap is any change in the estate: a new site, a new cloud account, a new service, a new owner.</a:t>
            </a:r>
          </a:p>
        </p:txBody>
      </p:sp>
      <p:sp>
        <p:nvSpPr>
          <p:cNvPr id="4" name="Slide Number Placeholder 3"/>
          <p:cNvSpPr>
            <a:spLocks noGrp="1"/>
          </p:cNvSpPr>
          <p:nvPr>
            <p:ph type="sldNum" sz="quarter" idx="5"/>
          </p:nvPr>
        </p:nvSpPr>
        <p:spPr/>
        <p:txBody>
          <a:bodyPr/>
          <a:lstStyle/>
          <a:p>
            <a:fld id="{F135C052-BCF6-4AA7-9CC9-D5D892F63530}" type="slidenum">
              <a:rPr lang="en-US" smtClean="0"/>
              <a:t>80</a:t>
            </a:fld>
            <a:endParaRPr lang="en-US"/>
          </a:p>
        </p:txBody>
      </p:sp>
    </p:spTree>
    <p:extLst>
      <p:ext uri="{BB962C8B-B14F-4D97-AF65-F5344CB8AC3E}">
        <p14:creationId xmlns:p14="http://schemas.microsoft.com/office/powerpoint/2010/main" val="222107522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closing checklist for the people who will run it. Each left-hand item is a habit from the site-first world; each right-hand item is the service-first replacement.</a:t>
            </a:r>
          </a:p>
        </p:txBody>
      </p:sp>
      <p:sp>
        <p:nvSpPr>
          <p:cNvPr id="4" name="Slide Number Placeholder 3"/>
          <p:cNvSpPr>
            <a:spLocks noGrp="1"/>
          </p:cNvSpPr>
          <p:nvPr>
            <p:ph type="sldNum" sz="quarter" idx="5"/>
          </p:nvPr>
        </p:nvSpPr>
        <p:spPr/>
        <p:txBody>
          <a:bodyPr/>
          <a:lstStyle/>
          <a:p>
            <a:fld id="{F135C052-BCF6-4AA7-9CC9-D5D892F63530}" type="slidenum">
              <a:rPr lang="en-US" smtClean="0"/>
              <a:t>81</a:t>
            </a:fld>
            <a:endParaRPr lang="en-US"/>
          </a:p>
        </p:txBody>
      </p:sp>
    </p:spTree>
    <p:extLst>
      <p:ext uri="{BB962C8B-B14F-4D97-AF65-F5344CB8AC3E}">
        <p14:creationId xmlns:p14="http://schemas.microsoft.com/office/powerpoint/2010/main" val="308187040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intro.</a:t>
            </a:r>
          </a:p>
        </p:txBody>
      </p:sp>
      <p:sp>
        <p:nvSpPr>
          <p:cNvPr id="4" name="Slide Number Placeholder 3"/>
          <p:cNvSpPr>
            <a:spLocks noGrp="1"/>
          </p:cNvSpPr>
          <p:nvPr>
            <p:ph type="sldNum" sz="quarter" idx="5"/>
          </p:nvPr>
        </p:nvSpPr>
        <p:spPr/>
        <p:txBody>
          <a:bodyPr/>
          <a:lstStyle/>
          <a:p>
            <a:fld id="{F135C052-BCF6-4AA7-9CC9-D5D892F63530}" type="slidenum">
              <a:rPr lang="en-US" smtClean="0"/>
              <a:t>82</a:t>
            </a:fld>
            <a:endParaRPr lang="en-US"/>
          </a:p>
        </p:txBody>
      </p:sp>
    </p:spTree>
    <p:extLst>
      <p:ext uri="{BB962C8B-B14F-4D97-AF65-F5344CB8AC3E}">
        <p14:creationId xmlns:p14="http://schemas.microsoft.com/office/powerpoint/2010/main" val="24000007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Least privilege per identity. The one that matters most for observability is Monitoring Metrics Publisher on the rule, not the workspace.</a:t>
            </a:r>
          </a:p>
        </p:txBody>
      </p:sp>
      <p:sp>
        <p:nvSpPr>
          <p:cNvPr id="4" name="Slide Number Placeholder 3"/>
          <p:cNvSpPr>
            <a:spLocks noGrp="1"/>
          </p:cNvSpPr>
          <p:nvPr>
            <p:ph type="sldNum" sz="quarter" idx="5"/>
          </p:nvPr>
        </p:nvSpPr>
        <p:spPr/>
        <p:txBody>
          <a:bodyPr/>
          <a:lstStyle/>
          <a:p>
            <a:fld id="{F135C052-BCF6-4AA7-9CC9-D5D892F63530}" type="slidenum">
              <a:rPr lang="en-US" smtClean="0"/>
              <a:t>83</a:t>
            </a:fld>
            <a:endParaRPr lang="en-US"/>
          </a:p>
        </p:txBody>
      </p:sp>
    </p:spTree>
    <p:extLst>
      <p:ext uri="{BB962C8B-B14F-4D97-AF65-F5344CB8AC3E}">
        <p14:creationId xmlns:p14="http://schemas.microsoft.com/office/powerpoint/2010/main" val="2625272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Numbers quoted in this deck, collected. All from Microsoft Learn as of October 2026; the preview items can change.</a:t>
            </a:r>
          </a:p>
        </p:txBody>
      </p:sp>
      <p:sp>
        <p:nvSpPr>
          <p:cNvPr id="4" name="Slide Number Placeholder 3"/>
          <p:cNvSpPr>
            <a:spLocks noGrp="1"/>
          </p:cNvSpPr>
          <p:nvPr>
            <p:ph type="sldNum" sz="quarter" idx="5"/>
          </p:nvPr>
        </p:nvSpPr>
        <p:spPr/>
        <p:txBody>
          <a:bodyPr/>
          <a:lstStyle/>
          <a:p>
            <a:fld id="{F135C052-BCF6-4AA7-9CC9-D5D892F63530}" type="slidenum">
              <a:rPr lang="en-US" smtClean="0"/>
              <a:t>84</a:t>
            </a:fld>
            <a:endParaRPr lang="en-US"/>
          </a:p>
        </p:txBody>
      </p:sp>
    </p:spTree>
    <p:extLst>
      <p:ext uri="{BB962C8B-B14F-4D97-AF65-F5344CB8AC3E}">
        <p14:creationId xmlns:p14="http://schemas.microsoft.com/office/powerpoint/2010/main" val="366687321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commands used across chapters 3 to 6 in one place. Treat every argument as a placeholder to adapt.</a:t>
            </a:r>
          </a:p>
        </p:txBody>
      </p:sp>
      <p:sp>
        <p:nvSpPr>
          <p:cNvPr id="4" name="Slide Number Placeholder 3"/>
          <p:cNvSpPr>
            <a:spLocks noGrp="1"/>
          </p:cNvSpPr>
          <p:nvPr>
            <p:ph type="sldNum" sz="quarter" idx="5"/>
          </p:nvPr>
        </p:nvSpPr>
        <p:spPr/>
        <p:txBody>
          <a:bodyPr/>
          <a:lstStyle/>
          <a:p>
            <a:fld id="{F135C052-BCF6-4AA7-9CC9-D5D892F63530}" type="slidenum">
              <a:rPr lang="en-US" smtClean="0"/>
              <a:t>85</a:t>
            </a:fld>
            <a:endParaRPr lang="en-US"/>
          </a:p>
        </p:txBody>
      </p:sp>
    </p:spTree>
    <p:extLst>
      <p:ext uri="{BB962C8B-B14F-4D97-AF65-F5344CB8AC3E}">
        <p14:creationId xmlns:p14="http://schemas.microsoft.com/office/powerpoint/2010/main" val="323984928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in the deck traces to one of these. Check them before you build; the preview features in particular move.</a:t>
            </a:r>
          </a:p>
        </p:txBody>
      </p:sp>
      <p:sp>
        <p:nvSpPr>
          <p:cNvPr id="4" name="Slide Number Placeholder 3"/>
          <p:cNvSpPr>
            <a:spLocks noGrp="1"/>
          </p:cNvSpPr>
          <p:nvPr>
            <p:ph type="sldNum" sz="quarter" idx="5"/>
          </p:nvPr>
        </p:nvSpPr>
        <p:spPr/>
        <p:txBody>
          <a:bodyPr/>
          <a:lstStyle/>
          <a:p>
            <a:fld id="{F135C052-BCF6-4AA7-9CC9-D5D892F63530}" type="slidenum">
              <a:rPr lang="en-US" smtClean="0"/>
              <a:t>86</a:t>
            </a:fld>
            <a:endParaRPr lang="en-US"/>
          </a:p>
        </p:txBody>
      </p:sp>
    </p:spTree>
    <p:extLst>
      <p:ext uri="{BB962C8B-B14F-4D97-AF65-F5344CB8AC3E}">
        <p14:creationId xmlns:p14="http://schemas.microsoft.com/office/powerpoint/2010/main" val="115311782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on the one sentence and the three nouns: resource, evidence, discipline.</a:t>
            </a:r>
          </a:p>
        </p:txBody>
      </p:sp>
      <p:sp>
        <p:nvSpPr>
          <p:cNvPr id="4" name="Slide Number Placeholder 3"/>
          <p:cNvSpPr>
            <a:spLocks noGrp="1"/>
          </p:cNvSpPr>
          <p:nvPr>
            <p:ph type="sldNum" sz="quarter" idx="5"/>
          </p:nvPr>
        </p:nvSpPr>
        <p:spPr/>
        <p:txBody>
          <a:bodyPr/>
          <a:lstStyle/>
          <a:p>
            <a:fld id="{F135C052-BCF6-4AA7-9CC9-D5D892F63530}" type="slidenum">
              <a:rPr lang="en-US" smtClean="0"/>
              <a:t>87</a:t>
            </a:fld>
            <a:endParaRPr lang="en-US"/>
          </a:p>
        </p:txBody>
      </p:sp>
    </p:spTree>
    <p:extLst>
      <p:ext uri="{BB962C8B-B14F-4D97-AF65-F5344CB8AC3E}">
        <p14:creationId xmlns:p14="http://schemas.microsoft.com/office/powerpoint/2010/main" val="34222602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91244-DF0B-E1BB-9099-EA5B9A45F7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1BBB24-FE41-8A79-DC6B-A27C4DE46A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B51AA8-3E1C-340F-BFA6-7A7D07DD0DCD}"/>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5" name="Footer Placeholder 4">
            <a:extLst>
              <a:ext uri="{FF2B5EF4-FFF2-40B4-BE49-F238E27FC236}">
                <a16:creationId xmlns:a16="http://schemas.microsoft.com/office/drawing/2014/main" id="{7774B7EC-C911-0CAB-D049-DE8B03497C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9275B-5314-E40D-27B3-0C3904BF0880}"/>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1156147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9CCFC-1034-B793-2DA3-984410D398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79DB20-FEB2-0671-7BA2-FFBD098B72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D2C1C4-45FE-E6FB-6D52-78F549597BFB}"/>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5" name="Footer Placeholder 4">
            <a:extLst>
              <a:ext uri="{FF2B5EF4-FFF2-40B4-BE49-F238E27FC236}">
                <a16:creationId xmlns:a16="http://schemas.microsoft.com/office/drawing/2014/main" id="{775507F0-F760-316A-1650-630BF7F011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BBF3C6-40DE-9CBC-1950-CECD4CE64344}"/>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120678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4DDCA-EDBF-0A59-995D-3BFF55C4E0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4B0D8F-6221-CF85-7147-893E7DA899C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0B5A2-1DF6-7CA5-F98F-630AAA71FDBC}"/>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5" name="Footer Placeholder 4">
            <a:extLst>
              <a:ext uri="{FF2B5EF4-FFF2-40B4-BE49-F238E27FC236}">
                <a16:creationId xmlns:a16="http://schemas.microsoft.com/office/drawing/2014/main" id="{E6DB0DC8-BF80-D341-87A9-C6CAF8CD5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853136-0EF4-F420-CC58-21AE9D7A0E32}"/>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561549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8B3B4-D272-B980-588C-DF5CD3EEB1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943619-8DE8-1D65-3C67-BB29FDD39A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67075-DC91-AAFE-8371-DBD83F4FBE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0B6E49-7524-FAD2-E0F2-19E981525EB3}"/>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6" name="Footer Placeholder 5">
            <a:extLst>
              <a:ext uri="{FF2B5EF4-FFF2-40B4-BE49-F238E27FC236}">
                <a16:creationId xmlns:a16="http://schemas.microsoft.com/office/drawing/2014/main" id="{F339B0C5-357D-5DCB-A08E-4C9F752CF6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709239-C854-CAF6-922D-B44310917613}"/>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1027066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8387E-B28F-D2FE-BCC4-518376BBCC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1BEC99-61C1-6B88-00F3-7A06E80F80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E8EEFA-DF82-8CAA-9BC9-98AC687E48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8989D7-CB43-75D9-ACF9-CD283823E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CD7C91-6A24-96D8-47A5-FEE2E92FE6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B3213F-F03F-6A85-8419-59C637A07012}"/>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8" name="Footer Placeholder 7">
            <a:extLst>
              <a:ext uri="{FF2B5EF4-FFF2-40B4-BE49-F238E27FC236}">
                <a16:creationId xmlns:a16="http://schemas.microsoft.com/office/drawing/2014/main" id="{A982B29E-5ADC-29A4-F1AD-CDE30B8ABDB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42D7F9-666A-109C-84D8-382CE19727B2}"/>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2902068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D25A8-E7E2-5D87-D704-D372B58EFA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2F1057-2BCF-8ADA-AEFE-0B1E459812A4}"/>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4" name="Footer Placeholder 3">
            <a:extLst>
              <a:ext uri="{FF2B5EF4-FFF2-40B4-BE49-F238E27FC236}">
                <a16:creationId xmlns:a16="http://schemas.microsoft.com/office/drawing/2014/main" id="{96779175-B9C1-D3B7-D620-7F82B584F9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AA17CA-A051-AEB6-0F73-84FC565F391D}"/>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903301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649B89-9501-FA16-541B-B6DFB7128361}"/>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3" name="Footer Placeholder 2">
            <a:extLst>
              <a:ext uri="{FF2B5EF4-FFF2-40B4-BE49-F238E27FC236}">
                <a16:creationId xmlns:a16="http://schemas.microsoft.com/office/drawing/2014/main" id="{10B35ADD-AC03-F42F-92C1-6B3709CE48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599906-CB79-925D-DA0C-E82455A28160}"/>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3975127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51142-7D3D-7002-9794-E16B3417B2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ABA0A9-5615-377E-639F-A3FEA8A4D2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063E71-7F83-ABC0-4E97-8681DE4148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6F1ADB-9BA3-FB39-08E1-61BF325A7BCD}"/>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6" name="Footer Placeholder 5">
            <a:extLst>
              <a:ext uri="{FF2B5EF4-FFF2-40B4-BE49-F238E27FC236}">
                <a16:creationId xmlns:a16="http://schemas.microsoft.com/office/drawing/2014/main" id="{650F1C42-9F44-BFCB-FCA2-EF593676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B10DA6-CF5A-6714-10C8-104F852D4821}"/>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707424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3BE9-D336-24F1-49C6-76BBC8B38F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BBBCA3-8877-55EB-7544-025C294C27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89A29F-91BA-2C54-9242-63671B1A5E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75F5D8-4ACF-E3A3-31AB-AB3D87C82530}"/>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6" name="Footer Placeholder 5">
            <a:extLst>
              <a:ext uri="{FF2B5EF4-FFF2-40B4-BE49-F238E27FC236}">
                <a16:creationId xmlns:a16="http://schemas.microsoft.com/office/drawing/2014/main" id="{095DAAE8-B89B-C990-89B7-30488EA3A0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85E299-3529-1F9E-0AC2-E19C19DF6FF9}"/>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3874304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5A31-3B96-3B48-A2DD-A2B48FCCA4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2E8F12-CC43-6A50-A58F-7AE83025D6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624ECD-8BF3-FFC5-EF87-A73C510D07C8}"/>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5" name="Footer Placeholder 4">
            <a:extLst>
              <a:ext uri="{FF2B5EF4-FFF2-40B4-BE49-F238E27FC236}">
                <a16:creationId xmlns:a16="http://schemas.microsoft.com/office/drawing/2014/main" id="{1CAF3DA8-55A0-A208-14DC-59C75BC1E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01F96E-2C05-7DE4-925A-82FA40E791BA}"/>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4154620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C04172-07B0-F6CB-B28B-88817399D0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3B83EC-5036-887F-B675-57E4F50D07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8EF87A-8117-47F3-FF97-89FDC6954200}"/>
              </a:ext>
            </a:extLst>
          </p:cNvPr>
          <p:cNvSpPr>
            <a:spLocks noGrp="1"/>
          </p:cNvSpPr>
          <p:nvPr>
            <p:ph type="dt" sz="half" idx="10"/>
          </p:nvPr>
        </p:nvSpPr>
        <p:spPr/>
        <p:txBody>
          <a:bodyPr/>
          <a:lstStyle/>
          <a:p>
            <a:fld id="{22CAE8C8-3E46-4EBF-9743-96931D6B1A3C}" type="datetimeFigureOut">
              <a:rPr lang="en-US" smtClean="0"/>
              <a:t>10/1/2026</a:t>
            </a:fld>
            <a:endParaRPr lang="en-US"/>
          </a:p>
        </p:txBody>
      </p:sp>
      <p:sp>
        <p:nvSpPr>
          <p:cNvPr id="5" name="Footer Placeholder 4">
            <a:extLst>
              <a:ext uri="{FF2B5EF4-FFF2-40B4-BE49-F238E27FC236}">
                <a16:creationId xmlns:a16="http://schemas.microsoft.com/office/drawing/2014/main" id="{92FB680B-31EE-ECA1-0B86-796DA11CAA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3E2117-A982-0A42-AF00-389B7C680DEF}"/>
              </a:ext>
            </a:extLst>
          </p:cNvPr>
          <p:cNvSpPr>
            <a:spLocks noGrp="1"/>
          </p:cNvSpPr>
          <p:nvPr>
            <p:ph type="sldNum" sz="quarter" idx="12"/>
          </p:nvPr>
        </p:nvSpPr>
        <p:spPr/>
        <p:txBody>
          <a:bodyPr/>
          <a:lstStyle/>
          <a:p>
            <a:fld id="{30978530-D268-4737-8259-F54F802A01DE}" type="slidenum">
              <a:rPr lang="en-US" smtClean="0"/>
              <a:t>‹#›</a:t>
            </a:fld>
            <a:endParaRPr lang="en-US"/>
          </a:p>
        </p:txBody>
      </p:sp>
    </p:spTree>
    <p:extLst>
      <p:ext uri="{BB962C8B-B14F-4D97-AF65-F5344CB8AC3E}">
        <p14:creationId xmlns:p14="http://schemas.microsoft.com/office/powerpoint/2010/main" val="2674911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6E7546-E2A8-491A-C354-5DFD898639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EE5C2C-3871-D7DA-EB95-5845D6B258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DE6572-2CDE-0B23-0BD5-5D0CA0B04E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CAE8C8-3E46-4EBF-9743-96931D6B1A3C}" type="datetimeFigureOut">
              <a:rPr lang="en-US" smtClean="0"/>
              <a:t>10/1/2026</a:t>
            </a:fld>
            <a:endParaRPr lang="en-US"/>
          </a:p>
        </p:txBody>
      </p:sp>
      <p:sp>
        <p:nvSpPr>
          <p:cNvPr id="5" name="Footer Placeholder 4">
            <a:extLst>
              <a:ext uri="{FF2B5EF4-FFF2-40B4-BE49-F238E27FC236}">
                <a16:creationId xmlns:a16="http://schemas.microsoft.com/office/drawing/2014/main" id="{A28AEB12-B0BF-39AB-73AB-DAF261196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10E96A-0C91-3C8A-0532-D610D0C367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978530-D268-4737-8259-F54F802A01DE}" type="slidenum">
              <a:rPr lang="en-US" smtClean="0"/>
              <a:t>‹#›</a:t>
            </a:fld>
            <a:endParaRPr lang="en-US"/>
          </a:p>
        </p:txBody>
      </p:sp>
    </p:spTree>
    <p:extLst>
      <p:ext uri="{BB962C8B-B14F-4D97-AF65-F5344CB8AC3E}">
        <p14:creationId xmlns:p14="http://schemas.microsoft.com/office/powerpoint/2010/main" val="3536229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C67F60-5810-1074-88C1-D2FD6A4962F7}"/>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7" name="TextBox 6">
            <a:extLst>
              <a:ext uri="{FF2B5EF4-FFF2-40B4-BE49-F238E27FC236}">
                <a16:creationId xmlns:a16="http://schemas.microsoft.com/office/drawing/2014/main" id="{06DAB344-8B09-EC28-F653-2D11967DB83D}"/>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a:t>
            </a:r>
          </a:p>
        </p:txBody>
      </p:sp>
      <p:sp>
        <p:nvSpPr>
          <p:cNvPr id="8" name="Rectangle 7">
            <a:extLst>
              <a:ext uri="{FF2B5EF4-FFF2-40B4-BE49-F238E27FC236}">
                <a16:creationId xmlns:a16="http://schemas.microsoft.com/office/drawing/2014/main" id="{9429D607-596F-8B45-DE66-30602E276652}"/>
              </a:ext>
            </a:extLst>
          </p:cNvPr>
          <p:cNvSpPr/>
          <p:nvPr/>
        </p:nvSpPr>
        <p:spPr>
          <a:xfrm>
            <a:off x="0" y="0"/>
            <a:ext cx="12192000" cy="6858000"/>
          </a:xfrm>
          <a:prstGeom prst="rect">
            <a:avLst/>
          </a:prstGeom>
          <a:solidFill>
            <a:srgbClr val="18181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909D49-94B4-B483-83A5-28C365A6F495}"/>
              </a:ext>
            </a:extLst>
          </p:cNvPr>
          <p:cNvSpPr/>
          <p:nvPr/>
        </p:nvSpPr>
        <p:spPr>
          <a:xfrm>
            <a:off x="762000" y="1524000"/>
            <a:ext cx="101600" cy="21590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BC1D87E-212A-CCB5-BC27-5823144644D4}"/>
              </a:ext>
            </a:extLst>
          </p:cNvPr>
          <p:cNvSpPr txBox="1"/>
          <p:nvPr/>
        </p:nvSpPr>
        <p:spPr>
          <a:xfrm>
            <a:off x="1066800" y="1422400"/>
            <a:ext cx="10414000" cy="889000"/>
          </a:xfrm>
          <a:prstGeom prst="rect">
            <a:avLst/>
          </a:prstGeom>
          <a:noFill/>
        </p:spPr>
        <p:txBody>
          <a:bodyPr vert="horz" wrap="square" lIns="25400" tIns="12700" rIns="25400" bIns="12700" rtlCol="0" anchor="t">
            <a:noAutofit/>
          </a:bodyPr>
          <a:lstStyle/>
          <a:p>
            <a:r>
              <a:rPr lang="en-US" sz="4000" b="1">
                <a:solidFill>
                  <a:srgbClr val="F4F4F5"/>
                </a:solidFill>
                <a:latin typeface="Calibri" panose="020F0502020204030204" pitchFamily="34" charset="0"/>
              </a:rPr>
              <a:t>Observability across clouds</a:t>
            </a:r>
          </a:p>
        </p:txBody>
      </p:sp>
      <p:sp>
        <p:nvSpPr>
          <p:cNvPr id="11" name="TextBox 10">
            <a:extLst>
              <a:ext uri="{FF2B5EF4-FFF2-40B4-BE49-F238E27FC236}">
                <a16:creationId xmlns:a16="http://schemas.microsoft.com/office/drawing/2014/main" id="{7EFFA7AB-9FFD-D23A-DE78-77CBF2A2A9A6}"/>
              </a:ext>
            </a:extLst>
          </p:cNvPr>
          <p:cNvSpPr txBox="1"/>
          <p:nvPr/>
        </p:nvSpPr>
        <p:spPr>
          <a:xfrm>
            <a:off x="1066800" y="2413000"/>
            <a:ext cx="10160000" cy="762000"/>
          </a:xfrm>
          <a:prstGeom prst="rect">
            <a:avLst/>
          </a:prstGeom>
          <a:noFill/>
        </p:spPr>
        <p:txBody>
          <a:bodyPr vert="horz" wrap="square" lIns="25400" tIns="12700" rIns="25400" bIns="12700" rtlCol="0" anchor="t">
            <a:noAutofit/>
          </a:bodyPr>
          <a:lstStyle/>
          <a:p>
            <a:r>
              <a:rPr lang="en-US">
                <a:solidFill>
                  <a:srgbClr val="B0B0BA"/>
                </a:solidFill>
                <a:latin typeface="Calibri" panose="020F0502020204030204" pitchFamily="34" charset="0"/>
              </a:rPr>
              <a:t>Everything observability is, and how to build it with Azure as the management plane</a:t>
            </a:r>
          </a:p>
        </p:txBody>
      </p:sp>
      <p:sp>
        <p:nvSpPr>
          <p:cNvPr id="12" name="TextBox 11">
            <a:extLst>
              <a:ext uri="{FF2B5EF4-FFF2-40B4-BE49-F238E27FC236}">
                <a16:creationId xmlns:a16="http://schemas.microsoft.com/office/drawing/2014/main" id="{DCF4D891-EB2A-2D3D-82C4-AE5D486BC0E9}"/>
              </a:ext>
            </a:extLst>
          </p:cNvPr>
          <p:cNvSpPr txBox="1"/>
          <p:nvPr/>
        </p:nvSpPr>
        <p:spPr>
          <a:xfrm>
            <a:off x="1066800" y="3276600"/>
            <a:ext cx="10160000" cy="355600"/>
          </a:xfrm>
          <a:prstGeom prst="rect">
            <a:avLst/>
          </a:prstGeom>
          <a:noFill/>
        </p:spPr>
        <p:txBody>
          <a:bodyPr vert="horz" wrap="square" lIns="25400" tIns="12700" rIns="25400" bIns="12700" rtlCol="0" anchor="t">
            <a:noAutofit/>
          </a:bodyPr>
          <a:lstStyle/>
          <a:p>
            <a:r>
              <a:rPr lang="en-US" sz="1400" b="1">
                <a:solidFill>
                  <a:srgbClr val="FBBF24"/>
                </a:solidFill>
                <a:latin typeface="Calibri" panose="020F0502020204030204" pitchFamily="34" charset="0"/>
              </a:rPr>
              <a:t>Datacenters · VMware and SCVMM · Azure · AWS · GCP · Kubernetes · edge</a:t>
            </a:r>
          </a:p>
        </p:txBody>
      </p:sp>
      <p:sp>
        <p:nvSpPr>
          <p:cNvPr id="13" name="Rectangle: Rounded Corners 12">
            <a:extLst>
              <a:ext uri="{FF2B5EF4-FFF2-40B4-BE49-F238E27FC236}">
                <a16:creationId xmlns:a16="http://schemas.microsoft.com/office/drawing/2014/main" id="{E1A653EF-F170-A116-EF27-75FC6A9DB306}"/>
              </a:ext>
            </a:extLst>
          </p:cNvPr>
          <p:cNvSpPr/>
          <p:nvPr/>
        </p:nvSpPr>
        <p:spPr>
          <a:xfrm>
            <a:off x="1066800" y="4191000"/>
            <a:ext cx="1574800" cy="508000"/>
          </a:xfrm>
          <a:prstGeom prst="roundRect">
            <a:avLst>
              <a:gd name="adj" fmla="val 8000"/>
            </a:avLst>
          </a:prstGeom>
          <a:solidFill>
            <a:srgbClr val="27272C"/>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Datacenters</a:t>
            </a:r>
          </a:p>
        </p:txBody>
      </p:sp>
      <p:sp>
        <p:nvSpPr>
          <p:cNvPr id="14" name="Rectangle: Rounded Corners 13">
            <a:extLst>
              <a:ext uri="{FF2B5EF4-FFF2-40B4-BE49-F238E27FC236}">
                <a16:creationId xmlns:a16="http://schemas.microsoft.com/office/drawing/2014/main" id="{66F01D1C-2D2A-AD8B-0D5B-0D318FC674DC}"/>
              </a:ext>
            </a:extLst>
          </p:cNvPr>
          <p:cNvSpPr/>
          <p:nvPr/>
        </p:nvSpPr>
        <p:spPr>
          <a:xfrm>
            <a:off x="2794000" y="4191000"/>
            <a:ext cx="1574800" cy="508000"/>
          </a:xfrm>
          <a:prstGeom prst="roundRect">
            <a:avLst>
              <a:gd name="adj" fmla="val 8000"/>
            </a:avLst>
          </a:prstGeom>
          <a:solidFill>
            <a:srgbClr val="27272C"/>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Azure</a:t>
            </a:r>
          </a:p>
        </p:txBody>
      </p:sp>
      <p:sp>
        <p:nvSpPr>
          <p:cNvPr id="15" name="Rectangle: Rounded Corners 14">
            <a:extLst>
              <a:ext uri="{FF2B5EF4-FFF2-40B4-BE49-F238E27FC236}">
                <a16:creationId xmlns:a16="http://schemas.microsoft.com/office/drawing/2014/main" id="{4ABE5E45-08F0-421B-EDEE-1F87F5D97A29}"/>
              </a:ext>
            </a:extLst>
          </p:cNvPr>
          <p:cNvSpPr/>
          <p:nvPr/>
        </p:nvSpPr>
        <p:spPr>
          <a:xfrm>
            <a:off x="4521200" y="4191000"/>
            <a:ext cx="1574800" cy="508000"/>
          </a:xfrm>
          <a:prstGeom prst="roundRect">
            <a:avLst>
              <a:gd name="adj" fmla="val 8000"/>
            </a:avLst>
          </a:prstGeom>
          <a:solidFill>
            <a:srgbClr val="27272C"/>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AWS</a:t>
            </a:r>
          </a:p>
        </p:txBody>
      </p:sp>
      <p:sp>
        <p:nvSpPr>
          <p:cNvPr id="16" name="Rectangle: Rounded Corners 15">
            <a:extLst>
              <a:ext uri="{FF2B5EF4-FFF2-40B4-BE49-F238E27FC236}">
                <a16:creationId xmlns:a16="http://schemas.microsoft.com/office/drawing/2014/main" id="{DE0E5079-E9B5-D8E3-AA01-35F62130F45A}"/>
              </a:ext>
            </a:extLst>
          </p:cNvPr>
          <p:cNvSpPr/>
          <p:nvPr/>
        </p:nvSpPr>
        <p:spPr>
          <a:xfrm>
            <a:off x="6248400" y="4191000"/>
            <a:ext cx="1574800" cy="508000"/>
          </a:xfrm>
          <a:prstGeom prst="roundRect">
            <a:avLst>
              <a:gd name="adj" fmla="val 8000"/>
            </a:avLst>
          </a:prstGeom>
          <a:solidFill>
            <a:srgbClr val="27272C"/>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GCP</a:t>
            </a:r>
          </a:p>
        </p:txBody>
      </p:sp>
      <p:sp>
        <p:nvSpPr>
          <p:cNvPr id="17" name="Rectangle: Rounded Corners 16">
            <a:extLst>
              <a:ext uri="{FF2B5EF4-FFF2-40B4-BE49-F238E27FC236}">
                <a16:creationId xmlns:a16="http://schemas.microsoft.com/office/drawing/2014/main" id="{19BA2857-06F9-0A15-248F-95F20860CFB5}"/>
              </a:ext>
            </a:extLst>
          </p:cNvPr>
          <p:cNvSpPr/>
          <p:nvPr/>
        </p:nvSpPr>
        <p:spPr>
          <a:xfrm>
            <a:off x="7975600" y="4191000"/>
            <a:ext cx="1574800" cy="508000"/>
          </a:xfrm>
          <a:prstGeom prst="roundRect">
            <a:avLst>
              <a:gd name="adj" fmla="val 8000"/>
            </a:avLst>
          </a:prstGeom>
          <a:solidFill>
            <a:srgbClr val="27272C"/>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Kubernetes</a:t>
            </a:r>
          </a:p>
        </p:txBody>
      </p:sp>
      <p:sp>
        <p:nvSpPr>
          <p:cNvPr id="18" name="Rectangle: Rounded Corners 17">
            <a:extLst>
              <a:ext uri="{FF2B5EF4-FFF2-40B4-BE49-F238E27FC236}">
                <a16:creationId xmlns:a16="http://schemas.microsoft.com/office/drawing/2014/main" id="{EFE9E706-2F42-AF26-027B-F29CC4CC6A66}"/>
              </a:ext>
            </a:extLst>
          </p:cNvPr>
          <p:cNvSpPr/>
          <p:nvPr/>
        </p:nvSpPr>
        <p:spPr>
          <a:xfrm>
            <a:off x="9702800" y="4191000"/>
            <a:ext cx="1574800" cy="508000"/>
          </a:xfrm>
          <a:prstGeom prst="roundRect">
            <a:avLst>
              <a:gd name="adj" fmla="val 8000"/>
            </a:avLst>
          </a:prstGeom>
          <a:solidFill>
            <a:srgbClr val="27272C"/>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Edge</a:t>
            </a:r>
          </a:p>
        </p:txBody>
      </p:sp>
      <p:sp>
        <p:nvSpPr>
          <p:cNvPr id="19" name="TextBox 18">
            <a:extLst>
              <a:ext uri="{FF2B5EF4-FFF2-40B4-BE49-F238E27FC236}">
                <a16:creationId xmlns:a16="http://schemas.microsoft.com/office/drawing/2014/main" id="{EA34F8D6-D6AC-8ADD-3F37-10BF6B2B2BAE}"/>
              </a:ext>
            </a:extLst>
          </p:cNvPr>
          <p:cNvSpPr txBox="1"/>
          <p:nvPr/>
        </p:nvSpPr>
        <p:spPr>
          <a:xfrm>
            <a:off x="1066800" y="5334000"/>
            <a:ext cx="10160000" cy="3556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Reference deck · Kristopher Turner</a:t>
            </a:r>
          </a:p>
        </p:txBody>
      </p:sp>
      <p:sp>
        <p:nvSpPr>
          <p:cNvPr id="20" name="TextBox 19">
            <a:extLst>
              <a:ext uri="{FF2B5EF4-FFF2-40B4-BE49-F238E27FC236}">
                <a16:creationId xmlns:a16="http://schemas.microsoft.com/office/drawing/2014/main" id="{AAF55093-5DF1-B0E7-E289-4FB2F9628FAF}"/>
              </a:ext>
            </a:extLst>
          </p:cNvPr>
          <p:cNvSpPr txBox="1"/>
          <p:nvPr/>
        </p:nvSpPr>
        <p:spPr>
          <a:xfrm>
            <a:off x="1066800" y="5740400"/>
            <a:ext cx="10160000" cy="254000"/>
          </a:xfrm>
          <a:prstGeom prst="rect">
            <a:avLst/>
          </a:prstGeom>
          <a:noFill/>
        </p:spPr>
        <p:txBody>
          <a:bodyPr vert="horz" wrap="square" lIns="25400" tIns="12700" rIns="25400" bIns="12700" rtlCol="0" anchor="t">
            <a:noAutofit/>
          </a:bodyPr>
          <a:lstStyle/>
          <a:p>
            <a:r>
              <a:rPr lang="en-US" sz="1150">
                <a:solidFill>
                  <a:srgbClr val="B0B0BA"/>
                </a:solidFill>
                <a:latin typeface="Calibri" panose="020F0502020204030204" pitchFamily="34" charset="0"/>
              </a:rPr>
              <a:t>Facts from Microsoft Learn, October 2026 · PREVIEW features marked</a:t>
            </a:r>
          </a:p>
        </p:txBody>
      </p:sp>
    </p:spTree>
    <p:extLst>
      <p:ext uri="{BB962C8B-B14F-4D97-AF65-F5344CB8AC3E}">
        <p14:creationId xmlns:p14="http://schemas.microsoft.com/office/powerpoint/2010/main" val="741315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7CE6D06-A0B1-0E3F-B3B1-829479CC42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683855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FB9EA4B8-DC00-54B3-6398-7F2392C0720F}"/>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91C385F-27CE-5D22-9D05-DAC12AE49986}"/>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C8697C7-3BE5-483C-2A53-64DB34654BE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DE5C00E-2175-0375-02C1-3C21BD31C8B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How to use this deck</a:t>
            </a:r>
          </a:p>
        </p:txBody>
      </p:sp>
      <p:sp>
        <p:nvSpPr>
          <p:cNvPr id="6" name="TextBox 5">
            <a:extLst>
              <a:ext uri="{FF2B5EF4-FFF2-40B4-BE49-F238E27FC236}">
                <a16:creationId xmlns:a16="http://schemas.microsoft.com/office/drawing/2014/main" id="{24F7498F-5033-6636-E657-CD54936F542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7" name="TextBox 6">
            <a:extLst>
              <a:ext uri="{FF2B5EF4-FFF2-40B4-BE49-F238E27FC236}">
                <a16:creationId xmlns:a16="http://schemas.microsoft.com/office/drawing/2014/main" id="{EE3E9C06-FBB4-8D4E-DA50-5D742CAFE10F}"/>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a:t>
            </a:r>
          </a:p>
        </p:txBody>
      </p:sp>
      <p:sp>
        <p:nvSpPr>
          <p:cNvPr id="8" name="Oval 7">
            <a:extLst>
              <a:ext uri="{FF2B5EF4-FFF2-40B4-BE49-F238E27FC236}">
                <a16:creationId xmlns:a16="http://schemas.microsoft.com/office/drawing/2014/main" id="{8C476220-5FB7-84F7-4F04-5DB2570D8CA1}"/>
              </a:ext>
            </a:extLst>
          </p:cNvPr>
          <p:cNvSpPr/>
          <p:nvPr/>
        </p:nvSpPr>
        <p:spPr>
          <a:xfrm>
            <a:off x="660400" y="1685925"/>
            <a:ext cx="101600" cy="1016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1E564D8-12A5-F646-427E-CA17EE89B5D5}"/>
              </a:ext>
            </a:extLst>
          </p:cNvPr>
          <p:cNvSpPr txBox="1"/>
          <p:nvPr/>
        </p:nvSpPr>
        <p:spPr>
          <a:xfrm>
            <a:off x="889000" y="160020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Eight chapters: what, the estate, the management plane, the data plane, plan, implement, operate, reference</a:t>
            </a:r>
          </a:p>
        </p:txBody>
      </p:sp>
      <p:sp>
        <p:nvSpPr>
          <p:cNvPr id="10" name="Oval 9">
            <a:extLst>
              <a:ext uri="{FF2B5EF4-FFF2-40B4-BE49-F238E27FC236}">
                <a16:creationId xmlns:a16="http://schemas.microsoft.com/office/drawing/2014/main" id="{DAE3C1F8-5337-86FB-47A6-5B5F62F3D6B3}"/>
              </a:ext>
            </a:extLst>
          </p:cNvPr>
          <p:cNvSpPr/>
          <p:nvPr/>
        </p:nvSpPr>
        <p:spPr>
          <a:xfrm>
            <a:off x="660400" y="2107565"/>
            <a:ext cx="101600" cy="1016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36D0A10-C463-B581-3142-111C0DE89BFB}"/>
              </a:ext>
            </a:extLst>
          </p:cNvPr>
          <p:cNvSpPr txBox="1"/>
          <p:nvPr/>
        </p:nvSpPr>
        <p:spPr>
          <a:xfrm>
            <a:off x="889000" y="202184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Chapters 1 and 2 are for everyone; 3 to 7 go to engineering depth with commands and configuration</a:t>
            </a:r>
          </a:p>
        </p:txBody>
      </p:sp>
      <p:sp>
        <p:nvSpPr>
          <p:cNvPr id="12" name="Oval 11">
            <a:extLst>
              <a:ext uri="{FF2B5EF4-FFF2-40B4-BE49-F238E27FC236}">
                <a16:creationId xmlns:a16="http://schemas.microsoft.com/office/drawing/2014/main" id="{F1C8B686-F37B-0F06-9C98-955FA4732700}"/>
              </a:ext>
            </a:extLst>
          </p:cNvPr>
          <p:cNvSpPr/>
          <p:nvPr/>
        </p:nvSpPr>
        <p:spPr>
          <a:xfrm>
            <a:off x="660400" y="2529205"/>
            <a:ext cx="101600" cy="1016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C7FC5F21-4186-2072-1E27-3553E53C2D1E}"/>
              </a:ext>
            </a:extLst>
          </p:cNvPr>
          <p:cNvSpPr txBox="1"/>
          <p:nvPr/>
        </p:nvSpPr>
        <p:spPr>
          <a:xfrm>
            <a:off x="889000" y="244348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Every diagram has one idea; every command block is adaptable, not copy-paste</a:t>
            </a:r>
          </a:p>
        </p:txBody>
      </p:sp>
      <p:sp>
        <p:nvSpPr>
          <p:cNvPr id="14" name="Oval 13">
            <a:extLst>
              <a:ext uri="{FF2B5EF4-FFF2-40B4-BE49-F238E27FC236}">
                <a16:creationId xmlns:a16="http://schemas.microsoft.com/office/drawing/2014/main" id="{523CF61A-4F01-B6B7-DACD-56C108B33838}"/>
              </a:ext>
            </a:extLst>
          </p:cNvPr>
          <p:cNvSpPr/>
          <p:nvPr/>
        </p:nvSpPr>
        <p:spPr>
          <a:xfrm>
            <a:off x="660400" y="2950845"/>
            <a:ext cx="101600" cy="1016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628F25A-B16A-76F0-4030-7C40EF4E50CE}"/>
              </a:ext>
            </a:extLst>
          </p:cNvPr>
          <p:cNvSpPr txBox="1"/>
          <p:nvPr/>
        </p:nvSpPr>
        <p:spPr>
          <a:xfrm>
            <a:off x="889000" y="286512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Facts are from Microsoft Learn as of October 2026; preview features are marked PREVIEW</a:t>
            </a:r>
          </a:p>
        </p:txBody>
      </p:sp>
      <p:sp>
        <p:nvSpPr>
          <p:cNvPr id="16" name="Oval 15">
            <a:extLst>
              <a:ext uri="{FF2B5EF4-FFF2-40B4-BE49-F238E27FC236}">
                <a16:creationId xmlns:a16="http://schemas.microsoft.com/office/drawing/2014/main" id="{66F61F5A-49F9-062A-730A-7BD6FDB5E1E0}"/>
              </a:ext>
            </a:extLst>
          </p:cNvPr>
          <p:cNvSpPr/>
          <p:nvPr/>
        </p:nvSpPr>
        <p:spPr>
          <a:xfrm>
            <a:off x="660400" y="3372485"/>
            <a:ext cx="101600" cy="1016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A999E68-70DD-A1AA-AE36-82452785FCEA}"/>
              </a:ext>
            </a:extLst>
          </p:cNvPr>
          <p:cNvSpPr txBox="1"/>
          <p:nvPr/>
        </p:nvSpPr>
        <p:spPr>
          <a:xfrm>
            <a:off x="889000" y="328676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Chapter 8 collects endpoints, roles, limits and links</a:t>
            </a:r>
          </a:p>
        </p:txBody>
      </p:sp>
    </p:spTree>
    <p:extLst>
      <p:ext uri="{BB962C8B-B14F-4D97-AF65-F5344CB8AC3E}">
        <p14:creationId xmlns:p14="http://schemas.microsoft.com/office/powerpoint/2010/main" val="1060303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D7EDF9E1-F74B-8472-C5A6-D48EB303D1B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DE0AAD2D-DBB7-ECE8-5766-735BA8ECA0A8}"/>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017401A-1F1C-B97B-ADAB-3854C03654B2}"/>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8A11042-5BA9-707A-C593-D6D075FF690A}"/>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Agenda</a:t>
            </a:r>
          </a:p>
        </p:txBody>
      </p:sp>
      <p:sp>
        <p:nvSpPr>
          <p:cNvPr id="6" name="TextBox 5">
            <a:extLst>
              <a:ext uri="{FF2B5EF4-FFF2-40B4-BE49-F238E27FC236}">
                <a16:creationId xmlns:a16="http://schemas.microsoft.com/office/drawing/2014/main" id="{91930DCD-7D2C-645E-1932-2B73C3FD675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7" name="TextBox 6">
            <a:extLst>
              <a:ext uri="{FF2B5EF4-FFF2-40B4-BE49-F238E27FC236}">
                <a16:creationId xmlns:a16="http://schemas.microsoft.com/office/drawing/2014/main" id="{9870D907-C34F-5BE3-F74D-D2C9D73D94B5}"/>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a:t>
            </a:r>
          </a:p>
        </p:txBody>
      </p:sp>
      <p:sp>
        <p:nvSpPr>
          <p:cNvPr id="8" name="Oval 7">
            <a:extLst>
              <a:ext uri="{FF2B5EF4-FFF2-40B4-BE49-F238E27FC236}">
                <a16:creationId xmlns:a16="http://schemas.microsoft.com/office/drawing/2014/main" id="{F5C045F8-8A34-0E6D-AA45-209572464536}"/>
              </a:ext>
            </a:extLst>
          </p:cNvPr>
          <p:cNvSpPr/>
          <p:nvPr/>
        </p:nvSpPr>
        <p:spPr>
          <a:xfrm>
            <a:off x="660400" y="1625600"/>
            <a:ext cx="381000" cy="3810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9" name="TextBox 8">
            <a:extLst>
              <a:ext uri="{FF2B5EF4-FFF2-40B4-BE49-F238E27FC236}">
                <a16:creationId xmlns:a16="http://schemas.microsoft.com/office/drawing/2014/main" id="{C9FB7521-52C5-74E0-9275-C4A8FB9B2F0F}"/>
              </a:ext>
            </a:extLst>
          </p:cNvPr>
          <p:cNvSpPr txBox="1"/>
          <p:nvPr/>
        </p:nvSpPr>
        <p:spPr>
          <a:xfrm>
            <a:off x="1244600" y="1574800"/>
            <a:ext cx="10414000" cy="304800"/>
          </a:xfrm>
          <a:prstGeom prst="rect">
            <a:avLst/>
          </a:prstGeom>
          <a:noFill/>
        </p:spPr>
        <p:txBody>
          <a:bodyPr vert="horz" wrap="square" lIns="25400" tIns="12700" rIns="25400" bIns="12700" rtlCol="0" anchor="t">
            <a:noAutofit/>
          </a:bodyPr>
          <a:lstStyle/>
          <a:p>
            <a:r>
              <a:rPr lang="en-US" sz="1700" b="1">
                <a:solidFill>
                  <a:srgbClr val="F4F4F5"/>
                </a:solidFill>
                <a:latin typeface="Calibri" panose="020F0502020204030204" pitchFamily="34" charset="0"/>
              </a:rPr>
              <a:t>1 What observability is</a:t>
            </a:r>
          </a:p>
        </p:txBody>
      </p:sp>
      <p:sp>
        <p:nvSpPr>
          <p:cNvPr id="10" name="TextBox 9">
            <a:extLst>
              <a:ext uri="{FF2B5EF4-FFF2-40B4-BE49-F238E27FC236}">
                <a16:creationId xmlns:a16="http://schemas.microsoft.com/office/drawing/2014/main" id="{4849E599-9EFF-6E79-72A7-BFA82A64E488}"/>
              </a:ext>
            </a:extLst>
          </p:cNvPr>
          <p:cNvSpPr txBox="1"/>
          <p:nvPr/>
        </p:nvSpPr>
        <p:spPr>
          <a:xfrm>
            <a:off x="1244600" y="18669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definition, signals, the twenty areas, maturity</a:t>
            </a:r>
          </a:p>
        </p:txBody>
      </p:sp>
      <p:sp>
        <p:nvSpPr>
          <p:cNvPr id="11" name="Oval 10">
            <a:extLst>
              <a:ext uri="{FF2B5EF4-FFF2-40B4-BE49-F238E27FC236}">
                <a16:creationId xmlns:a16="http://schemas.microsoft.com/office/drawing/2014/main" id="{939A1692-E498-0048-8464-A3E4EEFC77C0}"/>
              </a:ext>
            </a:extLst>
          </p:cNvPr>
          <p:cNvSpPr/>
          <p:nvPr/>
        </p:nvSpPr>
        <p:spPr>
          <a:xfrm>
            <a:off x="660400" y="2235200"/>
            <a:ext cx="381000" cy="3810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2" name="TextBox 11">
            <a:extLst>
              <a:ext uri="{FF2B5EF4-FFF2-40B4-BE49-F238E27FC236}">
                <a16:creationId xmlns:a16="http://schemas.microsoft.com/office/drawing/2014/main" id="{8BE66DEF-BC3E-497D-A1C0-67EE4381E470}"/>
              </a:ext>
            </a:extLst>
          </p:cNvPr>
          <p:cNvSpPr txBox="1"/>
          <p:nvPr/>
        </p:nvSpPr>
        <p:spPr>
          <a:xfrm>
            <a:off x="1244600" y="2184400"/>
            <a:ext cx="10414000" cy="304800"/>
          </a:xfrm>
          <a:prstGeom prst="rect">
            <a:avLst/>
          </a:prstGeom>
          <a:noFill/>
        </p:spPr>
        <p:txBody>
          <a:bodyPr vert="horz" wrap="square" lIns="25400" tIns="12700" rIns="25400" bIns="12700" rtlCol="0" anchor="t">
            <a:noAutofit/>
          </a:bodyPr>
          <a:lstStyle/>
          <a:p>
            <a:r>
              <a:rPr lang="en-US" sz="1700" b="1">
                <a:solidFill>
                  <a:srgbClr val="F4F4F5"/>
                </a:solidFill>
                <a:latin typeface="Calibri" panose="020F0502020204030204" pitchFamily="34" charset="0"/>
              </a:rPr>
              <a:t>2 The multicloud estate</a:t>
            </a:r>
          </a:p>
        </p:txBody>
      </p:sp>
      <p:sp>
        <p:nvSpPr>
          <p:cNvPr id="13" name="TextBox 12">
            <a:extLst>
              <a:ext uri="{FF2B5EF4-FFF2-40B4-BE49-F238E27FC236}">
                <a16:creationId xmlns:a16="http://schemas.microsoft.com/office/drawing/2014/main" id="{C4991B9E-13F0-D595-2E21-D23AFA781BF5}"/>
              </a:ext>
            </a:extLst>
          </p:cNvPr>
          <p:cNvSpPr txBox="1"/>
          <p:nvPr/>
        </p:nvSpPr>
        <p:spPr>
          <a:xfrm>
            <a:off x="1244600" y="24765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what you actually run, and why one pane of glass</a:t>
            </a:r>
          </a:p>
        </p:txBody>
      </p:sp>
      <p:sp>
        <p:nvSpPr>
          <p:cNvPr id="14" name="Oval 13">
            <a:extLst>
              <a:ext uri="{FF2B5EF4-FFF2-40B4-BE49-F238E27FC236}">
                <a16:creationId xmlns:a16="http://schemas.microsoft.com/office/drawing/2014/main" id="{43B44352-80CE-A467-F9E8-028399AD4B53}"/>
              </a:ext>
            </a:extLst>
          </p:cNvPr>
          <p:cNvSpPr/>
          <p:nvPr/>
        </p:nvSpPr>
        <p:spPr>
          <a:xfrm>
            <a:off x="660400" y="2844800"/>
            <a:ext cx="381000" cy="3810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5" name="TextBox 14">
            <a:extLst>
              <a:ext uri="{FF2B5EF4-FFF2-40B4-BE49-F238E27FC236}">
                <a16:creationId xmlns:a16="http://schemas.microsoft.com/office/drawing/2014/main" id="{C986F3E3-69AE-1A94-3CE2-75EDA506455A}"/>
              </a:ext>
            </a:extLst>
          </p:cNvPr>
          <p:cNvSpPr txBox="1"/>
          <p:nvPr/>
        </p:nvSpPr>
        <p:spPr>
          <a:xfrm>
            <a:off x="1244600" y="2794000"/>
            <a:ext cx="10414000" cy="304800"/>
          </a:xfrm>
          <a:prstGeom prst="rect">
            <a:avLst/>
          </a:prstGeom>
          <a:noFill/>
        </p:spPr>
        <p:txBody>
          <a:bodyPr vert="horz" wrap="square" lIns="25400" tIns="12700" rIns="25400" bIns="12700" rtlCol="0" anchor="t">
            <a:noAutofit/>
          </a:bodyPr>
          <a:lstStyle/>
          <a:p>
            <a:r>
              <a:rPr lang="en-US" sz="1700" b="1">
                <a:solidFill>
                  <a:srgbClr val="F4F4F5"/>
                </a:solidFill>
                <a:latin typeface="Calibri" panose="020F0502020204030204" pitchFamily="34" charset="0"/>
              </a:rPr>
              <a:t>3 Azure Arc as the management plane</a:t>
            </a:r>
          </a:p>
        </p:txBody>
      </p:sp>
      <p:sp>
        <p:nvSpPr>
          <p:cNvPr id="16" name="TextBox 15">
            <a:extLst>
              <a:ext uri="{FF2B5EF4-FFF2-40B4-BE49-F238E27FC236}">
                <a16:creationId xmlns:a16="http://schemas.microsoft.com/office/drawing/2014/main" id="{0EACBCF5-2C83-A0CD-7323-29B771FD28B7}"/>
              </a:ext>
            </a:extLst>
          </p:cNvPr>
          <p:cNvSpPr txBox="1"/>
          <p:nvPr/>
        </p:nvSpPr>
        <p:spPr>
          <a:xfrm>
            <a:off x="1244600" y="30861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projection, agents, identity, network, every estate</a:t>
            </a:r>
          </a:p>
        </p:txBody>
      </p:sp>
      <p:sp>
        <p:nvSpPr>
          <p:cNvPr id="17" name="Oval 16">
            <a:extLst>
              <a:ext uri="{FF2B5EF4-FFF2-40B4-BE49-F238E27FC236}">
                <a16:creationId xmlns:a16="http://schemas.microsoft.com/office/drawing/2014/main" id="{285E9FAC-3D9F-691B-373B-CF1E137C88B3}"/>
              </a:ext>
            </a:extLst>
          </p:cNvPr>
          <p:cNvSpPr/>
          <p:nvPr/>
        </p:nvSpPr>
        <p:spPr>
          <a:xfrm>
            <a:off x="660400" y="3454400"/>
            <a:ext cx="381000" cy="3810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8" name="TextBox 17">
            <a:extLst>
              <a:ext uri="{FF2B5EF4-FFF2-40B4-BE49-F238E27FC236}">
                <a16:creationId xmlns:a16="http://schemas.microsoft.com/office/drawing/2014/main" id="{B7D1DAF8-A24B-167C-C7DE-5998D6F9F1D5}"/>
              </a:ext>
            </a:extLst>
          </p:cNvPr>
          <p:cNvSpPr txBox="1"/>
          <p:nvPr/>
        </p:nvSpPr>
        <p:spPr>
          <a:xfrm>
            <a:off x="1244600" y="3403600"/>
            <a:ext cx="10414000" cy="304800"/>
          </a:xfrm>
          <a:prstGeom prst="rect">
            <a:avLst/>
          </a:prstGeom>
          <a:noFill/>
        </p:spPr>
        <p:txBody>
          <a:bodyPr vert="horz" wrap="square" lIns="25400" tIns="12700" rIns="25400" bIns="12700" rtlCol="0" anchor="t">
            <a:noAutofit/>
          </a:bodyPr>
          <a:lstStyle/>
          <a:p>
            <a:r>
              <a:rPr lang="it-IT" sz="1700" b="1">
                <a:solidFill>
                  <a:srgbClr val="F4F4F5"/>
                </a:solidFill>
                <a:latin typeface="Calibri" panose="020F0502020204030204" pitchFamily="34" charset="0"/>
              </a:rPr>
              <a:t>4 The data plane: Azure Monitor</a:t>
            </a:r>
            <a:endParaRPr lang="en-US" sz="1700" b="1">
              <a:solidFill>
                <a:srgbClr val="F4F4F5"/>
              </a:solidFill>
              <a:latin typeface="Calibri" panose="020F0502020204030204" pitchFamily="34" charset="0"/>
            </a:endParaRPr>
          </a:p>
        </p:txBody>
      </p:sp>
      <p:sp>
        <p:nvSpPr>
          <p:cNvPr id="19" name="TextBox 18">
            <a:extLst>
              <a:ext uri="{FF2B5EF4-FFF2-40B4-BE49-F238E27FC236}">
                <a16:creationId xmlns:a16="http://schemas.microsoft.com/office/drawing/2014/main" id="{88F27988-BA17-348B-4FCD-9C1D9A40A55B}"/>
              </a:ext>
            </a:extLst>
          </p:cNvPr>
          <p:cNvSpPr txBox="1"/>
          <p:nvPr/>
        </p:nvSpPr>
        <p:spPr>
          <a:xfrm>
            <a:off x="1244600" y="36957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workspaces, agents, rules, OpenTelemetry, Prometheus, cost tiers</a:t>
            </a:r>
          </a:p>
        </p:txBody>
      </p:sp>
      <p:sp>
        <p:nvSpPr>
          <p:cNvPr id="20" name="Oval 19">
            <a:extLst>
              <a:ext uri="{FF2B5EF4-FFF2-40B4-BE49-F238E27FC236}">
                <a16:creationId xmlns:a16="http://schemas.microsoft.com/office/drawing/2014/main" id="{B57BD404-7784-F239-E4A3-A35AE24C3B22}"/>
              </a:ext>
            </a:extLst>
          </p:cNvPr>
          <p:cNvSpPr/>
          <p:nvPr/>
        </p:nvSpPr>
        <p:spPr>
          <a:xfrm>
            <a:off x="660400" y="406400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21" name="TextBox 20">
            <a:extLst>
              <a:ext uri="{FF2B5EF4-FFF2-40B4-BE49-F238E27FC236}">
                <a16:creationId xmlns:a16="http://schemas.microsoft.com/office/drawing/2014/main" id="{5DA92D09-9324-3542-DC76-50CFE7806A94}"/>
              </a:ext>
            </a:extLst>
          </p:cNvPr>
          <p:cNvSpPr txBox="1"/>
          <p:nvPr/>
        </p:nvSpPr>
        <p:spPr>
          <a:xfrm>
            <a:off x="1244600" y="4013200"/>
            <a:ext cx="10414000" cy="304800"/>
          </a:xfrm>
          <a:prstGeom prst="rect">
            <a:avLst/>
          </a:prstGeom>
          <a:noFill/>
        </p:spPr>
        <p:txBody>
          <a:bodyPr vert="horz" wrap="square" lIns="25400" tIns="12700" rIns="25400" bIns="12700" rtlCol="0" anchor="t">
            <a:noAutofit/>
          </a:bodyPr>
          <a:lstStyle/>
          <a:p>
            <a:r>
              <a:rPr lang="en-US" sz="1700" b="1">
                <a:solidFill>
                  <a:srgbClr val="F4F4F5"/>
                </a:solidFill>
                <a:latin typeface="Calibri" panose="020F0502020204030204" pitchFamily="34" charset="0"/>
              </a:rPr>
              <a:t>5 Plan it</a:t>
            </a:r>
          </a:p>
        </p:txBody>
      </p:sp>
      <p:sp>
        <p:nvSpPr>
          <p:cNvPr id="22" name="TextBox 21">
            <a:extLst>
              <a:ext uri="{FF2B5EF4-FFF2-40B4-BE49-F238E27FC236}">
                <a16:creationId xmlns:a16="http://schemas.microsoft.com/office/drawing/2014/main" id="{EA68A9B7-3C85-8BBC-39C2-B7B31425F3A8}"/>
              </a:ext>
            </a:extLst>
          </p:cNvPr>
          <p:cNvSpPr txBox="1"/>
          <p:nvPr/>
        </p:nvSpPr>
        <p:spPr>
          <a:xfrm>
            <a:off x="1244600" y="43053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inventory, ownership, SLIs, signals, alerts, dashboards, cost, RBAC</a:t>
            </a:r>
          </a:p>
        </p:txBody>
      </p:sp>
      <p:sp>
        <p:nvSpPr>
          <p:cNvPr id="23" name="Oval 22">
            <a:extLst>
              <a:ext uri="{FF2B5EF4-FFF2-40B4-BE49-F238E27FC236}">
                <a16:creationId xmlns:a16="http://schemas.microsoft.com/office/drawing/2014/main" id="{512E7C23-AC66-4CA7-30E1-56FCAEF043DA}"/>
              </a:ext>
            </a:extLst>
          </p:cNvPr>
          <p:cNvSpPr/>
          <p:nvPr/>
        </p:nvSpPr>
        <p:spPr>
          <a:xfrm>
            <a:off x="660400" y="46736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6</a:t>
            </a:r>
          </a:p>
        </p:txBody>
      </p:sp>
      <p:sp>
        <p:nvSpPr>
          <p:cNvPr id="24" name="TextBox 23">
            <a:extLst>
              <a:ext uri="{FF2B5EF4-FFF2-40B4-BE49-F238E27FC236}">
                <a16:creationId xmlns:a16="http://schemas.microsoft.com/office/drawing/2014/main" id="{BFDD3B16-8D71-7E75-E398-409C60C3944A}"/>
              </a:ext>
            </a:extLst>
          </p:cNvPr>
          <p:cNvSpPr txBox="1"/>
          <p:nvPr/>
        </p:nvSpPr>
        <p:spPr>
          <a:xfrm>
            <a:off x="1244600" y="4622800"/>
            <a:ext cx="10414000" cy="304800"/>
          </a:xfrm>
          <a:prstGeom prst="rect">
            <a:avLst/>
          </a:prstGeom>
          <a:noFill/>
        </p:spPr>
        <p:txBody>
          <a:bodyPr vert="horz" wrap="square" lIns="25400" tIns="12700" rIns="25400" bIns="12700" rtlCol="0" anchor="t">
            <a:noAutofit/>
          </a:bodyPr>
          <a:lstStyle/>
          <a:p>
            <a:r>
              <a:rPr lang="en-US" sz="1700" b="1">
                <a:solidFill>
                  <a:srgbClr val="F4F4F5"/>
                </a:solidFill>
                <a:latin typeface="Calibri" panose="020F0502020204030204" pitchFamily="34" charset="0"/>
              </a:rPr>
              <a:t>6 Implement it</a:t>
            </a:r>
          </a:p>
        </p:txBody>
      </p:sp>
      <p:sp>
        <p:nvSpPr>
          <p:cNvPr id="25" name="TextBox 24">
            <a:extLst>
              <a:ext uri="{FF2B5EF4-FFF2-40B4-BE49-F238E27FC236}">
                <a16:creationId xmlns:a16="http://schemas.microsoft.com/office/drawing/2014/main" id="{398FB4EF-4660-AE2F-BE8E-B5B1AEF85212}"/>
              </a:ext>
            </a:extLst>
          </p:cNvPr>
          <p:cNvSpPr txBox="1"/>
          <p:nvPr/>
        </p:nvSpPr>
        <p:spPr>
          <a:xfrm>
            <a:off x="1244600" y="49149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foundation, then each estate, then apps, then service health</a:t>
            </a:r>
          </a:p>
        </p:txBody>
      </p:sp>
      <p:sp>
        <p:nvSpPr>
          <p:cNvPr id="26" name="Oval 25">
            <a:extLst>
              <a:ext uri="{FF2B5EF4-FFF2-40B4-BE49-F238E27FC236}">
                <a16:creationId xmlns:a16="http://schemas.microsoft.com/office/drawing/2014/main" id="{829A789C-5B33-95D5-F7DC-6B2CBC66FD63}"/>
              </a:ext>
            </a:extLst>
          </p:cNvPr>
          <p:cNvSpPr/>
          <p:nvPr/>
        </p:nvSpPr>
        <p:spPr>
          <a:xfrm>
            <a:off x="660400" y="52832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7</a:t>
            </a:r>
          </a:p>
        </p:txBody>
      </p:sp>
      <p:sp>
        <p:nvSpPr>
          <p:cNvPr id="27" name="TextBox 26">
            <a:extLst>
              <a:ext uri="{FF2B5EF4-FFF2-40B4-BE49-F238E27FC236}">
                <a16:creationId xmlns:a16="http://schemas.microsoft.com/office/drawing/2014/main" id="{AE9BFBCB-8354-AB96-DFDA-CE9479FED0FB}"/>
              </a:ext>
            </a:extLst>
          </p:cNvPr>
          <p:cNvSpPr txBox="1"/>
          <p:nvPr/>
        </p:nvSpPr>
        <p:spPr>
          <a:xfrm>
            <a:off x="1244600" y="5232400"/>
            <a:ext cx="10414000" cy="304800"/>
          </a:xfrm>
          <a:prstGeom prst="rect">
            <a:avLst/>
          </a:prstGeom>
          <a:noFill/>
        </p:spPr>
        <p:txBody>
          <a:bodyPr vert="horz" wrap="square" lIns="25400" tIns="12700" rIns="25400" bIns="12700" rtlCol="0" anchor="t">
            <a:noAutofit/>
          </a:bodyPr>
          <a:lstStyle/>
          <a:p>
            <a:r>
              <a:rPr lang="en-US" sz="1700" b="1">
                <a:solidFill>
                  <a:srgbClr val="F4F4F5"/>
                </a:solidFill>
                <a:latin typeface="Calibri" panose="020F0502020204030204" pitchFamily="34" charset="0"/>
              </a:rPr>
              <a:t>7 Operate and govern it</a:t>
            </a:r>
          </a:p>
        </p:txBody>
      </p:sp>
      <p:sp>
        <p:nvSpPr>
          <p:cNvPr id="28" name="TextBox 27">
            <a:extLst>
              <a:ext uri="{FF2B5EF4-FFF2-40B4-BE49-F238E27FC236}">
                <a16:creationId xmlns:a16="http://schemas.microsoft.com/office/drawing/2014/main" id="{798F2314-1B1A-BAFF-921C-4B5CF6A6A0E2}"/>
              </a:ext>
            </a:extLst>
          </p:cNvPr>
          <p:cNvSpPr txBox="1"/>
          <p:nvPr/>
        </p:nvSpPr>
        <p:spPr>
          <a:xfrm>
            <a:off x="1244600" y="55245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incidents, alert quality, cost reviews, drift, platform health</a:t>
            </a:r>
          </a:p>
        </p:txBody>
      </p:sp>
      <p:sp>
        <p:nvSpPr>
          <p:cNvPr id="29" name="Oval 28">
            <a:extLst>
              <a:ext uri="{FF2B5EF4-FFF2-40B4-BE49-F238E27FC236}">
                <a16:creationId xmlns:a16="http://schemas.microsoft.com/office/drawing/2014/main" id="{A57792A9-AD14-5DEA-87E0-0BA43D7CF7A3}"/>
              </a:ext>
            </a:extLst>
          </p:cNvPr>
          <p:cNvSpPr/>
          <p:nvPr/>
        </p:nvSpPr>
        <p:spPr>
          <a:xfrm>
            <a:off x="660400" y="5892800"/>
            <a:ext cx="381000" cy="3810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8</a:t>
            </a:r>
          </a:p>
        </p:txBody>
      </p:sp>
      <p:sp>
        <p:nvSpPr>
          <p:cNvPr id="30" name="TextBox 29">
            <a:extLst>
              <a:ext uri="{FF2B5EF4-FFF2-40B4-BE49-F238E27FC236}">
                <a16:creationId xmlns:a16="http://schemas.microsoft.com/office/drawing/2014/main" id="{6D79BAD4-1580-A718-F0DA-173AC070E8FA}"/>
              </a:ext>
            </a:extLst>
          </p:cNvPr>
          <p:cNvSpPr txBox="1"/>
          <p:nvPr/>
        </p:nvSpPr>
        <p:spPr>
          <a:xfrm>
            <a:off x="1244600" y="5842000"/>
            <a:ext cx="10414000" cy="304800"/>
          </a:xfrm>
          <a:prstGeom prst="rect">
            <a:avLst/>
          </a:prstGeom>
          <a:noFill/>
        </p:spPr>
        <p:txBody>
          <a:bodyPr vert="horz" wrap="square" lIns="25400" tIns="12700" rIns="25400" bIns="12700" rtlCol="0" anchor="t">
            <a:noAutofit/>
          </a:bodyPr>
          <a:lstStyle/>
          <a:p>
            <a:r>
              <a:rPr lang="en-US" sz="1700" b="1">
                <a:solidFill>
                  <a:srgbClr val="F4F4F5"/>
                </a:solidFill>
                <a:latin typeface="Calibri" panose="020F0502020204030204" pitchFamily="34" charset="0"/>
              </a:rPr>
              <a:t>8 Reference</a:t>
            </a:r>
          </a:p>
        </p:txBody>
      </p:sp>
      <p:sp>
        <p:nvSpPr>
          <p:cNvPr id="31" name="TextBox 30">
            <a:extLst>
              <a:ext uri="{FF2B5EF4-FFF2-40B4-BE49-F238E27FC236}">
                <a16:creationId xmlns:a16="http://schemas.microsoft.com/office/drawing/2014/main" id="{7F16E497-C17C-02D7-C14B-6FE2914B50D7}"/>
              </a:ext>
            </a:extLst>
          </p:cNvPr>
          <p:cNvSpPr txBox="1"/>
          <p:nvPr/>
        </p:nvSpPr>
        <p:spPr>
          <a:xfrm>
            <a:off x="1244600" y="6134100"/>
            <a:ext cx="10414000" cy="254000"/>
          </a:xfrm>
          <a:prstGeom prst="rect">
            <a:avLst/>
          </a:prstGeom>
          <a:noFill/>
        </p:spPr>
        <p:txBody>
          <a:bodyPr vert="horz" wrap="square" lIns="25400" tIns="12700" rIns="25400" bIns="12700" rtlCol="0" anchor="t">
            <a:noAutofit/>
          </a:bodyPr>
          <a:lstStyle/>
          <a:p>
            <a:r>
              <a:rPr lang="en-US" sz="1250">
                <a:solidFill>
                  <a:srgbClr val="B0B0BA"/>
                </a:solidFill>
                <a:latin typeface="Calibri" panose="020F0502020204030204" pitchFamily="34" charset="0"/>
              </a:rPr>
              <a:t>endpoints, roles, limits, links</a:t>
            </a:r>
          </a:p>
        </p:txBody>
      </p:sp>
    </p:spTree>
    <p:extLst>
      <p:ext uri="{BB962C8B-B14F-4D97-AF65-F5344CB8AC3E}">
        <p14:creationId xmlns:p14="http://schemas.microsoft.com/office/powerpoint/2010/main" val="11638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6AFC3E4C-2DF1-2646-FAEC-834121E62F04}"/>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704BA68B-79D4-4005-C417-7E433B3A4689}"/>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4E7D98D-9DC4-1247-83A7-E41E041993D5}"/>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A85B681-9978-EEFE-B89E-A9917013B245}"/>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1 · What observability is</a:t>
            </a:r>
          </a:p>
        </p:txBody>
      </p:sp>
      <p:sp>
        <p:nvSpPr>
          <p:cNvPr id="6" name="ChapterTag">
            <a:extLst>
              <a:ext uri="{FF2B5EF4-FFF2-40B4-BE49-F238E27FC236}">
                <a16:creationId xmlns:a16="http://schemas.microsoft.com/office/drawing/2014/main" id="{BAC7F506-55DB-13A0-C5C8-BCE83C84BBF8}"/>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ADE799C8-378B-5010-DC8C-F471925553CE}"/>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A12B742-4BDE-CD6E-1E7D-B1F16E17423F}"/>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a:t>
            </a:r>
          </a:p>
        </p:txBody>
      </p:sp>
      <p:sp>
        <p:nvSpPr>
          <p:cNvPr id="9" name="TextBox 8">
            <a:extLst>
              <a:ext uri="{FF2B5EF4-FFF2-40B4-BE49-F238E27FC236}">
                <a16:creationId xmlns:a16="http://schemas.microsoft.com/office/drawing/2014/main" id="{E1C22F72-79DC-9388-78D7-A4FE5E55AFF4}"/>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FBBF24"/>
                </a:solidFill>
                <a:latin typeface="Calibri" panose="020F0502020204030204" pitchFamily="34" charset="0"/>
              </a:rPr>
              <a:t>1</a:t>
            </a:r>
          </a:p>
        </p:txBody>
      </p:sp>
      <p:sp>
        <p:nvSpPr>
          <p:cNvPr id="10" name="TextBox 9">
            <a:extLst>
              <a:ext uri="{FF2B5EF4-FFF2-40B4-BE49-F238E27FC236}">
                <a16:creationId xmlns:a16="http://schemas.microsoft.com/office/drawing/2014/main" id="{AAE7FA6C-6195-1315-2215-E7189AED0096}"/>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DB07D8DE-9BC2-1C72-87CF-4A5B837CFDA9}"/>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What is observability, what does it include, and how is it different from monitoring?</a:t>
            </a:r>
          </a:p>
        </p:txBody>
      </p:sp>
      <p:sp>
        <p:nvSpPr>
          <p:cNvPr id="12" name="TextBox 11">
            <a:extLst>
              <a:ext uri="{FF2B5EF4-FFF2-40B4-BE49-F238E27FC236}">
                <a16:creationId xmlns:a16="http://schemas.microsoft.com/office/drawing/2014/main" id="{396098D2-7F3F-5826-1D12-5771345E107F}"/>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FBBF24"/>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C4D12DAD-9C37-3C70-D9BA-BB1614EEDB6C}"/>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Definition · signals · the twenty areas · questions it must answer · maturity</a:t>
            </a:r>
          </a:p>
        </p:txBody>
      </p:sp>
      <p:sp>
        <p:nvSpPr>
          <p:cNvPr id="14" name="Rectangle: Rounded Corners 13">
            <a:extLst>
              <a:ext uri="{FF2B5EF4-FFF2-40B4-BE49-F238E27FC236}">
                <a16:creationId xmlns:a16="http://schemas.microsoft.com/office/drawing/2014/main" id="{98904CC4-5E48-7273-93A8-911AB14A3F3D}"/>
              </a:ext>
            </a:extLst>
          </p:cNvPr>
          <p:cNvSpPr/>
          <p:nvPr/>
        </p:nvSpPr>
        <p:spPr>
          <a:xfrm>
            <a:off x="609600" y="5588000"/>
            <a:ext cx="1282700" cy="508000"/>
          </a:xfrm>
          <a:prstGeom prst="roundRect">
            <a:avLst>
              <a:gd name="adj" fmla="val 8000"/>
            </a:avLst>
          </a:prstGeom>
          <a:solidFill>
            <a:srgbClr val="FBBF24"/>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D9036E56-5055-8AF5-37AD-C120CD49244C}"/>
              </a:ext>
            </a:extLst>
          </p:cNvPr>
          <p:cNvSpPr/>
          <p:nvPr/>
        </p:nvSpPr>
        <p:spPr>
          <a:xfrm>
            <a:off x="1993900" y="5588000"/>
            <a:ext cx="1282700" cy="508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EF0774EC-1C88-2774-8CC2-C80C6509D98E}"/>
              </a:ext>
            </a:extLst>
          </p:cNvPr>
          <p:cNvSpPr/>
          <p:nvPr/>
        </p:nvSpPr>
        <p:spPr>
          <a:xfrm>
            <a:off x="3378200" y="5588000"/>
            <a:ext cx="12827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240DF86E-0F1E-29CD-851F-AB88DCACA6A8}"/>
              </a:ext>
            </a:extLst>
          </p:cNvPr>
          <p:cNvSpPr/>
          <p:nvPr/>
        </p:nvSpPr>
        <p:spPr>
          <a:xfrm>
            <a:off x="4762500" y="5588000"/>
            <a:ext cx="1282700" cy="508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1C3369A0-F299-F15B-B4FB-EF4C6373DE02}"/>
              </a:ext>
            </a:extLst>
          </p:cNvPr>
          <p:cNvSpPr/>
          <p:nvPr/>
        </p:nvSpPr>
        <p:spPr>
          <a:xfrm>
            <a:off x="6146800" y="5588000"/>
            <a:ext cx="1282700" cy="508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206A7BF6-29CE-2B94-F2B5-E291BA18F5CA}"/>
              </a:ext>
            </a:extLst>
          </p:cNvPr>
          <p:cNvSpPr/>
          <p:nvPr/>
        </p:nvSpPr>
        <p:spPr>
          <a:xfrm>
            <a:off x="7531100" y="5588000"/>
            <a:ext cx="1282700" cy="508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6EF42E81-01CE-B33D-CB9F-0429679E1AFC}"/>
              </a:ext>
            </a:extLst>
          </p:cNvPr>
          <p:cNvSpPr/>
          <p:nvPr/>
        </p:nvSpPr>
        <p:spPr>
          <a:xfrm>
            <a:off x="8915400" y="5588000"/>
            <a:ext cx="1282700" cy="5080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7D2B9E3E-AFE3-22B0-C83D-DB5651283333}"/>
              </a:ext>
            </a:extLst>
          </p:cNvPr>
          <p:cNvSpPr/>
          <p:nvPr/>
        </p:nvSpPr>
        <p:spPr>
          <a:xfrm>
            <a:off x="10299700" y="5588000"/>
            <a:ext cx="1282700" cy="5080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Reference</a:t>
            </a:r>
          </a:p>
        </p:txBody>
      </p:sp>
    </p:spTree>
    <p:extLst>
      <p:ext uri="{BB962C8B-B14F-4D97-AF65-F5344CB8AC3E}">
        <p14:creationId xmlns:p14="http://schemas.microsoft.com/office/powerpoint/2010/main" val="921070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AC0D7C1B-392D-B800-D873-B0C024F444F3}"/>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F59B8D4D-3DB4-55A7-C907-DB0A69868C61}"/>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4413EEE-FD4E-D6E1-5B26-FAD12E2BFCCE}"/>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8ADE11F-1EC3-934E-28CB-22A4CAF8282E}"/>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 working definition</a:t>
            </a:r>
          </a:p>
        </p:txBody>
      </p:sp>
      <p:sp>
        <p:nvSpPr>
          <p:cNvPr id="6" name="ChapterTag">
            <a:extLst>
              <a:ext uri="{FF2B5EF4-FFF2-40B4-BE49-F238E27FC236}">
                <a16:creationId xmlns:a16="http://schemas.microsoft.com/office/drawing/2014/main" id="{EA0C4CE5-7131-ECE7-9704-28CA62CFE970}"/>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8D9F0CD5-70F3-E2C2-4E2D-D9E4A141C9DA}"/>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1903C99A-FDD1-37B2-1BB9-465AD93ECDA2}"/>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a:t>
            </a:r>
          </a:p>
        </p:txBody>
      </p:sp>
      <p:sp>
        <p:nvSpPr>
          <p:cNvPr id="9" name="Rectangle: Rounded Corners 8">
            <a:extLst>
              <a:ext uri="{FF2B5EF4-FFF2-40B4-BE49-F238E27FC236}">
                <a16:creationId xmlns:a16="http://schemas.microsoft.com/office/drawing/2014/main" id="{98C8F5D6-1D74-C057-868B-03F7FED02B24}"/>
              </a:ext>
            </a:extLst>
          </p:cNvPr>
          <p:cNvSpPr/>
          <p:nvPr/>
        </p:nvSpPr>
        <p:spPr>
          <a:xfrm>
            <a:off x="762000" y="1905000"/>
            <a:ext cx="10668000" cy="1905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2000" b="1">
                <a:solidFill>
                  <a:srgbClr val="F4F4F5"/>
                </a:solidFill>
                <a:latin typeface="Calibri" panose="020F0502020204030204" pitchFamily="34" charset="0"/>
              </a:rPr>
              <a:t>Observability is the ability to understand the health, behavior, dependencies and impact of a complete service from its outputs, then use that understanding to investigate, make an accountable decision and verify recovery.</a:t>
            </a:r>
          </a:p>
        </p:txBody>
      </p:sp>
      <p:sp>
        <p:nvSpPr>
          <p:cNvPr id="10" name="TextBox 9">
            <a:extLst>
              <a:ext uri="{FF2B5EF4-FFF2-40B4-BE49-F238E27FC236}">
                <a16:creationId xmlns:a16="http://schemas.microsoft.com/office/drawing/2014/main" id="{055B8974-AE44-68D2-B916-EE88F3D3A520}"/>
              </a:ext>
            </a:extLst>
          </p:cNvPr>
          <p:cNvSpPr txBox="1"/>
          <p:nvPr/>
        </p:nvSpPr>
        <p:spPr>
          <a:xfrm>
            <a:off x="762000" y="4191000"/>
            <a:ext cx="10668000" cy="1524000"/>
          </a:xfrm>
          <a:prstGeom prst="rect">
            <a:avLst/>
          </a:prstGeom>
          <a:noFill/>
        </p:spPr>
        <p:txBody>
          <a:bodyPr vert="horz" wrap="square" lIns="25400" tIns="12700" rIns="25400" bIns="12700" rtlCol="0" anchor="t">
            <a:noAutofit/>
          </a:bodyPr>
          <a:lstStyle/>
          <a:p>
            <a:pPr algn="ctr"/>
            <a:r>
              <a:rPr lang="en-US" sz="1600">
                <a:solidFill>
                  <a:srgbClr val="B0B0BA"/>
                </a:solidFill>
                <a:latin typeface="Calibri" panose="020F0502020204030204" pitchFamily="34" charset="0"/>
              </a:rPr>
              <a:t>Monitoring collects and presents signals. Observability explains and operates: service boundary, dependencies, impact, owner, bounded action, verified recovery.</a:t>
            </a:r>
          </a:p>
        </p:txBody>
      </p:sp>
    </p:spTree>
    <p:extLst>
      <p:ext uri="{BB962C8B-B14F-4D97-AF65-F5344CB8AC3E}">
        <p14:creationId xmlns:p14="http://schemas.microsoft.com/office/powerpoint/2010/main" val="2060502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CB27628B-55E7-6906-9DEC-1C3DA0EED4C6}"/>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CD8161E1-6901-33AF-E636-83C30176CB0C}"/>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6D36AF2-5A3D-3224-5880-F1AF1565544C}"/>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CC8C7B3-416D-5B80-CAFC-DCDF061CCC0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Monitoring vs. observability</a:t>
            </a:r>
          </a:p>
        </p:txBody>
      </p:sp>
      <p:sp>
        <p:nvSpPr>
          <p:cNvPr id="6" name="ChapterTag">
            <a:extLst>
              <a:ext uri="{FF2B5EF4-FFF2-40B4-BE49-F238E27FC236}">
                <a16:creationId xmlns:a16="http://schemas.microsoft.com/office/drawing/2014/main" id="{314D80B3-3FC3-B7C6-B7BD-58272355C538}"/>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744E80F0-76A1-3BAB-D590-09ECF183333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1206ABDE-4411-B8F2-249F-815C3D791DEA}"/>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a:t>
            </a:r>
          </a:p>
        </p:txBody>
      </p:sp>
      <p:sp>
        <p:nvSpPr>
          <p:cNvPr id="9" name="Rectangle: Rounded Corners 8">
            <a:extLst>
              <a:ext uri="{FF2B5EF4-FFF2-40B4-BE49-F238E27FC236}">
                <a16:creationId xmlns:a16="http://schemas.microsoft.com/office/drawing/2014/main" id="{45ACFC72-6F8E-C057-1748-DA464BE170C1}"/>
              </a:ext>
            </a:extLst>
          </p:cNvPr>
          <p:cNvSpPr/>
          <p:nvPr/>
        </p:nvSpPr>
        <p:spPr>
          <a:xfrm>
            <a:off x="609600" y="1600200"/>
            <a:ext cx="5384800" cy="4699000"/>
          </a:xfrm>
          <a:prstGeom prst="roundRect">
            <a:avLst>
              <a:gd name="adj" fmla="val 4000"/>
            </a:avLst>
          </a:prstGeom>
          <a:noFill/>
          <a:ln w="15875" cap="flat" cmpd="sng" algn="ctr">
            <a:solidFill>
              <a:srgbClr val="FBBF24"/>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A8E9611D-66E2-F2E9-6C37-EB8A5DC3F1CB}"/>
              </a:ext>
            </a:extLst>
          </p:cNvPr>
          <p:cNvSpPr txBox="1"/>
          <p:nvPr/>
        </p:nvSpPr>
        <p:spPr>
          <a:xfrm>
            <a:off x="762000" y="1701800"/>
            <a:ext cx="5080000" cy="279400"/>
          </a:xfrm>
          <a:prstGeom prst="rect">
            <a:avLst/>
          </a:prstGeom>
          <a:noFill/>
        </p:spPr>
        <p:txBody>
          <a:bodyPr vert="horz" wrap="square" lIns="25400" tIns="12700" rIns="25400" bIns="12700" rtlCol="0" anchor="t">
            <a:noAutofit/>
          </a:bodyPr>
          <a:lstStyle/>
          <a:p>
            <a:r>
              <a:rPr lang="en-US" sz="1250" b="1">
                <a:solidFill>
                  <a:srgbClr val="FBBF24"/>
                </a:solidFill>
                <a:latin typeface="Calibri" panose="020F0502020204030204" pitchFamily="34" charset="0"/>
              </a:rPr>
              <a:t>MONITORING · collect and present</a:t>
            </a:r>
          </a:p>
        </p:txBody>
      </p:sp>
      <p:sp>
        <p:nvSpPr>
          <p:cNvPr id="11" name="Oval 10">
            <a:extLst>
              <a:ext uri="{FF2B5EF4-FFF2-40B4-BE49-F238E27FC236}">
                <a16:creationId xmlns:a16="http://schemas.microsoft.com/office/drawing/2014/main" id="{EE944544-7E92-8CD3-A74C-038A98EF376C}"/>
              </a:ext>
            </a:extLst>
          </p:cNvPr>
          <p:cNvSpPr/>
          <p:nvPr/>
        </p:nvSpPr>
        <p:spPr>
          <a:xfrm>
            <a:off x="787400" y="2137410"/>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E14E5E2-8A33-DB6D-E2B4-B237532AF265}"/>
              </a:ext>
            </a:extLst>
          </p:cNvPr>
          <p:cNvSpPr txBox="1"/>
          <p:nvPr/>
        </p:nvSpPr>
        <p:spPr>
          <a:xfrm>
            <a:off x="965200" y="205740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metrics, logs, events, requests</a:t>
            </a:r>
          </a:p>
        </p:txBody>
      </p:sp>
      <p:sp>
        <p:nvSpPr>
          <p:cNvPr id="13" name="Oval 12">
            <a:extLst>
              <a:ext uri="{FF2B5EF4-FFF2-40B4-BE49-F238E27FC236}">
                <a16:creationId xmlns:a16="http://schemas.microsoft.com/office/drawing/2014/main" id="{A6F33656-F970-A1A0-BE4E-0EF5C6402CDA}"/>
              </a:ext>
            </a:extLst>
          </p:cNvPr>
          <p:cNvSpPr/>
          <p:nvPr/>
        </p:nvSpPr>
        <p:spPr>
          <a:xfrm>
            <a:off x="787400" y="2491994"/>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6109DCF-753D-BC50-13A8-28AFFB5E3AB9}"/>
              </a:ext>
            </a:extLst>
          </p:cNvPr>
          <p:cNvSpPr txBox="1"/>
          <p:nvPr/>
        </p:nvSpPr>
        <p:spPr>
          <a:xfrm>
            <a:off x="965200" y="2411984"/>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views, thresholds, alerts</a:t>
            </a:r>
          </a:p>
        </p:txBody>
      </p:sp>
      <p:sp>
        <p:nvSpPr>
          <p:cNvPr id="15" name="Oval 14">
            <a:extLst>
              <a:ext uri="{FF2B5EF4-FFF2-40B4-BE49-F238E27FC236}">
                <a16:creationId xmlns:a16="http://schemas.microsoft.com/office/drawing/2014/main" id="{38DE0F69-EE4B-8005-C356-D1A89F57D509}"/>
              </a:ext>
            </a:extLst>
          </p:cNvPr>
          <p:cNvSpPr/>
          <p:nvPr/>
        </p:nvSpPr>
        <p:spPr>
          <a:xfrm>
            <a:off x="787400" y="2846578"/>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CDEDD99-352E-32B8-1A7E-877B592833E6}"/>
              </a:ext>
            </a:extLst>
          </p:cNvPr>
          <p:cNvSpPr txBox="1"/>
          <p:nvPr/>
        </p:nvSpPr>
        <p:spPr>
          <a:xfrm>
            <a:off x="965200" y="2766568"/>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asks: did a number cross a line?</a:t>
            </a:r>
          </a:p>
        </p:txBody>
      </p:sp>
      <p:sp>
        <p:nvSpPr>
          <p:cNvPr id="17" name="Oval 16">
            <a:extLst>
              <a:ext uri="{FF2B5EF4-FFF2-40B4-BE49-F238E27FC236}">
                <a16:creationId xmlns:a16="http://schemas.microsoft.com/office/drawing/2014/main" id="{97453A2F-794C-394C-4266-FB751311C4BF}"/>
              </a:ext>
            </a:extLst>
          </p:cNvPr>
          <p:cNvSpPr/>
          <p:nvPr/>
        </p:nvSpPr>
        <p:spPr>
          <a:xfrm>
            <a:off x="787400" y="3201162"/>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CAF229C-58DF-01C1-E37F-B982A5F59FAF}"/>
              </a:ext>
            </a:extLst>
          </p:cNvPr>
          <p:cNvSpPr txBox="1"/>
          <p:nvPr/>
        </p:nvSpPr>
        <p:spPr>
          <a:xfrm>
            <a:off x="965200" y="3121152"/>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answers per resource, per site</a:t>
            </a:r>
          </a:p>
        </p:txBody>
      </p:sp>
      <p:sp>
        <p:nvSpPr>
          <p:cNvPr id="19" name="Rectangle: Rounded Corners 18">
            <a:extLst>
              <a:ext uri="{FF2B5EF4-FFF2-40B4-BE49-F238E27FC236}">
                <a16:creationId xmlns:a16="http://schemas.microsoft.com/office/drawing/2014/main" id="{AB539FDC-5EF2-AD22-A119-7F77A792744E}"/>
              </a:ext>
            </a:extLst>
          </p:cNvPr>
          <p:cNvSpPr/>
          <p:nvPr/>
        </p:nvSpPr>
        <p:spPr>
          <a:xfrm>
            <a:off x="6197600" y="1600200"/>
            <a:ext cx="5384800" cy="4699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06BD55E-4A3E-4E48-59E4-7560274DDBE8}"/>
              </a:ext>
            </a:extLst>
          </p:cNvPr>
          <p:cNvSpPr txBox="1"/>
          <p:nvPr/>
        </p:nvSpPr>
        <p:spPr>
          <a:xfrm>
            <a:off x="6350000" y="1701800"/>
            <a:ext cx="5080000" cy="279400"/>
          </a:xfrm>
          <a:prstGeom prst="rect">
            <a:avLst/>
          </a:prstGeom>
          <a:noFill/>
        </p:spPr>
        <p:txBody>
          <a:bodyPr vert="horz" wrap="square" lIns="25400" tIns="12700" rIns="25400" bIns="12700" rtlCol="0" anchor="t">
            <a:noAutofit/>
          </a:bodyPr>
          <a:lstStyle/>
          <a:p>
            <a:r>
              <a:rPr lang="en-US" sz="1250" b="1">
                <a:solidFill>
                  <a:srgbClr val="2DD4BF"/>
                </a:solidFill>
                <a:latin typeface="Calibri" panose="020F0502020204030204" pitchFamily="34" charset="0"/>
              </a:rPr>
              <a:t>OBSERVABILITY · explain and operate</a:t>
            </a:r>
          </a:p>
        </p:txBody>
      </p:sp>
      <p:sp>
        <p:nvSpPr>
          <p:cNvPr id="21" name="Oval 20">
            <a:extLst>
              <a:ext uri="{FF2B5EF4-FFF2-40B4-BE49-F238E27FC236}">
                <a16:creationId xmlns:a16="http://schemas.microsoft.com/office/drawing/2014/main" id="{32D88B49-5D9E-D18C-7302-C98D623F438C}"/>
              </a:ext>
            </a:extLst>
          </p:cNvPr>
          <p:cNvSpPr/>
          <p:nvPr/>
        </p:nvSpPr>
        <p:spPr>
          <a:xfrm>
            <a:off x="6375400" y="2137410"/>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B67E41E-3758-F64B-3123-B22877B75D63}"/>
              </a:ext>
            </a:extLst>
          </p:cNvPr>
          <p:cNvSpPr txBox="1"/>
          <p:nvPr/>
        </p:nvSpPr>
        <p:spPr>
          <a:xfrm>
            <a:off x="6553200" y="205740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service boundary and dependencies</a:t>
            </a:r>
          </a:p>
        </p:txBody>
      </p:sp>
      <p:sp>
        <p:nvSpPr>
          <p:cNvPr id="23" name="Oval 22">
            <a:extLst>
              <a:ext uri="{FF2B5EF4-FFF2-40B4-BE49-F238E27FC236}">
                <a16:creationId xmlns:a16="http://schemas.microsoft.com/office/drawing/2014/main" id="{372C8A74-DA6F-45E9-F8F3-671126A4061B}"/>
              </a:ext>
            </a:extLst>
          </p:cNvPr>
          <p:cNvSpPr/>
          <p:nvPr/>
        </p:nvSpPr>
        <p:spPr>
          <a:xfrm>
            <a:off x="6375400" y="2491994"/>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7A7A50C1-CE1A-143C-66C6-D64DED6E5926}"/>
              </a:ext>
            </a:extLst>
          </p:cNvPr>
          <p:cNvSpPr txBox="1"/>
          <p:nvPr/>
        </p:nvSpPr>
        <p:spPr>
          <a:xfrm>
            <a:off x="6553200" y="2411984"/>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impact: who cannot do what</a:t>
            </a:r>
          </a:p>
        </p:txBody>
      </p:sp>
      <p:sp>
        <p:nvSpPr>
          <p:cNvPr id="25" name="Oval 24">
            <a:extLst>
              <a:ext uri="{FF2B5EF4-FFF2-40B4-BE49-F238E27FC236}">
                <a16:creationId xmlns:a16="http://schemas.microsoft.com/office/drawing/2014/main" id="{05C05379-1D45-E4F8-B4B7-B016BC14B541}"/>
              </a:ext>
            </a:extLst>
          </p:cNvPr>
          <p:cNvSpPr/>
          <p:nvPr/>
        </p:nvSpPr>
        <p:spPr>
          <a:xfrm>
            <a:off x="6375400" y="2846578"/>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4BF8FF16-243D-C1C2-D2B0-474B7A7498BD}"/>
              </a:ext>
            </a:extLst>
          </p:cNvPr>
          <p:cNvSpPr txBox="1"/>
          <p:nvPr/>
        </p:nvSpPr>
        <p:spPr>
          <a:xfrm>
            <a:off x="6553200" y="2766568"/>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owner and bounded action</a:t>
            </a:r>
          </a:p>
        </p:txBody>
      </p:sp>
      <p:sp>
        <p:nvSpPr>
          <p:cNvPr id="27" name="Oval 26">
            <a:extLst>
              <a:ext uri="{FF2B5EF4-FFF2-40B4-BE49-F238E27FC236}">
                <a16:creationId xmlns:a16="http://schemas.microsoft.com/office/drawing/2014/main" id="{7DAE1B58-4891-EB44-6286-4637EB608D9D}"/>
              </a:ext>
            </a:extLst>
          </p:cNvPr>
          <p:cNvSpPr/>
          <p:nvPr/>
        </p:nvSpPr>
        <p:spPr>
          <a:xfrm>
            <a:off x="6375400" y="3201162"/>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27E40D6-7E6D-993C-FD7A-5D9839CEF419}"/>
              </a:ext>
            </a:extLst>
          </p:cNvPr>
          <p:cNvSpPr txBox="1"/>
          <p:nvPr/>
        </p:nvSpPr>
        <p:spPr>
          <a:xfrm>
            <a:off x="6553200" y="3121152"/>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verified recovery</a:t>
            </a:r>
          </a:p>
        </p:txBody>
      </p:sp>
      <p:sp>
        <p:nvSpPr>
          <p:cNvPr id="29" name="Oval 28">
            <a:extLst>
              <a:ext uri="{FF2B5EF4-FFF2-40B4-BE49-F238E27FC236}">
                <a16:creationId xmlns:a16="http://schemas.microsoft.com/office/drawing/2014/main" id="{7C599A12-BD7C-D69E-BC13-1A9157DB20DF}"/>
              </a:ext>
            </a:extLst>
          </p:cNvPr>
          <p:cNvSpPr/>
          <p:nvPr/>
        </p:nvSpPr>
        <p:spPr>
          <a:xfrm>
            <a:off x="6375400" y="3555746"/>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D41FE48-CA63-2FFA-FBAE-4C543FD14A56}"/>
              </a:ext>
            </a:extLst>
          </p:cNvPr>
          <p:cNvSpPr txBox="1"/>
          <p:nvPr/>
        </p:nvSpPr>
        <p:spPr>
          <a:xfrm>
            <a:off x="6553200" y="3475736"/>
            <a:ext cx="4851400"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asks: can people do their work right now, and if not, why not?</a:t>
            </a:r>
          </a:p>
        </p:txBody>
      </p:sp>
    </p:spTree>
    <p:extLst>
      <p:ext uri="{BB962C8B-B14F-4D97-AF65-F5344CB8AC3E}">
        <p14:creationId xmlns:p14="http://schemas.microsoft.com/office/powerpoint/2010/main" val="223491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14FC55D-451D-FAFA-4414-03123DBDECE2}"/>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B78291AE-21F4-8383-7887-D195BACBF70F}"/>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1C2288E-22F4-BDBF-4C46-56348D0F218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07C1DC7-B2B8-39E6-B75B-04803782E372}"/>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signals: more than three pillars</a:t>
            </a:r>
          </a:p>
        </p:txBody>
      </p:sp>
      <p:sp>
        <p:nvSpPr>
          <p:cNvPr id="6" name="ChapterTag">
            <a:extLst>
              <a:ext uri="{FF2B5EF4-FFF2-40B4-BE49-F238E27FC236}">
                <a16:creationId xmlns:a16="http://schemas.microsoft.com/office/drawing/2014/main" id="{01E0F559-F14A-0C0A-CEFE-D34DF2883C3D}"/>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CE53629D-803C-0D78-C37B-8CC40FAD72F3}"/>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24C99A8-FC38-44B9-1B4F-E1F1EFF1B359}"/>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a:t>
            </a:r>
          </a:p>
        </p:txBody>
      </p:sp>
      <p:sp>
        <p:nvSpPr>
          <p:cNvPr id="9" name="Rectangle: Rounded Corners 8">
            <a:extLst>
              <a:ext uri="{FF2B5EF4-FFF2-40B4-BE49-F238E27FC236}">
                <a16:creationId xmlns:a16="http://schemas.microsoft.com/office/drawing/2014/main" id="{92DE13AE-10C7-C25C-0483-98DC754F0D57}"/>
              </a:ext>
            </a:extLst>
          </p:cNvPr>
          <p:cNvSpPr/>
          <p:nvPr/>
        </p:nvSpPr>
        <p:spPr>
          <a:xfrm>
            <a:off x="609600" y="15748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Metrics</a:t>
            </a:r>
          </a:p>
          <a:p>
            <a:r>
              <a:rPr lang="en-US" sz="1200">
                <a:solidFill>
                  <a:srgbClr val="F4F4F5"/>
                </a:solidFill>
                <a:latin typeface="Calibri" panose="020F0502020204030204" pitchFamily="34" charset="0"/>
              </a:rPr>
              <a:t>how much, how fast; time series with dimensions</a:t>
            </a:r>
          </a:p>
        </p:txBody>
      </p:sp>
      <p:sp>
        <p:nvSpPr>
          <p:cNvPr id="10" name="Rectangle: Rounded Corners 9">
            <a:extLst>
              <a:ext uri="{FF2B5EF4-FFF2-40B4-BE49-F238E27FC236}">
                <a16:creationId xmlns:a16="http://schemas.microsoft.com/office/drawing/2014/main" id="{5B809606-D2F1-F765-2A4D-20081C3BFEE3}"/>
              </a:ext>
            </a:extLst>
          </p:cNvPr>
          <p:cNvSpPr/>
          <p:nvPr/>
        </p:nvSpPr>
        <p:spPr>
          <a:xfrm>
            <a:off x="3390900" y="15748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Logs</a:t>
            </a:r>
          </a:p>
          <a:p>
            <a:r>
              <a:rPr lang="en-US" sz="1200">
                <a:solidFill>
                  <a:srgbClr val="F4F4F5"/>
                </a:solidFill>
                <a:latin typeface="Calibri" panose="020F0502020204030204" pitchFamily="34" charset="0"/>
              </a:rPr>
              <a:t>what happened, where; records with resource and time</a:t>
            </a:r>
          </a:p>
        </p:txBody>
      </p:sp>
      <p:sp>
        <p:nvSpPr>
          <p:cNvPr id="11" name="Rectangle: Rounded Corners 10">
            <a:extLst>
              <a:ext uri="{FF2B5EF4-FFF2-40B4-BE49-F238E27FC236}">
                <a16:creationId xmlns:a16="http://schemas.microsoft.com/office/drawing/2014/main" id="{B1D2CAE2-BD16-7D23-B9E2-43A3AB574635}"/>
              </a:ext>
            </a:extLst>
          </p:cNvPr>
          <p:cNvSpPr/>
          <p:nvPr/>
        </p:nvSpPr>
        <p:spPr>
          <a:xfrm>
            <a:off x="6172200" y="15748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Traces</a:t>
            </a:r>
          </a:p>
          <a:p>
            <a:r>
              <a:rPr lang="en-US" sz="1200">
                <a:solidFill>
                  <a:srgbClr val="F4F4F5"/>
                </a:solidFill>
                <a:latin typeface="Calibri" panose="020F0502020204030204" pitchFamily="34" charset="0"/>
              </a:rPr>
              <a:t>one request across services; spans and context</a:t>
            </a:r>
          </a:p>
        </p:txBody>
      </p:sp>
      <p:sp>
        <p:nvSpPr>
          <p:cNvPr id="12" name="Rectangle: Rounded Corners 11">
            <a:extLst>
              <a:ext uri="{FF2B5EF4-FFF2-40B4-BE49-F238E27FC236}">
                <a16:creationId xmlns:a16="http://schemas.microsoft.com/office/drawing/2014/main" id="{1BC2A34C-AA54-EB8B-3BE6-981E72BCD3AC}"/>
              </a:ext>
            </a:extLst>
          </p:cNvPr>
          <p:cNvSpPr/>
          <p:nvPr/>
        </p:nvSpPr>
        <p:spPr>
          <a:xfrm>
            <a:off x="8953500" y="15748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Events</a:t>
            </a:r>
          </a:p>
          <a:p>
            <a:r>
              <a:rPr lang="en-US" sz="1200">
                <a:solidFill>
                  <a:srgbClr val="F4F4F5"/>
                </a:solidFill>
                <a:latin typeface="Calibri" panose="020F0502020204030204" pitchFamily="34" charset="0"/>
              </a:rPr>
              <a:t>state changes: deploys, config, incidents, alerts</a:t>
            </a:r>
          </a:p>
        </p:txBody>
      </p:sp>
      <p:sp>
        <p:nvSpPr>
          <p:cNvPr id="13" name="Rectangle: Rounded Corners 12">
            <a:extLst>
              <a:ext uri="{FF2B5EF4-FFF2-40B4-BE49-F238E27FC236}">
                <a16:creationId xmlns:a16="http://schemas.microsoft.com/office/drawing/2014/main" id="{BEC0EE26-7550-19D0-FFFE-A59B3C7FE6D7}"/>
              </a:ext>
            </a:extLst>
          </p:cNvPr>
          <p:cNvSpPr/>
          <p:nvPr/>
        </p:nvSpPr>
        <p:spPr>
          <a:xfrm>
            <a:off x="609600" y="31242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Topology</a:t>
            </a:r>
          </a:p>
          <a:p>
            <a:r>
              <a:rPr lang="en-US" sz="1200">
                <a:solidFill>
                  <a:srgbClr val="F4F4F5"/>
                </a:solidFill>
                <a:latin typeface="Calibri" panose="020F0502020204030204" pitchFamily="34" charset="0"/>
              </a:rPr>
              <a:t>what depends on what; service and network maps</a:t>
            </a:r>
          </a:p>
        </p:txBody>
      </p:sp>
      <p:sp>
        <p:nvSpPr>
          <p:cNvPr id="14" name="Rectangle: Rounded Corners 13">
            <a:extLst>
              <a:ext uri="{FF2B5EF4-FFF2-40B4-BE49-F238E27FC236}">
                <a16:creationId xmlns:a16="http://schemas.microsoft.com/office/drawing/2014/main" id="{80CD4B6E-EE39-EEAD-0A35-F99FAEF4401B}"/>
              </a:ext>
            </a:extLst>
          </p:cNvPr>
          <p:cNvSpPr/>
          <p:nvPr/>
        </p:nvSpPr>
        <p:spPr>
          <a:xfrm>
            <a:off x="3390900" y="31242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User experience</a:t>
            </a:r>
          </a:p>
          <a:p>
            <a:r>
              <a:rPr lang="en-US" sz="1200">
                <a:solidFill>
                  <a:srgbClr val="F4F4F5"/>
                </a:solidFill>
                <a:latin typeface="Calibri" panose="020F0502020204030204" pitchFamily="34" charset="0"/>
              </a:rPr>
              <a:t>real and synthetic journeys; impact on people</a:t>
            </a:r>
          </a:p>
        </p:txBody>
      </p:sp>
      <p:sp>
        <p:nvSpPr>
          <p:cNvPr id="15" name="Rectangle: Rounded Corners 14">
            <a:extLst>
              <a:ext uri="{FF2B5EF4-FFF2-40B4-BE49-F238E27FC236}">
                <a16:creationId xmlns:a16="http://schemas.microsoft.com/office/drawing/2014/main" id="{49F8119C-58F6-5BF8-7DA6-DF796A72F26A}"/>
              </a:ext>
            </a:extLst>
          </p:cNvPr>
          <p:cNvSpPr/>
          <p:nvPr/>
        </p:nvSpPr>
        <p:spPr>
          <a:xfrm>
            <a:off x="6172200" y="31242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Security telemetry</a:t>
            </a:r>
          </a:p>
          <a:p>
            <a:r>
              <a:rPr lang="en-US" sz="1200">
                <a:solidFill>
                  <a:srgbClr val="F4F4F5"/>
                </a:solidFill>
                <a:latin typeface="Calibri" panose="020F0502020204030204" pitchFamily="34" charset="0"/>
              </a:rPr>
              <a:t>identity, access, posture, threats</a:t>
            </a:r>
          </a:p>
        </p:txBody>
      </p:sp>
      <p:sp>
        <p:nvSpPr>
          <p:cNvPr id="16" name="Rectangle: Rounded Corners 15">
            <a:extLst>
              <a:ext uri="{FF2B5EF4-FFF2-40B4-BE49-F238E27FC236}">
                <a16:creationId xmlns:a16="http://schemas.microsoft.com/office/drawing/2014/main" id="{82F8292C-3D7B-1D60-9272-D583AD2E2FB2}"/>
              </a:ext>
            </a:extLst>
          </p:cNvPr>
          <p:cNvSpPr/>
          <p:nvPr/>
        </p:nvSpPr>
        <p:spPr>
          <a:xfrm>
            <a:off x="8953500" y="3124200"/>
            <a:ext cx="26289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FBBF24"/>
                </a:solidFill>
                <a:latin typeface="Calibri" panose="020F0502020204030204" pitchFamily="34" charset="0"/>
              </a:rPr>
              <a:t>Context</a:t>
            </a:r>
          </a:p>
          <a:p>
            <a:r>
              <a:rPr lang="en-US" sz="1200">
                <a:solidFill>
                  <a:srgbClr val="F4F4F5"/>
                </a:solidFill>
                <a:latin typeface="Calibri" panose="020F0502020204030204" pitchFamily="34" charset="0"/>
              </a:rPr>
              <a:t>resource IDs, tags, owners, correlation IDs that join the rest</a:t>
            </a:r>
          </a:p>
        </p:txBody>
      </p:sp>
    </p:spTree>
    <p:extLst>
      <p:ext uri="{BB962C8B-B14F-4D97-AF65-F5344CB8AC3E}">
        <p14:creationId xmlns:p14="http://schemas.microsoft.com/office/powerpoint/2010/main" val="3467235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16365E48-0A1D-7CD0-E745-7B3EF438C490}"/>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90DD5B29-8AD6-018E-696E-C4DDA6690452}"/>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10E8734-6E5E-ADE9-B60E-23749F99E0D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8DEE4A-4394-5858-0234-E2ADAB7DFA7A}"/>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Everything observability can be</a:t>
            </a:r>
          </a:p>
        </p:txBody>
      </p:sp>
      <p:sp>
        <p:nvSpPr>
          <p:cNvPr id="6" name="ChapterTag">
            <a:extLst>
              <a:ext uri="{FF2B5EF4-FFF2-40B4-BE49-F238E27FC236}">
                <a16:creationId xmlns:a16="http://schemas.microsoft.com/office/drawing/2014/main" id="{A0DBE467-7659-3CC0-B0B7-70602F57D4BF}"/>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D916F60E-EDE4-14F8-EC71-7FB06CE9E9C5}"/>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D54E7683-A9DD-FE52-155F-A59ED3F3FFD8}"/>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9</a:t>
            </a:r>
          </a:p>
        </p:txBody>
      </p:sp>
      <p:sp>
        <p:nvSpPr>
          <p:cNvPr id="9" name="Rectangle: Rounded Corners 8">
            <a:extLst>
              <a:ext uri="{FF2B5EF4-FFF2-40B4-BE49-F238E27FC236}">
                <a16:creationId xmlns:a16="http://schemas.microsoft.com/office/drawing/2014/main" id="{FFA6FD07-01FA-8E05-2901-E6276ADE2A7A}"/>
              </a:ext>
            </a:extLst>
          </p:cNvPr>
          <p:cNvSpPr/>
          <p:nvPr/>
        </p:nvSpPr>
        <p:spPr>
          <a:xfrm>
            <a:off x="609600" y="15494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Infrastructure</a:t>
            </a:r>
          </a:p>
          <a:p>
            <a:pPr algn="ctr"/>
            <a:r>
              <a:rPr lang="en-US" sz="1100">
                <a:solidFill>
                  <a:srgbClr val="F4F4F5"/>
                </a:solidFill>
                <a:latin typeface="Calibri" panose="020F0502020204030204" pitchFamily="34" charset="0"/>
              </a:rPr>
              <a:t>servers · VMs · hypervisors · storage · network gear</a:t>
            </a:r>
          </a:p>
        </p:txBody>
      </p:sp>
      <p:sp>
        <p:nvSpPr>
          <p:cNvPr id="10" name="Rectangle: Rounded Corners 9">
            <a:extLst>
              <a:ext uri="{FF2B5EF4-FFF2-40B4-BE49-F238E27FC236}">
                <a16:creationId xmlns:a16="http://schemas.microsoft.com/office/drawing/2014/main" id="{668A645C-F8AA-178D-A5F6-451A74B90E77}"/>
              </a:ext>
            </a:extLst>
          </p:cNvPr>
          <p:cNvSpPr/>
          <p:nvPr/>
        </p:nvSpPr>
        <p:spPr>
          <a:xfrm>
            <a:off x="2819400" y="15494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Cloud platforms</a:t>
            </a:r>
          </a:p>
          <a:p>
            <a:pPr algn="ctr"/>
            <a:r>
              <a:rPr lang="en-US" sz="1100">
                <a:solidFill>
                  <a:srgbClr val="F4F4F5"/>
                </a:solidFill>
                <a:latin typeface="Calibri" panose="020F0502020204030204" pitchFamily="34" charset="0"/>
              </a:rPr>
              <a:t>Azure · AWS · GCP · managed services · cost · quotas</a:t>
            </a:r>
          </a:p>
        </p:txBody>
      </p:sp>
      <p:sp>
        <p:nvSpPr>
          <p:cNvPr id="11" name="Rectangle: Rounded Corners 10">
            <a:extLst>
              <a:ext uri="{FF2B5EF4-FFF2-40B4-BE49-F238E27FC236}">
                <a16:creationId xmlns:a16="http://schemas.microsoft.com/office/drawing/2014/main" id="{448F4CED-3658-39AF-828C-B9B12A7962BB}"/>
              </a:ext>
            </a:extLst>
          </p:cNvPr>
          <p:cNvSpPr/>
          <p:nvPr/>
        </p:nvSpPr>
        <p:spPr>
          <a:xfrm>
            <a:off x="5029200" y="15494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Application performance</a:t>
            </a:r>
          </a:p>
          <a:p>
            <a:pPr algn="ctr"/>
            <a:r>
              <a:rPr lang="en-US" sz="1100">
                <a:solidFill>
                  <a:srgbClr val="F4F4F5"/>
                </a:solidFill>
                <a:latin typeface="Calibri" panose="020F0502020204030204" pitchFamily="34" charset="0"/>
              </a:rPr>
              <a:t>availability · latency · errors · dependencies</a:t>
            </a:r>
          </a:p>
        </p:txBody>
      </p:sp>
      <p:sp>
        <p:nvSpPr>
          <p:cNvPr id="12" name="Rectangle: Rounded Corners 11">
            <a:extLst>
              <a:ext uri="{FF2B5EF4-FFF2-40B4-BE49-F238E27FC236}">
                <a16:creationId xmlns:a16="http://schemas.microsoft.com/office/drawing/2014/main" id="{7F71947E-F700-8D10-7BCD-CD6BBECA251E}"/>
              </a:ext>
            </a:extLst>
          </p:cNvPr>
          <p:cNvSpPr/>
          <p:nvPr/>
        </p:nvSpPr>
        <p:spPr>
          <a:xfrm>
            <a:off x="7239000" y="15494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Distributed tracing</a:t>
            </a:r>
          </a:p>
          <a:p>
            <a:pPr algn="ctr"/>
            <a:r>
              <a:rPr lang="en-US" sz="1100">
                <a:solidFill>
                  <a:srgbClr val="F4F4F5"/>
                </a:solidFill>
                <a:latin typeface="Calibri" panose="020F0502020204030204" pitchFamily="34" charset="0"/>
              </a:rPr>
              <a:t>end-to-end requests · spans · root cause</a:t>
            </a:r>
          </a:p>
        </p:txBody>
      </p:sp>
      <p:sp>
        <p:nvSpPr>
          <p:cNvPr id="13" name="Rectangle: Rounded Corners 12">
            <a:extLst>
              <a:ext uri="{FF2B5EF4-FFF2-40B4-BE49-F238E27FC236}">
                <a16:creationId xmlns:a16="http://schemas.microsoft.com/office/drawing/2014/main" id="{7277A269-ECDD-1E63-CBEF-3406CE46EA93}"/>
              </a:ext>
            </a:extLst>
          </p:cNvPr>
          <p:cNvSpPr/>
          <p:nvPr/>
        </p:nvSpPr>
        <p:spPr>
          <a:xfrm>
            <a:off x="9448800" y="15494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Logs</a:t>
            </a:r>
          </a:p>
          <a:p>
            <a:pPr algn="ctr"/>
            <a:r>
              <a:rPr lang="en-US" sz="1100">
                <a:solidFill>
                  <a:srgbClr val="F4F4F5"/>
                </a:solidFill>
                <a:latin typeface="Calibri" panose="020F0502020204030204" pitchFamily="34" charset="0"/>
              </a:rPr>
              <a:t>app · system · audit · cloud · retention · cost</a:t>
            </a:r>
          </a:p>
        </p:txBody>
      </p:sp>
      <p:sp>
        <p:nvSpPr>
          <p:cNvPr id="14" name="Rectangle: Rounded Corners 13">
            <a:extLst>
              <a:ext uri="{FF2B5EF4-FFF2-40B4-BE49-F238E27FC236}">
                <a16:creationId xmlns:a16="http://schemas.microsoft.com/office/drawing/2014/main" id="{55CE7CE3-C8F6-F1E7-74B1-1268A638D625}"/>
              </a:ext>
            </a:extLst>
          </p:cNvPr>
          <p:cNvSpPr/>
          <p:nvPr/>
        </p:nvSpPr>
        <p:spPr>
          <a:xfrm>
            <a:off x="609600" y="25400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Metrics + telemetry</a:t>
            </a:r>
          </a:p>
          <a:p>
            <a:pPr algn="ctr"/>
            <a:r>
              <a:rPr lang="en-US" sz="1100">
                <a:solidFill>
                  <a:srgbClr val="F4F4F5"/>
                </a:solidFill>
                <a:latin typeface="Calibri" panose="020F0502020204030204" pitchFamily="34" charset="0"/>
              </a:rPr>
              <a:t>infra · app · business · SLIs · custom</a:t>
            </a:r>
          </a:p>
        </p:txBody>
      </p:sp>
      <p:sp>
        <p:nvSpPr>
          <p:cNvPr id="15" name="Rectangle: Rounded Corners 14">
            <a:extLst>
              <a:ext uri="{FF2B5EF4-FFF2-40B4-BE49-F238E27FC236}">
                <a16:creationId xmlns:a16="http://schemas.microsoft.com/office/drawing/2014/main" id="{B6A76D1B-372A-0D98-DF7A-AE4B8360AE5C}"/>
              </a:ext>
            </a:extLst>
          </p:cNvPr>
          <p:cNvSpPr/>
          <p:nvPr/>
        </p:nvSpPr>
        <p:spPr>
          <a:xfrm>
            <a:off x="2819400" y="25400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Network</a:t>
            </a:r>
          </a:p>
          <a:p>
            <a:pPr algn="ctr"/>
            <a:r>
              <a:rPr lang="en-US" sz="1100">
                <a:solidFill>
                  <a:srgbClr val="F4F4F5"/>
                </a:solidFill>
                <a:latin typeface="Calibri" panose="020F0502020204030204" pitchFamily="34" charset="0"/>
              </a:rPr>
              <a:t>latency · loss · flows · DNS · TLS · site links</a:t>
            </a:r>
          </a:p>
        </p:txBody>
      </p:sp>
      <p:sp>
        <p:nvSpPr>
          <p:cNvPr id="16" name="Rectangle: Rounded Corners 15">
            <a:extLst>
              <a:ext uri="{FF2B5EF4-FFF2-40B4-BE49-F238E27FC236}">
                <a16:creationId xmlns:a16="http://schemas.microsoft.com/office/drawing/2014/main" id="{E503A1F9-FB98-3072-9EEF-42164DE56D19}"/>
              </a:ext>
            </a:extLst>
          </p:cNvPr>
          <p:cNvSpPr/>
          <p:nvPr/>
        </p:nvSpPr>
        <p:spPr>
          <a:xfrm>
            <a:off x="5029200" y="25400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Digital experience</a:t>
            </a:r>
          </a:p>
          <a:p>
            <a:pPr algn="ctr"/>
            <a:r>
              <a:rPr lang="en-US" sz="1100">
                <a:solidFill>
                  <a:srgbClr val="F4F4F5"/>
                </a:solidFill>
                <a:latin typeface="Calibri" panose="020F0502020204030204" pitchFamily="34" charset="0"/>
              </a:rPr>
              <a:t>real users · synthetics · journeys · impact</a:t>
            </a:r>
          </a:p>
        </p:txBody>
      </p:sp>
      <p:sp>
        <p:nvSpPr>
          <p:cNvPr id="17" name="Rectangle: Rounded Corners 16">
            <a:extLst>
              <a:ext uri="{FF2B5EF4-FFF2-40B4-BE49-F238E27FC236}">
                <a16:creationId xmlns:a16="http://schemas.microsoft.com/office/drawing/2014/main" id="{7E491A0F-CA85-CDF9-B816-2015B06362D5}"/>
              </a:ext>
            </a:extLst>
          </p:cNvPr>
          <p:cNvSpPr/>
          <p:nvPr/>
        </p:nvSpPr>
        <p:spPr>
          <a:xfrm>
            <a:off x="7239000" y="25400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Databases + data</a:t>
            </a:r>
          </a:p>
          <a:p>
            <a:pPr algn="ctr"/>
            <a:r>
              <a:rPr lang="en-US" sz="1100">
                <a:solidFill>
                  <a:srgbClr val="F4F4F5"/>
                </a:solidFill>
                <a:latin typeface="Calibri" panose="020F0502020204030204" pitchFamily="34" charset="0"/>
              </a:rPr>
              <a:t>queries · replication · backups · pipelines</a:t>
            </a:r>
          </a:p>
        </p:txBody>
      </p:sp>
      <p:sp>
        <p:nvSpPr>
          <p:cNvPr id="18" name="Rectangle: Rounded Corners 17">
            <a:extLst>
              <a:ext uri="{FF2B5EF4-FFF2-40B4-BE49-F238E27FC236}">
                <a16:creationId xmlns:a16="http://schemas.microsoft.com/office/drawing/2014/main" id="{45426D6A-D3D2-2F8C-BBA1-18C5580598C3}"/>
              </a:ext>
            </a:extLst>
          </p:cNvPr>
          <p:cNvSpPr/>
          <p:nvPr/>
        </p:nvSpPr>
        <p:spPr>
          <a:xfrm>
            <a:off x="9448800" y="25400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Kubernetes + containers</a:t>
            </a:r>
          </a:p>
          <a:p>
            <a:pPr algn="ctr"/>
            <a:r>
              <a:rPr lang="en-US" sz="1100">
                <a:solidFill>
                  <a:srgbClr val="F4F4F5"/>
                </a:solidFill>
                <a:latin typeface="Calibri" panose="020F0502020204030204" pitchFamily="34" charset="0"/>
              </a:rPr>
              <a:t>clusters · nodes · pods · rollouts · mesh</a:t>
            </a:r>
          </a:p>
        </p:txBody>
      </p:sp>
      <p:sp>
        <p:nvSpPr>
          <p:cNvPr id="19" name="Rectangle: Rounded Corners 18">
            <a:extLst>
              <a:ext uri="{FF2B5EF4-FFF2-40B4-BE49-F238E27FC236}">
                <a16:creationId xmlns:a16="http://schemas.microsoft.com/office/drawing/2014/main" id="{20BE150D-C7E1-CC72-445F-8D18099A83EF}"/>
              </a:ext>
            </a:extLst>
          </p:cNvPr>
          <p:cNvSpPr/>
          <p:nvPr/>
        </p:nvSpPr>
        <p:spPr>
          <a:xfrm>
            <a:off x="609600" y="35306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Security</a:t>
            </a:r>
          </a:p>
          <a:p>
            <a:pPr algn="ctr"/>
            <a:r>
              <a:rPr lang="en-US" sz="1100">
                <a:solidFill>
                  <a:srgbClr val="F4F4F5"/>
                </a:solidFill>
                <a:latin typeface="Calibri" panose="020F0502020204030204" pitchFamily="34" charset="0"/>
              </a:rPr>
              <a:t>identity · access · posture · threats · SIEM</a:t>
            </a:r>
          </a:p>
        </p:txBody>
      </p:sp>
      <p:sp>
        <p:nvSpPr>
          <p:cNvPr id="20" name="Rectangle: Rounded Corners 19">
            <a:extLst>
              <a:ext uri="{FF2B5EF4-FFF2-40B4-BE49-F238E27FC236}">
                <a16:creationId xmlns:a16="http://schemas.microsoft.com/office/drawing/2014/main" id="{321039EB-7E89-654D-5B99-7EA6F975414E}"/>
              </a:ext>
            </a:extLst>
          </p:cNvPr>
          <p:cNvSpPr/>
          <p:nvPr/>
        </p:nvSpPr>
        <p:spPr>
          <a:xfrm>
            <a:off x="2819400" y="35306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Availability + reliability</a:t>
            </a:r>
          </a:p>
          <a:p>
            <a:pPr algn="ctr"/>
            <a:r>
              <a:rPr lang="en-US" sz="1100">
                <a:solidFill>
                  <a:srgbClr val="F4F4F5"/>
                </a:solidFill>
                <a:latin typeface="Calibri" panose="020F0502020204030204" pitchFamily="34" charset="0"/>
              </a:rPr>
              <a:t>uptime · failover · DR · SLOs · error budgets</a:t>
            </a:r>
          </a:p>
        </p:txBody>
      </p:sp>
      <p:sp>
        <p:nvSpPr>
          <p:cNvPr id="21" name="Rectangle: Rounded Corners 20">
            <a:extLst>
              <a:ext uri="{FF2B5EF4-FFF2-40B4-BE49-F238E27FC236}">
                <a16:creationId xmlns:a16="http://schemas.microsoft.com/office/drawing/2014/main" id="{6E312EE0-69A0-4E35-003D-7C97694B2937}"/>
              </a:ext>
            </a:extLst>
          </p:cNvPr>
          <p:cNvSpPr/>
          <p:nvPr/>
        </p:nvSpPr>
        <p:spPr>
          <a:xfrm>
            <a:off x="5029200" y="35306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Alerting + events</a:t>
            </a:r>
          </a:p>
          <a:p>
            <a:pPr algn="ctr"/>
            <a:r>
              <a:rPr lang="en-US" sz="1100">
                <a:solidFill>
                  <a:srgbClr val="F4F4F5"/>
                </a:solidFill>
                <a:latin typeface="Calibri" panose="020F0502020204030204" pitchFamily="34" charset="0"/>
              </a:rPr>
              <a:t>thresholds · anomalies · routing · ownership</a:t>
            </a:r>
          </a:p>
        </p:txBody>
      </p:sp>
      <p:sp>
        <p:nvSpPr>
          <p:cNvPr id="22" name="Rectangle: Rounded Corners 21">
            <a:extLst>
              <a:ext uri="{FF2B5EF4-FFF2-40B4-BE49-F238E27FC236}">
                <a16:creationId xmlns:a16="http://schemas.microsoft.com/office/drawing/2014/main" id="{AF5B2751-CE34-FD66-7BE6-87F8C5CEFE48}"/>
              </a:ext>
            </a:extLst>
          </p:cNvPr>
          <p:cNvSpPr/>
          <p:nvPr/>
        </p:nvSpPr>
        <p:spPr>
          <a:xfrm>
            <a:off x="7239000" y="35306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Incidents + operations</a:t>
            </a:r>
          </a:p>
          <a:p>
            <a:pPr algn="ctr"/>
            <a:r>
              <a:rPr lang="en-US" sz="1100">
                <a:solidFill>
                  <a:srgbClr val="F4F4F5"/>
                </a:solidFill>
                <a:latin typeface="Calibri" panose="020F0502020204030204" pitchFamily="34" charset="0"/>
              </a:rPr>
              <a:t>triage · runbooks · change correlation · MTTR</a:t>
            </a:r>
          </a:p>
        </p:txBody>
      </p:sp>
      <p:sp>
        <p:nvSpPr>
          <p:cNvPr id="23" name="Rectangle: Rounded Corners 22">
            <a:extLst>
              <a:ext uri="{FF2B5EF4-FFF2-40B4-BE49-F238E27FC236}">
                <a16:creationId xmlns:a16="http://schemas.microsoft.com/office/drawing/2014/main" id="{08A00F7D-5895-5C56-2339-A409F33C396E}"/>
              </a:ext>
            </a:extLst>
          </p:cNvPr>
          <p:cNvSpPr/>
          <p:nvPr/>
        </p:nvSpPr>
        <p:spPr>
          <a:xfrm>
            <a:off x="9448800" y="35306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Dashboards + reporting</a:t>
            </a:r>
          </a:p>
          <a:p>
            <a:pPr algn="ctr"/>
            <a:r>
              <a:rPr lang="en-US" sz="1100">
                <a:solidFill>
                  <a:srgbClr val="F4F4F5"/>
                </a:solidFill>
                <a:latin typeface="Calibri" panose="020F0502020204030204" pitchFamily="34" charset="0"/>
              </a:rPr>
              <a:t>service · executive · topology · trends · SLO</a:t>
            </a:r>
          </a:p>
        </p:txBody>
      </p:sp>
      <p:sp>
        <p:nvSpPr>
          <p:cNvPr id="24" name="Rectangle: Rounded Corners 23">
            <a:extLst>
              <a:ext uri="{FF2B5EF4-FFF2-40B4-BE49-F238E27FC236}">
                <a16:creationId xmlns:a16="http://schemas.microsoft.com/office/drawing/2014/main" id="{8E82920C-23B0-2769-DFA6-63C31FD8E001}"/>
              </a:ext>
            </a:extLst>
          </p:cNvPr>
          <p:cNvSpPr/>
          <p:nvPr/>
        </p:nvSpPr>
        <p:spPr>
          <a:xfrm>
            <a:off x="609600" y="45212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Automation + remediation</a:t>
            </a:r>
          </a:p>
          <a:p>
            <a:pPr algn="ctr"/>
            <a:r>
              <a:rPr lang="en-US" sz="1100">
                <a:solidFill>
                  <a:srgbClr val="F4F4F5"/>
                </a:solidFill>
                <a:latin typeface="Calibri" panose="020F0502020204030204" pitchFamily="34" charset="0"/>
              </a:rPr>
              <a:t>restarts · rollback · failover · ChatOps</a:t>
            </a:r>
          </a:p>
        </p:txBody>
      </p:sp>
      <p:sp>
        <p:nvSpPr>
          <p:cNvPr id="25" name="Rectangle: Rounded Corners 24">
            <a:extLst>
              <a:ext uri="{FF2B5EF4-FFF2-40B4-BE49-F238E27FC236}">
                <a16:creationId xmlns:a16="http://schemas.microsoft.com/office/drawing/2014/main" id="{3EBDC30B-AE46-4392-4488-C5F291B1C898}"/>
              </a:ext>
            </a:extLst>
          </p:cNvPr>
          <p:cNvSpPr/>
          <p:nvPr/>
        </p:nvSpPr>
        <p:spPr>
          <a:xfrm>
            <a:off x="2819400" y="45212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Configuration + assets</a:t>
            </a:r>
          </a:p>
          <a:p>
            <a:pPr algn="ctr"/>
            <a:r>
              <a:rPr lang="en-US" sz="1100">
                <a:solidFill>
                  <a:srgbClr val="F4F4F5"/>
                </a:solidFill>
                <a:latin typeface="Calibri" panose="020F0502020204030204" pitchFamily="34" charset="0"/>
              </a:rPr>
              <a:t>inventory · CMDB · tagging · drift · change</a:t>
            </a:r>
          </a:p>
        </p:txBody>
      </p:sp>
      <p:sp>
        <p:nvSpPr>
          <p:cNvPr id="26" name="Rectangle: Rounded Corners 25">
            <a:extLst>
              <a:ext uri="{FF2B5EF4-FFF2-40B4-BE49-F238E27FC236}">
                <a16:creationId xmlns:a16="http://schemas.microsoft.com/office/drawing/2014/main" id="{B99A4C1B-A87F-BDFB-919D-45ABBF1A2BCB}"/>
              </a:ext>
            </a:extLst>
          </p:cNvPr>
          <p:cNvSpPr/>
          <p:nvPr/>
        </p:nvSpPr>
        <p:spPr>
          <a:xfrm>
            <a:off x="5029200" y="45212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Integrations</a:t>
            </a:r>
          </a:p>
          <a:p>
            <a:pPr algn="ctr"/>
            <a:r>
              <a:rPr lang="en-US" sz="1100">
                <a:solidFill>
                  <a:srgbClr val="F4F4F5"/>
                </a:solidFill>
                <a:latin typeface="Calibri" panose="020F0502020204030204" pitchFamily="34" charset="0"/>
              </a:rPr>
              <a:t>OpenTelemetry · Prometheus · ITSM · SIEM</a:t>
            </a:r>
          </a:p>
        </p:txBody>
      </p:sp>
      <p:sp>
        <p:nvSpPr>
          <p:cNvPr id="27" name="Rectangle: Rounded Corners 26">
            <a:extLst>
              <a:ext uri="{FF2B5EF4-FFF2-40B4-BE49-F238E27FC236}">
                <a16:creationId xmlns:a16="http://schemas.microsoft.com/office/drawing/2014/main" id="{DEEFBDF7-1770-9BF2-40E1-D2ACEBB22414}"/>
              </a:ext>
            </a:extLst>
          </p:cNvPr>
          <p:cNvSpPr/>
          <p:nvPr/>
        </p:nvSpPr>
        <p:spPr>
          <a:xfrm>
            <a:off x="7239000" y="45212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Governance</a:t>
            </a:r>
          </a:p>
          <a:p>
            <a:pPr algn="ctr"/>
            <a:r>
              <a:rPr lang="en-US" sz="1100">
                <a:solidFill>
                  <a:srgbClr val="F4F4F5"/>
                </a:solidFill>
                <a:latin typeface="Calibri" panose="020F0502020204030204" pitchFamily="34" charset="0"/>
              </a:rPr>
              <a:t>RBAC · SSO · residency · retention · audit</a:t>
            </a:r>
          </a:p>
        </p:txBody>
      </p:sp>
      <p:sp>
        <p:nvSpPr>
          <p:cNvPr id="28" name="Rectangle: Rounded Corners 27">
            <a:extLst>
              <a:ext uri="{FF2B5EF4-FFF2-40B4-BE49-F238E27FC236}">
                <a16:creationId xmlns:a16="http://schemas.microsoft.com/office/drawing/2014/main" id="{144E0C8F-8348-2101-4AAB-4EA76BC648B0}"/>
              </a:ext>
            </a:extLst>
          </p:cNvPr>
          <p:cNvSpPr/>
          <p:nvPr/>
        </p:nvSpPr>
        <p:spPr>
          <a:xfrm>
            <a:off x="9448800" y="4521200"/>
            <a:ext cx="2082800" cy="889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Platform architecture</a:t>
            </a:r>
          </a:p>
          <a:p>
            <a:pPr algn="ctr"/>
            <a:r>
              <a:rPr lang="en-US" sz="1100">
                <a:solidFill>
                  <a:srgbClr val="F4F4F5"/>
                </a:solidFill>
                <a:latin typeface="Calibri" panose="020F0502020204030204" pitchFamily="34" charset="0"/>
              </a:rPr>
              <a:t>agents · collectors · stores · HA · edge</a:t>
            </a:r>
          </a:p>
        </p:txBody>
      </p:sp>
      <p:sp>
        <p:nvSpPr>
          <p:cNvPr id="29" name="TextBox 28">
            <a:extLst>
              <a:ext uri="{FF2B5EF4-FFF2-40B4-BE49-F238E27FC236}">
                <a16:creationId xmlns:a16="http://schemas.microsoft.com/office/drawing/2014/main" id="{FE254BF7-4922-1BA3-BB94-8916EAE54405}"/>
              </a:ext>
            </a:extLst>
          </p:cNvPr>
          <p:cNvSpPr txBox="1"/>
          <p:nvPr/>
        </p:nvSpPr>
        <p:spPr>
          <a:xfrm>
            <a:off x="609600" y="5588000"/>
            <a:ext cx="10972800" cy="558800"/>
          </a:xfrm>
          <a:prstGeom prst="rect">
            <a:avLst/>
          </a:prstGeom>
          <a:noFill/>
        </p:spPr>
        <p:txBody>
          <a:bodyPr vert="horz" wrap="square" lIns="25400" tIns="12700" rIns="25400" bIns="12700" rtlCol="0" anchor="t">
            <a:noAutofit/>
          </a:bodyPr>
          <a:lstStyle/>
          <a:p>
            <a:r>
              <a:rPr lang="en-US" sz="1250" b="1">
                <a:solidFill>
                  <a:srgbClr val="FBBF24"/>
                </a:solidFill>
                <a:latin typeface="Calibri" panose="020F0502020204030204" pitchFamily="34" charset="0"/>
              </a:rPr>
              <a:t>Metrics + logs + traces + events + topology + user experience + security telemetry, connected to alerting, dashboards, incident response, automation, governance and reporting, across on-premises, private cloud, public cloud, edge and hybrid.</a:t>
            </a:r>
          </a:p>
        </p:txBody>
      </p:sp>
    </p:spTree>
    <p:extLst>
      <p:ext uri="{BB962C8B-B14F-4D97-AF65-F5344CB8AC3E}">
        <p14:creationId xmlns:p14="http://schemas.microsoft.com/office/powerpoint/2010/main" val="211087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7701C206-5201-CBB6-0EB8-8F6E97072B6E}"/>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610C94D9-B0D0-9258-1966-D0C99386760D}"/>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8DB292F-57A0-1EF9-7432-A0F048A77E27}"/>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3147534-EE7B-E5BC-35F5-FD0B834E7326}"/>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twenty areas, grouped</a:t>
            </a:r>
          </a:p>
        </p:txBody>
      </p:sp>
      <p:sp>
        <p:nvSpPr>
          <p:cNvPr id="6" name="ChapterTag">
            <a:extLst>
              <a:ext uri="{FF2B5EF4-FFF2-40B4-BE49-F238E27FC236}">
                <a16:creationId xmlns:a16="http://schemas.microsoft.com/office/drawing/2014/main" id="{6ED9F80F-C0FF-4C10-E70C-8AD105A9DCBB}"/>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EE4D2B4A-0861-6E16-5F56-3EE60E6939E1}"/>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6539BD2-9F25-E0B7-B17C-2476FE9756CE}"/>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10</a:t>
            </a:r>
          </a:p>
        </p:txBody>
      </p:sp>
      <p:sp>
        <p:nvSpPr>
          <p:cNvPr id="9" name="Rectangle: Rounded Corners 8">
            <a:extLst>
              <a:ext uri="{FF2B5EF4-FFF2-40B4-BE49-F238E27FC236}">
                <a16:creationId xmlns:a16="http://schemas.microsoft.com/office/drawing/2014/main" id="{D6FD4230-E049-42A8-5ABF-0CC427E473F6}"/>
              </a:ext>
            </a:extLst>
          </p:cNvPr>
          <p:cNvSpPr/>
          <p:nvPr/>
        </p:nvSpPr>
        <p:spPr>
          <a:xfrm>
            <a:off x="609600" y="1600200"/>
            <a:ext cx="5384800" cy="4699000"/>
          </a:xfrm>
          <a:prstGeom prst="roundRect">
            <a:avLst>
              <a:gd name="adj" fmla="val 4000"/>
            </a:avLst>
          </a:prstGeom>
          <a:noFill/>
          <a:ln w="15875" cap="flat" cmpd="sng" algn="ctr">
            <a:solidFill>
              <a:srgbClr val="FBBF24"/>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6ACD33B-0DFB-1E76-15DE-B0380173F6F0}"/>
              </a:ext>
            </a:extLst>
          </p:cNvPr>
          <p:cNvSpPr txBox="1"/>
          <p:nvPr/>
        </p:nvSpPr>
        <p:spPr>
          <a:xfrm>
            <a:off x="762000" y="1701800"/>
            <a:ext cx="5080000" cy="279400"/>
          </a:xfrm>
          <a:prstGeom prst="rect">
            <a:avLst/>
          </a:prstGeom>
          <a:noFill/>
        </p:spPr>
        <p:txBody>
          <a:bodyPr vert="horz" wrap="square" lIns="25400" tIns="12700" rIns="25400" bIns="12700" rtlCol="0" anchor="t">
            <a:noAutofit/>
          </a:bodyPr>
          <a:lstStyle/>
          <a:p>
            <a:r>
              <a:rPr lang="en-US" sz="1250" b="1">
                <a:solidFill>
                  <a:srgbClr val="FBBF24"/>
                </a:solidFill>
                <a:latin typeface="Calibri" panose="020F0502020204030204" pitchFamily="34" charset="0"/>
              </a:rPr>
              <a:t>WHAT YOU COLLECT</a:t>
            </a:r>
          </a:p>
        </p:txBody>
      </p:sp>
      <p:sp>
        <p:nvSpPr>
          <p:cNvPr id="11" name="Oval 10">
            <a:extLst>
              <a:ext uri="{FF2B5EF4-FFF2-40B4-BE49-F238E27FC236}">
                <a16:creationId xmlns:a16="http://schemas.microsoft.com/office/drawing/2014/main" id="{55206BF6-9E72-2432-129A-34535052C109}"/>
              </a:ext>
            </a:extLst>
          </p:cNvPr>
          <p:cNvSpPr/>
          <p:nvPr/>
        </p:nvSpPr>
        <p:spPr>
          <a:xfrm>
            <a:off x="787400" y="2137410"/>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07598F5-28FF-F3CB-6F00-17B18DF8C0E7}"/>
              </a:ext>
            </a:extLst>
          </p:cNvPr>
          <p:cNvSpPr txBox="1"/>
          <p:nvPr/>
        </p:nvSpPr>
        <p:spPr>
          <a:xfrm>
            <a:off x="965200" y="2057400"/>
            <a:ext cx="4851400"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infrastructure · cloud platforms · application performance</a:t>
            </a:r>
          </a:p>
        </p:txBody>
      </p:sp>
      <p:sp>
        <p:nvSpPr>
          <p:cNvPr id="13" name="Oval 12">
            <a:extLst>
              <a:ext uri="{FF2B5EF4-FFF2-40B4-BE49-F238E27FC236}">
                <a16:creationId xmlns:a16="http://schemas.microsoft.com/office/drawing/2014/main" id="{4D3B2667-E12B-6DF1-7A35-7DA8BBA4C858}"/>
              </a:ext>
            </a:extLst>
          </p:cNvPr>
          <p:cNvSpPr/>
          <p:nvPr/>
        </p:nvSpPr>
        <p:spPr>
          <a:xfrm>
            <a:off x="787400" y="2719578"/>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E5EE716-B594-B1F4-54B3-56943C26231E}"/>
              </a:ext>
            </a:extLst>
          </p:cNvPr>
          <p:cNvSpPr txBox="1"/>
          <p:nvPr/>
        </p:nvSpPr>
        <p:spPr>
          <a:xfrm>
            <a:off x="965200" y="2639568"/>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distributed tracing · logs · metrics</a:t>
            </a:r>
          </a:p>
        </p:txBody>
      </p:sp>
      <p:sp>
        <p:nvSpPr>
          <p:cNvPr id="15" name="Oval 14">
            <a:extLst>
              <a:ext uri="{FF2B5EF4-FFF2-40B4-BE49-F238E27FC236}">
                <a16:creationId xmlns:a16="http://schemas.microsoft.com/office/drawing/2014/main" id="{915860C0-0F76-9FBB-8061-696A6337CFAD}"/>
              </a:ext>
            </a:extLst>
          </p:cNvPr>
          <p:cNvSpPr/>
          <p:nvPr/>
        </p:nvSpPr>
        <p:spPr>
          <a:xfrm>
            <a:off x="787400" y="3074162"/>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4D4891-CF84-1EEC-0AF2-B9F6AE8B889D}"/>
              </a:ext>
            </a:extLst>
          </p:cNvPr>
          <p:cNvSpPr txBox="1"/>
          <p:nvPr/>
        </p:nvSpPr>
        <p:spPr>
          <a:xfrm>
            <a:off x="965200" y="2994152"/>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network · digital experience · databases</a:t>
            </a:r>
          </a:p>
        </p:txBody>
      </p:sp>
      <p:sp>
        <p:nvSpPr>
          <p:cNvPr id="17" name="Oval 16">
            <a:extLst>
              <a:ext uri="{FF2B5EF4-FFF2-40B4-BE49-F238E27FC236}">
                <a16:creationId xmlns:a16="http://schemas.microsoft.com/office/drawing/2014/main" id="{A83E9B69-76EF-40BA-EC70-E19992998426}"/>
              </a:ext>
            </a:extLst>
          </p:cNvPr>
          <p:cNvSpPr/>
          <p:nvPr/>
        </p:nvSpPr>
        <p:spPr>
          <a:xfrm>
            <a:off x="787400" y="3428746"/>
            <a:ext cx="88900" cy="889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34105FB-69B3-5E0D-CBD3-C0E7767DC70F}"/>
              </a:ext>
            </a:extLst>
          </p:cNvPr>
          <p:cNvSpPr txBox="1"/>
          <p:nvPr/>
        </p:nvSpPr>
        <p:spPr>
          <a:xfrm>
            <a:off x="965200" y="3348736"/>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Kubernetes · security</a:t>
            </a:r>
          </a:p>
        </p:txBody>
      </p:sp>
      <p:sp>
        <p:nvSpPr>
          <p:cNvPr id="19" name="Rectangle: Rounded Corners 18">
            <a:extLst>
              <a:ext uri="{FF2B5EF4-FFF2-40B4-BE49-F238E27FC236}">
                <a16:creationId xmlns:a16="http://schemas.microsoft.com/office/drawing/2014/main" id="{F719DE7F-2BA1-714A-7114-372986AD3690}"/>
              </a:ext>
            </a:extLst>
          </p:cNvPr>
          <p:cNvSpPr/>
          <p:nvPr/>
        </p:nvSpPr>
        <p:spPr>
          <a:xfrm>
            <a:off x="6197600" y="1600200"/>
            <a:ext cx="5384800" cy="4699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0E60C80-A318-DF48-E340-3C20683B261D}"/>
              </a:ext>
            </a:extLst>
          </p:cNvPr>
          <p:cNvSpPr txBox="1"/>
          <p:nvPr/>
        </p:nvSpPr>
        <p:spPr>
          <a:xfrm>
            <a:off x="6350000" y="1701800"/>
            <a:ext cx="5080000" cy="279400"/>
          </a:xfrm>
          <a:prstGeom prst="rect">
            <a:avLst/>
          </a:prstGeom>
          <a:noFill/>
        </p:spPr>
        <p:txBody>
          <a:bodyPr vert="horz" wrap="square" lIns="25400" tIns="12700" rIns="25400" bIns="12700" rtlCol="0" anchor="t">
            <a:noAutofit/>
          </a:bodyPr>
          <a:lstStyle/>
          <a:p>
            <a:r>
              <a:rPr lang="en-US" sz="1250" b="1">
                <a:solidFill>
                  <a:srgbClr val="2DD4BF"/>
                </a:solidFill>
                <a:latin typeface="Calibri" panose="020F0502020204030204" pitchFamily="34" charset="0"/>
              </a:rPr>
              <a:t>WHAT YOU DO WITH IT</a:t>
            </a:r>
          </a:p>
        </p:txBody>
      </p:sp>
      <p:sp>
        <p:nvSpPr>
          <p:cNvPr id="21" name="Oval 20">
            <a:extLst>
              <a:ext uri="{FF2B5EF4-FFF2-40B4-BE49-F238E27FC236}">
                <a16:creationId xmlns:a16="http://schemas.microsoft.com/office/drawing/2014/main" id="{E6414F8E-0C85-3447-580E-D2596CAC6F61}"/>
              </a:ext>
            </a:extLst>
          </p:cNvPr>
          <p:cNvSpPr/>
          <p:nvPr/>
        </p:nvSpPr>
        <p:spPr>
          <a:xfrm>
            <a:off x="6375400" y="2137410"/>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13B3EF6-39C5-DEB2-E2CE-628D1B1BEAF3}"/>
              </a:ext>
            </a:extLst>
          </p:cNvPr>
          <p:cNvSpPr txBox="1"/>
          <p:nvPr/>
        </p:nvSpPr>
        <p:spPr>
          <a:xfrm>
            <a:off x="6553200" y="205740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availability and reliability · alerting and events</a:t>
            </a:r>
          </a:p>
        </p:txBody>
      </p:sp>
      <p:sp>
        <p:nvSpPr>
          <p:cNvPr id="23" name="Oval 22">
            <a:extLst>
              <a:ext uri="{FF2B5EF4-FFF2-40B4-BE49-F238E27FC236}">
                <a16:creationId xmlns:a16="http://schemas.microsoft.com/office/drawing/2014/main" id="{EAD51230-4E9A-B5E8-A6AA-69DA8018CC36}"/>
              </a:ext>
            </a:extLst>
          </p:cNvPr>
          <p:cNvSpPr/>
          <p:nvPr/>
        </p:nvSpPr>
        <p:spPr>
          <a:xfrm>
            <a:off x="6375400" y="2491994"/>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CB67E085-6623-3919-5164-7F50A54CEE32}"/>
              </a:ext>
            </a:extLst>
          </p:cNvPr>
          <p:cNvSpPr txBox="1"/>
          <p:nvPr/>
        </p:nvSpPr>
        <p:spPr>
          <a:xfrm>
            <a:off x="6553200" y="2411984"/>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incidents and operations · dashboards and reporting</a:t>
            </a:r>
          </a:p>
        </p:txBody>
      </p:sp>
      <p:sp>
        <p:nvSpPr>
          <p:cNvPr id="25" name="Oval 24">
            <a:extLst>
              <a:ext uri="{FF2B5EF4-FFF2-40B4-BE49-F238E27FC236}">
                <a16:creationId xmlns:a16="http://schemas.microsoft.com/office/drawing/2014/main" id="{B52D4404-0557-259D-3A01-A194E2D58A9F}"/>
              </a:ext>
            </a:extLst>
          </p:cNvPr>
          <p:cNvSpPr/>
          <p:nvPr/>
        </p:nvSpPr>
        <p:spPr>
          <a:xfrm>
            <a:off x="6375400" y="2846578"/>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79E4D76-5CD2-7D65-BB8A-0868B3F83A33}"/>
              </a:ext>
            </a:extLst>
          </p:cNvPr>
          <p:cNvSpPr txBox="1"/>
          <p:nvPr/>
        </p:nvSpPr>
        <p:spPr>
          <a:xfrm>
            <a:off x="6553200" y="2766568"/>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automation and remediation · configuration and assets</a:t>
            </a:r>
          </a:p>
        </p:txBody>
      </p:sp>
      <p:sp>
        <p:nvSpPr>
          <p:cNvPr id="27" name="Oval 26">
            <a:extLst>
              <a:ext uri="{FF2B5EF4-FFF2-40B4-BE49-F238E27FC236}">
                <a16:creationId xmlns:a16="http://schemas.microsoft.com/office/drawing/2014/main" id="{DF3F2B94-ADDD-F0C5-C79D-26EC87A56D38}"/>
              </a:ext>
            </a:extLst>
          </p:cNvPr>
          <p:cNvSpPr/>
          <p:nvPr/>
        </p:nvSpPr>
        <p:spPr>
          <a:xfrm>
            <a:off x="6375400" y="3201162"/>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04B8F7E-CD2F-944A-F06C-22A81DC516FF}"/>
              </a:ext>
            </a:extLst>
          </p:cNvPr>
          <p:cNvSpPr txBox="1"/>
          <p:nvPr/>
        </p:nvSpPr>
        <p:spPr>
          <a:xfrm>
            <a:off x="6553200" y="3121152"/>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integrations · governance · platform architecture</a:t>
            </a:r>
          </a:p>
        </p:txBody>
      </p:sp>
    </p:spTree>
    <p:extLst>
      <p:ext uri="{BB962C8B-B14F-4D97-AF65-F5344CB8AC3E}">
        <p14:creationId xmlns:p14="http://schemas.microsoft.com/office/powerpoint/2010/main" val="1478245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0875FBD7-C380-2A31-A25B-82C7F6DEED2F}"/>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C32739F9-58D9-6D4E-4D42-05ACE14B21B9}"/>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9E39B02-363B-0A86-E326-EFBA2AE334B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1BE7BC1-7C00-CDF0-E674-2583303013F8}"/>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questions observability must answer</a:t>
            </a:r>
          </a:p>
        </p:txBody>
      </p:sp>
      <p:sp>
        <p:nvSpPr>
          <p:cNvPr id="6" name="ChapterTag">
            <a:extLst>
              <a:ext uri="{FF2B5EF4-FFF2-40B4-BE49-F238E27FC236}">
                <a16:creationId xmlns:a16="http://schemas.microsoft.com/office/drawing/2014/main" id="{0A4B49A4-8F3C-8F38-253F-2C3687B336E2}"/>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37095B5B-6BC7-A649-DF5C-34E5FD042956}"/>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258AFD1E-2FC0-4160-7044-8E6A877930F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11</a:t>
            </a:r>
          </a:p>
        </p:txBody>
      </p:sp>
      <p:sp>
        <p:nvSpPr>
          <p:cNvPr id="9" name="Oval 8">
            <a:extLst>
              <a:ext uri="{FF2B5EF4-FFF2-40B4-BE49-F238E27FC236}">
                <a16:creationId xmlns:a16="http://schemas.microsoft.com/office/drawing/2014/main" id="{B37048F0-37EF-CB8F-9C3E-348B145664BF}"/>
              </a:ext>
            </a:extLst>
          </p:cNvPr>
          <p:cNvSpPr/>
          <p:nvPr/>
        </p:nvSpPr>
        <p:spPr>
          <a:xfrm>
            <a:off x="1424940" y="1905000"/>
            <a:ext cx="381000" cy="3810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EBDF4B9A-8D64-C104-2B4A-5011B96C3684}"/>
              </a:ext>
            </a:extLst>
          </p:cNvPr>
          <p:cNvSpPr/>
          <p:nvPr/>
        </p:nvSpPr>
        <p:spPr>
          <a:xfrm>
            <a:off x="609600" y="2489200"/>
            <a:ext cx="2011680" cy="190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Is the service working for people right now?</a:t>
            </a:r>
          </a:p>
        </p:txBody>
      </p:sp>
      <p:cxnSp>
        <p:nvCxnSpPr>
          <p:cNvPr id="11" name="Straight Connector 10">
            <a:extLst>
              <a:ext uri="{FF2B5EF4-FFF2-40B4-BE49-F238E27FC236}">
                <a16:creationId xmlns:a16="http://schemas.microsoft.com/office/drawing/2014/main" id="{0CF24C44-87BC-AC9A-0277-E41FE7A50F52}"/>
              </a:ext>
            </a:extLst>
          </p:cNvPr>
          <p:cNvCxnSpPr/>
          <p:nvPr/>
        </p:nvCxnSpPr>
        <p:spPr>
          <a:xfrm>
            <a:off x="2621280" y="3441700"/>
            <a:ext cx="2286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99DD03C5-0A6E-715A-941E-D13BC96E7D7C}"/>
              </a:ext>
            </a:extLst>
          </p:cNvPr>
          <p:cNvSpPr/>
          <p:nvPr/>
        </p:nvSpPr>
        <p:spPr>
          <a:xfrm>
            <a:off x="3665220" y="1905000"/>
            <a:ext cx="381000" cy="3810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3" name="Rectangle: Rounded Corners 12">
            <a:extLst>
              <a:ext uri="{FF2B5EF4-FFF2-40B4-BE49-F238E27FC236}">
                <a16:creationId xmlns:a16="http://schemas.microsoft.com/office/drawing/2014/main" id="{1BF37E3C-2C84-3163-095F-96EB5544CCBF}"/>
              </a:ext>
            </a:extLst>
          </p:cNvPr>
          <p:cNvSpPr/>
          <p:nvPr/>
        </p:nvSpPr>
        <p:spPr>
          <a:xfrm>
            <a:off x="2849880" y="2489200"/>
            <a:ext cx="2011680" cy="190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If not, what changed and what is affected?</a:t>
            </a:r>
          </a:p>
        </p:txBody>
      </p:sp>
      <p:cxnSp>
        <p:nvCxnSpPr>
          <p:cNvPr id="14" name="Straight Connector 13">
            <a:extLst>
              <a:ext uri="{FF2B5EF4-FFF2-40B4-BE49-F238E27FC236}">
                <a16:creationId xmlns:a16="http://schemas.microsoft.com/office/drawing/2014/main" id="{BA25BAA1-FCD1-0766-0F89-B36380257219}"/>
              </a:ext>
            </a:extLst>
          </p:cNvPr>
          <p:cNvCxnSpPr/>
          <p:nvPr/>
        </p:nvCxnSpPr>
        <p:spPr>
          <a:xfrm>
            <a:off x="4861560" y="3441700"/>
            <a:ext cx="2286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805F8CD-A100-482D-E1F1-0BFEE2DBC921}"/>
              </a:ext>
            </a:extLst>
          </p:cNvPr>
          <p:cNvSpPr/>
          <p:nvPr/>
        </p:nvSpPr>
        <p:spPr>
          <a:xfrm>
            <a:off x="5905500" y="1905000"/>
            <a:ext cx="381000" cy="3810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6" name="Rectangle: Rounded Corners 15">
            <a:extLst>
              <a:ext uri="{FF2B5EF4-FFF2-40B4-BE49-F238E27FC236}">
                <a16:creationId xmlns:a16="http://schemas.microsoft.com/office/drawing/2014/main" id="{EA65FC8E-7FC8-CEC1-6CE9-5B3F53172BA9}"/>
              </a:ext>
            </a:extLst>
          </p:cNvPr>
          <p:cNvSpPr/>
          <p:nvPr/>
        </p:nvSpPr>
        <p:spPr>
          <a:xfrm>
            <a:off x="5090160" y="2489200"/>
            <a:ext cx="2011679" cy="190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Who owns the next action, and what evidence do they need?</a:t>
            </a:r>
          </a:p>
        </p:txBody>
      </p:sp>
      <p:cxnSp>
        <p:nvCxnSpPr>
          <p:cNvPr id="17" name="Straight Connector 16">
            <a:extLst>
              <a:ext uri="{FF2B5EF4-FFF2-40B4-BE49-F238E27FC236}">
                <a16:creationId xmlns:a16="http://schemas.microsoft.com/office/drawing/2014/main" id="{122E6D58-BD8E-89AA-1E29-A1D90A14F0FF}"/>
              </a:ext>
            </a:extLst>
          </p:cNvPr>
          <p:cNvCxnSpPr/>
          <p:nvPr/>
        </p:nvCxnSpPr>
        <p:spPr>
          <a:xfrm>
            <a:off x="7101840" y="3441700"/>
            <a:ext cx="2286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02C18660-DC52-AA7A-C8AD-1EAFE10E54C9}"/>
              </a:ext>
            </a:extLst>
          </p:cNvPr>
          <p:cNvSpPr/>
          <p:nvPr/>
        </p:nvSpPr>
        <p:spPr>
          <a:xfrm>
            <a:off x="8145780" y="1905000"/>
            <a:ext cx="381000" cy="3810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9" name="Rectangle: Rounded Corners 18">
            <a:extLst>
              <a:ext uri="{FF2B5EF4-FFF2-40B4-BE49-F238E27FC236}">
                <a16:creationId xmlns:a16="http://schemas.microsoft.com/office/drawing/2014/main" id="{46E7B858-65AE-482E-FD3F-C5A13817AE92}"/>
              </a:ext>
            </a:extLst>
          </p:cNvPr>
          <p:cNvSpPr/>
          <p:nvPr/>
        </p:nvSpPr>
        <p:spPr>
          <a:xfrm>
            <a:off x="7330440" y="2489200"/>
            <a:ext cx="2011680" cy="190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Did the action fix it, and how do we know?</a:t>
            </a:r>
          </a:p>
        </p:txBody>
      </p:sp>
      <p:cxnSp>
        <p:nvCxnSpPr>
          <p:cNvPr id="20" name="Straight Connector 19">
            <a:extLst>
              <a:ext uri="{FF2B5EF4-FFF2-40B4-BE49-F238E27FC236}">
                <a16:creationId xmlns:a16="http://schemas.microsoft.com/office/drawing/2014/main" id="{603915CC-58A2-6163-8635-07A00C985192}"/>
              </a:ext>
            </a:extLst>
          </p:cNvPr>
          <p:cNvCxnSpPr/>
          <p:nvPr/>
        </p:nvCxnSpPr>
        <p:spPr>
          <a:xfrm>
            <a:off x="9342120" y="3441700"/>
            <a:ext cx="2286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BF391493-D707-339D-0328-73A5FA7DD09C}"/>
              </a:ext>
            </a:extLst>
          </p:cNvPr>
          <p:cNvSpPr/>
          <p:nvPr/>
        </p:nvSpPr>
        <p:spPr>
          <a:xfrm>
            <a:off x="10386060" y="1905000"/>
            <a:ext cx="381000" cy="3810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22" name="Rectangle: Rounded Corners 21">
            <a:extLst>
              <a:ext uri="{FF2B5EF4-FFF2-40B4-BE49-F238E27FC236}">
                <a16:creationId xmlns:a16="http://schemas.microsoft.com/office/drawing/2014/main" id="{8897D2FD-E491-CD99-42F1-EF7D081A96F2}"/>
              </a:ext>
            </a:extLst>
          </p:cNvPr>
          <p:cNvSpPr/>
          <p:nvPr/>
        </p:nvSpPr>
        <p:spPr>
          <a:xfrm>
            <a:off x="9570720" y="2489200"/>
            <a:ext cx="2011680" cy="190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What did this cost, and is it still worth collecting?</a:t>
            </a:r>
          </a:p>
        </p:txBody>
      </p:sp>
    </p:spTree>
    <p:extLst>
      <p:ext uri="{BB962C8B-B14F-4D97-AF65-F5344CB8AC3E}">
        <p14:creationId xmlns:p14="http://schemas.microsoft.com/office/powerpoint/2010/main" val="559610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C4885952-5A7D-9423-C96C-3139AF7AA0E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2A559F6E-2AE3-B30C-E61C-6AE0321B365E}"/>
              </a:ext>
            </a:extLst>
          </p:cNvPr>
          <p:cNvSpPr/>
          <p:nvPr/>
        </p:nvSpPr>
        <p:spPr>
          <a:xfrm>
            <a:off x="0" y="1295400"/>
            <a:ext cx="12192000" cy="381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F0ECD96-BF53-20E2-2EBE-4D3F3255F185}"/>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BD33774-9586-551C-06A4-2E0CA58EA6F6}"/>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 maturity model</a:t>
            </a:r>
          </a:p>
        </p:txBody>
      </p:sp>
      <p:sp>
        <p:nvSpPr>
          <p:cNvPr id="6" name="ChapterTag">
            <a:extLst>
              <a:ext uri="{FF2B5EF4-FFF2-40B4-BE49-F238E27FC236}">
                <a16:creationId xmlns:a16="http://schemas.microsoft.com/office/drawing/2014/main" id="{F1796E94-1B4B-FF01-30FF-72FC1BDA0505}"/>
              </a:ext>
            </a:extLst>
          </p:cNvPr>
          <p:cNvSpPr/>
          <p:nvPr/>
        </p:nvSpPr>
        <p:spPr>
          <a:xfrm>
            <a:off x="9245600" y="381000"/>
            <a:ext cx="2336800" cy="330200"/>
          </a:xfrm>
          <a:prstGeom prst="round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1 · WHAT IT IS</a:t>
            </a:r>
          </a:p>
        </p:txBody>
      </p:sp>
      <p:sp>
        <p:nvSpPr>
          <p:cNvPr id="7" name="TextBox 6">
            <a:extLst>
              <a:ext uri="{FF2B5EF4-FFF2-40B4-BE49-F238E27FC236}">
                <a16:creationId xmlns:a16="http://schemas.microsoft.com/office/drawing/2014/main" id="{02CB6E09-1F0E-63E8-111E-945EB3A0FB90}"/>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2FE2F0A0-D7F7-763C-7843-DF51BB403E41}"/>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12</a:t>
            </a:r>
          </a:p>
        </p:txBody>
      </p:sp>
      <p:sp>
        <p:nvSpPr>
          <p:cNvPr id="9" name="Rectangle: Rounded Corners 8">
            <a:extLst>
              <a:ext uri="{FF2B5EF4-FFF2-40B4-BE49-F238E27FC236}">
                <a16:creationId xmlns:a16="http://schemas.microsoft.com/office/drawing/2014/main" id="{E9114C13-98A2-B65E-0498-FD40F4393391}"/>
              </a:ext>
            </a:extLst>
          </p:cNvPr>
          <p:cNvSpPr/>
          <p:nvPr/>
        </p:nvSpPr>
        <p:spPr>
          <a:xfrm>
            <a:off x="609600" y="1549400"/>
            <a:ext cx="2006600" cy="317500"/>
          </a:xfrm>
          <a:prstGeom prst="roundRect">
            <a:avLst>
              <a:gd name="adj" fmla="val 0"/>
            </a:avLst>
          </a:prstGeom>
          <a:solidFill>
            <a:srgbClr val="FBBF24"/>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Level</a:t>
            </a:r>
          </a:p>
        </p:txBody>
      </p:sp>
      <p:sp>
        <p:nvSpPr>
          <p:cNvPr id="10" name="Rectangle: Rounded Corners 9">
            <a:extLst>
              <a:ext uri="{FF2B5EF4-FFF2-40B4-BE49-F238E27FC236}">
                <a16:creationId xmlns:a16="http://schemas.microsoft.com/office/drawing/2014/main" id="{15652245-4064-618D-E076-97690ED51131}"/>
              </a:ext>
            </a:extLst>
          </p:cNvPr>
          <p:cNvSpPr/>
          <p:nvPr/>
        </p:nvSpPr>
        <p:spPr>
          <a:xfrm>
            <a:off x="2616200" y="1549400"/>
            <a:ext cx="1793240" cy="317500"/>
          </a:xfrm>
          <a:prstGeom prst="roundRect">
            <a:avLst>
              <a:gd name="adj" fmla="val 0"/>
            </a:avLst>
          </a:prstGeom>
          <a:solidFill>
            <a:srgbClr val="FBBF24"/>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Collect</a:t>
            </a:r>
          </a:p>
        </p:txBody>
      </p:sp>
      <p:sp>
        <p:nvSpPr>
          <p:cNvPr id="11" name="Rectangle: Rounded Corners 10">
            <a:extLst>
              <a:ext uri="{FF2B5EF4-FFF2-40B4-BE49-F238E27FC236}">
                <a16:creationId xmlns:a16="http://schemas.microsoft.com/office/drawing/2014/main" id="{D920FA58-10A6-7FC9-A68B-B4EB419F9063}"/>
              </a:ext>
            </a:extLst>
          </p:cNvPr>
          <p:cNvSpPr/>
          <p:nvPr/>
        </p:nvSpPr>
        <p:spPr>
          <a:xfrm>
            <a:off x="4409440" y="1549400"/>
            <a:ext cx="1793240" cy="317500"/>
          </a:xfrm>
          <a:prstGeom prst="roundRect">
            <a:avLst>
              <a:gd name="adj" fmla="val 0"/>
            </a:avLst>
          </a:prstGeom>
          <a:solidFill>
            <a:srgbClr val="FBBF24"/>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Correlate</a:t>
            </a:r>
          </a:p>
        </p:txBody>
      </p:sp>
      <p:sp>
        <p:nvSpPr>
          <p:cNvPr id="12" name="Rectangle: Rounded Corners 11">
            <a:extLst>
              <a:ext uri="{FF2B5EF4-FFF2-40B4-BE49-F238E27FC236}">
                <a16:creationId xmlns:a16="http://schemas.microsoft.com/office/drawing/2014/main" id="{FE1CF634-7833-B638-A35B-BB765D028F8B}"/>
              </a:ext>
            </a:extLst>
          </p:cNvPr>
          <p:cNvSpPr/>
          <p:nvPr/>
        </p:nvSpPr>
        <p:spPr>
          <a:xfrm>
            <a:off x="6202680" y="1549400"/>
            <a:ext cx="1793240" cy="317500"/>
          </a:xfrm>
          <a:prstGeom prst="roundRect">
            <a:avLst>
              <a:gd name="adj" fmla="val 0"/>
            </a:avLst>
          </a:prstGeom>
          <a:solidFill>
            <a:srgbClr val="FBBF24"/>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Explain</a:t>
            </a:r>
          </a:p>
        </p:txBody>
      </p:sp>
      <p:sp>
        <p:nvSpPr>
          <p:cNvPr id="13" name="Rectangle: Rounded Corners 12">
            <a:extLst>
              <a:ext uri="{FF2B5EF4-FFF2-40B4-BE49-F238E27FC236}">
                <a16:creationId xmlns:a16="http://schemas.microsoft.com/office/drawing/2014/main" id="{BC1C4076-BC68-61ED-1115-34BB501B89C6}"/>
              </a:ext>
            </a:extLst>
          </p:cNvPr>
          <p:cNvSpPr/>
          <p:nvPr/>
        </p:nvSpPr>
        <p:spPr>
          <a:xfrm>
            <a:off x="7995920" y="1549400"/>
            <a:ext cx="1793240" cy="317500"/>
          </a:xfrm>
          <a:prstGeom prst="roundRect">
            <a:avLst>
              <a:gd name="adj" fmla="val 0"/>
            </a:avLst>
          </a:prstGeom>
          <a:solidFill>
            <a:srgbClr val="FBBF24"/>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Operate</a:t>
            </a:r>
          </a:p>
        </p:txBody>
      </p:sp>
      <p:sp>
        <p:nvSpPr>
          <p:cNvPr id="14" name="Rectangle: Rounded Corners 13">
            <a:extLst>
              <a:ext uri="{FF2B5EF4-FFF2-40B4-BE49-F238E27FC236}">
                <a16:creationId xmlns:a16="http://schemas.microsoft.com/office/drawing/2014/main" id="{23CC5805-8621-A1B3-3E06-FCA99B064562}"/>
              </a:ext>
            </a:extLst>
          </p:cNvPr>
          <p:cNvSpPr/>
          <p:nvPr/>
        </p:nvSpPr>
        <p:spPr>
          <a:xfrm>
            <a:off x="9789160" y="1549400"/>
            <a:ext cx="1793240" cy="317500"/>
          </a:xfrm>
          <a:prstGeom prst="roundRect">
            <a:avLst>
              <a:gd name="adj" fmla="val 0"/>
            </a:avLst>
          </a:prstGeom>
          <a:solidFill>
            <a:srgbClr val="FBBF24"/>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Govern</a:t>
            </a:r>
          </a:p>
        </p:txBody>
      </p:sp>
      <p:sp>
        <p:nvSpPr>
          <p:cNvPr id="15" name="Rectangle: Rounded Corners 14">
            <a:extLst>
              <a:ext uri="{FF2B5EF4-FFF2-40B4-BE49-F238E27FC236}">
                <a16:creationId xmlns:a16="http://schemas.microsoft.com/office/drawing/2014/main" id="{B750F30B-0F34-17FB-9F58-DFF93277425B}"/>
              </a:ext>
            </a:extLst>
          </p:cNvPr>
          <p:cNvSpPr/>
          <p:nvPr/>
        </p:nvSpPr>
        <p:spPr>
          <a:xfrm>
            <a:off x="609600" y="1866900"/>
            <a:ext cx="2006600" cy="698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What it looks like</a:t>
            </a:r>
          </a:p>
        </p:txBody>
      </p:sp>
      <p:sp>
        <p:nvSpPr>
          <p:cNvPr id="16" name="Rectangle: Rounded Corners 15">
            <a:extLst>
              <a:ext uri="{FF2B5EF4-FFF2-40B4-BE49-F238E27FC236}">
                <a16:creationId xmlns:a16="http://schemas.microsoft.com/office/drawing/2014/main" id="{CB2A324E-9F3B-2D7D-E064-A41D98CA8439}"/>
              </a:ext>
            </a:extLst>
          </p:cNvPr>
          <p:cNvSpPr/>
          <p:nvPr/>
        </p:nvSpPr>
        <p:spPr>
          <a:xfrm>
            <a:off x="2616200" y="1866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agents everywhere, dashboards per team</a:t>
            </a:r>
          </a:p>
        </p:txBody>
      </p:sp>
      <p:sp>
        <p:nvSpPr>
          <p:cNvPr id="17" name="Rectangle: Rounded Corners 16">
            <a:extLst>
              <a:ext uri="{FF2B5EF4-FFF2-40B4-BE49-F238E27FC236}">
                <a16:creationId xmlns:a16="http://schemas.microsoft.com/office/drawing/2014/main" id="{7AABE4C5-C882-C03E-B03D-ABBBD09DBD70}"/>
              </a:ext>
            </a:extLst>
          </p:cNvPr>
          <p:cNvSpPr/>
          <p:nvPr/>
        </p:nvSpPr>
        <p:spPr>
          <a:xfrm>
            <a:off x="4409440" y="1866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one workspace, shared IDs and tags, one query across clouds</a:t>
            </a:r>
          </a:p>
        </p:txBody>
      </p:sp>
      <p:sp>
        <p:nvSpPr>
          <p:cNvPr id="18" name="Rectangle: Rounded Corners 17">
            <a:extLst>
              <a:ext uri="{FF2B5EF4-FFF2-40B4-BE49-F238E27FC236}">
                <a16:creationId xmlns:a16="http://schemas.microsoft.com/office/drawing/2014/main" id="{96464EB8-B5F0-3261-651F-78C3591D6115}"/>
              </a:ext>
            </a:extLst>
          </p:cNvPr>
          <p:cNvSpPr/>
          <p:nvPr/>
        </p:nvSpPr>
        <p:spPr>
          <a:xfrm>
            <a:off x="6202680" y="1866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service boundaries, dependencies, health states</a:t>
            </a:r>
          </a:p>
        </p:txBody>
      </p:sp>
      <p:sp>
        <p:nvSpPr>
          <p:cNvPr id="19" name="Rectangle: Rounded Corners 18">
            <a:extLst>
              <a:ext uri="{FF2B5EF4-FFF2-40B4-BE49-F238E27FC236}">
                <a16:creationId xmlns:a16="http://schemas.microsoft.com/office/drawing/2014/main" id="{2CFEB422-D4F1-A410-B52B-A1F28D47A72C}"/>
              </a:ext>
            </a:extLst>
          </p:cNvPr>
          <p:cNvSpPr/>
          <p:nvPr/>
        </p:nvSpPr>
        <p:spPr>
          <a:xfrm>
            <a:off x="7995920" y="1866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owned alerts, runbooks, proven recovery</a:t>
            </a:r>
          </a:p>
        </p:txBody>
      </p:sp>
      <p:sp>
        <p:nvSpPr>
          <p:cNvPr id="20" name="Rectangle: Rounded Corners 19">
            <a:extLst>
              <a:ext uri="{FF2B5EF4-FFF2-40B4-BE49-F238E27FC236}">
                <a16:creationId xmlns:a16="http://schemas.microsoft.com/office/drawing/2014/main" id="{5BB14787-9C74-C6A0-E23C-A47370502B0E}"/>
              </a:ext>
            </a:extLst>
          </p:cNvPr>
          <p:cNvSpPr/>
          <p:nvPr/>
        </p:nvSpPr>
        <p:spPr>
          <a:xfrm>
            <a:off x="9789160" y="1866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cost, retention, access and drift reviewed on a cycle</a:t>
            </a:r>
          </a:p>
        </p:txBody>
      </p:sp>
      <p:sp>
        <p:nvSpPr>
          <p:cNvPr id="21" name="Rectangle: Rounded Corners 20">
            <a:extLst>
              <a:ext uri="{FF2B5EF4-FFF2-40B4-BE49-F238E27FC236}">
                <a16:creationId xmlns:a16="http://schemas.microsoft.com/office/drawing/2014/main" id="{9F35FE93-A4D6-FB48-ACBA-A1A1CBCCB8F4}"/>
              </a:ext>
            </a:extLst>
          </p:cNvPr>
          <p:cNvSpPr/>
          <p:nvPr/>
        </p:nvSpPr>
        <p:spPr>
          <a:xfrm>
            <a:off x="609600" y="2565400"/>
            <a:ext cx="2006600" cy="698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Typical gap</a:t>
            </a:r>
          </a:p>
        </p:txBody>
      </p:sp>
      <p:sp>
        <p:nvSpPr>
          <p:cNvPr id="22" name="Rectangle: Rounded Corners 21">
            <a:extLst>
              <a:ext uri="{FF2B5EF4-FFF2-40B4-BE49-F238E27FC236}">
                <a16:creationId xmlns:a16="http://schemas.microsoft.com/office/drawing/2014/main" id="{90D2187B-7C66-2950-C9BC-54F984C50CD0}"/>
              </a:ext>
            </a:extLst>
          </p:cNvPr>
          <p:cNvSpPr/>
          <p:nvPr/>
        </p:nvSpPr>
        <p:spPr>
          <a:xfrm>
            <a:off x="2616200" y="25654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blind spots, duplicated collection</a:t>
            </a:r>
          </a:p>
        </p:txBody>
      </p:sp>
      <p:sp>
        <p:nvSpPr>
          <p:cNvPr id="23" name="Rectangle: Rounded Corners 22">
            <a:extLst>
              <a:ext uri="{FF2B5EF4-FFF2-40B4-BE49-F238E27FC236}">
                <a16:creationId xmlns:a16="http://schemas.microsoft.com/office/drawing/2014/main" id="{68E0AE5F-BE9C-E791-FC93-EED742A13206}"/>
              </a:ext>
            </a:extLst>
          </p:cNvPr>
          <p:cNvSpPr/>
          <p:nvPr/>
        </p:nvSpPr>
        <p:spPr>
          <a:xfrm>
            <a:off x="4409440" y="25654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no shared context, no topology</a:t>
            </a:r>
          </a:p>
        </p:txBody>
      </p:sp>
      <p:sp>
        <p:nvSpPr>
          <p:cNvPr id="24" name="Rectangle: Rounded Corners 23">
            <a:extLst>
              <a:ext uri="{FF2B5EF4-FFF2-40B4-BE49-F238E27FC236}">
                <a16:creationId xmlns:a16="http://schemas.microsoft.com/office/drawing/2014/main" id="{F771687B-97F8-52A8-67D3-444DE81E6ED7}"/>
              </a:ext>
            </a:extLst>
          </p:cNvPr>
          <p:cNvSpPr/>
          <p:nvPr/>
        </p:nvSpPr>
        <p:spPr>
          <a:xfrm>
            <a:off x="6202680" y="25654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alerts per resource, nobody can say impact</a:t>
            </a:r>
          </a:p>
        </p:txBody>
      </p:sp>
      <p:sp>
        <p:nvSpPr>
          <p:cNvPr id="25" name="Rectangle: Rounded Corners 24">
            <a:extLst>
              <a:ext uri="{FF2B5EF4-FFF2-40B4-BE49-F238E27FC236}">
                <a16:creationId xmlns:a16="http://schemas.microsoft.com/office/drawing/2014/main" id="{E19D3230-6FC2-9576-27CD-161E3AEE10D4}"/>
              </a:ext>
            </a:extLst>
          </p:cNvPr>
          <p:cNvSpPr/>
          <p:nvPr/>
        </p:nvSpPr>
        <p:spPr>
          <a:xfrm>
            <a:off x="7995920" y="25654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alerts without owners, recovery by screenshot</a:t>
            </a:r>
          </a:p>
        </p:txBody>
      </p:sp>
      <p:sp>
        <p:nvSpPr>
          <p:cNvPr id="26" name="Rectangle: Rounded Corners 25">
            <a:extLst>
              <a:ext uri="{FF2B5EF4-FFF2-40B4-BE49-F238E27FC236}">
                <a16:creationId xmlns:a16="http://schemas.microsoft.com/office/drawing/2014/main" id="{A39CFE1E-E2BE-236C-36C4-372BE227B6B0}"/>
              </a:ext>
            </a:extLst>
          </p:cNvPr>
          <p:cNvSpPr/>
          <p:nvPr/>
        </p:nvSpPr>
        <p:spPr>
          <a:xfrm>
            <a:off x="9789160" y="25654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nobody knows what the data costs or who can read it</a:t>
            </a:r>
          </a:p>
        </p:txBody>
      </p:sp>
      <p:sp>
        <p:nvSpPr>
          <p:cNvPr id="27" name="Rectangle: Rounded Corners 26">
            <a:extLst>
              <a:ext uri="{FF2B5EF4-FFF2-40B4-BE49-F238E27FC236}">
                <a16:creationId xmlns:a16="http://schemas.microsoft.com/office/drawing/2014/main" id="{0D70520A-DEE6-C6BA-0A83-CD7B03CF2FC3}"/>
              </a:ext>
            </a:extLst>
          </p:cNvPr>
          <p:cNvSpPr/>
          <p:nvPr/>
        </p:nvSpPr>
        <p:spPr>
          <a:xfrm>
            <a:off x="609600" y="3263900"/>
            <a:ext cx="2006600" cy="698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Azure pieces</a:t>
            </a:r>
          </a:p>
        </p:txBody>
      </p:sp>
      <p:sp>
        <p:nvSpPr>
          <p:cNvPr id="28" name="Rectangle: Rounded Corners 27">
            <a:extLst>
              <a:ext uri="{FF2B5EF4-FFF2-40B4-BE49-F238E27FC236}">
                <a16:creationId xmlns:a16="http://schemas.microsoft.com/office/drawing/2014/main" id="{B8E0F5E8-88D9-51C6-497C-522C0C198F5F}"/>
              </a:ext>
            </a:extLst>
          </p:cNvPr>
          <p:cNvSpPr/>
          <p:nvPr/>
        </p:nvSpPr>
        <p:spPr>
          <a:xfrm>
            <a:off x="2616200" y="3263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Arc, Azure Monitor Agent, DCRs</a:t>
            </a:r>
          </a:p>
        </p:txBody>
      </p:sp>
      <p:sp>
        <p:nvSpPr>
          <p:cNvPr id="29" name="Rectangle: Rounded Corners 28">
            <a:extLst>
              <a:ext uri="{FF2B5EF4-FFF2-40B4-BE49-F238E27FC236}">
                <a16:creationId xmlns:a16="http://schemas.microsoft.com/office/drawing/2014/main" id="{1509F64B-4C86-FD29-C3BD-FEEDF2F1694D}"/>
              </a:ext>
            </a:extLst>
          </p:cNvPr>
          <p:cNvSpPr/>
          <p:nvPr/>
        </p:nvSpPr>
        <p:spPr>
          <a:xfrm>
            <a:off x="4409440" y="3263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Log Analytics, Resource Graph, tags, correlation</a:t>
            </a:r>
          </a:p>
        </p:txBody>
      </p:sp>
      <p:sp>
        <p:nvSpPr>
          <p:cNvPr id="30" name="Rectangle: Rounded Corners 29">
            <a:extLst>
              <a:ext uri="{FF2B5EF4-FFF2-40B4-BE49-F238E27FC236}">
                <a16:creationId xmlns:a16="http://schemas.microsoft.com/office/drawing/2014/main" id="{36BD65D9-F542-2AD1-5314-53A4D00910DA}"/>
              </a:ext>
            </a:extLst>
          </p:cNvPr>
          <p:cNvSpPr/>
          <p:nvPr/>
        </p:nvSpPr>
        <p:spPr>
          <a:xfrm>
            <a:off x="6202680" y="3263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Health Models, Application Insights, workbooks</a:t>
            </a:r>
          </a:p>
        </p:txBody>
      </p:sp>
      <p:sp>
        <p:nvSpPr>
          <p:cNvPr id="31" name="Rectangle: Rounded Corners 30">
            <a:extLst>
              <a:ext uri="{FF2B5EF4-FFF2-40B4-BE49-F238E27FC236}">
                <a16:creationId xmlns:a16="http://schemas.microsoft.com/office/drawing/2014/main" id="{10C2E3E5-DCF6-4C76-B69A-0D2DF0EA3526}"/>
              </a:ext>
            </a:extLst>
          </p:cNvPr>
          <p:cNvSpPr/>
          <p:nvPr/>
        </p:nvSpPr>
        <p:spPr>
          <a:xfrm>
            <a:off x="7995920" y="3263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alerts with action groups, runbooks, Logic Apps</a:t>
            </a:r>
          </a:p>
        </p:txBody>
      </p:sp>
      <p:sp>
        <p:nvSpPr>
          <p:cNvPr id="32" name="Rectangle: Rounded Corners 31">
            <a:extLst>
              <a:ext uri="{FF2B5EF4-FFF2-40B4-BE49-F238E27FC236}">
                <a16:creationId xmlns:a16="http://schemas.microsoft.com/office/drawing/2014/main" id="{521A0CB6-9563-3DBF-02B1-CAC007990FF4}"/>
              </a:ext>
            </a:extLst>
          </p:cNvPr>
          <p:cNvSpPr/>
          <p:nvPr/>
        </p:nvSpPr>
        <p:spPr>
          <a:xfrm>
            <a:off x="9789160" y="3263900"/>
            <a:ext cx="1793240" cy="698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cost analysis, table plans, RBAC, Policy</a:t>
            </a:r>
          </a:p>
        </p:txBody>
      </p:sp>
    </p:spTree>
    <p:extLst>
      <p:ext uri="{BB962C8B-B14F-4D97-AF65-F5344CB8AC3E}">
        <p14:creationId xmlns:p14="http://schemas.microsoft.com/office/powerpoint/2010/main" val="1564986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076F1D67-2CEE-5EFB-9A1E-C6E6F5C537F1}"/>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20A39AAD-FF18-121E-262E-DF5F12EC32BE}"/>
              </a:ext>
            </a:extLst>
          </p:cNvPr>
          <p:cNvSpPr/>
          <p:nvPr/>
        </p:nvSpPr>
        <p:spPr>
          <a:xfrm>
            <a:off x="0" y="1295400"/>
            <a:ext cx="12192000" cy="38100"/>
          </a:xfrm>
          <a:prstGeom prst="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D0E9CCA-760C-BC1F-3524-BEB3928547FF}"/>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9B0CDFA-73F9-4FAA-E17A-5AF298189B66}"/>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2 · The multicloud estate</a:t>
            </a:r>
          </a:p>
        </p:txBody>
      </p:sp>
      <p:sp>
        <p:nvSpPr>
          <p:cNvPr id="6" name="ChapterTag">
            <a:extLst>
              <a:ext uri="{FF2B5EF4-FFF2-40B4-BE49-F238E27FC236}">
                <a16:creationId xmlns:a16="http://schemas.microsoft.com/office/drawing/2014/main" id="{4F92C21F-FD49-15A3-5401-1C4D2F1E9FFA}"/>
              </a:ext>
            </a:extLst>
          </p:cNvPr>
          <p:cNvSpPr/>
          <p:nvPr/>
        </p:nvSpPr>
        <p:spPr>
          <a:xfrm>
            <a:off x="9245600" y="381000"/>
            <a:ext cx="2336800" cy="330200"/>
          </a:xfrm>
          <a:prstGeom prst="round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2 · THE ESTATE</a:t>
            </a:r>
          </a:p>
        </p:txBody>
      </p:sp>
      <p:sp>
        <p:nvSpPr>
          <p:cNvPr id="7" name="TextBox 6">
            <a:extLst>
              <a:ext uri="{FF2B5EF4-FFF2-40B4-BE49-F238E27FC236}">
                <a16:creationId xmlns:a16="http://schemas.microsoft.com/office/drawing/2014/main" id="{9D7C9D44-2DC7-52A5-B48C-47F616321033}"/>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C532F07-9BC8-170B-8EB4-891297C5869C}"/>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13</a:t>
            </a:r>
          </a:p>
        </p:txBody>
      </p:sp>
      <p:sp>
        <p:nvSpPr>
          <p:cNvPr id="9" name="TextBox 8">
            <a:extLst>
              <a:ext uri="{FF2B5EF4-FFF2-40B4-BE49-F238E27FC236}">
                <a16:creationId xmlns:a16="http://schemas.microsoft.com/office/drawing/2014/main" id="{8E23A635-E123-F0D1-A3DD-E3833F4C482D}"/>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2DD4BF"/>
                </a:solidFill>
                <a:latin typeface="Calibri" panose="020F0502020204030204" pitchFamily="34" charset="0"/>
              </a:rPr>
              <a:t>2</a:t>
            </a:r>
          </a:p>
        </p:txBody>
      </p:sp>
      <p:sp>
        <p:nvSpPr>
          <p:cNvPr id="10" name="TextBox 9">
            <a:extLst>
              <a:ext uri="{FF2B5EF4-FFF2-40B4-BE49-F238E27FC236}">
                <a16:creationId xmlns:a16="http://schemas.microsoft.com/office/drawing/2014/main" id="{DFE5DD53-0109-C08B-0E6A-778425AA7C01}"/>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9C056F22-655D-7468-F288-F8A14609639B}"/>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What do you actually run, where, and why does one pane of glass matter?</a:t>
            </a:r>
          </a:p>
        </p:txBody>
      </p:sp>
      <p:sp>
        <p:nvSpPr>
          <p:cNvPr id="12" name="TextBox 11">
            <a:extLst>
              <a:ext uri="{FF2B5EF4-FFF2-40B4-BE49-F238E27FC236}">
                <a16:creationId xmlns:a16="http://schemas.microsoft.com/office/drawing/2014/main" id="{8BD87F90-CF7E-6185-CF8D-FAC914390B41}"/>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2DD4BF"/>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35F7289F-2662-3CDD-12AC-2B10FA205EC5}"/>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Estates · the hosting boundary problem · management plane versus data plane · Azure as the plane</a:t>
            </a:r>
          </a:p>
        </p:txBody>
      </p:sp>
      <p:sp>
        <p:nvSpPr>
          <p:cNvPr id="14" name="Rectangle: Rounded Corners 13">
            <a:extLst>
              <a:ext uri="{FF2B5EF4-FFF2-40B4-BE49-F238E27FC236}">
                <a16:creationId xmlns:a16="http://schemas.microsoft.com/office/drawing/2014/main" id="{275DBF6E-06C1-7A74-EE33-E37DE09E294A}"/>
              </a:ext>
            </a:extLst>
          </p:cNvPr>
          <p:cNvSpPr/>
          <p:nvPr/>
        </p:nvSpPr>
        <p:spPr>
          <a:xfrm>
            <a:off x="609600" y="5588000"/>
            <a:ext cx="1282700" cy="508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B8EA90EE-72C2-8AF9-4817-FDB2E6625FC9}"/>
              </a:ext>
            </a:extLst>
          </p:cNvPr>
          <p:cNvSpPr/>
          <p:nvPr/>
        </p:nvSpPr>
        <p:spPr>
          <a:xfrm>
            <a:off x="1993900" y="5588000"/>
            <a:ext cx="1282700" cy="508000"/>
          </a:xfrm>
          <a:prstGeom prst="roundRect">
            <a:avLst>
              <a:gd name="adj" fmla="val 8000"/>
            </a:avLst>
          </a:prstGeom>
          <a:solidFill>
            <a:srgbClr val="2DD4BF"/>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BB8FAB65-BEF1-16B1-D3F3-3A90AD80E6D5}"/>
              </a:ext>
            </a:extLst>
          </p:cNvPr>
          <p:cNvSpPr/>
          <p:nvPr/>
        </p:nvSpPr>
        <p:spPr>
          <a:xfrm>
            <a:off x="3378200" y="5588000"/>
            <a:ext cx="12827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2A3596E0-7AB1-EB90-F671-437F6FE064EE}"/>
              </a:ext>
            </a:extLst>
          </p:cNvPr>
          <p:cNvSpPr/>
          <p:nvPr/>
        </p:nvSpPr>
        <p:spPr>
          <a:xfrm>
            <a:off x="4762500" y="5588000"/>
            <a:ext cx="1282700" cy="508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D291059C-E1B6-6B5D-13DD-BB40DE1A9E7D}"/>
              </a:ext>
            </a:extLst>
          </p:cNvPr>
          <p:cNvSpPr/>
          <p:nvPr/>
        </p:nvSpPr>
        <p:spPr>
          <a:xfrm>
            <a:off x="6146800" y="5588000"/>
            <a:ext cx="1282700" cy="508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AF90B279-F6A4-38BF-00B1-5A0BE1326BF1}"/>
              </a:ext>
            </a:extLst>
          </p:cNvPr>
          <p:cNvSpPr/>
          <p:nvPr/>
        </p:nvSpPr>
        <p:spPr>
          <a:xfrm>
            <a:off x="7531100" y="5588000"/>
            <a:ext cx="1282700" cy="508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11F01404-8D8B-CB8F-66E1-9AE9B48AE18D}"/>
              </a:ext>
            </a:extLst>
          </p:cNvPr>
          <p:cNvSpPr/>
          <p:nvPr/>
        </p:nvSpPr>
        <p:spPr>
          <a:xfrm>
            <a:off x="8915400" y="5588000"/>
            <a:ext cx="1282700" cy="5080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7B3C9EE1-3B3C-DBBD-426C-45B72428A0D0}"/>
              </a:ext>
            </a:extLst>
          </p:cNvPr>
          <p:cNvSpPr/>
          <p:nvPr/>
        </p:nvSpPr>
        <p:spPr>
          <a:xfrm>
            <a:off x="10299700" y="5588000"/>
            <a:ext cx="1282700" cy="5080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Reference</a:t>
            </a:r>
          </a:p>
        </p:txBody>
      </p:sp>
    </p:spTree>
    <p:extLst>
      <p:ext uri="{BB962C8B-B14F-4D97-AF65-F5344CB8AC3E}">
        <p14:creationId xmlns:p14="http://schemas.microsoft.com/office/powerpoint/2010/main" val="932753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4F7EA98C-BD0C-14E9-5AB6-80A213778E22}"/>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8C6CC42-B5ED-1FF6-F94A-3F35380B7F15}"/>
              </a:ext>
            </a:extLst>
          </p:cNvPr>
          <p:cNvSpPr/>
          <p:nvPr/>
        </p:nvSpPr>
        <p:spPr>
          <a:xfrm>
            <a:off x="0" y="1295400"/>
            <a:ext cx="12192000" cy="38100"/>
          </a:xfrm>
          <a:prstGeom prst="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9B76F90-EBC7-9A5A-5185-78DE50471C48}"/>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A24B07C-2CB9-78D7-0125-0F27BBACC513}"/>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What a real estate looks like</a:t>
            </a:r>
          </a:p>
        </p:txBody>
      </p:sp>
      <p:sp>
        <p:nvSpPr>
          <p:cNvPr id="6" name="ChapterTag">
            <a:extLst>
              <a:ext uri="{FF2B5EF4-FFF2-40B4-BE49-F238E27FC236}">
                <a16:creationId xmlns:a16="http://schemas.microsoft.com/office/drawing/2014/main" id="{43BCCDE8-5D89-12F7-DE43-6AD2D90DCD4C}"/>
              </a:ext>
            </a:extLst>
          </p:cNvPr>
          <p:cNvSpPr/>
          <p:nvPr/>
        </p:nvSpPr>
        <p:spPr>
          <a:xfrm>
            <a:off x="9245600" y="381000"/>
            <a:ext cx="2336800" cy="330200"/>
          </a:xfrm>
          <a:prstGeom prst="round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2 · THE ESTATE</a:t>
            </a:r>
          </a:p>
        </p:txBody>
      </p:sp>
      <p:sp>
        <p:nvSpPr>
          <p:cNvPr id="7" name="TextBox 6">
            <a:extLst>
              <a:ext uri="{FF2B5EF4-FFF2-40B4-BE49-F238E27FC236}">
                <a16:creationId xmlns:a16="http://schemas.microsoft.com/office/drawing/2014/main" id="{E54F1D3E-FA74-43AA-53ED-F06737D8C6CA}"/>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0E1033A0-6A87-B4AE-C297-C07B920162D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14</a:t>
            </a:r>
          </a:p>
        </p:txBody>
      </p:sp>
      <p:sp>
        <p:nvSpPr>
          <p:cNvPr id="9" name="Rectangle: Rounded Corners 8">
            <a:extLst>
              <a:ext uri="{FF2B5EF4-FFF2-40B4-BE49-F238E27FC236}">
                <a16:creationId xmlns:a16="http://schemas.microsoft.com/office/drawing/2014/main" id="{2AF466E8-B237-CC80-C749-8E0411EBDB16}"/>
              </a:ext>
            </a:extLst>
          </p:cNvPr>
          <p:cNvSpPr/>
          <p:nvPr/>
        </p:nvSpPr>
        <p:spPr>
          <a:xfrm>
            <a:off x="609600" y="1600200"/>
            <a:ext cx="2540000" cy="2159000"/>
          </a:xfrm>
          <a:prstGeom prst="roundRect">
            <a:avLst>
              <a:gd name="adj" fmla="val 4000"/>
            </a:avLst>
          </a:prstGeom>
          <a:noFill/>
          <a:ln w="15875" cap="flat" cmpd="sng" algn="ctr">
            <a:solidFill>
              <a:srgbClr val="A3E635"/>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71F64A1-BD35-E69C-B8BB-95F0966684A5}"/>
              </a:ext>
            </a:extLst>
          </p:cNvPr>
          <p:cNvSpPr txBox="1"/>
          <p:nvPr/>
        </p:nvSpPr>
        <p:spPr>
          <a:xfrm>
            <a:off x="736600" y="1651000"/>
            <a:ext cx="2286000" cy="228600"/>
          </a:xfrm>
          <a:prstGeom prst="rect">
            <a:avLst/>
          </a:prstGeom>
          <a:noFill/>
        </p:spPr>
        <p:txBody>
          <a:bodyPr vert="horz" wrap="square" lIns="25400" tIns="12700" rIns="25400" bIns="12700" rtlCol="0" anchor="t">
            <a:noAutofit/>
          </a:bodyPr>
          <a:lstStyle/>
          <a:p>
            <a:r>
              <a:rPr lang="en-US" sz="1100" b="1">
                <a:solidFill>
                  <a:srgbClr val="A3E635"/>
                </a:solidFill>
                <a:latin typeface="Calibri" panose="020F0502020204030204" pitchFamily="34" charset="0"/>
              </a:rPr>
              <a:t>DATACENTER 1</a:t>
            </a:r>
          </a:p>
        </p:txBody>
      </p:sp>
      <p:sp>
        <p:nvSpPr>
          <p:cNvPr id="11" name="TextBox 10">
            <a:extLst>
              <a:ext uri="{FF2B5EF4-FFF2-40B4-BE49-F238E27FC236}">
                <a16:creationId xmlns:a16="http://schemas.microsoft.com/office/drawing/2014/main" id="{321BA18D-2556-5E88-B00A-D74A78DA0428}"/>
              </a:ext>
            </a:extLst>
          </p:cNvPr>
          <p:cNvSpPr txBox="1"/>
          <p:nvPr/>
        </p:nvSpPr>
        <p:spPr>
          <a:xfrm>
            <a:off x="762000" y="1955800"/>
            <a:ext cx="2235200" cy="762000"/>
          </a:xfrm>
          <a:prstGeom prst="rect">
            <a:avLst/>
          </a:prstGeom>
          <a:noFill/>
        </p:spPr>
        <p:txBody>
          <a:bodyPr vert="horz" wrap="square" lIns="25400" tIns="12700" rIns="25400" bIns="12700" rtlCol="0" anchor="t">
            <a:noAutofit/>
          </a:bodyPr>
          <a:lstStyle/>
          <a:p>
            <a:r>
              <a:rPr lang="nb-NO" sz="1200">
                <a:solidFill>
                  <a:srgbClr val="F4F4F5"/>
                </a:solidFill>
                <a:latin typeface="Calibri" panose="020F0502020204030204" pitchFamily="34" charset="0"/>
              </a:rPr>
              <a:t>VMware or Hyper-V · SCVMM · bare metal · Kubernetes</a:t>
            </a:r>
            <a:endParaRPr lang="en-US" sz="1200">
              <a:solidFill>
                <a:srgbClr val="F4F4F5"/>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422B01EC-CCB8-BEF9-51F7-41B85922EA98}"/>
              </a:ext>
            </a:extLst>
          </p:cNvPr>
          <p:cNvSpPr/>
          <p:nvPr/>
        </p:nvSpPr>
        <p:spPr>
          <a:xfrm>
            <a:off x="787400" y="2819400"/>
            <a:ext cx="1041400" cy="4318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servers</a:t>
            </a:r>
          </a:p>
        </p:txBody>
      </p:sp>
      <p:sp>
        <p:nvSpPr>
          <p:cNvPr id="13" name="Rectangle: Rounded Corners 12">
            <a:extLst>
              <a:ext uri="{FF2B5EF4-FFF2-40B4-BE49-F238E27FC236}">
                <a16:creationId xmlns:a16="http://schemas.microsoft.com/office/drawing/2014/main" id="{68D5860E-4110-D5B3-7869-4DE6D423504C}"/>
              </a:ext>
            </a:extLst>
          </p:cNvPr>
          <p:cNvSpPr/>
          <p:nvPr/>
        </p:nvSpPr>
        <p:spPr>
          <a:xfrm>
            <a:off x="1930400" y="2819400"/>
            <a:ext cx="1041400" cy="4318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clusters</a:t>
            </a:r>
          </a:p>
        </p:txBody>
      </p:sp>
      <p:sp>
        <p:nvSpPr>
          <p:cNvPr id="14" name="Rectangle: Rounded Corners 13">
            <a:extLst>
              <a:ext uri="{FF2B5EF4-FFF2-40B4-BE49-F238E27FC236}">
                <a16:creationId xmlns:a16="http://schemas.microsoft.com/office/drawing/2014/main" id="{46292B71-E0A7-295F-1549-067C2AAB5FFB}"/>
              </a:ext>
            </a:extLst>
          </p:cNvPr>
          <p:cNvSpPr/>
          <p:nvPr/>
        </p:nvSpPr>
        <p:spPr>
          <a:xfrm>
            <a:off x="787400" y="3327400"/>
            <a:ext cx="2184400" cy="355600"/>
          </a:xfrm>
          <a:prstGeom prst="roundRect">
            <a:avLst>
              <a:gd name="adj" fmla="val 8000"/>
            </a:avLst>
          </a:prstGeom>
          <a:solidFill>
            <a:srgbClr val="27272C"/>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050">
                <a:solidFill>
                  <a:srgbClr val="F4F4F5"/>
                </a:solidFill>
                <a:latin typeface="Calibri" panose="020F0502020204030204" pitchFamily="34" charset="0"/>
              </a:rPr>
              <a:t>platform services · network · identity</a:t>
            </a:r>
          </a:p>
        </p:txBody>
      </p:sp>
      <p:sp>
        <p:nvSpPr>
          <p:cNvPr id="15" name="Rectangle: Rounded Corners 14">
            <a:extLst>
              <a:ext uri="{FF2B5EF4-FFF2-40B4-BE49-F238E27FC236}">
                <a16:creationId xmlns:a16="http://schemas.microsoft.com/office/drawing/2014/main" id="{4E577175-9C26-A6E4-5F32-8700E07C32E0}"/>
              </a:ext>
            </a:extLst>
          </p:cNvPr>
          <p:cNvSpPr/>
          <p:nvPr/>
        </p:nvSpPr>
        <p:spPr>
          <a:xfrm>
            <a:off x="3352800" y="1600200"/>
            <a:ext cx="2540000" cy="2159000"/>
          </a:xfrm>
          <a:prstGeom prst="roundRect">
            <a:avLst>
              <a:gd name="adj" fmla="val 4000"/>
            </a:avLst>
          </a:prstGeom>
          <a:noFill/>
          <a:ln w="15875" cap="flat" cmpd="sng" algn="ctr">
            <a:solidFill>
              <a:srgbClr val="A3E635"/>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383AA5D-734D-2429-C063-50E4611223FD}"/>
              </a:ext>
            </a:extLst>
          </p:cNvPr>
          <p:cNvSpPr txBox="1"/>
          <p:nvPr/>
        </p:nvSpPr>
        <p:spPr>
          <a:xfrm>
            <a:off x="3479800" y="1651000"/>
            <a:ext cx="2286000" cy="228600"/>
          </a:xfrm>
          <a:prstGeom prst="rect">
            <a:avLst/>
          </a:prstGeom>
          <a:noFill/>
        </p:spPr>
        <p:txBody>
          <a:bodyPr vert="horz" wrap="square" lIns="25400" tIns="12700" rIns="25400" bIns="12700" rtlCol="0" anchor="t">
            <a:noAutofit/>
          </a:bodyPr>
          <a:lstStyle/>
          <a:p>
            <a:r>
              <a:rPr lang="en-US" sz="1100" b="1">
                <a:solidFill>
                  <a:srgbClr val="A3E635"/>
                </a:solidFill>
                <a:latin typeface="Calibri" panose="020F0502020204030204" pitchFamily="34" charset="0"/>
              </a:rPr>
              <a:t>DATACENTER 2</a:t>
            </a:r>
          </a:p>
        </p:txBody>
      </p:sp>
      <p:sp>
        <p:nvSpPr>
          <p:cNvPr id="17" name="TextBox 16">
            <a:extLst>
              <a:ext uri="{FF2B5EF4-FFF2-40B4-BE49-F238E27FC236}">
                <a16:creationId xmlns:a16="http://schemas.microsoft.com/office/drawing/2014/main" id="{E1C3B24B-F82B-AEBA-3329-5127A6FC9C80}"/>
              </a:ext>
            </a:extLst>
          </p:cNvPr>
          <p:cNvSpPr txBox="1"/>
          <p:nvPr/>
        </p:nvSpPr>
        <p:spPr>
          <a:xfrm>
            <a:off x="3505200" y="1955800"/>
            <a:ext cx="2235200" cy="762000"/>
          </a:xfrm>
          <a:prstGeom prst="rect">
            <a:avLst/>
          </a:prstGeom>
          <a:noFill/>
        </p:spPr>
        <p:txBody>
          <a:bodyPr vert="horz" wrap="square" lIns="25400" tIns="12700" rIns="25400" bIns="12700" rtlCol="0" anchor="t">
            <a:noAutofit/>
          </a:bodyPr>
          <a:lstStyle/>
          <a:p>
            <a:r>
              <a:rPr lang="en-US" sz="1200">
                <a:solidFill>
                  <a:srgbClr val="F4F4F5"/>
                </a:solidFill>
                <a:latin typeface="Calibri" panose="020F0502020204030204" pitchFamily="34" charset="0"/>
              </a:rPr>
              <a:t>second site · DR · its own network</a:t>
            </a:r>
          </a:p>
        </p:txBody>
      </p:sp>
      <p:sp>
        <p:nvSpPr>
          <p:cNvPr id="18" name="Rectangle: Rounded Corners 17">
            <a:extLst>
              <a:ext uri="{FF2B5EF4-FFF2-40B4-BE49-F238E27FC236}">
                <a16:creationId xmlns:a16="http://schemas.microsoft.com/office/drawing/2014/main" id="{33F66000-3FBE-CA6E-3E7A-273B1504F55C}"/>
              </a:ext>
            </a:extLst>
          </p:cNvPr>
          <p:cNvSpPr/>
          <p:nvPr/>
        </p:nvSpPr>
        <p:spPr>
          <a:xfrm>
            <a:off x="3530600" y="2819400"/>
            <a:ext cx="1041400" cy="4318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servers</a:t>
            </a:r>
          </a:p>
        </p:txBody>
      </p:sp>
      <p:sp>
        <p:nvSpPr>
          <p:cNvPr id="19" name="Rectangle: Rounded Corners 18">
            <a:extLst>
              <a:ext uri="{FF2B5EF4-FFF2-40B4-BE49-F238E27FC236}">
                <a16:creationId xmlns:a16="http://schemas.microsoft.com/office/drawing/2014/main" id="{BC04EDA4-93D6-9782-C2C0-81CD7D707C96}"/>
              </a:ext>
            </a:extLst>
          </p:cNvPr>
          <p:cNvSpPr/>
          <p:nvPr/>
        </p:nvSpPr>
        <p:spPr>
          <a:xfrm>
            <a:off x="4673600" y="2819400"/>
            <a:ext cx="1041400" cy="4318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clusters</a:t>
            </a:r>
          </a:p>
        </p:txBody>
      </p:sp>
      <p:sp>
        <p:nvSpPr>
          <p:cNvPr id="20" name="Rectangle: Rounded Corners 19">
            <a:extLst>
              <a:ext uri="{FF2B5EF4-FFF2-40B4-BE49-F238E27FC236}">
                <a16:creationId xmlns:a16="http://schemas.microsoft.com/office/drawing/2014/main" id="{485C516E-3AC1-9C54-E66C-6887F0D13E07}"/>
              </a:ext>
            </a:extLst>
          </p:cNvPr>
          <p:cNvSpPr/>
          <p:nvPr/>
        </p:nvSpPr>
        <p:spPr>
          <a:xfrm>
            <a:off x="3530600" y="3327400"/>
            <a:ext cx="2184400" cy="355600"/>
          </a:xfrm>
          <a:prstGeom prst="roundRect">
            <a:avLst>
              <a:gd name="adj" fmla="val 8000"/>
            </a:avLst>
          </a:prstGeom>
          <a:solidFill>
            <a:srgbClr val="27272C"/>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050">
                <a:solidFill>
                  <a:srgbClr val="F4F4F5"/>
                </a:solidFill>
                <a:latin typeface="Calibri" panose="020F0502020204030204" pitchFamily="34" charset="0"/>
              </a:rPr>
              <a:t>platform services · network · identity</a:t>
            </a:r>
          </a:p>
        </p:txBody>
      </p:sp>
      <p:sp>
        <p:nvSpPr>
          <p:cNvPr id="21" name="Rectangle: Rounded Corners 20">
            <a:extLst>
              <a:ext uri="{FF2B5EF4-FFF2-40B4-BE49-F238E27FC236}">
                <a16:creationId xmlns:a16="http://schemas.microsoft.com/office/drawing/2014/main" id="{BA77E74A-6967-7577-1013-E692A93FEF2C}"/>
              </a:ext>
            </a:extLst>
          </p:cNvPr>
          <p:cNvSpPr/>
          <p:nvPr/>
        </p:nvSpPr>
        <p:spPr>
          <a:xfrm>
            <a:off x="6096000" y="1600200"/>
            <a:ext cx="2540000" cy="2159000"/>
          </a:xfrm>
          <a:prstGeom prst="roundRect">
            <a:avLst>
              <a:gd name="adj" fmla="val 4000"/>
            </a:avLst>
          </a:prstGeom>
          <a:noFill/>
          <a:ln w="15875" cap="flat" cmpd="sng" algn="ctr">
            <a:solidFill>
              <a:srgbClr val="7DAA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0FEC360-AEA3-8D34-2D59-32DFFC4AFEBD}"/>
              </a:ext>
            </a:extLst>
          </p:cNvPr>
          <p:cNvSpPr txBox="1"/>
          <p:nvPr/>
        </p:nvSpPr>
        <p:spPr>
          <a:xfrm>
            <a:off x="6223000" y="1651000"/>
            <a:ext cx="2286000" cy="228600"/>
          </a:xfrm>
          <a:prstGeom prst="rect">
            <a:avLst/>
          </a:prstGeom>
          <a:noFill/>
        </p:spPr>
        <p:txBody>
          <a:bodyPr vert="horz" wrap="square" lIns="25400" tIns="12700" rIns="25400" bIns="12700" rtlCol="0" anchor="t">
            <a:noAutofit/>
          </a:bodyPr>
          <a:lstStyle/>
          <a:p>
            <a:r>
              <a:rPr lang="en-US" sz="1100" b="1">
                <a:solidFill>
                  <a:srgbClr val="7DAAFA"/>
                </a:solidFill>
                <a:latin typeface="Calibri" panose="020F0502020204030204" pitchFamily="34" charset="0"/>
              </a:rPr>
              <a:t>AZURE</a:t>
            </a:r>
          </a:p>
        </p:txBody>
      </p:sp>
      <p:sp>
        <p:nvSpPr>
          <p:cNvPr id="23" name="TextBox 22">
            <a:extLst>
              <a:ext uri="{FF2B5EF4-FFF2-40B4-BE49-F238E27FC236}">
                <a16:creationId xmlns:a16="http://schemas.microsoft.com/office/drawing/2014/main" id="{7471CF6A-D3AE-5CB5-EBFD-BCBB024311CA}"/>
              </a:ext>
            </a:extLst>
          </p:cNvPr>
          <p:cNvSpPr txBox="1"/>
          <p:nvPr/>
        </p:nvSpPr>
        <p:spPr>
          <a:xfrm>
            <a:off x="6248400" y="1955800"/>
            <a:ext cx="2235200" cy="762000"/>
          </a:xfrm>
          <a:prstGeom prst="rect">
            <a:avLst/>
          </a:prstGeom>
          <a:noFill/>
        </p:spPr>
        <p:txBody>
          <a:bodyPr vert="horz" wrap="square" lIns="25400" tIns="12700" rIns="25400" bIns="12700" rtlCol="0" anchor="t">
            <a:noAutofit/>
          </a:bodyPr>
          <a:lstStyle/>
          <a:p>
            <a:r>
              <a:rPr lang="en-US" sz="1200">
                <a:solidFill>
                  <a:srgbClr val="F4F4F5"/>
                </a:solidFill>
                <a:latin typeface="Calibri" panose="020F0502020204030204" pitchFamily="34" charset="0"/>
              </a:rPr>
              <a:t>VMs · PaaS · AKS · the management plane</a:t>
            </a:r>
          </a:p>
        </p:txBody>
      </p:sp>
      <p:sp>
        <p:nvSpPr>
          <p:cNvPr id="24" name="Rectangle: Rounded Corners 23">
            <a:extLst>
              <a:ext uri="{FF2B5EF4-FFF2-40B4-BE49-F238E27FC236}">
                <a16:creationId xmlns:a16="http://schemas.microsoft.com/office/drawing/2014/main" id="{6E13EB11-C804-5DA4-49C5-DC129F60AA8A}"/>
              </a:ext>
            </a:extLst>
          </p:cNvPr>
          <p:cNvSpPr/>
          <p:nvPr/>
        </p:nvSpPr>
        <p:spPr>
          <a:xfrm>
            <a:off x="6273800" y="2819400"/>
            <a:ext cx="1041400" cy="4318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servers</a:t>
            </a:r>
          </a:p>
        </p:txBody>
      </p:sp>
      <p:sp>
        <p:nvSpPr>
          <p:cNvPr id="25" name="Rectangle: Rounded Corners 24">
            <a:extLst>
              <a:ext uri="{FF2B5EF4-FFF2-40B4-BE49-F238E27FC236}">
                <a16:creationId xmlns:a16="http://schemas.microsoft.com/office/drawing/2014/main" id="{2A277028-A987-B693-89F8-47C5749EA736}"/>
              </a:ext>
            </a:extLst>
          </p:cNvPr>
          <p:cNvSpPr/>
          <p:nvPr/>
        </p:nvSpPr>
        <p:spPr>
          <a:xfrm>
            <a:off x="7416800" y="2819400"/>
            <a:ext cx="1041400" cy="4318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clusters</a:t>
            </a:r>
          </a:p>
        </p:txBody>
      </p:sp>
      <p:sp>
        <p:nvSpPr>
          <p:cNvPr id="26" name="Rectangle: Rounded Corners 25">
            <a:extLst>
              <a:ext uri="{FF2B5EF4-FFF2-40B4-BE49-F238E27FC236}">
                <a16:creationId xmlns:a16="http://schemas.microsoft.com/office/drawing/2014/main" id="{31FA0F04-32E0-DDF3-E7BC-9D13523D5D15}"/>
              </a:ext>
            </a:extLst>
          </p:cNvPr>
          <p:cNvSpPr/>
          <p:nvPr/>
        </p:nvSpPr>
        <p:spPr>
          <a:xfrm>
            <a:off x="6273800" y="3327400"/>
            <a:ext cx="2184400" cy="355600"/>
          </a:xfrm>
          <a:prstGeom prst="roundRect">
            <a:avLst>
              <a:gd name="adj" fmla="val 8000"/>
            </a:avLst>
          </a:prstGeom>
          <a:solidFill>
            <a:srgbClr val="27272C"/>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050">
                <a:solidFill>
                  <a:srgbClr val="F4F4F5"/>
                </a:solidFill>
                <a:latin typeface="Calibri" panose="020F0502020204030204" pitchFamily="34" charset="0"/>
              </a:rPr>
              <a:t>platform services · network · identity</a:t>
            </a:r>
          </a:p>
        </p:txBody>
      </p:sp>
      <p:sp>
        <p:nvSpPr>
          <p:cNvPr id="27" name="Rectangle: Rounded Corners 26">
            <a:extLst>
              <a:ext uri="{FF2B5EF4-FFF2-40B4-BE49-F238E27FC236}">
                <a16:creationId xmlns:a16="http://schemas.microsoft.com/office/drawing/2014/main" id="{B1CEA593-536D-F6AE-FAA0-4A1F2B9EA6A0}"/>
              </a:ext>
            </a:extLst>
          </p:cNvPr>
          <p:cNvSpPr/>
          <p:nvPr/>
        </p:nvSpPr>
        <p:spPr>
          <a:xfrm>
            <a:off x="8839200" y="1600200"/>
            <a:ext cx="2540000" cy="2159000"/>
          </a:xfrm>
          <a:prstGeom prst="roundRect">
            <a:avLst>
              <a:gd name="adj" fmla="val 4000"/>
            </a:avLst>
          </a:prstGeom>
          <a:noFill/>
          <a:ln w="15875" cap="flat" cmpd="sng" algn="ctr">
            <a:solidFill>
              <a:srgbClr val="FB923C"/>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D49FA9B-EF22-F9B3-0FA3-48FBBBC40983}"/>
              </a:ext>
            </a:extLst>
          </p:cNvPr>
          <p:cNvSpPr txBox="1"/>
          <p:nvPr/>
        </p:nvSpPr>
        <p:spPr>
          <a:xfrm>
            <a:off x="8966200" y="1651000"/>
            <a:ext cx="2286000" cy="228600"/>
          </a:xfrm>
          <a:prstGeom prst="rect">
            <a:avLst/>
          </a:prstGeom>
          <a:noFill/>
        </p:spPr>
        <p:txBody>
          <a:bodyPr vert="horz" wrap="square" lIns="25400" tIns="12700" rIns="25400" bIns="12700" rtlCol="0" anchor="t">
            <a:noAutofit/>
          </a:bodyPr>
          <a:lstStyle/>
          <a:p>
            <a:r>
              <a:rPr lang="en-US" sz="1100" b="1">
                <a:solidFill>
                  <a:srgbClr val="FB923C"/>
                </a:solidFill>
                <a:latin typeface="Calibri" panose="020F0502020204030204" pitchFamily="34" charset="0"/>
              </a:rPr>
              <a:t>AWS</a:t>
            </a:r>
          </a:p>
        </p:txBody>
      </p:sp>
      <p:sp>
        <p:nvSpPr>
          <p:cNvPr id="29" name="TextBox 28">
            <a:extLst>
              <a:ext uri="{FF2B5EF4-FFF2-40B4-BE49-F238E27FC236}">
                <a16:creationId xmlns:a16="http://schemas.microsoft.com/office/drawing/2014/main" id="{9C5543A6-00B1-424D-19ED-3283391871B0}"/>
              </a:ext>
            </a:extLst>
          </p:cNvPr>
          <p:cNvSpPr txBox="1"/>
          <p:nvPr/>
        </p:nvSpPr>
        <p:spPr>
          <a:xfrm>
            <a:off x="8991600" y="1955800"/>
            <a:ext cx="2235200" cy="762000"/>
          </a:xfrm>
          <a:prstGeom prst="rect">
            <a:avLst/>
          </a:prstGeom>
          <a:noFill/>
        </p:spPr>
        <p:txBody>
          <a:bodyPr vert="horz" wrap="square" lIns="25400" tIns="12700" rIns="25400" bIns="12700" rtlCol="0" anchor="t">
            <a:noAutofit/>
          </a:bodyPr>
          <a:lstStyle/>
          <a:p>
            <a:r>
              <a:rPr lang="en-US" sz="1200">
                <a:solidFill>
                  <a:srgbClr val="F4F4F5"/>
                </a:solidFill>
                <a:latin typeface="Calibri" panose="020F0502020204030204" pitchFamily="34" charset="0"/>
              </a:rPr>
              <a:t>EC2 · EKS · managed services</a:t>
            </a:r>
          </a:p>
        </p:txBody>
      </p:sp>
      <p:sp>
        <p:nvSpPr>
          <p:cNvPr id="30" name="Rectangle: Rounded Corners 29">
            <a:extLst>
              <a:ext uri="{FF2B5EF4-FFF2-40B4-BE49-F238E27FC236}">
                <a16:creationId xmlns:a16="http://schemas.microsoft.com/office/drawing/2014/main" id="{3187456A-294E-614C-DB0E-A298CA5D2CF5}"/>
              </a:ext>
            </a:extLst>
          </p:cNvPr>
          <p:cNvSpPr/>
          <p:nvPr/>
        </p:nvSpPr>
        <p:spPr>
          <a:xfrm>
            <a:off x="9017000" y="2819400"/>
            <a:ext cx="1041400" cy="4318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servers</a:t>
            </a:r>
          </a:p>
        </p:txBody>
      </p:sp>
      <p:sp>
        <p:nvSpPr>
          <p:cNvPr id="31" name="Rectangle: Rounded Corners 30">
            <a:extLst>
              <a:ext uri="{FF2B5EF4-FFF2-40B4-BE49-F238E27FC236}">
                <a16:creationId xmlns:a16="http://schemas.microsoft.com/office/drawing/2014/main" id="{517E79D6-1D52-9278-CF9F-9CD40BCC18EE}"/>
              </a:ext>
            </a:extLst>
          </p:cNvPr>
          <p:cNvSpPr/>
          <p:nvPr/>
        </p:nvSpPr>
        <p:spPr>
          <a:xfrm>
            <a:off x="10160000" y="2819400"/>
            <a:ext cx="1041400" cy="4318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clusters</a:t>
            </a:r>
          </a:p>
        </p:txBody>
      </p:sp>
      <p:sp>
        <p:nvSpPr>
          <p:cNvPr id="32" name="Rectangle: Rounded Corners 31">
            <a:extLst>
              <a:ext uri="{FF2B5EF4-FFF2-40B4-BE49-F238E27FC236}">
                <a16:creationId xmlns:a16="http://schemas.microsoft.com/office/drawing/2014/main" id="{35376A23-33CE-2CF5-3137-197B68BF76D2}"/>
              </a:ext>
            </a:extLst>
          </p:cNvPr>
          <p:cNvSpPr/>
          <p:nvPr/>
        </p:nvSpPr>
        <p:spPr>
          <a:xfrm>
            <a:off x="9017000" y="3327400"/>
            <a:ext cx="2184400" cy="355600"/>
          </a:xfrm>
          <a:prstGeom prst="roundRect">
            <a:avLst>
              <a:gd name="adj" fmla="val 8000"/>
            </a:avLst>
          </a:prstGeom>
          <a:solidFill>
            <a:srgbClr val="27272C"/>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050">
                <a:solidFill>
                  <a:srgbClr val="F4F4F5"/>
                </a:solidFill>
                <a:latin typeface="Calibri" panose="020F0502020204030204" pitchFamily="34" charset="0"/>
              </a:rPr>
              <a:t>platform services · network · identity</a:t>
            </a:r>
          </a:p>
        </p:txBody>
      </p:sp>
      <p:sp>
        <p:nvSpPr>
          <p:cNvPr id="33" name="Rectangle: Rounded Corners 32">
            <a:extLst>
              <a:ext uri="{FF2B5EF4-FFF2-40B4-BE49-F238E27FC236}">
                <a16:creationId xmlns:a16="http://schemas.microsoft.com/office/drawing/2014/main" id="{66C4E3D8-4C6D-010A-4825-D924402D4E84}"/>
              </a:ext>
            </a:extLst>
          </p:cNvPr>
          <p:cNvSpPr/>
          <p:nvPr/>
        </p:nvSpPr>
        <p:spPr>
          <a:xfrm>
            <a:off x="609600" y="4013200"/>
            <a:ext cx="5283200" cy="1016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8D86246-B27C-92D2-ABF9-01887C0284D1}"/>
              </a:ext>
            </a:extLst>
          </p:cNvPr>
          <p:cNvSpPr txBox="1"/>
          <p:nvPr/>
        </p:nvSpPr>
        <p:spPr>
          <a:xfrm>
            <a:off x="736600" y="4064000"/>
            <a:ext cx="5029200" cy="228600"/>
          </a:xfrm>
          <a:prstGeom prst="rect">
            <a:avLst/>
          </a:prstGeom>
          <a:noFill/>
        </p:spPr>
        <p:txBody>
          <a:bodyPr vert="horz" wrap="square" lIns="25400" tIns="12700" rIns="25400" bIns="12700" rtlCol="0" anchor="t">
            <a:noAutofit/>
          </a:bodyPr>
          <a:lstStyle/>
          <a:p>
            <a:r>
              <a:rPr lang="en-US" sz="1100" b="1">
                <a:solidFill>
                  <a:srgbClr val="2DD4BF"/>
                </a:solidFill>
                <a:latin typeface="Calibri" panose="020F0502020204030204" pitchFamily="34" charset="0"/>
              </a:rPr>
              <a:t>GCP</a:t>
            </a:r>
          </a:p>
        </p:txBody>
      </p:sp>
      <p:sp>
        <p:nvSpPr>
          <p:cNvPr id="35" name="TextBox 34">
            <a:extLst>
              <a:ext uri="{FF2B5EF4-FFF2-40B4-BE49-F238E27FC236}">
                <a16:creationId xmlns:a16="http://schemas.microsoft.com/office/drawing/2014/main" id="{A506455E-7D47-BE04-B201-F1B1362484D2}"/>
              </a:ext>
            </a:extLst>
          </p:cNvPr>
          <p:cNvSpPr txBox="1"/>
          <p:nvPr/>
        </p:nvSpPr>
        <p:spPr>
          <a:xfrm>
            <a:off x="762000" y="4368800"/>
            <a:ext cx="3810000" cy="304800"/>
          </a:xfrm>
          <a:prstGeom prst="rect">
            <a:avLst/>
          </a:prstGeom>
          <a:noFill/>
        </p:spPr>
        <p:txBody>
          <a:bodyPr vert="horz" wrap="square" lIns="25400" tIns="12700" rIns="25400" bIns="12700" rtlCol="0" anchor="t">
            <a:noAutofit/>
          </a:bodyPr>
          <a:lstStyle/>
          <a:p>
            <a:r>
              <a:rPr lang="en-US" sz="1200">
                <a:solidFill>
                  <a:srgbClr val="F4F4F5"/>
                </a:solidFill>
                <a:latin typeface="Calibri" panose="020F0502020204030204" pitchFamily="34" charset="0"/>
              </a:rPr>
              <a:t>Compute Engine · GKE · managed services</a:t>
            </a:r>
          </a:p>
        </p:txBody>
      </p:sp>
      <p:sp>
        <p:nvSpPr>
          <p:cNvPr id="36" name="Rectangle: Rounded Corners 35">
            <a:extLst>
              <a:ext uri="{FF2B5EF4-FFF2-40B4-BE49-F238E27FC236}">
                <a16:creationId xmlns:a16="http://schemas.microsoft.com/office/drawing/2014/main" id="{3E4D2DAD-A964-0AFB-8521-A0958C5D08A5}"/>
              </a:ext>
            </a:extLst>
          </p:cNvPr>
          <p:cNvSpPr/>
          <p:nvPr/>
        </p:nvSpPr>
        <p:spPr>
          <a:xfrm>
            <a:off x="6096000" y="4013200"/>
            <a:ext cx="5283200" cy="1016000"/>
          </a:xfrm>
          <a:prstGeom prst="roundRect">
            <a:avLst>
              <a:gd name="adj" fmla="val 4000"/>
            </a:avLst>
          </a:prstGeom>
          <a:noFill/>
          <a:ln w="15875" cap="flat" cmpd="sng" algn="ctr">
            <a:solidFill>
              <a:srgbClr val="B0B0B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95A77FF-FD43-F1DA-19E7-4CA3D9BA1F17}"/>
              </a:ext>
            </a:extLst>
          </p:cNvPr>
          <p:cNvSpPr txBox="1"/>
          <p:nvPr/>
        </p:nvSpPr>
        <p:spPr>
          <a:xfrm>
            <a:off x="6223000" y="4064000"/>
            <a:ext cx="5029200" cy="2286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EDGE AND BRANCH</a:t>
            </a:r>
          </a:p>
        </p:txBody>
      </p:sp>
      <p:sp>
        <p:nvSpPr>
          <p:cNvPr id="38" name="TextBox 37">
            <a:extLst>
              <a:ext uri="{FF2B5EF4-FFF2-40B4-BE49-F238E27FC236}">
                <a16:creationId xmlns:a16="http://schemas.microsoft.com/office/drawing/2014/main" id="{4C58910F-E0E0-BAD7-B311-7E0359A60692}"/>
              </a:ext>
            </a:extLst>
          </p:cNvPr>
          <p:cNvSpPr txBox="1"/>
          <p:nvPr/>
        </p:nvSpPr>
        <p:spPr>
          <a:xfrm>
            <a:off x="6248400" y="4368800"/>
            <a:ext cx="5080000" cy="304800"/>
          </a:xfrm>
          <a:prstGeom prst="rect">
            <a:avLst/>
          </a:prstGeom>
          <a:noFill/>
        </p:spPr>
        <p:txBody>
          <a:bodyPr vert="horz" wrap="square" lIns="25400" tIns="12700" rIns="25400" bIns="12700" rtlCol="0" anchor="t">
            <a:noAutofit/>
          </a:bodyPr>
          <a:lstStyle/>
          <a:p>
            <a:r>
              <a:rPr lang="en-US" sz="1200">
                <a:solidFill>
                  <a:srgbClr val="F4F4F5"/>
                </a:solidFill>
                <a:latin typeface="Calibri" panose="020F0502020204030204" pitchFamily="34" charset="0"/>
              </a:rPr>
              <a:t>small sites · poor links · local buffering · no datacenter team</a:t>
            </a:r>
          </a:p>
        </p:txBody>
      </p:sp>
      <p:sp>
        <p:nvSpPr>
          <p:cNvPr id="39" name="Rectangle: Rounded Corners 38">
            <a:extLst>
              <a:ext uri="{FF2B5EF4-FFF2-40B4-BE49-F238E27FC236}">
                <a16:creationId xmlns:a16="http://schemas.microsoft.com/office/drawing/2014/main" id="{EAB1F4F9-DFFE-BEBE-4C62-E160B3972BC1}"/>
              </a:ext>
            </a:extLst>
          </p:cNvPr>
          <p:cNvSpPr/>
          <p:nvPr/>
        </p:nvSpPr>
        <p:spPr>
          <a:xfrm>
            <a:off x="609600" y="5283200"/>
            <a:ext cx="10972800" cy="5588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400" b="1">
                <a:solidFill>
                  <a:srgbClr val="FBBF24"/>
                </a:solidFill>
                <a:latin typeface="Calibri" panose="020F0502020204030204" pitchFamily="34" charset="0"/>
              </a:rPr>
              <a:t>ONE SERVICE a user depends on crosses four of these places</a:t>
            </a:r>
          </a:p>
        </p:txBody>
      </p:sp>
      <p:sp>
        <p:nvSpPr>
          <p:cNvPr id="40" name="Rectangle 39">
            <a:extLst>
              <a:ext uri="{FF2B5EF4-FFF2-40B4-BE49-F238E27FC236}">
                <a16:creationId xmlns:a16="http://schemas.microsoft.com/office/drawing/2014/main" id="{F4F6D7BE-A732-1437-07DB-85406559FD6F}"/>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99702085-67DC-8DBC-2D89-55F9BEFF17FE}"/>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The question is never "is this place healthy?" It is "is the service that crosses them working?"</a:t>
            </a:r>
          </a:p>
        </p:txBody>
      </p:sp>
    </p:spTree>
    <p:extLst>
      <p:ext uri="{BB962C8B-B14F-4D97-AF65-F5344CB8AC3E}">
        <p14:creationId xmlns:p14="http://schemas.microsoft.com/office/powerpoint/2010/main" val="2634311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21447697-DED8-44B7-4189-A8FF5D7E1D5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560B6587-0339-CABE-55DE-6C00F1BF7939}"/>
              </a:ext>
            </a:extLst>
          </p:cNvPr>
          <p:cNvSpPr/>
          <p:nvPr/>
        </p:nvSpPr>
        <p:spPr>
          <a:xfrm>
            <a:off x="0" y="1295400"/>
            <a:ext cx="12192000" cy="38100"/>
          </a:xfrm>
          <a:prstGeom prst="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54DAD34-0F98-FFA1-E90D-849665635BD5}"/>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925456-F94A-2102-389E-693673F14348}"/>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Why site-first monitoring fails</a:t>
            </a:r>
          </a:p>
        </p:txBody>
      </p:sp>
      <p:sp>
        <p:nvSpPr>
          <p:cNvPr id="6" name="ChapterTag">
            <a:extLst>
              <a:ext uri="{FF2B5EF4-FFF2-40B4-BE49-F238E27FC236}">
                <a16:creationId xmlns:a16="http://schemas.microsoft.com/office/drawing/2014/main" id="{D64F48C9-3DDB-6101-EF2C-075008AFD594}"/>
              </a:ext>
            </a:extLst>
          </p:cNvPr>
          <p:cNvSpPr/>
          <p:nvPr/>
        </p:nvSpPr>
        <p:spPr>
          <a:xfrm>
            <a:off x="9245600" y="381000"/>
            <a:ext cx="2336800" cy="330200"/>
          </a:xfrm>
          <a:prstGeom prst="round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2 · THE ESTATE</a:t>
            </a:r>
          </a:p>
        </p:txBody>
      </p:sp>
      <p:sp>
        <p:nvSpPr>
          <p:cNvPr id="7" name="TextBox 6">
            <a:extLst>
              <a:ext uri="{FF2B5EF4-FFF2-40B4-BE49-F238E27FC236}">
                <a16:creationId xmlns:a16="http://schemas.microsoft.com/office/drawing/2014/main" id="{9009D72F-9264-E25C-45DA-B91B48863D19}"/>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2924CE74-E3D3-1F07-7201-32410AE3BC6D}"/>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15</a:t>
            </a:r>
          </a:p>
        </p:txBody>
      </p:sp>
      <p:sp>
        <p:nvSpPr>
          <p:cNvPr id="9" name="Rectangle: Rounded Corners 8">
            <a:extLst>
              <a:ext uri="{FF2B5EF4-FFF2-40B4-BE49-F238E27FC236}">
                <a16:creationId xmlns:a16="http://schemas.microsoft.com/office/drawing/2014/main" id="{9B2CA6A7-1E53-A174-6B87-649FAC94DEC1}"/>
              </a:ext>
            </a:extLst>
          </p:cNvPr>
          <p:cNvSpPr/>
          <p:nvPr/>
        </p:nvSpPr>
        <p:spPr>
          <a:xfrm>
            <a:off x="609600" y="1600200"/>
            <a:ext cx="5384800" cy="4699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6C408EE-8A30-3A76-252A-59B804BB84B2}"/>
              </a:ext>
            </a:extLst>
          </p:cNvPr>
          <p:cNvSpPr txBox="1"/>
          <p:nvPr/>
        </p:nvSpPr>
        <p:spPr>
          <a:xfrm>
            <a:off x="762000" y="1701800"/>
            <a:ext cx="5080000" cy="279400"/>
          </a:xfrm>
          <a:prstGeom prst="rect">
            <a:avLst/>
          </a:prstGeom>
          <a:noFill/>
        </p:spPr>
        <p:txBody>
          <a:bodyPr vert="horz" wrap="square" lIns="25400" tIns="12700" rIns="25400" bIns="12700" rtlCol="0" anchor="t">
            <a:noAutofit/>
          </a:bodyPr>
          <a:lstStyle/>
          <a:p>
            <a:r>
              <a:rPr lang="en-US" sz="1250" b="1">
                <a:solidFill>
                  <a:srgbClr val="2DD4BF"/>
                </a:solidFill>
                <a:latin typeface="Calibri" panose="020F0502020204030204" pitchFamily="34" charset="0"/>
              </a:rPr>
              <a:t>SITE-FIRST</a:t>
            </a:r>
          </a:p>
        </p:txBody>
      </p:sp>
      <p:sp>
        <p:nvSpPr>
          <p:cNvPr id="11" name="Oval 10">
            <a:extLst>
              <a:ext uri="{FF2B5EF4-FFF2-40B4-BE49-F238E27FC236}">
                <a16:creationId xmlns:a16="http://schemas.microsoft.com/office/drawing/2014/main" id="{D27EC32A-219D-124C-48E8-A56EE79E5E82}"/>
              </a:ext>
            </a:extLst>
          </p:cNvPr>
          <p:cNvSpPr/>
          <p:nvPr/>
        </p:nvSpPr>
        <p:spPr>
          <a:xfrm>
            <a:off x="787400" y="2137410"/>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053A3E1-ADC9-57EA-01B0-9ADB3DD0F716}"/>
              </a:ext>
            </a:extLst>
          </p:cNvPr>
          <p:cNvSpPr txBox="1"/>
          <p:nvPr/>
        </p:nvSpPr>
        <p:spPr>
          <a:xfrm>
            <a:off x="965200" y="205740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tool per place, one team per place</a:t>
            </a:r>
          </a:p>
        </p:txBody>
      </p:sp>
      <p:sp>
        <p:nvSpPr>
          <p:cNvPr id="13" name="Oval 12">
            <a:extLst>
              <a:ext uri="{FF2B5EF4-FFF2-40B4-BE49-F238E27FC236}">
                <a16:creationId xmlns:a16="http://schemas.microsoft.com/office/drawing/2014/main" id="{CC69A1F7-B3E1-7E54-E3AF-6621FC64BFF3}"/>
              </a:ext>
            </a:extLst>
          </p:cNvPr>
          <p:cNvSpPr/>
          <p:nvPr/>
        </p:nvSpPr>
        <p:spPr>
          <a:xfrm>
            <a:off x="787400" y="2491994"/>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C79C3C9-F558-D99E-A306-76CB6CC8CA18}"/>
              </a:ext>
            </a:extLst>
          </p:cNvPr>
          <p:cNvSpPr txBox="1"/>
          <p:nvPr/>
        </p:nvSpPr>
        <p:spPr>
          <a:xfrm>
            <a:off x="965200" y="2411984"/>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each place has a green dashboard</a:t>
            </a:r>
          </a:p>
        </p:txBody>
      </p:sp>
      <p:sp>
        <p:nvSpPr>
          <p:cNvPr id="15" name="Oval 14">
            <a:extLst>
              <a:ext uri="{FF2B5EF4-FFF2-40B4-BE49-F238E27FC236}">
                <a16:creationId xmlns:a16="http://schemas.microsoft.com/office/drawing/2014/main" id="{8BD03F6A-AB40-2B57-6A0E-5C5FD570A19D}"/>
              </a:ext>
            </a:extLst>
          </p:cNvPr>
          <p:cNvSpPr/>
          <p:nvPr/>
        </p:nvSpPr>
        <p:spPr>
          <a:xfrm>
            <a:off x="787400" y="2846578"/>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B3249BB-529E-8073-F727-54D73AB1EA61}"/>
              </a:ext>
            </a:extLst>
          </p:cNvPr>
          <p:cNvSpPr txBox="1"/>
          <p:nvPr/>
        </p:nvSpPr>
        <p:spPr>
          <a:xfrm>
            <a:off x="965200" y="2766568"/>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the service that crosses them is red and nobody owns it</a:t>
            </a:r>
          </a:p>
        </p:txBody>
      </p:sp>
      <p:sp>
        <p:nvSpPr>
          <p:cNvPr id="17" name="Oval 16">
            <a:extLst>
              <a:ext uri="{FF2B5EF4-FFF2-40B4-BE49-F238E27FC236}">
                <a16:creationId xmlns:a16="http://schemas.microsoft.com/office/drawing/2014/main" id="{1E69AD10-E7B4-A338-F54E-75B4574E2A46}"/>
              </a:ext>
            </a:extLst>
          </p:cNvPr>
          <p:cNvSpPr/>
          <p:nvPr/>
        </p:nvSpPr>
        <p:spPr>
          <a:xfrm>
            <a:off x="787400" y="3201162"/>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D0E9ADF-05B0-2ABB-269A-71630288586F}"/>
              </a:ext>
            </a:extLst>
          </p:cNvPr>
          <p:cNvSpPr txBox="1"/>
          <p:nvPr/>
        </p:nvSpPr>
        <p:spPr>
          <a:xfrm>
            <a:off x="965200" y="3121152"/>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alerts for things you do not own</a:t>
            </a:r>
          </a:p>
        </p:txBody>
      </p:sp>
      <p:sp>
        <p:nvSpPr>
          <p:cNvPr id="19" name="Oval 18">
            <a:extLst>
              <a:ext uri="{FF2B5EF4-FFF2-40B4-BE49-F238E27FC236}">
                <a16:creationId xmlns:a16="http://schemas.microsoft.com/office/drawing/2014/main" id="{D8EA50B2-067A-DFA8-5D25-EF69C4FC2819}"/>
              </a:ext>
            </a:extLst>
          </p:cNvPr>
          <p:cNvSpPr/>
          <p:nvPr/>
        </p:nvSpPr>
        <p:spPr>
          <a:xfrm>
            <a:off x="787400" y="3555746"/>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FCEAECE-5B21-46C2-677E-5DD37E18344D}"/>
              </a:ext>
            </a:extLst>
          </p:cNvPr>
          <p:cNvSpPr txBox="1"/>
          <p:nvPr/>
        </p:nvSpPr>
        <p:spPr>
          <a:xfrm>
            <a:off x="965200" y="3475736"/>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no shared IDs, so no correlation</a:t>
            </a:r>
          </a:p>
        </p:txBody>
      </p:sp>
      <p:sp>
        <p:nvSpPr>
          <p:cNvPr id="21" name="Rectangle: Rounded Corners 20">
            <a:extLst>
              <a:ext uri="{FF2B5EF4-FFF2-40B4-BE49-F238E27FC236}">
                <a16:creationId xmlns:a16="http://schemas.microsoft.com/office/drawing/2014/main" id="{ECF25920-7243-DBBB-30C0-594FD354461B}"/>
              </a:ext>
            </a:extLst>
          </p:cNvPr>
          <p:cNvSpPr/>
          <p:nvPr/>
        </p:nvSpPr>
        <p:spPr>
          <a:xfrm>
            <a:off x="6197600" y="1600200"/>
            <a:ext cx="5384800" cy="4699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1CD920F-5C2A-0A84-08FB-25920AEAD928}"/>
              </a:ext>
            </a:extLst>
          </p:cNvPr>
          <p:cNvSpPr txBox="1"/>
          <p:nvPr/>
        </p:nvSpPr>
        <p:spPr>
          <a:xfrm>
            <a:off x="6350000" y="1701800"/>
            <a:ext cx="5080000" cy="279400"/>
          </a:xfrm>
          <a:prstGeom prst="rect">
            <a:avLst/>
          </a:prstGeom>
          <a:noFill/>
        </p:spPr>
        <p:txBody>
          <a:bodyPr vert="horz" wrap="square" lIns="25400" tIns="12700" rIns="25400" bIns="12700" rtlCol="0" anchor="t">
            <a:noAutofit/>
          </a:bodyPr>
          <a:lstStyle/>
          <a:p>
            <a:r>
              <a:rPr lang="en-US" sz="1250" b="1">
                <a:solidFill>
                  <a:srgbClr val="2DD4BF"/>
                </a:solidFill>
                <a:latin typeface="Calibri" panose="020F0502020204030204" pitchFamily="34" charset="0"/>
              </a:rPr>
              <a:t>SERVICE-FIRST</a:t>
            </a:r>
          </a:p>
        </p:txBody>
      </p:sp>
      <p:sp>
        <p:nvSpPr>
          <p:cNvPr id="23" name="Oval 22">
            <a:extLst>
              <a:ext uri="{FF2B5EF4-FFF2-40B4-BE49-F238E27FC236}">
                <a16:creationId xmlns:a16="http://schemas.microsoft.com/office/drawing/2014/main" id="{AA0BFFC1-C407-D81A-0DFE-E136ABB19765}"/>
              </a:ext>
            </a:extLst>
          </p:cNvPr>
          <p:cNvSpPr/>
          <p:nvPr/>
        </p:nvSpPr>
        <p:spPr>
          <a:xfrm>
            <a:off x="6375400" y="2137410"/>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39B430B-E996-0A03-4E13-188893673A4B}"/>
              </a:ext>
            </a:extLst>
          </p:cNvPr>
          <p:cNvSpPr txBox="1"/>
          <p:nvPr/>
        </p:nvSpPr>
        <p:spPr>
          <a:xfrm>
            <a:off x="6553200" y="205740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model of the service and its dependencies</a:t>
            </a:r>
          </a:p>
        </p:txBody>
      </p:sp>
      <p:sp>
        <p:nvSpPr>
          <p:cNvPr id="25" name="Oval 24">
            <a:extLst>
              <a:ext uri="{FF2B5EF4-FFF2-40B4-BE49-F238E27FC236}">
                <a16:creationId xmlns:a16="http://schemas.microsoft.com/office/drawing/2014/main" id="{AFDCBD62-1BC1-841A-2679-E7C87F3C0032}"/>
              </a:ext>
            </a:extLst>
          </p:cNvPr>
          <p:cNvSpPr/>
          <p:nvPr/>
        </p:nvSpPr>
        <p:spPr>
          <a:xfrm>
            <a:off x="6375400" y="2491994"/>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77FE0F7-9539-EE81-9499-112D0A7219B7}"/>
              </a:ext>
            </a:extLst>
          </p:cNvPr>
          <p:cNvSpPr txBox="1"/>
          <p:nvPr/>
        </p:nvSpPr>
        <p:spPr>
          <a:xfrm>
            <a:off x="6553200" y="2411984"/>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evidence from every place in one store</a:t>
            </a:r>
          </a:p>
        </p:txBody>
      </p:sp>
      <p:sp>
        <p:nvSpPr>
          <p:cNvPr id="27" name="Oval 26">
            <a:extLst>
              <a:ext uri="{FF2B5EF4-FFF2-40B4-BE49-F238E27FC236}">
                <a16:creationId xmlns:a16="http://schemas.microsoft.com/office/drawing/2014/main" id="{EF29F77F-42D2-93C4-ED20-A0E5DE6DCEE8}"/>
              </a:ext>
            </a:extLst>
          </p:cNvPr>
          <p:cNvSpPr/>
          <p:nvPr/>
        </p:nvSpPr>
        <p:spPr>
          <a:xfrm>
            <a:off x="6375400" y="2846578"/>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42C2DB5-EB96-DCAC-0FFA-4FF065937500}"/>
              </a:ext>
            </a:extLst>
          </p:cNvPr>
          <p:cNvSpPr txBox="1"/>
          <p:nvPr/>
        </p:nvSpPr>
        <p:spPr>
          <a:xfrm>
            <a:off x="6553200" y="2766568"/>
            <a:ext cx="4851400"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shared context: resource IDs, tags, owners, correlation IDs</a:t>
            </a:r>
          </a:p>
        </p:txBody>
      </p:sp>
      <p:sp>
        <p:nvSpPr>
          <p:cNvPr id="29" name="Oval 28">
            <a:extLst>
              <a:ext uri="{FF2B5EF4-FFF2-40B4-BE49-F238E27FC236}">
                <a16:creationId xmlns:a16="http://schemas.microsoft.com/office/drawing/2014/main" id="{7BE1FADF-DFB1-2C93-CA9B-898256120D1B}"/>
              </a:ext>
            </a:extLst>
          </p:cNvPr>
          <p:cNvSpPr/>
          <p:nvPr/>
        </p:nvSpPr>
        <p:spPr>
          <a:xfrm>
            <a:off x="6375400" y="3428746"/>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7525BEB0-9AD1-3413-579A-455126904DA9}"/>
              </a:ext>
            </a:extLst>
          </p:cNvPr>
          <p:cNvSpPr txBox="1"/>
          <p:nvPr/>
        </p:nvSpPr>
        <p:spPr>
          <a:xfrm>
            <a:off x="6553200" y="3348736"/>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alerts carry an owner</a:t>
            </a:r>
          </a:p>
        </p:txBody>
      </p:sp>
      <p:sp>
        <p:nvSpPr>
          <p:cNvPr id="31" name="Oval 30">
            <a:extLst>
              <a:ext uri="{FF2B5EF4-FFF2-40B4-BE49-F238E27FC236}">
                <a16:creationId xmlns:a16="http://schemas.microsoft.com/office/drawing/2014/main" id="{C27F6867-C913-E870-5340-C9ACC8665831}"/>
              </a:ext>
            </a:extLst>
          </p:cNvPr>
          <p:cNvSpPr/>
          <p:nvPr/>
        </p:nvSpPr>
        <p:spPr>
          <a:xfrm>
            <a:off x="6375400" y="3783330"/>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2CE2486-A891-8FBE-C4FB-72A2996DF0B1}"/>
              </a:ext>
            </a:extLst>
          </p:cNvPr>
          <p:cNvSpPr txBox="1"/>
          <p:nvPr/>
        </p:nvSpPr>
        <p:spPr>
          <a:xfrm>
            <a:off x="6553200" y="370332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recovery proven by the service, not a server</a:t>
            </a:r>
          </a:p>
        </p:txBody>
      </p:sp>
    </p:spTree>
    <p:extLst>
      <p:ext uri="{BB962C8B-B14F-4D97-AF65-F5344CB8AC3E}">
        <p14:creationId xmlns:p14="http://schemas.microsoft.com/office/powerpoint/2010/main" val="683027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B325FD42-2042-7DC8-69EA-3856E2174EAD}"/>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14863E20-A8D0-2A83-B1B6-0E46188CB534}"/>
              </a:ext>
            </a:extLst>
          </p:cNvPr>
          <p:cNvSpPr/>
          <p:nvPr/>
        </p:nvSpPr>
        <p:spPr>
          <a:xfrm>
            <a:off x="0" y="1295400"/>
            <a:ext cx="12192000" cy="38100"/>
          </a:xfrm>
          <a:prstGeom prst="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463326C-C09C-0551-262E-59E60E0CC162}"/>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419D479-82B0-9F16-DD9A-ACE3E16340A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Management plane and data plane</a:t>
            </a:r>
          </a:p>
        </p:txBody>
      </p:sp>
      <p:sp>
        <p:nvSpPr>
          <p:cNvPr id="6" name="ChapterTag">
            <a:extLst>
              <a:ext uri="{FF2B5EF4-FFF2-40B4-BE49-F238E27FC236}">
                <a16:creationId xmlns:a16="http://schemas.microsoft.com/office/drawing/2014/main" id="{F84DEF25-C4BB-AD4B-AFFB-1CF246A01E6D}"/>
              </a:ext>
            </a:extLst>
          </p:cNvPr>
          <p:cNvSpPr/>
          <p:nvPr/>
        </p:nvSpPr>
        <p:spPr>
          <a:xfrm>
            <a:off x="9245600" y="381000"/>
            <a:ext cx="2336800" cy="330200"/>
          </a:xfrm>
          <a:prstGeom prst="round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2 · THE ESTATE</a:t>
            </a:r>
          </a:p>
        </p:txBody>
      </p:sp>
      <p:sp>
        <p:nvSpPr>
          <p:cNvPr id="7" name="TextBox 6">
            <a:extLst>
              <a:ext uri="{FF2B5EF4-FFF2-40B4-BE49-F238E27FC236}">
                <a16:creationId xmlns:a16="http://schemas.microsoft.com/office/drawing/2014/main" id="{41465A3D-FE84-1CBC-8483-EC2119CC9C90}"/>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6DE45D61-D00B-60B0-206D-41F57FA583EB}"/>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16</a:t>
            </a:r>
          </a:p>
        </p:txBody>
      </p:sp>
      <p:sp>
        <p:nvSpPr>
          <p:cNvPr id="9" name="Rectangle: Rounded Corners 8">
            <a:extLst>
              <a:ext uri="{FF2B5EF4-FFF2-40B4-BE49-F238E27FC236}">
                <a16:creationId xmlns:a16="http://schemas.microsoft.com/office/drawing/2014/main" id="{A0D9E664-8EA9-BD71-007A-EAFD5CF48700}"/>
              </a:ext>
            </a:extLst>
          </p:cNvPr>
          <p:cNvSpPr/>
          <p:nvPr/>
        </p:nvSpPr>
        <p:spPr>
          <a:xfrm>
            <a:off x="609600" y="1574800"/>
            <a:ext cx="10972800" cy="1905000"/>
          </a:xfrm>
          <a:prstGeom prst="roundRect">
            <a:avLst>
              <a:gd name="adj" fmla="val 4000"/>
            </a:avLst>
          </a:prstGeom>
          <a:noFill/>
          <a:ln w="15875" cap="flat" cmpd="sng" algn="ctr">
            <a:solidFill>
              <a:srgbClr val="7DAA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2D15268-470C-69CD-8DE5-A00931075581}"/>
              </a:ext>
            </a:extLst>
          </p:cNvPr>
          <p:cNvSpPr txBox="1"/>
          <p:nvPr/>
        </p:nvSpPr>
        <p:spPr>
          <a:xfrm>
            <a:off x="736600" y="1625600"/>
            <a:ext cx="10718800" cy="228600"/>
          </a:xfrm>
          <a:prstGeom prst="rect">
            <a:avLst/>
          </a:prstGeom>
          <a:noFill/>
        </p:spPr>
        <p:txBody>
          <a:bodyPr vert="horz" wrap="square" lIns="25400" tIns="12700" rIns="25400" bIns="12700" rtlCol="0" anchor="t">
            <a:noAutofit/>
          </a:bodyPr>
          <a:lstStyle/>
          <a:p>
            <a:r>
              <a:rPr lang="en-US" sz="1100" b="1">
                <a:solidFill>
                  <a:srgbClr val="7DAAFA"/>
                </a:solidFill>
                <a:latin typeface="Calibri" panose="020F0502020204030204" pitchFamily="34" charset="0"/>
              </a:rPr>
              <a:t>MANAGEMENT PLANE · Azure Arc · "make it a resource I can govern"</a:t>
            </a:r>
          </a:p>
        </p:txBody>
      </p:sp>
      <p:sp>
        <p:nvSpPr>
          <p:cNvPr id="11" name="Rectangle: Rounded Corners 10">
            <a:extLst>
              <a:ext uri="{FF2B5EF4-FFF2-40B4-BE49-F238E27FC236}">
                <a16:creationId xmlns:a16="http://schemas.microsoft.com/office/drawing/2014/main" id="{68B40A94-F2B9-F5D0-0D5D-42BEFFFB3B50}"/>
              </a:ext>
            </a:extLst>
          </p:cNvPr>
          <p:cNvSpPr/>
          <p:nvPr/>
        </p:nvSpPr>
        <p:spPr>
          <a:xfrm>
            <a:off x="889000" y="2032000"/>
            <a:ext cx="16764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Resource ID in Azure Resource Manager</a:t>
            </a:r>
          </a:p>
        </p:txBody>
      </p:sp>
      <p:sp>
        <p:nvSpPr>
          <p:cNvPr id="12" name="Rectangle: Rounded Corners 11">
            <a:extLst>
              <a:ext uri="{FF2B5EF4-FFF2-40B4-BE49-F238E27FC236}">
                <a16:creationId xmlns:a16="http://schemas.microsoft.com/office/drawing/2014/main" id="{1101BAB1-C843-11CA-45E4-06E97947866E}"/>
              </a:ext>
            </a:extLst>
          </p:cNvPr>
          <p:cNvSpPr/>
          <p:nvPr/>
        </p:nvSpPr>
        <p:spPr>
          <a:xfrm>
            <a:off x="2667000" y="2032000"/>
            <a:ext cx="16764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Managed identity per machine</a:t>
            </a:r>
          </a:p>
        </p:txBody>
      </p:sp>
      <p:sp>
        <p:nvSpPr>
          <p:cNvPr id="13" name="Rectangle: Rounded Corners 12">
            <a:extLst>
              <a:ext uri="{FF2B5EF4-FFF2-40B4-BE49-F238E27FC236}">
                <a16:creationId xmlns:a16="http://schemas.microsoft.com/office/drawing/2014/main" id="{0E056232-9E22-7EBE-A1DB-24DBD61B641B}"/>
              </a:ext>
            </a:extLst>
          </p:cNvPr>
          <p:cNvSpPr/>
          <p:nvPr/>
        </p:nvSpPr>
        <p:spPr>
          <a:xfrm>
            <a:off x="4445000" y="2032000"/>
            <a:ext cx="16764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 Policy and machine configuration</a:t>
            </a:r>
          </a:p>
        </p:txBody>
      </p:sp>
      <p:sp>
        <p:nvSpPr>
          <p:cNvPr id="14" name="Rectangle: Rounded Corners 13">
            <a:extLst>
              <a:ext uri="{FF2B5EF4-FFF2-40B4-BE49-F238E27FC236}">
                <a16:creationId xmlns:a16="http://schemas.microsoft.com/office/drawing/2014/main" id="{9B23DD1B-008B-CF09-F537-7FC4FC14557D}"/>
              </a:ext>
            </a:extLst>
          </p:cNvPr>
          <p:cNvSpPr/>
          <p:nvPr/>
        </p:nvSpPr>
        <p:spPr>
          <a:xfrm>
            <a:off x="6223000" y="2032000"/>
            <a:ext cx="16764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RBAC and tags</a:t>
            </a:r>
          </a:p>
        </p:txBody>
      </p:sp>
      <p:sp>
        <p:nvSpPr>
          <p:cNvPr id="15" name="Rectangle: Rounded Corners 14">
            <a:extLst>
              <a:ext uri="{FF2B5EF4-FFF2-40B4-BE49-F238E27FC236}">
                <a16:creationId xmlns:a16="http://schemas.microsoft.com/office/drawing/2014/main" id="{572EDB90-895A-AF12-89CC-86978842EE30}"/>
              </a:ext>
            </a:extLst>
          </p:cNvPr>
          <p:cNvSpPr/>
          <p:nvPr/>
        </p:nvSpPr>
        <p:spPr>
          <a:xfrm>
            <a:off x="8001000" y="2032000"/>
            <a:ext cx="16764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Inventory in Resource Graph</a:t>
            </a:r>
          </a:p>
        </p:txBody>
      </p:sp>
      <p:sp>
        <p:nvSpPr>
          <p:cNvPr id="16" name="Rectangle: Rounded Corners 15">
            <a:extLst>
              <a:ext uri="{FF2B5EF4-FFF2-40B4-BE49-F238E27FC236}">
                <a16:creationId xmlns:a16="http://schemas.microsoft.com/office/drawing/2014/main" id="{19AFC462-AA1C-C424-3812-6EAD129BF162}"/>
              </a:ext>
            </a:extLst>
          </p:cNvPr>
          <p:cNvSpPr/>
          <p:nvPr/>
        </p:nvSpPr>
        <p:spPr>
          <a:xfrm>
            <a:off x="9779000" y="2032000"/>
            <a:ext cx="16764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Extensions (agents) installed by Policy</a:t>
            </a:r>
          </a:p>
        </p:txBody>
      </p:sp>
      <p:sp>
        <p:nvSpPr>
          <p:cNvPr id="17" name="Rectangle: Rounded Corners 16">
            <a:extLst>
              <a:ext uri="{FF2B5EF4-FFF2-40B4-BE49-F238E27FC236}">
                <a16:creationId xmlns:a16="http://schemas.microsoft.com/office/drawing/2014/main" id="{E66E807B-E898-9F16-E816-0A1BD3BCB7F5}"/>
              </a:ext>
            </a:extLst>
          </p:cNvPr>
          <p:cNvSpPr/>
          <p:nvPr/>
        </p:nvSpPr>
        <p:spPr>
          <a:xfrm>
            <a:off x="609600" y="3683000"/>
            <a:ext cx="10972800" cy="1905000"/>
          </a:xfrm>
          <a:prstGeom prst="roundRect">
            <a:avLst>
              <a:gd name="adj" fmla="val 4000"/>
            </a:avLst>
          </a:prstGeom>
          <a:noFill/>
          <a:ln w="15875" cap="flat" cmpd="sng" algn="ctr">
            <a:solidFill>
              <a:srgbClr val="FBBF24"/>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E5EF5BF-2945-102E-AAD6-37CABC71829A}"/>
              </a:ext>
            </a:extLst>
          </p:cNvPr>
          <p:cNvSpPr txBox="1"/>
          <p:nvPr/>
        </p:nvSpPr>
        <p:spPr>
          <a:xfrm>
            <a:off x="736600" y="3733800"/>
            <a:ext cx="10718800" cy="228600"/>
          </a:xfrm>
          <a:prstGeom prst="rect">
            <a:avLst/>
          </a:prstGeom>
          <a:noFill/>
        </p:spPr>
        <p:txBody>
          <a:bodyPr vert="horz" wrap="square" lIns="25400" tIns="12700" rIns="25400" bIns="12700" rtlCol="0" anchor="t">
            <a:noAutofit/>
          </a:bodyPr>
          <a:lstStyle/>
          <a:p>
            <a:r>
              <a:rPr lang="en-US" sz="1100" b="1">
                <a:solidFill>
                  <a:srgbClr val="FBBF24"/>
                </a:solidFill>
                <a:latin typeface="Calibri" panose="020F0502020204030204" pitchFamily="34" charset="0"/>
              </a:rPr>
              <a:t>DATA PLANE · Azure Monitor · "move its evidence and make sense of it"</a:t>
            </a:r>
          </a:p>
        </p:txBody>
      </p:sp>
      <p:sp>
        <p:nvSpPr>
          <p:cNvPr id="19" name="Rectangle: Rounded Corners 18">
            <a:extLst>
              <a:ext uri="{FF2B5EF4-FFF2-40B4-BE49-F238E27FC236}">
                <a16:creationId xmlns:a16="http://schemas.microsoft.com/office/drawing/2014/main" id="{E80E9EFC-5E21-ED55-1644-0CDDF4FE1DC5}"/>
              </a:ext>
            </a:extLst>
          </p:cNvPr>
          <p:cNvSpPr/>
          <p:nvPr/>
        </p:nvSpPr>
        <p:spPr>
          <a:xfrm>
            <a:off x="889000" y="4140200"/>
            <a:ext cx="16764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 Monitor Agent + data collection rules</a:t>
            </a:r>
          </a:p>
        </p:txBody>
      </p:sp>
      <p:sp>
        <p:nvSpPr>
          <p:cNvPr id="20" name="Rectangle: Rounded Corners 19">
            <a:extLst>
              <a:ext uri="{FF2B5EF4-FFF2-40B4-BE49-F238E27FC236}">
                <a16:creationId xmlns:a16="http://schemas.microsoft.com/office/drawing/2014/main" id="{6E63C7B1-1CE8-62F0-C84C-0903CBE481FF}"/>
              </a:ext>
            </a:extLst>
          </p:cNvPr>
          <p:cNvSpPr/>
          <p:nvPr/>
        </p:nvSpPr>
        <p:spPr>
          <a:xfrm>
            <a:off x="2667000" y="4140200"/>
            <a:ext cx="16764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Cluster extensions: Container insights, Managed Prometheus</a:t>
            </a:r>
          </a:p>
        </p:txBody>
      </p:sp>
      <p:sp>
        <p:nvSpPr>
          <p:cNvPr id="21" name="Rectangle: Rounded Corners 20">
            <a:extLst>
              <a:ext uri="{FF2B5EF4-FFF2-40B4-BE49-F238E27FC236}">
                <a16:creationId xmlns:a16="http://schemas.microsoft.com/office/drawing/2014/main" id="{F1476656-8380-2A7D-5D5E-9E59CDE16036}"/>
              </a:ext>
            </a:extLst>
          </p:cNvPr>
          <p:cNvSpPr/>
          <p:nvPr/>
        </p:nvSpPr>
        <p:spPr>
          <a:xfrm>
            <a:off x="4445000" y="4140200"/>
            <a:ext cx="16764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OpenTelemetry: Distro, OTLP, Collector</a:t>
            </a:r>
          </a:p>
        </p:txBody>
      </p:sp>
      <p:sp>
        <p:nvSpPr>
          <p:cNvPr id="22" name="Rectangle: Rounded Corners 21">
            <a:extLst>
              <a:ext uri="{FF2B5EF4-FFF2-40B4-BE49-F238E27FC236}">
                <a16:creationId xmlns:a16="http://schemas.microsoft.com/office/drawing/2014/main" id="{23B25AFE-355A-88B3-359C-5879911F8721}"/>
              </a:ext>
            </a:extLst>
          </p:cNvPr>
          <p:cNvSpPr/>
          <p:nvPr/>
        </p:nvSpPr>
        <p:spPr>
          <a:xfrm>
            <a:off x="6223000" y="4140200"/>
            <a:ext cx="16764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Diagnostic settings and connectors</a:t>
            </a:r>
          </a:p>
        </p:txBody>
      </p:sp>
      <p:sp>
        <p:nvSpPr>
          <p:cNvPr id="23" name="Rectangle: Rounded Corners 22">
            <a:extLst>
              <a:ext uri="{FF2B5EF4-FFF2-40B4-BE49-F238E27FC236}">
                <a16:creationId xmlns:a16="http://schemas.microsoft.com/office/drawing/2014/main" id="{80FB1E16-2536-9B7E-535A-3226D08F7325}"/>
              </a:ext>
            </a:extLst>
          </p:cNvPr>
          <p:cNvSpPr/>
          <p:nvPr/>
        </p:nvSpPr>
        <p:spPr>
          <a:xfrm>
            <a:off x="8001000" y="4140200"/>
            <a:ext cx="16764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Logs ingestion API</a:t>
            </a:r>
          </a:p>
        </p:txBody>
      </p:sp>
      <p:sp>
        <p:nvSpPr>
          <p:cNvPr id="24" name="Rectangle: Rounded Corners 23">
            <a:extLst>
              <a:ext uri="{FF2B5EF4-FFF2-40B4-BE49-F238E27FC236}">
                <a16:creationId xmlns:a16="http://schemas.microsoft.com/office/drawing/2014/main" id="{CD0C679C-0694-B95D-06A7-CF97C872705A}"/>
              </a:ext>
            </a:extLst>
          </p:cNvPr>
          <p:cNvSpPr/>
          <p:nvPr/>
        </p:nvSpPr>
        <p:spPr>
          <a:xfrm>
            <a:off x="9779000" y="4140200"/>
            <a:ext cx="16764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Workspaces, Grafana, workbooks, Health Models, alerts</a:t>
            </a:r>
          </a:p>
        </p:txBody>
      </p:sp>
      <p:cxnSp>
        <p:nvCxnSpPr>
          <p:cNvPr id="25" name="Straight Connector 24">
            <a:extLst>
              <a:ext uri="{FF2B5EF4-FFF2-40B4-BE49-F238E27FC236}">
                <a16:creationId xmlns:a16="http://schemas.microsoft.com/office/drawing/2014/main" id="{F1654A47-931D-0973-A0F1-F8978BB8AEDB}"/>
              </a:ext>
            </a:extLst>
          </p:cNvPr>
          <p:cNvCxnSpPr/>
          <p:nvPr/>
        </p:nvCxnSpPr>
        <p:spPr>
          <a:xfrm>
            <a:off x="6096000" y="3479800"/>
            <a:ext cx="0" cy="203200"/>
          </a:xfrm>
          <a:prstGeom prst="line">
            <a:avLst/>
          </a:prstGeom>
          <a:ln w="22225">
            <a:solidFill>
              <a:srgbClr val="B0B0BA"/>
            </a:solidFill>
            <a:tailEnd type="triangle"/>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BEE9455-15A3-D2EB-B374-E8DFF883CF4D}"/>
              </a:ext>
            </a:extLst>
          </p:cNvPr>
          <p:cNvSpPr txBox="1"/>
          <p:nvPr/>
        </p:nvSpPr>
        <p:spPr>
          <a:xfrm>
            <a:off x="6350000" y="3454400"/>
            <a:ext cx="4064000" cy="2286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identity and policy enable the data plane</a:t>
            </a:r>
          </a:p>
        </p:txBody>
      </p:sp>
      <p:sp>
        <p:nvSpPr>
          <p:cNvPr id="27" name="Rectangle 26">
            <a:extLst>
              <a:ext uri="{FF2B5EF4-FFF2-40B4-BE49-F238E27FC236}">
                <a16:creationId xmlns:a16="http://schemas.microsoft.com/office/drawing/2014/main" id="{F75F45E5-CCED-DA4D-8793-E054B6EDC6E8}"/>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1778732-8E90-C3C2-DE08-949D9B485733}"/>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Connected is not collected: the management plane registers, the data plane carries evidence.</a:t>
            </a:r>
          </a:p>
        </p:txBody>
      </p:sp>
    </p:spTree>
    <p:extLst>
      <p:ext uri="{BB962C8B-B14F-4D97-AF65-F5344CB8AC3E}">
        <p14:creationId xmlns:p14="http://schemas.microsoft.com/office/powerpoint/2010/main" val="3762166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4FEA3C7D-760E-D65A-1C79-4037A547BA3D}"/>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CF6439E1-7332-D80F-121A-16FCF4BE86C6}"/>
              </a:ext>
            </a:extLst>
          </p:cNvPr>
          <p:cNvSpPr/>
          <p:nvPr/>
        </p:nvSpPr>
        <p:spPr>
          <a:xfrm>
            <a:off x="0" y="1295400"/>
            <a:ext cx="12192000" cy="38100"/>
          </a:xfrm>
          <a:prstGeom prst="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4EA3A29-3978-64D8-DB00-D27E8A9F0D9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360EC2-0F15-119D-D545-435C70FE8691}"/>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Why Azure as the management plane</a:t>
            </a:r>
          </a:p>
        </p:txBody>
      </p:sp>
      <p:sp>
        <p:nvSpPr>
          <p:cNvPr id="6" name="ChapterTag">
            <a:extLst>
              <a:ext uri="{FF2B5EF4-FFF2-40B4-BE49-F238E27FC236}">
                <a16:creationId xmlns:a16="http://schemas.microsoft.com/office/drawing/2014/main" id="{BF1F543E-E97D-A7FD-252D-6479E4B7DEB3}"/>
              </a:ext>
            </a:extLst>
          </p:cNvPr>
          <p:cNvSpPr/>
          <p:nvPr/>
        </p:nvSpPr>
        <p:spPr>
          <a:xfrm>
            <a:off x="9245600" y="381000"/>
            <a:ext cx="2336800" cy="330200"/>
          </a:xfrm>
          <a:prstGeom prst="round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2 · THE ESTATE</a:t>
            </a:r>
          </a:p>
        </p:txBody>
      </p:sp>
      <p:sp>
        <p:nvSpPr>
          <p:cNvPr id="7" name="TextBox 6">
            <a:extLst>
              <a:ext uri="{FF2B5EF4-FFF2-40B4-BE49-F238E27FC236}">
                <a16:creationId xmlns:a16="http://schemas.microsoft.com/office/drawing/2014/main" id="{006388AC-EFDB-B124-2963-F3392BA96139}"/>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FAC9DBE7-C0F2-0AD8-8954-63D73A8DF760}"/>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17</a:t>
            </a:r>
          </a:p>
        </p:txBody>
      </p:sp>
      <p:sp>
        <p:nvSpPr>
          <p:cNvPr id="9" name="Oval 8">
            <a:extLst>
              <a:ext uri="{FF2B5EF4-FFF2-40B4-BE49-F238E27FC236}">
                <a16:creationId xmlns:a16="http://schemas.microsoft.com/office/drawing/2014/main" id="{058500B3-B653-2F31-AE86-677864E98A99}"/>
              </a:ext>
            </a:extLst>
          </p:cNvPr>
          <p:cNvSpPr/>
          <p:nvPr/>
        </p:nvSpPr>
        <p:spPr>
          <a:xfrm>
            <a:off x="660400" y="1680210"/>
            <a:ext cx="101600" cy="1016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B513073-A6ED-E0B1-A460-D9DE8A7AF747}"/>
              </a:ext>
            </a:extLst>
          </p:cNvPr>
          <p:cNvSpPr txBox="1"/>
          <p:nvPr/>
        </p:nvSpPr>
        <p:spPr>
          <a:xfrm>
            <a:off x="889000" y="160020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resource model (Azure Resource Manager) for everything you run, wherever it runs: Azure Arc projects servers, Kubernetes, SQL Server, VMware, SCVMM and AWS or GCP resources as Azure resources</a:t>
            </a:r>
          </a:p>
        </p:txBody>
      </p:sp>
      <p:sp>
        <p:nvSpPr>
          <p:cNvPr id="11" name="Oval 10">
            <a:extLst>
              <a:ext uri="{FF2B5EF4-FFF2-40B4-BE49-F238E27FC236}">
                <a16:creationId xmlns:a16="http://schemas.microsoft.com/office/drawing/2014/main" id="{7921FA62-F3F3-8306-2278-EAEA7ECC64B2}"/>
              </a:ext>
            </a:extLst>
          </p:cNvPr>
          <p:cNvSpPr/>
          <p:nvPr/>
        </p:nvSpPr>
        <p:spPr>
          <a:xfrm>
            <a:off x="660400" y="2313178"/>
            <a:ext cx="101600" cy="1016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A78281E-349D-6DFE-6F71-F679EBA1A037}"/>
              </a:ext>
            </a:extLst>
          </p:cNvPr>
          <p:cNvSpPr txBox="1"/>
          <p:nvPr/>
        </p:nvSpPr>
        <p:spPr>
          <a:xfrm>
            <a:off x="889000" y="223316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identity per machine (managed identity), so agents and apps authenticate without secrets</a:t>
            </a:r>
          </a:p>
        </p:txBody>
      </p:sp>
      <p:sp>
        <p:nvSpPr>
          <p:cNvPr id="13" name="Oval 12">
            <a:extLst>
              <a:ext uri="{FF2B5EF4-FFF2-40B4-BE49-F238E27FC236}">
                <a16:creationId xmlns:a16="http://schemas.microsoft.com/office/drawing/2014/main" id="{29377C40-231C-C5F2-1658-4770922C316F}"/>
              </a:ext>
            </a:extLst>
          </p:cNvPr>
          <p:cNvSpPr/>
          <p:nvPr/>
        </p:nvSpPr>
        <p:spPr>
          <a:xfrm>
            <a:off x="660400" y="2718562"/>
            <a:ext cx="101600" cy="1016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FDAE393-FF3F-61C2-8051-DCD93E5ED5BA}"/>
              </a:ext>
            </a:extLst>
          </p:cNvPr>
          <p:cNvSpPr txBox="1"/>
          <p:nvPr/>
        </p:nvSpPr>
        <p:spPr>
          <a:xfrm>
            <a:off x="889000" y="26385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policy engine (Azure Policy) to install agents, enforce tags and audit configuration everywhere</a:t>
            </a:r>
          </a:p>
        </p:txBody>
      </p:sp>
      <p:sp>
        <p:nvSpPr>
          <p:cNvPr id="15" name="Oval 14">
            <a:extLst>
              <a:ext uri="{FF2B5EF4-FFF2-40B4-BE49-F238E27FC236}">
                <a16:creationId xmlns:a16="http://schemas.microsoft.com/office/drawing/2014/main" id="{14DAB159-6EE6-B666-7762-3C727A2823C4}"/>
              </a:ext>
            </a:extLst>
          </p:cNvPr>
          <p:cNvSpPr/>
          <p:nvPr/>
        </p:nvSpPr>
        <p:spPr>
          <a:xfrm>
            <a:off x="660400" y="3123946"/>
            <a:ext cx="101600" cy="1016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B495CA2-AC0F-C593-6579-F7D63C934E0D}"/>
              </a:ext>
            </a:extLst>
          </p:cNvPr>
          <p:cNvSpPr txBox="1"/>
          <p:nvPr/>
        </p:nvSpPr>
        <p:spPr>
          <a:xfrm>
            <a:off x="889000" y="3043936"/>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inventory (Azure Resource Graph) to query every estate by tag, owner or type in one place</a:t>
            </a:r>
          </a:p>
        </p:txBody>
      </p:sp>
      <p:sp>
        <p:nvSpPr>
          <p:cNvPr id="17" name="Oval 16">
            <a:extLst>
              <a:ext uri="{FF2B5EF4-FFF2-40B4-BE49-F238E27FC236}">
                <a16:creationId xmlns:a16="http://schemas.microsoft.com/office/drawing/2014/main" id="{7FD2B18F-07AC-D7C6-3E99-92F8F2391171}"/>
              </a:ext>
            </a:extLst>
          </p:cNvPr>
          <p:cNvSpPr/>
          <p:nvPr/>
        </p:nvSpPr>
        <p:spPr>
          <a:xfrm>
            <a:off x="660400" y="3529330"/>
            <a:ext cx="101600" cy="1016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340224E-A118-3180-9241-D15FB19E75FD}"/>
              </a:ext>
            </a:extLst>
          </p:cNvPr>
          <p:cNvSpPr txBox="1"/>
          <p:nvPr/>
        </p:nvSpPr>
        <p:spPr>
          <a:xfrm>
            <a:off x="889000" y="344932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data plane behind it (Azure Monitor, Log Analytics, Managed Prometheus, Application Insights) with open standards in (OpenTelemetry, Prometheus) and out (Grafana, APIs)</a:t>
            </a:r>
          </a:p>
        </p:txBody>
      </p:sp>
      <p:sp>
        <p:nvSpPr>
          <p:cNvPr id="19" name="Oval 18">
            <a:extLst>
              <a:ext uri="{FF2B5EF4-FFF2-40B4-BE49-F238E27FC236}">
                <a16:creationId xmlns:a16="http://schemas.microsoft.com/office/drawing/2014/main" id="{8E2589A1-8F09-05DD-7B1D-42C5064069C0}"/>
              </a:ext>
            </a:extLst>
          </p:cNvPr>
          <p:cNvSpPr/>
          <p:nvPr/>
        </p:nvSpPr>
        <p:spPr>
          <a:xfrm>
            <a:off x="660400" y="4162298"/>
            <a:ext cx="101600" cy="1016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C174B23-369C-88B4-F5FD-776C9C720E25}"/>
              </a:ext>
            </a:extLst>
          </p:cNvPr>
          <p:cNvSpPr txBox="1"/>
          <p:nvPr/>
        </p:nvSpPr>
        <p:spPr>
          <a:xfrm>
            <a:off x="889000" y="408228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Security on the same plane: Defender for Cloud and Microsoft Sentinel read the same Arc resources and the same workspaces</a:t>
            </a:r>
          </a:p>
        </p:txBody>
      </p:sp>
    </p:spTree>
    <p:extLst>
      <p:ext uri="{BB962C8B-B14F-4D97-AF65-F5344CB8AC3E}">
        <p14:creationId xmlns:p14="http://schemas.microsoft.com/office/powerpoint/2010/main" val="382554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37094DE5-3D68-425F-792F-75DBD6BD2FAD}"/>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CBAB635-9959-29C5-2694-6524820A1707}"/>
              </a:ext>
            </a:extLst>
          </p:cNvPr>
          <p:cNvSpPr/>
          <p:nvPr/>
        </p:nvSpPr>
        <p:spPr>
          <a:xfrm>
            <a:off x="0" y="1295400"/>
            <a:ext cx="12192000" cy="38100"/>
          </a:xfrm>
          <a:prstGeom prst="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DFCB090-58B9-A5F7-C19E-5AC0C794DB2B}"/>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DB5D56C-7335-3C87-4D78-4244264C70A4}"/>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What stays where</a:t>
            </a:r>
          </a:p>
        </p:txBody>
      </p:sp>
      <p:sp>
        <p:nvSpPr>
          <p:cNvPr id="6" name="ChapterTag">
            <a:extLst>
              <a:ext uri="{FF2B5EF4-FFF2-40B4-BE49-F238E27FC236}">
                <a16:creationId xmlns:a16="http://schemas.microsoft.com/office/drawing/2014/main" id="{410957C3-31B0-3DC9-A022-3C9D2E0488C7}"/>
              </a:ext>
            </a:extLst>
          </p:cNvPr>
          <p:cNvSpPr/>
          <p:nvPr/>
        </p:nvSpPr>
        <p:spPr>
          <a:xfrm>
            <a:off x="9245600" y="381000"/>
            <a:ext cx="2336800" cy="330200"/>
          </a:xfrm>
          <a:prstGeom prst="roundRect">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2 · THE ESTATE</a:t>
            </a:r>
          </a:p>
        </p:txBody>
      </p:sp>
      <p:sp>
        <p:nvSpPr>
          <p:cNvPr id="7" name="TextBox 6">
            <a:extLst>
              <a:ext uri="{FF2B5EF4-FFF2-40B4-BE49-F238E27FC236}">
                <a16:creationId xmlns:a16="http://schemas.microsoft.com/office/drawing/2014/main" id="{DB1AC6B8-66FB-F0E0-F033-6E32806D0619}"/>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80E52C0D-9FF5-B597-4B3D-AD8B4533AC1A}"/>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18</a:t>
            </a:r>
          </a:p>
        </p:txBody>
      </p:sp>
      <p:sp>
        <p:nvSpPr>
          <p:cNvPr id="9" name="Rectangle: Rounded Corners 8">
            <a:extLst>
              <a:ext uri="{FF2B5EF4-FFF2-40B4-BE49-F238E27FC236}">
                <a16:creationId xmlns:a16="http://schemas.microsoft.com/office/drawing/2014/main" id="{951E752D-B4FF-7C77-5A54-B46A64D19B68}"/>
              </a:ext>
            </a:extLst>
          </p:cNvPr>
          <p:cNvSpPr/>
          <p:nvPr/>
        </p:nvSpPr>
        <p:spPr>
          <a:xfrm>
            <a:off x="609600" y="1549400"/>
            <a:ext cx="2413000" cy="495300"/>
          </a:xfrm>
          <a:prstGeom prst="roundRect">
            <a:avLst>
              <a:gd name="adj" fmla="val 0"/>
            </a:avLst>
          </a:prstGeom>
          <a:solidFill>
            <a:srgbClr val="2DD4BF"/>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Layer</a:t>
            </a:r>
          </a:p>
        </p:txBody>
      </p:sp>
      <p:sp>
        <p:nvSpPr>
          <p:cNvPr id="10" name="Rectangle: Rounded Corners 9">
            <a:extLst>
              <a:ext uri="{FF2B5EF4-FFF2-40B4-BE49-F238E27FC236}">
                <a16:creationId xmlns:a16="http://schemas.microsoft.com/office/drawing/2014/main" id="{F5D0C867-8DD2-EE7F-8B4D-7B6198B422BF}"/>
              </a:ext>
            </a:extLst>
          </p:cNvPr>
          <p:cNvSpPr/>
          <p:nvPr/>
        </p:nvSpPr>
        <p:spPr>
          <a:xfrm>
            <a:off x="3022600" y="1549400"/>
            <a:ext cx="2139950" cy="495300"/>
          </a:xfrm>
          <a:prstGeom prst="roundRect">
            <a:avLst>
              <a:gd name="adj" fmla="val 0"/>
            </a:avLst>
          </a:prstGeom>
          <a:solidFill>
            <a:srgbClr val="2DD4BF"/>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Datacenter (VMware, SCVMM, Hyper-V)</a:t>
            </a:r>
          </a:p>
        </p:txBody>
      </p:sp>
      <p:sp>
        <p:nvSpPr>
          <p:cNvPr id="11" name="Rectangle: Rounded Corners 10">
            <a:extLst>
              <a:ext uri="{FF2B5EF4-FFF2-40B4-BE49-F238E27FC236}">
                <a16:creationId xmlns:a16="http://schemas.microsoft.com/office/drawing/2014/main" id="{40863806-C608-FC3F-9D19-7F75E9998977}"/>
              </a:ext>
            </a:extLst>
          </p:cNvPr>
          <p:cNvSpPr/>
          <p:nvPr/>
        </p:nvSpPr>
        <p:spPr>
          <a:xfrm>
            <a:off x="5162550" y="1549400"/>
            <a:ext cx="2139950" cy="495300"/>
          </a:xfrm>
          <a:prstGeom prst="roundRect">
            <a:avLst>
              <a:gd name="adj" fmla="val 0"/>
            </a:avLst>
          </a:prstGeom>
          <a:solidFill>
            <a:srgbClr val="2DD4BF"/>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AWS</a:t>
            </a:r>
          </a:p>
        </p:txBody>
      </p:sp>
      <p:sp>
        <p:nvSpPr>
          <p:cNvPr id="12" name="Rectangle: Rounded Corners 11">
            <a:extLst>
              <a:ext uri="{FF2B5EF4-FFF2-40B4-BE49-F238E27FC236}">
                <a16:creationId xmlns:a16="http://schemas.microsoft.com/office/drawing/2014/main" id="{2E4A2955-851E-8DC7-9CBD-38157CFF0130}"/>
              </a:ext>
            </a:extLst>
          </p:cNvPr>
          <p:cNvSpPr/>
          <p:nvPr/>
        </p:nvSpPr>
        <p:spPr>
          <a:xfrm>
            <a:off x="7302500" y="1549400"/>
            <a:ext cx="2139950" cy="495300"/>
          </a:xfrm>
          <a:prstGeom prst="roundRect">
            <a:avLst>
              <a:gd name="adj" fmla="val 0"/>
            </a:avLst>
          </a:prstGeom>
          <a:solidFill>
            <a:srgbClr val="2DD4BF"/>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GCP</a:t>
            </a:r>
          </a:p>
        </p:txBody>
      </p:sp>
      <p:sp>
        <p:nvSpPr>
          <p:cNvPr id="13" name="Rectangle: Rounded Corners 12">
            <a:extLst>
              <a:ext uri="{FF2B5EF4-FFF2-40B4-BE49-F238E27FC236}">
                <a16:creationId xmlns:a16="http://schemas.microsoft.com/office/drawing/2014/main" id="{EB84E141-970B-27D0-F1FC-2EDA8C311032}"/>
              </a:ext>
            </a:extLst>
          </p:cNvPr>
          <p:cNvSpPr/>
          <p:nvPr/>
        </p:nvSpPr>
        <p:spPr>
          <a:xfrm>
            <a:off x="9442450" y="1549400"/>
            <a:ext cx="2139950" cy="495300"/>
          </a:xfrm>
          <a:prstGeom prst="roundRect">
            <a:avLst>
              <a:gd name="adj" fmla="val 0"/>
            </a:avLst>
          </a:prstGeom>
          <a:solidFill>
            <a:srgbClr val="2DD4BF"/>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Edge or branch</a:t>
            </a:r>
          </a:p>
        </p:txBody>
      </p:sp>
      <p:sp>
        <p:nvSpPr>
          <p:cNvPr id="14" name="Rectangle: Rounded Corners 13">
            <a:extLst>
              <a:ext uri="{FF2B5EF4-FFF2-40B4-BE49-F238E27FC236}">
                <a16:creationId xmlns:a16="http://schemas.microsoft.com/office/drawing/2014/main" id="{120291FF-D2C0-CE21-42F5-749BA774D095}"/>
              </a:ext>
            </a:extLst>
          </p:cNvPr>
          <p:cNvSpPr/>
          <p:nvPr/>
        </p:nvSpPr>
        <p:spPr>
          <a:xfrm>
            <a:off x="609600" y="2044700"/>
            <a:ext cx="2413000" cy="6731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Compute visibility</a:t>
            </a:r>
          </a:p>
        </p:txBody>
      </p:sp>
      <p:sp>
        <p:nvSpPr>
          <p:cNvPr id="15" name="Rectangle: Rounded Corners 14">
            <a:extLst>
              <a:ext uri="{FF2B5EF4-FFF2-40B4-BE49-F238E27FC236}">
                <a16:creationId xmlns:a16="http://schemas.microsoft.com/office/drawing/2014/main" id="{C53BEDDC-2F4F-4BD8-827E-E5ADC294F8D8}"/>
              </a:ext>
            </a:extLst>
          </p:cNvPr>
          <p:cNvSpPr/>
          <p:nvPr/>
        </p:nvSpPr>
        <p:spPr>
          <a:xfrm>
            <a:off x="3022600" y="20447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Arc-enabled servers; Arc-enabled VMware or SCVMM via resource bridge</a:t>
            </a:r>
          </a:p>
        </p:txBody>
      </p:sp>
      <p:sp>
        <p:nvSpPr>
          <p:cNvPr id="16" name="Rectangle: Rounded Corners 15">
            <a:extLst>
              <a:ext uri="{FF2B5EF4-FFF2-40B4-BE49-F238E27FC236}">
                <a16:creationId xmlns:a16="http://schemas.microsoft.com/office/drawing/2014/main" id="{EC7B7A29-3366-2818-B3F7-1FFEC2BD5829}"/>
              </a:ext>
            </a:extLst>
          </p:cNvPr>
          <p:cNvSpPr/>
          <p:nvPr/>
        </p:nvSpPr>
        <p:spPr>
          <a:xfrm>
            <a:off x="5162550" y="20447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Arc-enabled servers via the multicloud connector or the agent</a:t>
            </a:r>
          </a:p>
        </p:txBody>
      </p:sp>
      <p:sp>
        <p:nvSpPr>
          <p:cNvPr id="17" name="Rectangle: Rounded Corners 16">
            <a:extLst>
              <a:ext uri="{FF2B5EF4-FFF2-40B4-BE49-F238E27FC236}">
                <a16:creationId xmlns:a16="http://schemas.microsoft.com/office/drawing/2014/main" id="{1645052E-01E9-6D54-4228-D250A9A5A06D}"/>
              </a:ext>
            </a:extLst>
          </p:cNvPr>
          <p:cNvSpPr/>
          <p:nvPr/>
        </p:nvSpPr>
        <p:spPr>
          <a:xfrm>
            <a:off x="7302500" y="20447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Arc-enabled servers via the multicloud connector (PREVIEW) or the agent</a:t>
            </a:r>
          </a:p>
        </p:txBody>
      </p:sp>
      <p:sp>
        <p:nvSpPr>
          <p:cNvPr id="18" name="Rectangle: Rounded Corners 17">
            <a:extLst>
              <a:ext uri="{FF2B5EF4-FFF2-40B4-BE49-F238E27FC236}">
                <a16:creationId xmlns:a16="http://schemas.microsoft.com/office/drawing/2014/main" id="{AE39B2C2-3500-BAF7-F065-9871668B804A}"/>
              </a:ext>
            </a:extLst>
          </p:cNvPr>
          <p:cNvSpPr/>
          <p:nvPr/>
        </p:nvSpPr>
        <p:spPr>
          <a:xfrm>
            <a:off x="9442450" y="20447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Arc-enabled servers; Arc gateway for constrained networks</a:t>
            </a:r>
          </a:p>
        </p:txBody>
      </p:sp>
      <p:sp>
        <p:nvSpPr>
          <p:cNvPr id="19" name="Rectangle: Rounded Corners 18">
            <a:extLst>
              <a:ext uri="{FF2B5EF4-FFF2-40B4-BE49-F238E27FC236}">
                <a16:creationId xmlns:a16="http://schemas.microsoft.com/office/drawing/2014/main" id="{1100BA5D-E5C4-809F-93BC-9BCA52207EF5}"/>
              </a:ext>
            </a:extLst>
          </p:cNvPr>
          <p:cNvSpPr/>
          <p:nvPr/>
        </p:nvSpPr>
        <p:spPr>
          <a:xfrm>
            <a:off x="609600" y="2717800"/>
            <a:ext cx="2413000" cy="6731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Kubernetes</a:t>
            </a:r>
          </a:p>
        </p:txBody>
      </p:sp>
      <p:sp>
        <p:nvSpPr>
          <p:cNvPr id="20" name="Rectangle: Rounded Corners 19">
            <a:extLst>
              <a:ext uri="{FF2B5EF4-FFF2-40B4-BE49-F238E27FC236}">
                <a16:creationId xmlns:a16="http://schemas.microsoft.com/office/drawing/2014/main" id="{4304D381-2C55-18EB-1621-F12660DECEE5}"/>
              </a:ext>
            </a:extLst>
          </p:cNvPr>
          <p:cNvSpPr/>
          <p:nvPr/>
        </p:nvSpPr>
        <p:spPr>
          <a:xfrm>
            <a:off x="3022600" y="27178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Arc-enabled Kubernetes</a:t>
            </a:r>
          </a:p>
        </p:txBody>
      </p:sp>
      <p:sp>
        <p:nvSpPr>
          <p:cNvPr id="21" name="Rectangle: Rounded Corners 20">
            <a:extLst>
              <a:ext uri="{FF2B5EF4-FFF2-40B4-BE49-F238E27FC236}">
                <a16:creationId xmlns:a16="http://schemas.microsoft.com/office/drawing/2014/main" id="{81BEF395-3A93-06C8-3384-7B8615204E32}"/>
              </a:ext>
            </a:extLst>
          </p:cNvPr>
          <p:cNvSpPr/>
          <p:nvPr/>
        </p:nvSpPr>
        <p:spPr>
          <a:xfrm>
            <a:off x="5162550" y="27178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EKS as Arc-enabled Kubernetes (connector onboarding PREVIEW)</a:t>
            </a:r>
          </a:p>
        </p:txBody>
      </p:sp>
      <p:sp>
        <p:nvSpPr>
          <p:cNvPr id="22" name="Rectangle: Rounded Corners 21">
            <a:extLst>
              <a:ext uri="{FF2B5EF4-FFF2-40B4-BE49-F238E27FC236}">
                <a16:creationId xmlns:a16="http://schemas.microsoft.com/office/drawing/2014/main" id="{17EDE9F3-7624-CF93-0E5F-061F60A8E4D4}"/>
              </a:ext>
            </a:extLst>
          </p:cNvPr>
          <p:cNvSpPr/>
          <p:nvPr/>
        </p:nvSpPr>
        <p:spPr>
          <a:xfrm>
            <a:off x="7302500" y="27178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GKE as Arc-enabled Kubernetes</a:t>
            </a:r>
          </a:p>
        </p:txBody>
      </p:sp>
      <p:sp>
        <p:nvSpPr>
          <p:cNvPr id="23" name="Rectangle: Rounded Corners 22">
            <a:extLst>
              <a:ext uri="{FF2B5EF4-FFF2-40B4-BE49-F238E27FC236}">
                <a16:creationId xmlns:a16="http://schemas.microsoft.com/office/drawing/2014/main" id="{7FF59152-0A8E-C09A-EC0C-B575858C12C0}"/>
              </a:ext>
            </a:extLst>
          </p:cNvPr>
          <p:cNvSpPr/>
          <p:nvPr/>
        </p:nvSpPr>
        <p:spPr>
          <a:xfrm>
            <a:off x="9442450" y="27178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AKS on Azure Local, k3s or similar as Arc-enabled Kubernetes</a:t>
            </a:r>
          </a:p>
        </p:txBody>
      </p:sp>
      <p:sp>
        <p:nvSpPr>
          <p:cNvPr id="24" name="Rectangle: Rounded Corners 23">
            <a:extLst>
              <a:ext uri="{FF2B5EF4-FFF2-40B4-BE49-F238E27FC236}">
                <a16:creationId xmlns:a16="http://schemas.microsoft.com/office/drawing/2014/main" id="{E59755A6-2E3E-DB22-E3E8-5ED07DC1D6CC}"/>
              </a:ext>
            </a:extLst>
          </p:cNvPr>
          <p:cNvSpPr/>
          <p:nvPr/>
        </p:nvSpPr>
        <p:spPr>
          <a:xfrm>
            <a:off x="609600" y="3390900"/>
            <a:ext cx="2413000" cy="8636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Platform inventory</a:t>
            </a:r>
          </a:p>
        </p:txBody>
      </p:sp>
      <p:sp>
        <p:nvSpPr>
          <p:cNvPr id="25" name="Rectangle: Rounded Corners 24">
            <a:extLst>
              <a:ext uri="{FF2B5EF4-FFF2-40B4-BE49-F238E27FC236}">
                <a16:creationId xmlns:a16="http://schemas.microsoft.com/office/drawing/2014/main" id="{EFC03E8A-7FF8-C365-3198-9389B8CC3144}"/>
              </a:ext>
            </a:extLst>
          </p:cNvPr>
          <p:cNvSpPr/>
          <p:nvPr/>
        </p:nvSpPr>
        <p:spPr>
          <a:xfrm>
            <a:off x="3022600" y="33909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vCenter or SCVMM inventory through the resource bridge</a:t>
            </a:r>
          </a:p>
        </p:txBody>
      </p:sp>
      <p:sp>
        <p:nvSpPr>
          <p:cNvPr id="26" name="Rectangle: Rounded Corners 25">
            <a:extLst>
              <a:ext uri="{FF2B5EF4-FFF2-40B4-BE49-F238E27FC236}">
                <a16:creationId xmlns:a16="http://schemas.microsoft.com/office/drawing/2014/main" id="{83D39BD7-9AA6-A8BE-1AFB-40E10AE37F85}"/>
              </a:ext>
            </a:extLst>
          </p:cNvPr>
          <p:cNvSpPr/>
          <p:nvPr/>
        </p:nvSpPr>
        <p:spPr>
          <a:xfrm>
            <a:off x="5162550" y="33909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multicloud connector Inventory (100+ AWS services)</a:t>
            </a:r>
          </a:p>
        </p:txBody>
      </p:sp>
      <p:sp>
        <p:nvSpPr>
          <p:cNvPr id="27" name="Rectangle: Rounded Corners 26">
            <a:extLst>
              <a:ext uri="{FF2B5EF4-FFF2-40B4-BE49-F238E27FC236}">
                <a16:creationId xmlns:a16="http://schemas.microsoft.com/office/drawing/2014/main" id="{949892F9-ED04-735A-2075-43860693A23B}"/>
              </a:ext>
            </a:extLst>
          </p:cNvPr>
          <p:cNvSpPr/>
          <p:nvPr/>
        </p:nvSpPr>
        <p:spPr>
          <a:xfrm>
            <a:off x="7302500" y="33909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multicloud connector Inventory (Compute, GKE, Storage, SQL, BigQuery, Cloud Functions)</a:t>
            </a:r>
          </a:p>
        </p:txBody>
      </p:sp>
      <p:sp>
        <p:nvSpPr>
          <p:cNvPr id="28" name="Rectangle: Rounded Corners 27">
            <a:extLst>
              <a:ext uri="{FF2B5EF4-FFF2-40B4-BE49-F238E27FC236}">
                <a16:creationId xmlns:a16="http://schemas.microsoft.com/office/drawing/2014/main" id="{E7BA0936-4CA4-2632-144D-550993DFEE0F}"/>
              </a:ext>
            </a:extLst>
          </p:cNvPr>
          <p:cNvSpPr/>
          <p:nvPr/>
        </p:nvSpPr>
        <p:spPr>
          <a:xfrm>
            <a:off x="9442450" y="33909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Resource Graph</a:t>
            </a:r>
          </a:p>
        </p:txBody>
      </p:sp>
      <p:sp>
        <p:nvSpPr>
          <p:cNvPr id="29" name="Rectangle: Rounded Corners 28">
            <a:extLst>
              <a:ext uri="{FF2B5EF4-FFF2-40B4-BE49-F238E27FC236}">
                <a16:creationId xmlns:a16="http://schemas.microsoft.com/office/drawing/2014/main" id="{0C052D56-348C-47E1-FD63-2787BA12E54F}"/>
              </a:ext>
            </a:extLst>
          </p:cNvPr>
          <p:cNvSpPr/>
          <p:nvPr/>
        </p:nvSpPr>
        <p:spPr>
          <a:xfrm>
            <a:off x="609600" y="4254500"/>
            <a:ext cx="2413000" cy="8636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Native telemetry you keep</a:t>
            </a:r>
          </a:p>
        </p:txBody>
      </p:sp>
      <p:sp>
        <p:nvSpPr>
          <p:cNvPr id="30" name="Rectangle: Rounded Corners 29">
            <a:extLst>
              <a:ext uri="{FF2B5EF4-FFF2-40B4-BE49-F238E27FC236}">
                <a16:creationId xmlns:a16="http://schemas.microsoft.com/office/drawing/2014/main" id="{1418516A-E14C-0C6A-62F8-B2E5D89BF663}"/>
              </a:ext>
            </a:extLst>
          </p:cNvPr>
          <p:cNvSpPr/>
          <p:nvPr/>
        </p:nvSpPr>
        <p:spPr>
          <a:xfrm>
            <a:off x="3022600" y="42545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vCenter and host metrics stay local; guest evidence goes to Azure Monitor</a:t>
            </a:r>
          </a:p>
        </p:txBody>
      </p:sp>
      <p:sp>
        <p:nvSpPr>
          <p:cNvPr id="31" name="Rectangle: Rounded Corners 30">
            <a:extLst>
              <a:ext uri="{FF2B5EF4-FFF2-40B4-BE49-F238E27FC236}">
                <a16:creationId xmlns:a16="http://schemas.microsoft.com/office/drawing/2014/main" id="{FAD8FBA2-886A-39DF-14DA-3ECA6C2031D8}"/>
              </a:ext>
            </a:extLst>
          </p:cNvPr>
          <p:cNvSpPr/>
          <p:nvPr/>
        </p:nvSpPr>
        <p:spPr>
          <a:xfrm>
            <a:off x="5162550" y="42545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CloudWatch and CloudTrail stay; guest and cluster evidence goes to Azure Monitor</a:t>
            </a:r>
          </a:p>
        </p:txBody>
      </p:sp>
      <p:sp>
        <p:nvSpPr>
          <p:cNvPr id="32" name="Rectangle: Rounded Corners 31">
            <a:extLst>
              <a:ext uri="{FF2B5EF4-FFF2-40B4-BE49-F238E27FC236}">
                <a16:creationId xmlns:a16="http://schemas.microsoft.com/office/drawing/2014/main" id="{B59D1E43-E4B5-AED2-3C40-00711FA7A979}"/>
              </a:ext>
            </a:extLst>
          </p:cNvPr>
          <p:cNvSpPr/>
          <p:nvPr/>
        </p:nvSpPr>
        <p:spPr>
          <a:xfrm>
            <a:off x="7302500" y="42545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Cloud Monitoring and Logging stay; guest and cluster evidence goes to Azure Monitor</a:t>
            </a:r>
          </a:p>
        </p:txBody>
      </p:sp>
      <p:sp>
        <p:nvSpPr>
          <p:cNvPr id="33" name="Rectangle: Rounded Corners 32">
            <a:extLst>
              <a:ext uri="{FF2B5EF4-FFF2-40B4-BE49-F238E27FC236}">
                <a16:creationId xmlns:a16="http://schemas.microsoft.com/office/drawing/2014/main" id="{82232AAA-F4DE-4B43-2E22-0B56B9D77D70}"/>
              </a:ext>
            </a:extLst>
          </p:cNvPr>
          <p:cNvSpPr/>
          <p:nvPr/>
        </p:nvSpPr>
        <p:spPr>
          <a:xfrm>
            <a:off x="9442450" y="4254500"/>
            <a:ext cx="2139950"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local buffering with the Azure Monitor pipeline where links are poor</a:t>
            </a:r>
          </a:p>
        </p:txBody>
      </p:sp>
    </p:spTree>
    <p:extLst>
      <p:ext uri="{BB962C8B-B14F-4D97-AF65-F5344CB8AC3E}">
        <p14:creationId xmlns:p14="http://schemas.microsoft.com/office/powerpoint/2010/main" val="2738502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FF3D0230-4005-1D9A-5B06-D4714729B15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BDEFACCD-9E23-A92D-F02D-D7E8B99070FB}"/>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77B7E56-535A-5EE3-6ED7-5F716A5682AF}"/>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7A7C6F1-0934-8FF8-09A9-02CF6BAD815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3 · Azure Arc as the management plane</a:t>
            </a:r>
          </a:p>
        </p:txBody>
      </p:sp>
      <p:sp>
        <p:nvSpPr>
          <p:cNvPr id="6" name="ChapterTag">
            <a:extLst>
              <a:ext uri="{FF2B5EF4-FFF2-40B4-BE49-F238E27FC236}">
                <a16:creationId xmlns:a16="http://schemas.microsoft.com/office/drawing/2014/main" id="{6E18C949-CACB-367D-7A58-3A7A4E1310C4}"/>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5BB25FC7-4289-9E4F-2755-8FC6E29C224D}"/>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4B5A6998-46B2-AF70-E10B-EE9C2F9C813B}"/>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19</a:t>
            </a:r>
          </a:p>
        </p:txBody>
      </p:sp>
      <p:sp>
        <p:nvSpPr>
          <p:cNvPr id="9" name="TextBox 8">
            <a:extLst>
              <a:ext uri="{FF2B5EF4-FFF2-40B4-BE49-F238E27FC236}">
                <a16:creationId xmlns:a16="http://schemas.microsoft.com/office/drawing/2014/main" id="{C75F1887-D51F-D9C8-0D28-64E9EBE29524}"/>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7DAAFA"/>
                </a:solidFill>
                <a:latin typeface="Calibri" panose="020F0502020204030204" pitchFamily="34" charset="0"/>
              </a:rPr>
              <a:t>3</a:t>
            </a:r>
          </a:p>
        </p:txBody>
      </p:sp>
      <p:sp>
        <p:nvSpPr>
          <p:cNvPr id="10" name="TextBox 9">
            <a:extLst>
              <a:ext uri="{FF2B5EF4-FFF2-40B4-BE49-F238E27FC236}">
                <a16:creationId xmlns:a16="http://schemas.microsoft.com/office/drawing/2014/main" id="{15B55D4D-CA60-EE3C-EA81-7E5CA85D607B}"/>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065D095B-C268-5D98-FF88-6B6E1845ADC9}"/>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How does a machine or cluster anywhere become a resource Azure can govern, and what does it cost to connect it?</a:t>
            </a:r>
          </a:p>
        </p:txBody>
      </p:sp>
      <p:sp>
        <p:nvSpPr>
          <p:cNvPr id="12" name="TextBox 11">
            <a:extLst>
              <a:ext uri="{FF2B5EF4-FFF2-40B4-BE49-F238E27FC236}">
                <a16:creationId xmlns:a16="http://schemas.microsoft.com/office/drawing/2014/main" id="{1E2E4755-4BDC-E26D-C505-402A98E27CE3}"/>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7DAAFA"/>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33453ABC-D90B-C08A-60B1-7D8762B6550E}"/>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Projection · the agent · identity · network paths · servers, Kubernetes, VMware, SCVMM, AWS, GCP · governance at scale</a:t>
            </a:r>
          </a:p>
        </p:txBody>
      </p:sp>
      <p:sp>
        <p:nvSpPr>
          <p:cNvPr id="14" name="Rectangle: Rounded Corners 13">
            <a:extLst>
              <a:ext uri="{FF2B5EF4-FFF2-40B4-BE49-F238E27FC236}">
                <a16:creationId xmlns:a16="http://schemas.microsoft.com/office/drawing/2014/main" id="{B76B43AA-A4C2-64A0-9287-60EE001CBFE0}"/>
              </a:ext>
            </a:extLst>
          </p:cNvPr>
          <p:cNvSpPr/>
          <p:nvPr/>
        </p:nvSpPr>
        <p:spPr>
          <a:xfrm>
            <a:off x="609600" y="5588000"/>
            <a:ext cx="1282700" cy="508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73EB1824-B399-DAA5-13D4-42891D4E6236}"/>
              </a:ext>
            </a:extLst>
          </p:cNvPr>
          <p:cNvSpPr/>
          <p:nvPr/>
        </p:nvSpPr>
        <p:spPr>
          <a:xfrm>
            <a:off x="1993900" y="5588000"/>
            <a:ext cx="1282700" cy="508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8DFFD8E4-6A9F-3A10-6A7A-0D5916EA27BD}"/>
              </a:ext>
            </a:extLst>
          </p:cNvPr>
          <p:cNvSpPr/>
          <p:nvPr/>
        </p:nvSpPr>
        <p:spPr>
          <a:xfrm>
            <a:off x="3378200" y="5588000"/>
            <a:ext cx="1282700" cy="508000"/>
          </a:xfrm>
          <a:prstGeom prst="roundRect">
            <a:avLst>
              <a:gd name="adj" fmla="val 8000"/>
            </a:avLst>
          </a:prstGeom>
          <a:solidFill>
            <a:srgbClr val="7DAAF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7BBA9193-5CA2-8EA3-816F-6DF711BC21EB}"/>
              </a:ext>
            </a:extLst>
          </p:cNvPr>
          <p:cNvSpPr/>
          <p:nvPr/>
        </p:nvSpPr>
        <p:spPr>
          <a:xfrm>
            <a:off x="4762500" y="5588000"/>
            <a:ext cx="1282700" cy="508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A203AF4C-2F1D-38EC-89C1-695A1507BC20}"/>
              </a:ext>
            </a:extLst>
          </p:cNvPr>
          <p:cNvSpPr/>
          <p:nvPr/>
        </p:nvSpPr>
        <p:spPr>
          <a:xfrm>
            <a:off x="6146800" y="5588000"/>
            <a:ext cx="1282700" cy="508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44176A16-49BC-24FF-BF2D-97A6325F8143}"/>
              </a:ext>
            </a:extLst>
          </p:cNvPr>
          <p:cNvSpPr/>
          <p:nvPr/>
        </p:nvSpPr>
        <p:spPr>
          <a:xfrm>
            <a:off x="7531100" y="5588000"/>
            <a:ext cx="1282700" cy="508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3AED9BFC-4CF7-48EB-2DAB-576252BF216F}"/>
              </a:ext>
            </a:extLst>
          </p:cNvPr>
          <p:cNvSpPr/>
          <p:nvPr/>
        </p:nvSpPr>
        <p:spPr>
          <a:xfrm>
            <a:off x="8915400" y="5588000"/>
            <a:ext cx="1282700" cy="5080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2C30E2AA-633B-ECB8-DA6D-98454DE19FDA}"/>
              </a:ext>
            </a:extLst>
          </p:cNvPr>
          <p:cNvSpPr/>
          <p:nvPr/>
        </p:nvSpPr>
        <p:spPr>
          <a:xfrm>
            <a:off x="10299700" y="5588000"/>
            <a:ext cx="1282700" cy="5080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Reference</a:t>
            </a:r>
          </a:p>
        </p:txBody>
      </p:sp>
    </p:spTree>
    <p:extLst>
      <p:ext uri="{BB962C8B-B14F-4D97-AF65-F5344CB8AC3E}">
        <p14:creationId xmlns:p14="http://schemas.microsoft.com/office/powerpoint/2010/main" val="326524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3D6BE2BA-3493-3193-FF0C-0F702D612975}"/>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1030A305-C25E-580C-956F-6D1758E053DD}"/>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75DEA18-A433-76B9-399C-4F1D05969D24}"/>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5A166A9-FC8F-A775-4145-34FD5B97453A}"/>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What Arc actually does</a:t>
            </a:r>
          </a:p>
        </p:txBody>
      </p:sp>
      <p:sp>
        <p:nvSpPr>
          <p:cNvPr id="6" name="ChapterTag">
            <a:extLst>
              <a:ext uri="{FF2B5EF4-FFF2-40B4-BE49-F238E27FC236}">
                <a16:creationId xmlns:a16="http://schemas.microsoft.com/office/drawing/2014/main" id="{9068262B-BAEB-4843-6CEA-F7AF43CA534D}"/>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B88F1D18-C5F6-C298-7355-0FF351D5B63A}"/>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D62166B-B747-2A06-A73F-D018E945C87E}"/>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20</a:t>
            </a:r>
          </a:p>
        </p:txBody>
      </p:sp>
      <p:sp>
        <p:nvSpPr>
          <p:cNvPr id="9" name="Rectangle: Rounded Corners 8">
            <a:extLst>
              <a:ext uri="{FF2B5EF4-FFF2-40B4-BE49-F238E27FC236}">
                <a16:creationId xmlns:a16="http://schemas.microsoft.com/office/drawing/2014/main" id="{6820FAE3-2258-1711-0D96-4AF96E00152A}"/>
              </a:ext>
            </a:extLst>
          </p:cNvPr>
          <p:cNvSpPr/>
          <p:nvPr/>
        </p:nvSpPr>
        <p:spPr>
          <a:xfrm>
            <a:off x="609600" y="1651000"/>
            <a:ext cx="3810000" cy="4191000"/>
          </a:xfrm>
          <a:prstGeom prst="roundRect">
            <a:avLst>
              <a:gd name="adj" fmla="val 4000"/>
            </a:avLst>
          </a:prstGeom>
          <a:noFill/>
          <a:ln w="15875" cap="flat" cmpd="sng" algn="ctr">
            <a:solidFill>
              <a:srgbClr val="A3E635"/>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C07A83A-675A-DAF2-9ACE-5E81FEE5CD00}"/>
              </a:ext>
            </a:extLst>
          </p:cNvPr>
          <p:cNvSpPr txBox="1"/>
          <p:nvPr/>
        </p:nvSpPr>
        <p:spPr>
          <a:xfrm>
            <a:off x="736600" y="1701800"/>
            <a:ext cx="3556000" cy="228600"/>
          </a:xfrm>
          <a:prstGeom prst="rect">
            <a:avLst/>
          </a:prstGeom>
          <a:noFill/>
        </p:spPr>
        <p:txBody>
          <a:bodyPr vert="horz" wrap="square" lIns="25400" tIns="12700" rIns="25400" bIns="12700" rtlCol="0" anchor="t">
            <a:noAutofit/>
          </a:bodyPr>
          <a:lstStyle/>
          <a:p>
            <a:r>
              <a:rPr lang="en-US" sz="1100" b="1">
                <a:solidFill>
                  <a:srgbClr val="A3E635"/>
                </a:solidFill>
                <a:latin typeface="Calibri" panose="020F0502020204030204" pitchFamily="34" charset="0"/>
              </a:rPr>
              <a:t>WHERE IT RUNS</a:t>
            </a:r>
          </a:p>
        </p:txBody>
      </p:sp>
      <p:sp>
        <p:nvSpPr>
          <p:cNvPr id="11" name="Rectangle: Rounded Corners 10">
            <a:extLst>
              <a:ext uri="{FF2B5EF4-FFF2-40B4-BE49-F238E27FC236}">
                <a16:creationId xmlns:a16="http://schemas.microsoft.com/office/drawing/2014/main" id="{107C7217-4A22-EF74-DFF4-C5D4E74D0E65}"/>
              </a:ext>
            </a:extLst>
          </p:cNvPr>
          <p:cNvSpPr/>
          <p:nvPr/>
        </p:nvSpPr>
        <p:spPr>
          <a:xfrm>
            <a:off x="889000" y="2159000"/>
            <a:ext cx="32512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it-IT" sz="1300">
                <a:solidFill>
                  <a:srgbClr val="F4F4F5"/>
                </a:solidFill>
                <a:latin typeface="Calibri" panose="020F0502020204030204" pitchFamily="34" charset="0"/>
              </a:rPr>
              <a:t>A Linux VM in datacenter 2</a:t>
            </a:r>
            <a:endParaRPr lang="en-US" sz="1300">
              <a:solidFill>
                <a:srgbClr val="F4F4F5"/>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B60BE5D6-CED8-B131-D747-125B4BA3A9AD}"/>
              </a:ext>
            </a:extLst>
          </p:cNvPr>
          <p:cNvSpPr/>
          <p:nvPr/>
        </p:nvSpPr>
        <p:spPr>
          <a:xfrm>
            <a:off x="889000" y="2997200"/>
            <a:ext cx="3251200" cy="63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a:solidFill>
                  <a:srgbClr val="F4F4F5"/>
                </a:solidFill>
                <a:latin typeface="Calibri" panose="020F0502020204030204" pitchFamily="34" charset="0"/>
              </a:rPr>
              <a:t>An EC2 instance in AWS</a:t>
            </a:r>
          </a:p>
        </p:txBody>
      </p:sp>
      <p:sp>
        <p:nvSpPr>
          <p:cNvPr id="13" name="Rectangle: Rounded Corners 12">
            <a:extLst>
              <a:ext uri="{FF2B5EF4-FFF2-40B4-BE49-F238E27FC236}">
                <a16:creationId xmlns:a16="http://schemas.microsoft.com/office/drawing/2014/main" id="{EB74DC9E-479C-4D6A-3485-374B83C2D078}"/>
              </a:ext>
            </a:extLst>
          </p:cNvPr>
          <p:cNvSpPr/>
          <p:nvPr/>
        </p:nvSpPr>
        <p:spPr>
          <a:xfrm>
            <a:off x="889000" y="3835400"/>
            <a:ext cx="3251200" cy="635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a:solidFill>
                  <a:srgbClr val="F4F4F5"/>
                </a:solidFill>
                <a:latin typeface="Calibri" panose="020F0502020204030204" pitchFamily="34" charset="0"/>
              </a:rPr>
              <a:t>A GKE cluster in GCP</a:t>
            </a:r>
          </a:p>
        </p:txBody>
      </p:sp>
      <p:sp>
        <p:nvSpPr>
          <p:cNvPr id="14" name="Rectangle: Rounded Corners 13">
            <a:extLst>
              <a:ext uri="{FF2B5EF4-FFF2-40B4-BE49-F238E27FC236}">
                <a16:creationId xmlns:a16="http://schemas.microsoft.com/office/drawing/2014/main" id="{704EFB34-0093-7B7A-A8C2-C2C416F70AAB}"/>
              </a:ext>
            </a:extLst>
          </p:cNvPr>
          <p:cNvSpPr/>
          <p:nvPr/>
        </p:nvSpPr>
        <p:spPr>
          <a:xfrm>
            <a:off x="889000" y="4673600"/>
            <a:ext cx="32512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a:solidFill>
                  <a:srgbClr val="F4F4F5"/>
                </a:solidFill>
                <a:latin typeface="Calibri" panose="020F0502020204030204" pitchFamily="34" charset="0"/>
              </a:rPr>
              <a:t>A vCenter with 3,000 VMs</a:t>
            </a:r>
          </a:p>
        </p:txBody>
      </p:sp>
      <p:sp>
        <p:nvSpPr>
          <p:cNvPr id="15" name="Rectangle: Rounded Corners 14">
            <a:extLst>
              <a:ext uri="{FF2B5EF4-FFF2-40B4-BE49-F238E27FC236}">
                <a16:creationId xmlns:a16="http://schemas.microsoft.com/office/drawing/2014/main" id="{CB8D20DD-EC52-57CD-05A9-0A81F9C8FD60}"/>
              </a:ext>
            </a:extLst>
          </p:cNvPr>
          <p:cNvSpPr/>
          <p:nvPr/>
        </p:nvSpPr>
        <p:spPr>
          <a:xfrm>
            <a:off x="4953000" y="3175000"/>
            <a:ext cx="2032000" cy="1016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500" b="1">
                <a:solidFill>
                  <a:srgbClr val="FBBF24"/>
                </a:solidFill>
                <a:latin typeface="Calibri" panose="020F0502020204030204" pitchFamily="34" charset="0"/>
              </a:rPr>
              <a:t>AZURE ARC</a:t>
            </a:r>
          </a:p>
          <a:p>
            <a:pPr algn="ctr"/>
            <a:r>
              <a:rPr lang="en-US" sz="1500" b="1">
                <a:solidFill>
                  <a:srgbClr val="FBBF24"/>
                </a:solidFill>
                <a:latin typeface="Calibri" panose="020F0502020204030204" pitchFamily="34" charset="0"/>
              </a:rPr>
              <a:t>projects it</a:t>
            </a:r>
          </a:p>
        </p:txBody>
      </p:sp>
      <p:cxnSp>
        <p:nvCxnSpPr>
          <p:cNvPr id="16" name="Straight Connector 15">
            <a:extLst>
              <a:ext uri="{FF2B5EF4-FFF2-40B4-BE49-F238E27FC236}">
                <a16:creationId xmlns:a16="http://schemas.microsoft.com/office/drawing/2014/main" id="{85531D58-304E-5C78-D844-A607945F38A0}"/>
              </a:ext>
            </a:extLst>
          </p:cNvPr>
          <p:cNvCxnSpPr/>
          <p:nvPr/>
        </p:nvCxnSpPr>
        <p:spPr>
          <a:xfrm>
            <a:off x="4140200" y="2476500"/>
            <a:ext cx="812800" cy="95250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E667156-FF13-D816-B065-733EBF2E5F35}"/>
              </a:ext>
            </a:extLst>
          </p:cNvPr>
          <p:cNvCxnSpPr/>
          <p:nvPr/>
        </p:nvCxnSpPr>
        <p:spPr>
          <a:xfrm>
            <a:off x="4140200" y="3314700"/>
            <a:ext cx="812800" cy="24130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66893D3-CCA3-F994-5DD4-B3273D94A615}"/>
              </a:ext>
            </a:extLst>
          </p:cNvPr>
          <p:cNvCxnSpPr/>
          <p:nvPr/>
        </p:nvCxnSpPr>
        <p:spPr>
          <a:xfrm flipV="1">
            <a:off x="4140200" y="3683000"/>
            <a:ext cx="812800" cy="469900"/>
          </a:xfrm>
          <a:prstGeom prst="line">
            <a:avLst/>
          </a:prstGeom>
          <a:ln w="22225">
            <a:solidFill>
              <a:srgbClr val="2DD4BF"/>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4AD0739-E0D5-1168-4936-4BFB68F53F0A}"/>
              </a:ext>
            </a:extLst>
          </p:cNvPr>
          <p:cNvCxnSpPr/>
          <p:nvPr/>
        </p:nvCxnSpPr>
        <p:spPr>
          <a:xfrm flipV="1">
            <a:off x="4140200" y="3810000"/>
            <a:ext cx="812800" cy="118110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8B3FBEC9-EB31-F2BC-1B6B-01855E6FD923}"/>
              </a:ext>
            </a:extLst>
          </p:cNvPr>
          <p:cNvSpPr/>
          <p:nvPr/>
        </p:nvSpPr>
        <p:spPr>
          <a:xfrm>
            <a:off x="7518400" y="1651000"/>
            <a:ext cx="4064000" cy="4191000"/>
          </a:xfrm>
          <a:prstGeom prst="roundRect">
            <a:avLst>
              <a:gd name="adj" fmla="val 4000"/>
            </a:avLst>
          </a:prstGeom>
          <a:noFill/>
          <a:ln w="15875" cap="flat" cmpd="sng" algn="ctr">
            <a:solidFill>
              <a:srgbClr val="7DAA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60B5CF0-CC4F-6373-2286-439E7E49A814}"/>
              </a:ext>
            </a:extLst>
          </p:cNvPr>
          <p:cNvSpPr txBox="1"/>
          <p:nvPr/>
        </p:nvSpPr>
        <p:spPr>
          <a:xfrm>
            <a:off x="7645400" y="1701800"/>
            <a:ext cx="3810000" cy="228600"/>
          </a:xfrm>
          <a:prstGeom prst="rect">
            <a:avLst/>
          </a:prstGeom>
          <a:noFill/>
        </p:spPr>
        <p:txBody>
          <a:bodyPr vert="horz" wrap="square" lIns="25400" tIns="12700" rIns="25400" bIns="12700" rtlCol="0" anchor="t">
            <a:noAutofit/>
          </a:bodyPr>
          <a:lstStyle/>
          <a:p>
            <a:r>
              <a:rPr lang="en-US" sz="1100" b="1">
                <a:solidFill>
                  <a:srgbClr val="7DAAFA"/>
                </a:solidFill>
                <a:latin typeface="Calibri" panose="020F0502020204030204" pitchFamily="34" charset="0"/>
              </a:rPr>
              <a:t>WHAT AZURE SEES</a:t>
            </a:r>
          </a:p>
        </p:txBody>
      </p:sp>
      <p:sp>
        <p:nvSpPr>
          <p:cNvPr id="22" name="Rectangle: Rounded Corners 21">
            <a:extLst>
              <a:ext uri="{FF2B5EF4-FFF2-40B4-BE49-F238E27FC236}">
                <a16:creationId xmlns:a16="http://schemas.microsoft.com/office/drawing/2014/main" id="{61B2AF26-71F9-DD03-FE88-536DBF300F9A}"/>
              </a:ext>
            </a:extLst>
          </p:cNvPr>
          <p:cNvSpPr/>
          <p:nvPr/>
        </p:nvSpPr>
        <p:spPr>
          <a:xfrm>
            <a:off x="7772400" y="2159000"/>
            <a:ext cx="3556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fr-FR" sz="1050">
                <a:solidFill>
                  <a:srgbClr val="F4F4F5"/>
                </a:solidFill>
                <a:latin typeface="Calibri" panose="020F0502020204030204" pitchFamily="34" charset="0"/>
              </a:rPr>
              <a:t>/subscriptions/.../Microsoft.HybridCompute/machines/dc2-lnx-14</a:t>
            </a:r>
            <a:endParaRPr lang="en-US" sz="1050">
              <a:solidFill>
                <a:srgbClr val="F4F4F5"/>
              </a:solidFill>
              <a:latin typeface="Calibri" panose="020F0502020204030204" pitchFamily="34" charset="0"/>
            </a:endParaRPr>
          </a:p>
        </p:txBody>
      </p:sp>
      <p:sp>
        <p:nvSpPr>
          <p:cNvPr id="23" name="Rectangle: Rounded Corners 22">
            <a:extLst>
              <a:ext uri="{FF2B5EF4-FFF2-40B4-BE49-F238E27FC236}">
                <a16:creationId xmlns:a16="http://schemas.microsoft.com/office/drawing/2014/main" id="{C0CCBF9C-52A5-88ED-D215-2561D54DD2E5}"/>
              </a:ext>
            </a:extLst>
          </p:cNvPr>
          <p:cNvSpPr/>
          <p:nvPr/>
        </p:nvSpPr>
        <p:spPr>
          <a:xfrm>
            <a:off x="7772400" y="2997200"/>
            <a:ext cx="3556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fr-FR" sz="1050">
                <a:solidFill>
                  <a:srgbClr val="F4F4F5"/>
                </a:solidFill>
                <a:latin typeface="Calibri" panose="020F0502020204030204" pitchFamily="34" charset="0"/>
              </a:rPr>
              <a:t>/subscriptions/.../Microsoft.HybridCompute/machines/i-0abc...</a:t>
            </a:r>
            <a:endParaRPr lang="en-US" sz="1050">
              <a:solidFill>
                <a:srgbClr val="F4F4F5"/>
              </a:solidFill>
              <a:latin typeface="Calibri" panose="020F0502020204030204" pitchFamily="34" charset="0"/>
            </a:endParaRPr>
          </a:p>
        </p:txBody>
      </p:sp>
      <p:sp>
        <p:nvSpPr>
          <p:cNvPr id="24" name="Rectangle: Rounded Corners 23">
            <a:extLst>
              <a:ext uri="{FF2B5EF4-FFF2-40B4-BE49-F238E27FC236}">
                <a16:creationId xmlns:a16="http://schemas.microsoft.com/office/drawing/2014/main" id="{751B985B-84C4-9DF8-E399-96D3F575347B}"/>
              </a:ext>
            </a:extLst>
          </p:cNvPr>
          <p:cNvSpPr/>
          <p:nvPr/>
        </p:nvSpPr>
        <p:spPr>
          <a:xfrm>
            <a:off x="7772400" y="3835400"/>
            <a:ext cx="3556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050">
                <a:solidFill>
                  <a:srgbClr val="F4F4F5"/>
                </a:solidFill>
                <a:latin typeface="Calibri" panose="020F0502020204030204" pitchFamily="34" charset="0"/>
              </a:rPr>
              <a:t>/subscriptions/.../Microsoft.Kubernetes/connectedClusters/gke-prod-01</a:t>
            </a:r>
          </a:p>
        </p:txBody>
      </p:sp>
      <p:sp>
        <p:nvSpPr>
          <p:cNvPr id="25" name="Rectangle: Rounded Corners 24">
            <a:extLst>
              <a:ext uri="{FF2B5EF4-FFF2-40B4-BE49-F238E27FC236}">
                <a16:creationId xmlns:a16="http://schemas.microsoft.com/office/drawing/2014/main" id="{CE3318A1-DA80-DB43-4598-EBD7A7585EF9}"/>
              </a:ext>
            </a:extLst>
          </p:cNvPr>
          <p:cNvSpPr/>
          <p:nvPr/>
        </p:nvSpPr>
        <p:spPr>
          <a:xfrm>
            <a:off x="7772400" y="4673600"/>
            <a:ext cx="3556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050">
                <a:solidFill>
                  <a:srgbClr val="F4F4F5"/>
                </a:solidFill>
                <a:latin typeface="Calibri" panose="020F0502020204030204" pitchFamily="34" charset="0"/>
              </a:rPr>
              <a:t>/subscriptions/.../Microsoft.ConnectedVMwarevSphere/vcenters/vc01</a:t>
            </a:r>
          </a:p>
        </p:txBody>
      </p:sp>
      <p:cxnSp>
        <p:nvCxnSpPr>
          <p:cNvPr id="26" name="Straight Connector 25">
            <a:extLst>
              <a:ext uri="{FF2B5EF4-FFF2-40B4-BE49-F238E27FC236}">
                <a16:creationId xmlns:a16="http://schemas.microsoft.com/office/drawing/2014/main" id="{7F83B298-9CCE-FD00-3088-0F07A70EBD32}"/>
              </a:ext>
            </a:extLst>
          </p:cNvPr>
          <p:cNvCxnSpPr/>
          <p:nvPr/>
        </p:nvCxnSpPr>
        <p:spPr>
          <a:xfrm>
            <a:off x="6985000" y="3683000"/>
            <a:ext cx="5334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8104B5E2-60AE-8A50-B6E5-8916FF626639}"/>
              </a:ext>
            </a:extLst>
          </p:cNvPr>
          <p:cNvSpPr txBox="1"/>
          <p:nvPr/>
        </p:nvSpPr>
        <p:spPr>
          <a:xfrm>
            <a:off x="7772400" y="5461000"/>
            <a:ext cx="3556000" cy="431800"/>
          </a:xfrm>
          <a:prstGeom prst="rect">
            <a:avLst/>
          </a:prstGeom>
          <a:noFill/>
        </p:spPr>
        <p:txBody>
          <a:bodyPr vert="horz" wrap="square" lIns="25400" tIns="12700" rIns="25400" bIns="12700" rtlCol="0" anchor="t">
            <a:noAutofit/>
          </a:bodyPr>
          <a:lstStyle/>
          <a:p>
            <a:r>
              <a:rPr lang="en-US" sz="1100" b="1">
                <a:solidFill>
                  <a:srgbClr val="7DAAFA"/>
                </a:solidFill>
                <a:latin typeface="Calibri" panose="020F0502020204030204" pitchFamily="34" charset="0"/>
              </a:rPr>
              <a:t>resource ID · managed identity · tags · RBAC · Policy · extensions</a:t>
            </a:r>
          </a:p>
        </p:txBody>
      </p:sp>
      <p:sp>
        <p:nvSpPr>
          <p:cNvPr id="28" name="Rectangle 27">
            <a:extLst>
              <a:ext uri="{FF2B5EF4-FFF2-40B4-BE49-F238E27FC236}">
                <a16:creationId xmlns:a16="http://schemas.microsoft.com/office/drawing/2014/main" id="{00D3C39A-A690-76DB-8E09-24D007321511}"/>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846B977-7EF1-C834-F15A-0D2F0783A2F7}"/>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Nothing moves. The machine gets an Azure resource ID and an identity; everything else follows from that.</a:t>
            </a:r>
          </a:p>
        </p:txBody>
      </p:sp>
    </p:spTree>
    <p:extLst>
      <p:ext uri="{BB962C8B-B14F-4D97-AF65-F5344CB8AC3E}">
        <p14:creationId xmlns:p14="http://schemas.microsoft.com/office/powerpoint/2010/main" val="3569569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CC7AB823-5405-D24B-6050-76E5D8380A06}"/>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72250E0F-82CE-9BEA-AA63-E73895B3990D}"/>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03B35AA-043A-4AE8-2C35-2629057150E3}"/>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006928-4297-3C16-84B1-2EF7F10CC3B1}"/>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Arc family</a:t>
            </a:r>
          </a:p>
        </p:txBody>
      </p:sp>
      <p:sp>
        <p:nvSpPr>
          <p:cNvPr id="6" name="ChapterTag">
            <a:extLst>
              <a:ext uri="{FF2B5EF4-FFF2-40B4-BE49-F238E27FC236}">
                <a16:creationId xmlns:a16="http://schemas.microsoft.com/office/drawing/2014/main" id="{66C72B9F-86CF-0347-78F9-9422636FEC02}"/>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76B0630C-76AF-CE63-EF76-A29AAC87C663}"/>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D54A47E0-55EE-2270-FAD5-793B4ECF3FAF}"/>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21</a:t>
            </a:r>
          </a:p>
        </p:txBody>
      </p:sp>
      <p:sp>
        <p:nvSpPr>
          <p:cNvPr id="9" name="Rectangle: Rounded Corners 8">
            <a:extLst>
              <a:ext uri="{FF2B5EF4-FFF2-40B4-BE49-F238E27FC236}">
                <a16:creationId xmlns:a16="http://schemas.microsoft.com/office/drawing/2014/main" id="{FD733D3F-B286-6740-B950-E239613821FA}"/>
              </a:ext>
            </a:extLst>
          </p:cNvPr>
          <p:cNvSpPr/>
          <p:nvPr/>
        </p:nvSpPr>
        <p:spPr>
          <a:xfrm>
            <a:off x="609600" y="15748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Arc-enabled servers</a:t>
            </a:r>
          </a:p>
          <a:p>
            <a:r>
              <a:rPr lang="en-US" sz="1200">
                <a:solidFill>
                  <a:srgbClr val="F4F4F5"/>
                </a:solidFill>
                <a:latin typeface="Calibri" panose="020F0502020204030204" pitchFamily="34" charset="0"/>
              </a:rPr>
              <a:t>Windows and Linux, physical or virtual, anywhere; the Connected Machine agent</a:t>
            </a:r>
          </a:p>
        </p:txBody>
      </p:sp>
      <p:sp>
        <p:nvSpPr>
          <p:cNvPr id="10" name="Rectangle: Rounded Corners 9">
            <a:extLst>
              <a:ext uri="{FF2B5EF4-FFF2-40B4-BE49-F238E27FC236}">
                <a16:creationId xmlns:a16="http://schemas.microsoft.com/office/drawing/2014/main" id="{05C961A2-9732-3C71-9CB1-C761BD8BCA53}"/>
              </a:ext>
            </a:extLst>
          </p:cNvPr>
          <p:cNvSpPr/>
          <p:nvPr/>
        </p:nvSpPr>
        <p:spPr>
          <a:xfrm>
            <a:off x="3390900" y="15748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Arc-enabled Kubernetes</a:t>
            </a:r>
          </a:p>
          <a:p>
            <a:r>
              <a:rPr lang="en-US" sz="1200">
                <a:solidFill>
                  <a:srgbClr val="F4F4F5"/>
                </a:solidFill>
                <a:latin typeface="Calibri" panose="020F0502020204030204" pitchFamily="34" charset="0"/>
              </a:rPr>
              <a:t>any CNCF-conformant cluster; agents in the azure-arc namespace; cluster extensions</a:t>
            </a:r>
          </a:p>
        </p:txBody>
      </p:sp>
      <p:sp>
        <p:nvSpPr>
          <p:cNvPr id="11" name="Rectangle: Rounded Corners 10">
            <a:extLst>
              <a:ext uri="{FF2B5EF4-FFF2-40B4-BE49-F238E27FC236}">
                <a16:creationId xmlns:a16="http://schemas.microsoft.com/office/drawing/2014/main" id="{F6A36F7F-D1B8-6DAE-5189-C8476E553FFF}"/>
              </a:ext>
            </a:extLst>
          </p:cNvPr>
          <p:cNvSpPr/>
          <p:nvPr/>
        </p:nvSpPr>
        <p:spPr>
          <a:xfrm>
            <a:off x="6172200" y="15748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Arc-enabled SQL Server</a:t>
            </a:r>
          </a:p>
          <a:p>
            <a:r>
              <a:rPr lang="en-US" sz="1200">
                <a:solidFill>
                  <a:srgbClr val="F4F4F5"/>
                </a:solidFill>
                <a:latin typeface="Calibri" panose="020F0502020204030204" pitchFamily="34" charset="0"/>
              </a:rPr>
              <a:t>SQL instances on Arc servers; inventory, best practices, Defender, ESU</a:t>
            </a:r>
          </a:p>
        </p:txBody>
      </p:sp>
      <p:sp>
        <p:nvSpPr>
          <p:cNvPr id="12" name="Rectangle: Rounded Corners 11">
            <a:extLst>
              <a:ext uri="{FF2B5EF4-FFF2-40B4-BE49-F238E27FC236}">
                <a16:creationId xmlns:a16="http://schemas.microsoft.com/office/drawing/2014/main" id="{2B24C186-198D-BC7E-494A-F80B1B88CBF0}"/>
              </a:ext>
            </a:extLst>
          </p:cNvPr>
          <p:cNvSpPr/>
          <p:nvPr/>
        </p:nvSpPr>
        <p:spPr>
          <a:xfrm>
            <a:off x="8953500" y="15748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Arc-enabled VMware vSphere</a:t>
            </a:r>
          </a:p>
          <a:p>
            <a:r>
              <a:rPr lang="en-US" sz="1200">
                <a:solidFill>
                  <a:srgbClr val="F4F4F5"/>
                </a:solidFill>
                <a:latin typeface="Calibri" panose="020F0502020204030204" pitchFamily="34" charset="0"/>
              </a:rPr>
              <a:t>vCenter projected through a resource bridge; VM lifecycle plus guest management</a:t>
            </a:r>
          </a:p>
        </p:txBody>
      </p:sp>
      <p:sp>
        <p:nvSpPr>
          <p:cNvPr id="13" name="Rectangle: Rounded Corners 12">
            <a:extLst>
              <a:ext uri="{FF2B5EF4-FFF2-40B4-BE49-F238E27FC236}">
                <a16:creationId xmlns:a16="http://schemas.microsoft.com/office/drawing/2014/main" id="{9B671054-8638-2EAA-004E-51A2BE791E43}"/>
              </a:ext>
            </a:extLst>
          </p:cNvPr>
          <p:cNvSpPr/>
          <p:nvPr/>
        </p:nvSpPr>
        <p:spPr>
          <a:xfrm>
            <a:off x="609600" y="31242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Arc-enabled SCVMM</a:t>
            </a:r>
          </a:p>
          <a:p>
            <a:r>
              <a:rPr lang="en-US" sz="1200">
                <a:solidFill>
                  <a:srgbClr val="F4F4F5"/>
                </a:solidFill>
                <a:latin typeface="Calibri" panose="020F0502020204030204" pitchFamily="34" charset="0"/>
              </a:rPr>
              <a:t>SCVMM projected through a resource bridge; same model as VMware</a:t>
            </a:r>
          </a:p>
        </p:txBody>
      </p:sp>
      <p:sp>
        <p:nvSpPr>
          <p:cNvPr id="14" name="Rectangle: Rounded Corners 13">
            <a:extLst>
              <a:ext uri="{FF2B5EF4-FFF2-40B4-BE49-F238E27FC236}">
                <a16:creationId xmlns:a16="http://schemas.microsoft.com/office/drawing/2014/main" id="{55189B6D-C1AA-97AE-CA92-1AE19372B29D}"/>
              </a:ext>
            </a:extLst>
          </p:cNvPr>
          <p:cNvSpPr/>
          <p:nvPr/>
        </p:nvSpPr>
        <p:spPr>
          <a:xfrm>
            <a:off x="3390900" y="31242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Azure Local</a:t>
            </a:r>
          </a:p>
          <a:p>
            <a:r>
              <a:rPr lang="en-US" sz="1200">
                <a:solidFill>
                  <a:srgbClr val="F4F4F5"/>
                </a:solidFill>
                <a:latin typeface="Calibri" panose="020F0502020204030204" pitchFamily="34" charset="0"/>
              </a:rPr>
              <a:t>Azure-managed hyperconverged hosts; Arc VM management built in</a:t>
            </a:r>
          </a:p>
        </p:txBody>
      </p:sp>
      <p:sp>
        <p:nvSpPr>
          <p:cNvPr id="15" name="Rectangle: Rounded Corners 14">
            <a:extLst>
              <a:ext uri="{FF2B5EF4-FFF2-40B4-BE49-F238E27FC236}">
                <a16:creationId xmlns:a16="http://schemas.microsoft.com/office/drawing/2014/main" id="{BBFD7448-7827-E6D9-B924-00A0AAB8A0EF}"/>
              </a:ext>
            </a:extLst>
          </p:cNvPr>
          <p:cNvSpPr/>
          <p:nvPr/>
        </p:nvSpPr>
        <p:spPr>
          <a:xfrm>
            <a:off x="6172200" y="31242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Multicloud connector</a:t>
            </a:r>
          </a:p>
          <a:p>
            <a:r>
              <a:rPr lang="en-US" sz="1200">
                <a:solidFill>
                  <a:srgbClr val="F4F4F5"/>
                </a:solidFill>
                <a:latin typeface="Calibri" panose="020F0502020204030204" pitchFamily="34" charset="0"/>
              </a:rPr>
              <a:t>AWS and GCP (PREVIEW) inventory and Arc onboarding for EC2, GCP VMs and EKS (PREVIEW)</a:t>
            </a:r>
          </a:p>
        </p:txBody>
      </p:sp>
      <p:sp>
        <p:nvSpPr>
          <p:cNvPr id="16" name="Rectangle: Rounded Corners 15">
            <a:extLst>
              <a:ext uri="{FF2B5EF4-FFF2-40B4-BE49-F238E27FC236}">
                <a16:creationId xmlns:a16="http://schemas.microsoft.com/office/drawing/2014/main" id="{E0D421B2-AA68-FC05-A61C-6F7599F4EBA9}"/>
              </a:ext>
            </a:extLst>
          </p:cNvPr>
          <p:cNvSpPr/>
          <p:nvPr/>
        </p:nvSpPr>
        <p:spPr>
          <a:xfrm>
            <a:off x="8953500" y="3124200"/>
            <a:ext cx="2628900" cy="1397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300" b="1">
                <a:solidFill>
                  <a:srgbClr val="7DAAFA"/>
                </a:solidFill>
                <a:latin typeface="Calibri" panose="020F0502020204030204" pitchFamily="34" charset="0"/>
              </a:rPr>
              <a:t>Arc gateway and Private Link</a:t>
            </a:r>
          </a:p>
          <a:p>
            <a:r>
              <a:rPr lang="en-US" sz="1200">
                <a:solidFill>
                  <a:srgbClr val="F4F4F5"/>
                </a:solidFill>
                <a:latin typeface="Calibri" panose="020F0502020204030204" pitchFamily="34" charset="0"/>
              </a:rPr>
              <a:t>the two ways to tame outbound network requirements</a:t>
            </a:r>
          </a:p>
        </p:txBody>
      </p:sp>
    </p:spTree>
    <p:extLst>
      <p:ext uri="{BB962C8B-B14F-4D97-AF65-F5344CB8AC3E}">
        <p14:creationId xmlns:p14="http://schemas.microsoft.com/office/powerpoint/2010/main" val="3943867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6E98D196-43D4-1542-1E8F-ECE264B8F258}"/>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DD38802-4FBE-3EE3-9E71-DE220046D3B4}"/>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78C564A-2D20-5639-2609-E2CF7D32B34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4F5EB3A-57B0-B2DA-2669-3370CDFCEB3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Inside the Connected Machine agent</a:t>
            </a:r>
          </a:p>
        </p:txBody>
      </p:sp>
      <p:sp>
        <p:nvSpPr>
          <p:cNvPr id="6" name="ChapterTag">
            <a:extLst>
              <a:ext uri="{FF2B5EF4-FFF2-40B4-BE49-F238E27FC236}">
                <a16:creationId xmlns:a16="http://schemas.microsoft.com/office/drawing/2014/main" id="{D5E3C4DC-5DED-0DE7-C7CF-6141421F1915}"/>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A8471877-A68A-1C69-C10E-80449802CF04}"/>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395B0A51-EAF2-C59B-C442-BB4F126215BC}"/>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22</a:t>
            </a:r>
          </a:p>
        </p:txBody>
      </p:sp>
      <p:sp>
        <p:nvSpPr>
          <p:cNvPr id="9" name="Rectangle: Rounded Corners 8">
            <a:extLst>
              <a:ext uri="{FF2B5EF4-FFF2-40B4-BE49-F238E27FC236}">
                <a16:creationId xmlns:a16="http://schemas.microsoft.com/office/drawing/2014/main" id="{F88835C7-59D4-D4E9-F08A-2B169E85B6B6}"/>
              </a:ext>
            </a:extLst>
          </p:cNvPr>
          <p:cNvSpPr/>
          <p:nvPr/>
        </p:nvSpPr>
        <p:spPr>
          <a:xfrm>
            <a:off x="609600" y="1600200"/>
            <a:ext cx="7112000" cy="4318000"/>
          </a:xfrm>
          <a:prstGeom prst="roundRect">
            <a:avLst>
              <a:gd name="adj" fmla="val 4000"/>
            </a:avLst>
          </a:prstGeom>
          <a:noFill/>
          <a:ln w="15875" cap="flat" cmpd="sng" algn="ctr">
            <a:solidFill>
              <a:srgbClr val="A3E635"/>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B7A8509-ECC0-401B-2CD6-634257646BBC}"/>
              </a:ext>
            </a:extLst>
          </p:cNvPr>
          <p:cNvSpPr txBox="1"/>
          <p:nvPr/>
        </p:nvSpPr>
        <p:spPr>
          <a:xfrm>
            <a:off x="736600" y="1651000"/>
            <a:ext cx="6858000" cy="228600"/>
          </a:xfrm>
          <a:prstGeom prst="rect">
            <a:avLst/>
          </a:prstGeom>
          <a:noFill/>
        </p:spPr>
        <p:txBody>
          <a:bodyPr vert="horz" wrap="square" lIns="25400" tIns="12700" rIns="25400" bIns="12700" rtlCol="0" anchor="t">
            <a:noAutofit/>
          </a:bodyPr>
          <a:lstStyle/>
          <a:p>
            <a:r>
              <a:rPr lang="en-US" sz="1100" b="1">
                <a:solidFill>
                  <a:srgbClr val="A3E635"/>
                </a:solidFill>
                <a:latin typeface="Calibri" panose="020F0502020204030204" pitchFamily="34" charset="0"/>
              </a:rPr>
              <a:t>THE MACHINE (Windows or Linux, anywhere)</a:t>
            </a:r>
          </a:p>
        </p:txBody>
      </p:sp>
      <p:sp>
        <p:nvSpPr>
          <p:cNvPr id="11" name="Rectangle: Rounded Corners 10">
            <a:extLst>
              <a:ext uri="{FF2B5EF4-FFF2-40B4-BE49-F238E27FC236}">
                <a16:creationId xmlns:a16="http://schemas.microsoft.com/office/drawing/2014/main" id="{275C6FA4-93F0-0A03-279C-7070F971BC0F}"/>
              </a:ext>
            </a:extLst>
          </p:cNvPr>
          <p:cNvSpPr/>
          <p:nvPr/>
        </p:nvSpPr>
        <p:spPr>
          <a:xfrm>
            <a:off x="889000" y="2032000"/>
            <a:ext cx="6553200" cy="4572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BBF24"/>
                </a:solidFill>
                <a:latin typeface="Calibri" panose="020F0502020204030204" pitchFamily="34" charset="0"/>
              </a:rPr>
              <a:t>Azure Connected Machine agent (azcmagent)</a:t>
            </a:r>
          </a:p>
        </p:txBody>
      </p:sp>
      <p:sp>
        <p:nvSpPr>
          <p:cNvPr id="12" name="Rectangle: Rounded Corners 11">
            <a:extLst>
              <a:ext uri="{FF2B5EF4-FFF2-40B4-BE49-F238E27FC236}">
                <a16:creationId xmlns:a16="http://schemas.microsoft.com/office/drawing/2014/main" id="{1E06778E-A44C-45A8-CC57-084599F54B08}"/>
              </a:ext>
            </a:extLst>
          </p:cNvPr>
          <p:cNvSpPr/>
          <p:nvPr/>
        </p:nvSpPr>
        <p:spPr>
          <a:xfrm>
            <a:off x="889000" y="2667000"/>
            <a:ext cx="20320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Hybrid Instance Metadata Service</a:t>
            </a:r>
          </a:p>
          <a:p>
            <a:pPr algn="ctr"/>
            <a:r>
              <a:rPr lang="en-US" sz="1100">
                <a:solidFill>
                  <a:srgbClr val="F4F4F5"/>
                </a:solidFill>
                <a:latin typeface="Calibri" panose="020F0502020204030204" pitchFamily="34" charset="0"/>
              </a:rPr>
              <a:t>identity and metadata; tokens for local processes</a:t>
            </a:r>
          </a:p>
        </p:txBody>
      </p:sp>
      <p:sp>
        <p:nvSpPr>
          <p:cNvPr id="13" name="Rectangle: Rounded Corners 12">
            <a:extLst>
              <a:ext uri="{FF2B5EF4-FFF2-40B4-BE49-F238E27FC236}">
                <a16:creationId xmlns:a16="http://schemas.microsoft.com/office/drawing/2014/main" id="{826B8DA5-C196-210E-4778-4D33376F21AD}"/>
              </a:ext>
            </a:extLst>
          </p:cNvPr>
          <p:cNvSpPr/>
          <p:nvPr/>
        </p:nvSpPr>
        <p:spPr>
          <a:xfrm>
            <a:off x="3149600" y="2667000"/>
            <a:ext cx="20320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Guest Configuration service</a:t>
            </a:r>
          </a:p>
          <a:p>
            <a:pPr algn="ctr"/>
            <a:r>
              <a:rPr lang="en-US" sz="1100">
                <a:solidFill>
                  <a:srgbClr val="F4F4F5"/>
                </a:solidFill>
                <a:latin typeface="Calibri" panose="020F0502020204030204" pitchFamily="34" charset="0"/>
              </a:rPr>
              <a:t>Azure Policy and machine configuration audits</a:t>
            </a:r>
          </a:p>
        </p:txBody>
      </p:sp>
      <p:sp>
        <p:nvSpPr>
          <p:cNvPr id="14" name="Rectangle: Rounded Corners 13">
            <a:extLst>
              <a:ext uri="{FF2B5EF4-FFF2-40B4-BE49-F238E27FC236}">
                <a16:creationId xmlns:a16="http://schemas.microsoft.com/office/drawing/2014/main" id="{B8CBFCFB-0D17-67DC-28A6-0B4DC258D464}"/>
              </a:ext>
            </a:extLst>
          </p:cNvPr>
          <p:cNvSpPr/>
          <p:nvPr/>
        </p:nvSpPr>
        <p:spPr>
          <a:xfrm>
            <a:off x="5410200" y="2667000"/>
            <a:ext cx="20320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Extension Manager</a:t>
            </a:r>
          </a:p>
          <a:p>
            <a:pPr algn="ctr"/>
            <a:r>
              <a:rPr lang="en-US" sz="1100">
                <a:solidFill>
                  <a:srgbClr val="F4F4F5"/>
                </a:solidFill>
                <a:latin typeface="Calibri" panose="020F0502020204030204" pitchFamily="34" charset="0"/>
              </a:rPr>
              <a:t>installs and upgrades extensions</a:t>
            </a:r>
          </a:p>
        </p:txBody>
      </p:sp>
      <p:sp>
        <p:nvSpPr>
          <p:cNvPr id="15" name="Rectangle: Rounded Corners 14">
            <a:extLst>
              <a:ext uri="{FF2B5EF4-FFF2-40B4-BE49-F238E27FC236}">
                <a16:creationId xmlns:a16="http://schemas.microsoft.com/office/drawing/2014/main" id="{B69C2BF0-3CA8-8634-EEE5-40499CD9A383}"/>
              </a:ext>
            </a:extLst>
          </p:cNvPr>
          <p:cNvSpPr/>
          <p:nvPr/>
        </p:nvSpPr>
        <p:spPr>
          <a:xfrm>
            <a:off x="889000" y="4064000"/>
            <a:ext cx="6553200" cy="762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Extensions: Azure Monitor Agent · Dependency agent · Defender for Endpoint · Key Vault · Custom Script · machine configuration</a:t>
            </a:r>
          </a:p>
        </p:txBody>
      </p:sp>
      <p:sp>
        <p:nvSpPr>
          <p:cNvPr id="16" name="TextBox 15">
            <a:extLst>
              <a:ext uri="{FF2B5EF4-FFF2-40B4-BE49-F238E27FC236}">
                <a16:creationId xmlns:a16="http://schemas.microsoft.com/office/drawing/2014/main" id="{A866CE84-8E46-52D2-E885-079164AA7925}"/>
              </a:ext>
            </a:extLst>
          </p:cNvPr>
          <p:cNvSpPr txBox="1"/>
          <p:nvPr/>
        </p:nvSpPr>
        <p:spPr>
          <a:xfrm>
            <a:off x="889000" y="5003800"/>
            <a:ext cx="6553200" cy="6350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Local apps use the identity: curl http://localhost:40342/metadata/identity/oauth2/token ... (challenge-token file, restricted group)</a:t>
            </a:r>
          </a:p>
        </p:txBody>
      </p:sp>
      <p:sp>
        <p:nvSpPr>
          <p:cNvPr id="17" name="Rectangle: Rounded Corners 16">
            <a:extLst>
              <a:ext uri="{FF2B5EF4-FFF2-40B4-BE49-F238E27FC236}">
                <a16:creationId xmlns:a16="http://schemas.microsoft.com/office/drawing/2014/main" id="{C62CC40B-CFF0-2A87-C8F1-28E7DFDE3AF3}"/>
              </a:ext>
            </a:extLst>
          </p:cNvPr>
          <p:cNvSpPr/>
          <p:nvPr/>
        </p:nvSpPr>
        <p:spPr>
          <a:xfrm>
            <a:off x="8128000" y="1600200"/>
            <a:ext cx="3454400" cy="4318000"/>
          </a:xfrm>
          <a:prstGeom prst="roundRect">
            <a:avLst>
              <a:gd name="adj" fmla="val 4000"/>
            </a:avLst>
          </a:prstGeom>
          <a:noFill/>
          <a:ln w="15875" cap="flat" cmpd="sng" algn="ctr">
            <a:solidFill>
              <a:srgbClr val="7DAA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6EFD011-02C0-325E-1291-52F8E4057DD3}"/>
              </a:ext>
            </a:extLst>
          </p:cNvPr>
          <p:cNvSpPr txBox="1"/>
          <p:nvPr/>
        </p:nvSpPr>
        <p:spPr>
          <a:xfrm>
            <a:off x="8255000" y="1651000"/>
            <a:ext cx="3200400" cy="228600"/>
          </a:xfrm>
          <a:prstGeom prst="rect">
            <a:avLst/>
          </a:prstGeom>
          <a:noFill/>
        </p:spPr>
        <p:txBody>
          <a:bodyPr vert="horz" wrap="square" lIns="25400" tIns="12700" rIns="25400" bIns="12700" rtlCol="0" anchor="t">
            <a:noAutofit/>
          </a:bodyPr>
          <a:lstStyle/>
          <a:p>
            <a:r>
              <a:rPr lang="en-US" sz="1100" b="1">
                <a:solidFill>
                  <a:srgbClr val="7DAAFA"/>
                </a:solidFill>
                <a:latin typeface="Calibri" panose="020F0502020204030204" pitchFamily="34" charset="0"/>
              </a:rPr>
              <a:t>AZURE</a:t>
            </a:r>
          </a:p>
        </p:txBody>
      </p:sp>
      <p:sp>
        <p:nvSpPr>
          <p:cNvPr id="19" name="Rectangle: Rounded Corners 18">
            <a:extLst>
              <a:ext uri="{FF2B5EF4-FFF2-40B4-BE49-F238E27FC236}">
                <a16:creationId xmlns:a16="http://schemas.microsoft.com/office/drawing/2014/main" id="{440F67F0-AB9C-8912-301A-9BD8C095765F}"/>
              </a:ext>
            </a:extLst>
          </p:cNvPr>
          <p:cNvSpPr/>
          <p:nvPr/>
        </p:nvSpPr>
        <p:spPr>
          <a:xfrm>
            <a:off x="8382000" y="2159000"/>
            <a:ext cx="2946400" cy="6096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Entra ID</a:t>
            </a:r>
          </a:p>
          <a:p>
            <a:pPr algn="ctr"/>
            <a:r>
              <a:rPr lang="en-US" sz="1200">
                <a:solidFill>
                  <a:srgbClr val="F4F4F5"/>
                </a:solidFill>
                <a:latin typeface="Calibri" panose="020F0502020204030204" pitchFamily="34" charset="0"/>
              </a:rPr>
              <a:t>tokens</a:t>
            </a:r>
          </a:p>
        </p:txBody>
      </p:sp>
      <p:sp>
        <p:nvSpPr>
          <p:cNvPr id="20" name="Rectangle: Rounded Corners 19">
            <a:extLst>
              <a:ext uri="{FF2B5EF4-FFF2-40B4-BE49-F238E27FC236}">
                <a16:creationId xmlns:a16="http://schemas.microsoft.com/office/drawing/2014/main" id="{849CD96A-4CF5-D669-5BEF-BC175380E50A}"/>
              </a:ext>
            </a:extLst>
          </p:cNvPr>
          <p:cNvSpPr/>
          <p:nvPr/>
        </p:nvSpPr>
        <p:spPr>
          <a:xfrm>
            <a:off x="8382000" y="2921000"/>
            <a:ext cx="2946400" cy="6096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Azure Resource Manager</a:t>
            </a:r>
          </a:p>
          <a:p>
            <a:pPr algn="ctr"/>
            <a:r>
              <a:rPr lang="en-US" sz="1200">
                <a:solidFill>
                  <a:srgbClr val="F4F4F5"/>
                </a:solidFill>
                <a:latin typeface="Calibri" panose="020F0502020204030204" pitchFamily="34" charset="0"/>
              </a:rPr>
              <a:t>the machine resource</a:t>
            </a:r>
          </a:p>
        </p:txBody>
      </p:sp>
      <p:sp>
        <p:nvSpPr>
          <p:cNvPr id="21" name="Rectangle: Rounded Corners 20">
            <a:extLst>
              <a:ext uri="{FF2B5EF4-FFF2-40B4-BE49-F238E27FC236}">
                <a16:creationId xmlns:a16="http://schemas.microsoft.com/office/drawing/2014/main" id="{ED0E992E-1B0E-AD20-E3B8-F98AAC47BE50}"/>
              </a:ext>
            </a:extLst>
          </p:cNvPr>
          <p:cNvSpPr/>
          <p:nvPr/>
        </p:nvSpPr>
        <p:spPr>
          <a:xfrm>
            <a:off x="8382000" y="3683000"/>
            <a:ext cx="2946400" cy="7112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Arc services</a:t>
            </a:r>
          </a:p>
          <a:p>
            <a:pPr algn="ctr"/>
            <a:r>
              <a:rPr lang="en-US" sz="1200">
                <a:solidFill>
                  <a:srgbClr val="F4F4F5"/>
                </a:solidFill>
                <a:latin typeface="Calibri" panose="020F0502020204030204" pitchFamily="34" charset="0"/>
              </a:rPr>
              <a:t>his · guestconfiguration · notifications</a:t>
            </a:r>
          </a:p>
        </p:txBody>
      </p:sp>
      <p:sp>
        <p:nvSpPr>
          <p:cNvPr id="22" name="Rectangle: Rounded Corners 21">
            <a:extLst>
              <a:ext uri="{FF2B5EF4-FFF2-40B4-BE49-F238E27FC236}">
                <a16:creationId xmlns:a16="http://schemas.microsoft.com/office/drawing/2014/main" id="{E0A77394-7ED0-A069-BFF3-5A093ECF4E64}"/>
              </a:ext>
            </a:extLst>
          </p:cNvPr>
          <p:cNvSpPr/>
          <p:nvPr/>
        </p:nvSpPr>
        <p:spPr>
          <a:xfrm>
            <a:off x="8382000" y="4546600"/>
            <a:ext cx="2946400" cy="711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Azure Monitor</a:t>
            </a:r>
          </a:p>
          <a:p>
            <a:pPr algn="ctr"/>
            <a:r>
              <a:rPr lang="en-US" sz="1200">
                <a:solidFill>
                  <a:srgbClr val="F4F4F5"/>
                </a:solidFill>
                <a:latin typeface="Calibri" panose="020F0502020204030204" pitchFamily="34" charset="0"/>
              </a:rPr>
              <a:t>ingestion endpoints (via the extension)</a:t>
            </a:r>
          </a:p>
        </p:txBody>
      </p:sp>
      <p:cxnSp>
        <p:nvCxnSpPr>
          <p:cNvPr id="23" name="Straight Connector 22">
            <a:extLst>
              <a:ext uri="{FF2B5EF4-FFF2-40B4-BE49-F238E27FC236}">
                <a16:creationId xmlns:a16="http://schemas.microsoft.com/office/drawing/2014/main" id="{F5BEE4E7-0E23-82B0-CE83-850D2C4BA918}"/>
              </a:ext>
            </a:extLst>
          </p:cNvPr>
          <p:cNvCxnSpPr/>
          <p:nvPr/>
        </p:nvCxnSpPr>
        <p:spPr>
          <a:xfrm>
            <a:off x="7721600" y="3810000"/>
            <a:ext cx="4064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106A911-18B1-DB2D-0DA1-0EA1CA487C37}"/>
              </a:ext>
            </a:extLst>
          </p:cNvPr>
          <p:cNvSpPr txBox="1"/>
          <p:nvPr/>
        </p:nvSpPr>
        <p:spPr>
          <a:xfrm>
            <a:off x="7035800" y="3556000"/>
            <a:ext cx="1778000" cy="228600"/>
          </a:xfrm>
          <a:prstGeom prst="rect">
            <a:avLst/>
          </a:prstGeom>
          <a:noFill/>
        </p:spPr>
        <p:txBody>
          <a:bodyPr vert="horz" wrap="square" lIns="25400" tIns="12700" rIns="25400" bIns="12700" rtlCol="0" anchor="t">
            <a:noAutofit/>
          </a:bodyPr>
          <a:lstStyle/>
          <a:p>
            <a:pPr algn="ctr"/>
            <a:r>
              <a:rPr lang="en-US" sz="1100" b="1">
                <a:solidFill>
                  <a:srgbClr val="FBBF24"/>
                </a:solidFill>
                <a:latin typeface="Calibri" panose="020F0502020204030204" pitchFamily="34" charset="0"/>
              </a:rPr>
              <a:t>outbound HTTPS 443 only</a:t>
            </a:r>
          </a:p>
        </p:txBody>
      </p:sp>
      <p:sp>
        <p:nvSpPr>
          <p:cNvPr id="25" name="Rectangle 24">
            <a:extLst>
              <a:ext uri="{FF2B5EF4-FFF2-40B4-BE49-F238E27FC236}">
                <a16:creationId xmlns:a16="http://schemas.microsoft.com/office/drawing/2014/main" id="{A2C3E672-09DF-E623-5746-74A6EAD01D17}"/>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231BC08-7182-3586-C34C-83847FCB8F67}"/>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The agent registers and manages. The Azure Monitor Agent extension is what actually collects.</a:t>
            </a:r>
          </a:p>
        </p:txBody>
      </p:sp>
    </p:spTree>
    <p:extLst>
      <p:ext uri="{BB962C8B-B14F-4D97-AF65-F5344CB8AC3E}">
        <p14:creationId xmlns:p14="http://schemas.microsoft.com/office/powerpoint/2010/main" val="1815105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E26C02DA-6DDD-97B5-9420-7CE97F16FA2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DEFC295B-949B-20E1-32AC-B50BAAEBC292}"/>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BC7A254-490B-AA66-34BA-0B64990D26B5}"/>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6612DFF-8E89-766F-4318-AA023673198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Identity: one per machine</a:t>
            </a:r>
          </a:p>
        </p:txBody>
      </p:sp>
      <p:sp>
        <p:nvSpPr>
          <p:cNvPr id="6" name="ChapterTag">
            <a:extLst>
              <a:ext uri="{FF2B5EF4-FFF2-40B4-BE49-F238E27FC236}">
                <a16:creationId xmlns:a16="http://schemas.microsoft.com/office/drawing/2014/main" id="{2E38FE30-12AA-DB0F-9A87-584D48C3DD23}"/>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ADF4173F-9BDF-91CD-C43A-CD99222096E7}"/>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73DA538-144D-C516-4310-D754A80F18E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23</a:t>
            </a:r>
          </a:p>
        </p:txBody>
      </p:sp>
      <p:sp>
        <p:nvSpPr>
          <p:cNvPr id="9" name="Oval 8">
            <a:extLst>
              <a:ext uri="{FF2B5EF4-FFF2-40B4-BE49-F238E27FC236}">
                <a16:creationId xmlns:a16="http://schemas.microsoft.com/office/drawing/2014/main" id="{CC226E51-E188-CCD6-8D58-70BF60D812BE}"/>
              </a:ext>
            </a:extLst>
          </p:cNvPr>
          <p:cNvSpPr/>
          <p:nvPr/>
        </p:nvSpPr>
        <p:spPr>
          <a:xfrm>
            <a:off x="660400" y="1680210"/>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CC88051-9FEE-02A4-D6D4-1B45B41D2857}"/>
              </a:ext>
            </a:extLst>
          </p:cNvPr>
          <p:cNvSpPr txBox="1"/>
          <p:nvPr/>
        </p:nvSpPr>
        <p:spPr>
          <a:xfrm>
            <a:off x="889000" y="160020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Every Arc-enabled server gets a system-assigned managed identity in Microsoft Entra ID when it connects</a:t>
            </a:r>
          </a:p>
        </p:txBody>
      </p:sp>
      <p:sp>
        <p:nvSpPr>
          <p:cNvPr id="11" name="Oval 10">
            <a:extLst>
              <a:ext uri="{FF2B5EF4-FFF2-40B4-BE49-F238E27FC236}">
                <a16:creationId xmlns:a16="http://schemas.microsoft.com/office/drawing/2014/main" id="{1B9CCE24-04ED-9FA0-14D1-EEEBC6F14277}"/>
              </a:ext>
            </a:extLst>
          </p:cNvPr>
          <p:cNvSpPr/>
          <p:nvPr/>
        </p:nvSpPr>
        <p:spPr>
          <a:xfrm>
            <a:off x="660400" y="2085594"/>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E6343F6-E005-B6B5-0843-9DFF786266F8}"/>
              </a:ext>
            </a:extLst>
          </p:cNvPr>
          <p:cNvSpPr txBox="1"/>
          <p:nvPr/>
        </p:nvSpPr>
        <p:spPr>
          <a:xfrm>
            <a:off x="889000" y="200558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Local processes obtain tokens from the hybrid instance metadata service on the machine (localhost endpoint, protected by a local file and group membership)</a:t>
            </a:r>
          </a:p>
        </p:txBody>
      </p:sp>
      <p:sp>
        <p:nvSpPr>
          <p:cNvPr id="13" name="Oval 12">
            <a:extLst>
              <a:ext uri="{FF2B5EF4-FFF2-40B4-BE49-F238E27FC236}">
                <a16:creationId xmlns:a16="http://schemas.microsoft.com/office/drawing/2014/main" id="{A6C43181-F3A5-B3AE-C448-BB829F8D506B}"/>
              </a:ext>
            </a:extLst>
          </p:cNvPr>
          <p:cNvSpPr/>
          <p:nvPr/>
        </p:nvSpPr>
        <p:spPr>
          <a:xfrm>
            <a:off x="660400" y="2718562"/>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94341DB-3F4B-5E89-4480-2407949973C2}"/>
              </a:ext>
            </a:extLst>
          </p:cNvPr>
          <p:cNvSpPr txBox="1"/>
          <p:nvPr/>
        </p:nvSpPr>
        <p:spPr>
          <a:xfrm>
            <a:off x="889000" y="26385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Extensions use that identity to talk to Azure services: the Azure Monitor Agent, Key Vault extension, Defender</a:t>
            </a:r>
          </a:p>
        </p:txBody>
      </p:sp>
      <p:sp>
        <p:nvSpPr>
          <p:cNvPr id="15" name="Oval 14">
            <a:extLst>
              <a:ext uri="{FF2B5EF4-FFF2-40B4-BE49-F238E27FC236}">
                <a16:creationId xmlns:a16="http://schemas.microsoft.com/office/drawing/2014/main" id="{48CD7FE2-D403-D775-D6D2-D349284F267C}"/>
              </a:ext>
            </a:extLst>
          </p:cNvPr>
          <p:cNvSpPr/>
          <p:nvPr/>
        </p:nvSpPr>
        <p:spPr>
          <a:xfrm>
            <a:off x="660400" y="3123946"/>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732404E-0B1F-1529-C31C-65FFCA383A56}"/>
              </a:ext>
            </a:extLst>
          </p:cNvPr>
          <p:cNvSpPr txBox="1"/>
          <p:nvPr/>
        </p:nvSpPr>
        <p:spPr>
          <a:xfrm>
            <a:off x="889000" y="3043936"/>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Your own applications can use it too: a worker on an EC2 instance or a datacenter VM can call the logs ingestion API with no secret on disk</a:t>
            </a:r>
          </a:p>
        </p:txBody>
      </p:sp>
      <p:sp>
        <p:nvSpPr>
          <p:cNvPr id="17" name="Oval 16">
            <a:extLst>
              <a:ext uri="{FF2B5EF4-FFF2-40B4-BE49-F238E27FC236}">
                <a16:creationId xmlns:a16="http://schemas.microsoft.com/office/drawing/2014/main" id="{312C8203-89E1-91F8-3430-7A5C2187DA79}"/>
              </a:ext>
            </a:extLst>
          </p:cNvPr>
          <p:cNvSpPr/>
          <p:nvPr/>
        </p:nvSpPr>
        <p:spPr>
          <a:xfrm>
            <a:off x="660400" y="3756914"/>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FCD6DB7-6CD3-5366-1AE9-847F75479141}"/>
              </a:ext>
            </a:extLst>
          </p:cNvPr>
          <p:cNvSpPr txBox="1"/>
          <p:nvPr/>
        </p:nvSpPr>
        <p:spPr>
          <a:xfrm>
            <a:off x="889000" y="3676904"/>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Grant least privilege per identity: Monitoring Metrics Publisher on a data collection rule for ingestion; nothing broader</a:t>
            </a:r>
          </a:p>
        </p:txBody>
      </p:sp>
      <p:sp>
        <p:nvSpPr>
          <p:cNvPr id="19" name="Oval 18">
            <a:extLst>
              <a:ext uri="{FF2B5EF4-FFF2-40B4-BE49-F238E27FC236}">
                <a16:creationId xmlns:a16="http://schemas.microsoft.com/office/drawing/2014/main" id="{C78C1B27-AA7B-5E8C-B05D-283BAD769E87}"/>
              </a:ext>
            </a:extLst>
          </p:cNvPr>
          <p:cNvSpPr/>
          <p:nvPr/>
        </p:nvSpPr>
        <p:spPr>
          <a:xfrm>
            <a:off x="660400" y="4162298"/>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62A7CF4-6B0A-4C79-4885-C0A64C13D017}"/>
              </a:ext>
            </a:extLst>
          </p:cNvPr>
          <p:cNvSpPr txBox="1"/>
          <p:nvPr/>
        </p:nvSpPr>
        <p:spPr>
          <a:xfrm>
            <a:off x="889000" y="4082288"/>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This is the single biggest security win of Arc for observability: no shared keys, no connection strings, rotated by the platform</a:t>
            </a:r>
          </a:p>
        </p:txBody>
      </p:sp>
    </p:spTree>
    <p:extLst>
      <p:ext uri="{BB962C8B-B14F-4D97-AF65-F5344CB8AC3E}">
        <p14:creationId xmlns:p14="http://schemas.microsoft.com/office/powerpoint/2010/main" val="9428606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5F70C395-C1CB-7640-4348-6A3110C0E72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617D9349-F793-BEF5-CD26-65496055ECB7}"/>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43BC3C-5530-B88D-D221-8219492C7AAD}"/>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73F1F16-A801-FCE9-DF65-A2EE18FC69E8}"/>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Network paths: four options</a:t>
            </a:r>
          </a:p>
        </p:txBody>
      </p:sp>
      <p:sp>
        <p:nvSpPr>
          <p:cNvPr id="6" name="ChapterTag">
            <a:extLst>
              <a:ext uri="{FF2B5EF4-FFF2-40B4-BE49-F238E27FC236}">
                <a16:creationId xmlns:a16="http://schemas.microsoft.com/office/drawing/2014/main" id="{93CD353E-DC0A-CD8B-A7B0-03B336C632DE}"/>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F9F29AF7-2187-5B93-6A0F-A48E67FC4BEA}"/>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E943E837-441A-AF9A-0826-8A1753B6B118}"/>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24</a:t>
            </a:r>
          </a:p>
        </p:txBody>
      </p:sp>
      <p:sp>
        <p:nvSpPr>
          <p:cNvPr id="9" name="Rectangle: Rounded Corners 8">
            <a:extLst>
              <a:ext uri="{FF2B5EF4-FFF2-40B4-BE49-F238E27FC236}">
                <a16:creationId xmlns:a16="http://schemas.microsoft.com/office/drawing/2014/main" id="{FD8FD011-841D-AC84-BA29-5F01415696F2}"/>
              </a:ext>
            </a:extLst>
          </p:cNvPr>
          <p:cNvSpPr/>
          <p:nvPr/>
        </p:nvSpPr>
        <p:spPr>
          <a:xfrm>
            <a:off x="609600" y="1600200"/>
            <a:ext cx="2540000" cy="457200"/>
          </a:xfrm>
          <a:prstGeom prst="roundRect">
            <a:avLst>
              <a:gd name="adj" fmla="val 8000"/>
            </a:avLst>
          </a:prstGeom>
          <a:solidFill>
            <a:srgbClr val="27272C"/>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A3E635"/>
                </a:solidFill>
                <a:latin typeface="Calibri" panose="020F0502020204030204" pitchFamily="34" charset="0"/>
              </a:rPr>
              <a:t>DIRECT</a:t>
            </a:r>
          </a:p>
        </p:txBody>
      </p:sp>
      <p:sp>
        <p:nvSpPr>
          <p:cNvPr id="10" name="Rectangle: Rounded Corners 9">
            <a:extLst>
              <a:ext uri="{FF2B5EF4-FFF2-40B4-BE49-F238E27FC236}">
                <a16:creationId xmlns:a16="http://schemas.microsoft.com/office/drawing/2014/main" id="{C51357F8-4D9D-11DD-74A5-988CF3334E25}"/>
              </a:ext>
            </a:extLst>
          </p:cNvPr>
          <p:cNvSpPr/>
          <p:nvPr/>
        </p:nvSpPr>
        <p:spPr>
          <a:xfrm>
            <a:off x="609600" y="2133600"/>
            <a:ext cx="2540000" cy="1397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150">
                <a:solidFill>
                  <a:srgbClr val="F4F4F5"/>
                </a:solidFill>
                <a:latin typeface="Calibri" panose="020F0502020204030204" pitchFamily="34" charset="0"/>
              </a:rPr>
              <a:t>public endpoints over HTTPS 443; simplest; needs the full endpoint list on the firewall</a:t>
            </a:r>
          </a:p>
        </p:txBody>
      </p:sp>
      <p:sp>
        <p:nvSpPr>
          <p:cNvPr id="11" name="Rectangle: Rounded Corners 10">
            <a:extLst>
              <a:ext uri="{FF2B5EF4-FFF2-40B4-BE49-F238E27FC236}">
                <a16:creationId xmlns:a16="http://schemas.microsoft.com/office/drawing/2014/main" id="{88D7A69D-F2AA-453F-7D5B-32B977A9CE70}"/>
              </a:ext>
            </a:extLst>
          </p:cNvPr>
          <p:cNvSpPr/>
          <p:nvPr/>
        </p:nvSpPr>
        <p:spPr>
          <a:xfrm>
            <a:off x="3352800" y="1600200"/>
            <a:ext cx="2540000" cy="457200"/>
          </a:xfrm>
          <a:prstGeom prst="roundRect">
            <a:avLst>
              <a:gd name="adj" fmla="val 8000"/>
            </a:avLst>
          </a:prstGeom>
          <a:solidFill>
            <a:srgbClr val="27272C"/>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2DD4BF"/>
                </a:solidFill>
                <a:latin typeface="Calibri" panose="020F0502020204030204" pitchFamily="34" charset="0"/>
              </a:rPr>
              <a:t>PROXY</a:t>
            </a:r>
          </a:p>
        </p:txBody>
      </p:sp>
      <p:sp>
        <p:nvSpPr>
          <p:cNvPr id="12" name="Rectangle: Rounded Corners 11">
            <a:extLst>
              <a:ext uri="{FF2B5EF4-FFF2-40B4-BE49-F238E27FC236}">
                <a16:creationId xmlns:a16="http://schemas.microsoft.com/office/drawing/2014/main" id="{F3DC98C8-D679-E066-A1D5-EAB55C2AB4AD}"/>
              </a:ext>
            </a:extLst>
          </p:cNvPr>
          <p:cNvSpPr/>
          <p:nvPr/>
        </p:nvSpPr>
        <p:spPr>
          <a:xfrm>
            <a:off x="3352800" y="2133600"/>
            <a:ext cx="2540000" cy="1397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150">
                <a:solidFill>
                  <a:srgbClr val="F4F4F5"/>
                </a:solidFill>
                <a:latin typeface="Calibri" panose="020F0502020204030204" pitchFamily="34" charset="0"/>
              </a:rPr>
              <a:t>agent proxy settings; TLS inspection works (no certificate pinning); check each extension</a:t>
            </a:r>
          </a:p>
        </p:txBody>
      </p:sp>
      <p:sp>
        <p:nvSpPr>
          <p:cNvPr id="13" name="Rectangle: Rounded Corners 12">
            <a:extLst>
              <a:ext uri="{FF2B5EF4-FFF2-40B4-BE49-F238E27FC236}">
                <a16:creationId xmlns:a16="http://schemas.microsoft.com/office/drawing/2014/main" id="{527500C1-ED5F-D8EE-4B31-134E1A1993E6}"/>
              </a:ext>
            </a:extLst>
          </p:cNvPr>
          <p:cNvSpPr/>
          <p:nvPr/>
        </p:nvSpPr>
        <p:spPr>
          <a:xfrm>
            <a:off x="6096000" y="1600200"/>
            <a:ext cx="2540000" cy="4572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BBF24"/>
                </a:solidFill>
                <a:latin typeface="Calibri" panose="020F0502020204030204" pitchFamily="34" charset="0"/>
              </a:rPr>
              <a:t>ARC GATEWAY</a:t>
            </a:r>
          </a:p>
        </p:txBody>
      </p:sp>
      <p:sp>
        <p:nvSpPr>
          <p:cNvPr id="14" name="Rectangle: Rounded Corners 13">
            <a:extLst>
              <a:ext uri="{FF2B5EF4-FFF2-40B4-BE49-F238E27FC236}">
                <a16:creationId xmlns:a16="http://schemas.microsoft.com/office/drawing/2014/main" id="{0C97F330-1B23-A91B-E166-8D7145395535}"/>
              </a:ext>
            </a:extLst>
          </p:cNvPr>
          <p:cNvSpPr/>
          <p:nvPr/>
        </p:nvSpPr>
        <p:spPr>
          <a:xfrm>
            <a:off x="6096000" y="2133600"/>
            <a:ext cx="25400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150">
                <a:solidFill>
                  <a:srgbClr val="F4F4F5"/>
                </a:solidFill>
                <a:latin typeface="Calibri" panose="020F0502020204030204" pitchFamily="34" charset="0"/>
              </a:rPr>
              <a:t>eight endpoints instead of dozens; internet still required; no Private Link</a:t>
            </a:r>
          </a:p>
        </p:txBody>
      </p:sp>
      <p:sp>
        <p:nvSpPr>
          <p:cNvPr id="15" name="Rectangle: Rounded Corners 14">
            <a:extLst>
              <a:ext uri="{FF2B5EF4-FFF2-40B4-BE49-F238E27FC236}">
                <a16:creationId xmlns:a16="http://schemas.microsoft.com/office/drawing/2014/main" id="{7F3274AF-89EB-7BCA-4D7A-17E35B0B5B09}"/>
              </a:ext>
            </a:extLst>
          </p:cNvPr>
          <p:cNvSpPr/>
          <p:nvPr/>
        </p:nvSpPr>
        <p:spPr>
          <a:xfrm>
            <a:off x="8839200" y="1600200"/>
            <a:ext cx="2540000" cy="457200"/>
          </a:xfrm>
          <a:prstGeom prst="roundRect">
            <a:avLst>
              <a:gd name="adj" fmla="val 8000"/>
            </a:avLst>
          </a:prstGeom>
          <a:solidFill>
            <a:srgbClr val="27272C"/>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C4A0FA"/>
                </a:solidFill>
                <a:latin typeface="Calibri" panose="020F0502020204030204" pitchFamily="34" charset="0"/>
              </a:rPr>
              <a:t>PRIVATE LINK SCOPE</a:t>
            </a:r>
          </a:p>
        </p:txBody>
      </p:sp>
      <p:sp>
        <p:nvSpPr>
          <p:cNvPr id="16" name="Rectangle: Rounded Corners 15">
            <a:extLst>
              <a:ext uri="{FF2B5EF4-FFF2-40B4-BE49-F238E27FC236}">
                <a16:creationId xmlns:a16="http://schemas.microsoft.com/office/drawing/2014/main" id="{4D62CF91-08DA-BC96-FAD4-164009A8739C}"/>
              </a:ext>
            </a:extLst>
          </p:cNvPr>
          <p:cNvSpPr/>
          <p:nvPr/>
        </p:nvSpPr>
        <p:spPr>
          <a:xfrm>
            <a:off x="8839200" y="2133600"/>
            <a:ext cx="2540000" cy="1397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150">
                <a:solidFill>
                  <a:srgbClr val="F4F4F5"/>
                </a:solidFill>
                <a:latin typeface="Calibri" panose="020F0502020204030204" pitchFamily="34" charset="0"/>
              </a:rPr>
              <a:t>traffic stays on ExpressRoute or VPN; Entra ID and Resource Manager stay public; one DNS scope per estate</a:t>
            </a:r>
          </a:p>
        </p:txBody>
      </p:sp>
      <p:sp>
        <p:nvSpPr>
          <p:cNvPr id="17" name="Rectangle: Rounded Corners 16">
            <a:extLst>
              <a:ext uri="{FF2B5EF4-FFF2-40B4-BE49-F238E27FC236}">
                <a16:creationId xmlns:a16="http://schemas.microsoft.com/office/drawing/2014/main" id="{8A3A1762-D57C-1AB3-1EEE-264985227983}"/>
              </a:ext>
            </a:extLst>
          </p:cNvPr>
          <p:cNvSpPr/>
          <p:nvPr/>
        </p:nvSpPr>
        <p:spPr>
          <a:xfrm>
            <a:off x="609600" y="4064000"/>
            <a:ext cx="25400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a:solidFill>
                  <a:srgbClr val="F4F4F5"/>
                </a:solidFill>
                <a:latin typeface="Calibri" panose="020F0502020204030204" pitchFamily="34" charset="0"/>
              </a:rPr>
              <a:t>MACHINES in a site</a:t>
            </a:r>
          </a:p>
        </p:txBody>
      </p:sp>
      <p:cxnSp>
        <p:nvCxnSpPr>
          <p:cNvPr id="18" name="Straight Connector 17">
            <a:extLst>
              <a:ext uri="{FF2B5EF4-FFF2-40B4-BE49-F238E27FC236}">
                <a16:creationId xmlns:a16="http://schemas.microsoft.com/office/drawing/2014/main" id="{BCE7B8D0-DF9C-6C6B-1F77-D17D1710A4F9}"/>
              </a:ext>
            </a:extLst>
          </p:cNvPr>
          <p:cNvCxnSpPr/>
          <p:nvPr/>
        </p:nvCxnSpPr>
        <p:spPr>
          <a:xfrm>
            <a:off x="3149600" y="4381500"/>
            <a:ext cx="1041400" cy="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AE34D10B-82D9-D312-FCCB-3BF6C67E20C5}"/>
              </a:ext>
            </a:extLst>
          </p:cNvPr>
          <p:cNvSpPr/>
          <p:nvPr/>
        </p:nvSpPr>
        <p:spPr>
          <a:xfrm>
            <a:off x="4191000" y="4064000"/>
            <a:ext cx="3810000" cy="635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firewall · proxy · Arc gateway · private endpoint</a:t>
            </a:r>
          </a:p>
        </p:txBody>
      </p:sp>
      <p:cxnSp>
        <p:nvCxnSpPr>
          <p:cNvPr id="20" name="Straight Connector 19">
            <a:extLst>
              <a:ext uri="{FF2B5EF4-FFF2-40B4-BE49-F238E27FC236}">
                <a16:creationId xmlns:a16="http://schemas.microsoft.com/office/drawing/2014/main" id="{77105B35-08F4-F329-C75C-C325B813115C}"/>
              </a:ext>
            </a:extLst>
          </p:cNvPr>
          <p:cNvCxnSpPr/>
          <p:nvPr/>
        </p:nvCxnSpPr>
        <p:spPr>
          <a:xfrm>
            <a:off x="8001000" y="4381500"/>
            <a:ext cx="10414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E386BBC6-4A7E-C2B4-9F53-0C759821F866}"/>
              </a:ext>
            </a:extLst>
          </p:cNvPr>
          <p:cNvSpPr/>
          <p:nvPr/>
        </p:nvSpPr>
        <p:spPr>
          <a:xfrm>
            <a:off x="9042400" y="3937000"/>
            <a:ext cx="2540000" cy="889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Entra ID · Resource Manager · Arc services · Azure Monitor ingestion</a:t>
            </a:r>
          </a:p>
        </p:txBody>
      </p:sp>
      <p:sp>
        <p:nvSpPr>
          <p:cNvPr id="22" name="TextBox 21">
            <a:extLst>
              <a:ext uri="{FF2B5EF4-FFF2-40B4-BE49-F238E27FC236}">
                <a16:creationId xmlns:a16="http://schemas.microsoft.com/office/drawing/2014/main" id="{2647A8C3-292C-BE8B-93AB-288807A394EC}"/>
              </a:ext>
            </a:extLst>
          </p:cNvPr>
          <p:cNvSpPr txBox="1"/>
          <p:nvPr/>
        </p:nvSpPr>
        <p:spPr>
          <a:xfrm>
            <a:off x="609600" y="5080000"/>
            <a:ext cx="10972800" cy="508000"/>
          </a:xfrm>
          <a:prstGeom prst="rect">
            <a:avLst/>
          </a:prstGeom>
          <a:noFill/>
        </p:spPr>
        <p:txBody>
          <a:bodyPr vert="horz" wrap="square" lIns="25400" tIns="12700" rIns="25400" bIns="12700" rtlCol="0" anchor="t">
            <a:noAutofit/>
          </a:bodyPr>
          <a:lstStyle/>
          <a:p>
            <a:r>
              <a:rPr lang="en-US" sz="1250">
                <a:solidFill>
                  <a:srgbClr val="F4F4F5"/>
                </a:solidFill>
                <a:latin typeface="Calibri" panose="020F0502020204030204" pitchFamily="34" charset="0"/>
              </a:rPr>
              <a:t>Pick per site: a datacenter behind ExpressRoute can use Private Link; an edge site uses Arc gateway; a cloud VPC uses direct or proxy. Document which endpoints stay public under each.</a:t>
            </a:r>
          </a:p>
        </p:txBody>
      </p:sp>
      <p:sp>
        <p:nvSpPr>
          <p:cNvPr id="23" name="Rectangle 22">
            <a:extLst>
              <a:ext uri="{FF2B5EF4-FFF2-40B4-BE49-F238E27FC236}">
                <a16:creationId xmlns:a16="http://schemas.microsoft.com/office/drawing/2014/main" id="{07CD115E-6243-CABD-8C6D-BFE54729AE6B}"/>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6E4F56A-715A-1A91-4DEF-D3DBBE45FD5D}"/>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Most onboarding failures are network. Decide the path per site before the first pilot machine.</a:t>
            </a:r>
          </a:p>
        </p:txBody>
      </p:sp>
    </p:spTree>
    <p:extLst>
      <p:ext uri="{BB962C8B-B14F-4D97-AF65-F5344CB8AC3E}">
        <p14:creationId xmlns:p14="http://schemas.microsoft.com/office/powerpoint/2010/main" val="1716109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FD50B1C0-C070-4DF8-6292-135D80A2C515}"/>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AD888501-605E-C635-8C1E-1C2A6307511F}"/>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FEA018F-6B46-5CC3-ADF5-9DA2BF24D08C}"/>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55A27C7-A479-070E-7352-33720174F90B}"/>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Endpoints the agent needs</a:t>
            </a:r>
          </a:p>
        </p:txBody>
      </p:sp>
      <p:sp>
        <p:nvSpPr>
          <p:cNvPr id="6" name="ChapterTag">
            <a:extLst>
              <a:ext uri="{FF2B5EF4-FFF2-40B4-BE49-F238E27FC236}">
                <a16:creationId xmlns:a16="http://schemas.microsoft.com/office/drawing/2014/main" id="{2624152F-2D10-FE6E-F272-8F1838CC5030}"/>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72461B38-D827-ECF2-BB73-7E0C3DB7869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6F60E23C-0AED-4A69-F743-2199C9C91C8F}"/>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25</a:t>
            </a:r>
          </a:p>
        </p:txBody>
      </p:sp>
      <p:sp>
        <p:nvSpPr>
          <p:cNvPr id="9" name="Rectangle: Rounded Corners 8">
            <a:extLst>
              <a:ext uri="{FF2B5EF4-FFF2-40B4-BE49-F238E27FC236}">
                <a16:creationId xmlns:a16="http://schemas.microsoft.com/office/drawing/2014/main" id="{E64727C9-949C-DE9E-9DD2-1F0DD001316B}"/>
              </a:ext>
            </a:extLst>
          </p:cNvPr>
          <p:cNvSpPr/>
          <p:nvPr/>
        </p:nvSpPr>
        <p:spPr>
          <a:xfrm>
            <a:off x="609600" y="1549400"/>
            <a:ext cx="2413000" cy="304800"/>
          </a:xfrm>
          <a:prstGeom prst="roundRect">
            <a:avLst>
              <a:gd name="adj" fmla="val 0"/>
            </a:avLst>
          </a:prstGeom>
          <a:solidFill>
            <a:srgbClr val="7DAAF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Endpoint</a:t>
            </a:r>
          </a:p>
        </p:txBody>
      </p:sp>
      <p:sp>
        <p:nvSpPr>
          <p:cNvPr id="10" name="Rectangle: Rounded Corners 9">
            <a:extLst>
              <a:ext uri="{FF2B5EF4-FFF2-40B4-BE49-F238E27FC236}">
                <a16:creationId xmlns:a16="http://schemas.microsoft.com/office/drawing/2014/main" id="{662AD57C-B111-48C7-C8F9-DDA89206AAB3}"/>
              </a:ext>
            </a:extLst>
          </p:cNvPr>
          <p:cNvSpPr/>
          <p:nvPr/>
        </p:nvSpPr>
        <p:spPr>
          <a:xfrm>
            <a:off x="3022600" y="1549400"/>
            <a:ext cx="2853267" cy="304800"/>
          </a:xfrm>
          <a:prstGeom prst="roundRect">
            <a:avLst>
              <a:gd name="adj" fmla="val 0"/>
            </a:avLst>
          </a:prstGeom>
          <a:solidFill>
            <a:srgbClr val="7DAAF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Purpose</a:t>
            </a:r>
          </a:p>
        </p:txBody>
      </p:sp>
      <p:sp>
        <p:nvSpPr>
          <p:cNvPr id="11" name="Rectangle: Rounded Corners 10">
            <a:extLst>
              <a:ext uri="{FF2B5EF4-FFF2-40B4-BE49-F238E27FC236}">
                <a16:creationId xmlns:a16="http://schemas.microsoft.com/office/drawing/2014/main" id="{7AF174FF-ABCF-8FEE-9487-B2A5AC214DD7}"/>
              </a:ext>
            </a:extLst>
          </p:cNvPr>
          <p:cNvSpPr/>
          <p:nvPr/>
        </p:nvSpPr>
        <p:spPr>
          <a:xfrm>
            <a:off x="5875867" y="1549400"/>
            <a:ext cx="2853266" cy="304800"/>
          </a:xfrm>
          <a:prstGeom prst="roundRect">
            <a:avLst>
              <a:gd name="adj" fmla="val 0"/>
            </a:avLst>
          </a:prstGeom>
          <a:solidFill>
            <a:srgbClr val="7DAAF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When</a:t>
            </a:r>
          </a:p>
        </p:txBody>
      </p:sp>
      <p:sp>
        <p:nvSpPr>
          <p:cNvPr id="12" name="Rectangle: Rounded Corners 11">
            <a:extLst>
              <a:ext uri="{FF2B5EF4-FFF2-40B4-BE49-F238E27FC236}">
                <a16:creationId xmlns:a16="http://schemas.microsoft.com/office/drawing/2014/main" id="{AC2F23B3-8473-ACF2-732E-286409C6BF3C}"/>
              </a:ext>
            </a:extLst>
          </p:cNvPr>
          <p:cNvSpPr/>
          <p:nvPr/>
        </p:nvSpPr>
        <p:spPr>
          <a:xfrm>
            <a:off x="8729133" y="1549400"/>
            <a:ext cx="2853267" cy="304800"/>
          </a:xfrm>
          <a:prstGeom prst="roundRect">
            <a:avLst>
              <a:gd name="adj" fmla="val 0"/>
            </a:avLst>
          </a:prstGeom>
          <a:solidFill>
            <a:srgbClr val="7DAAF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Private Link capable</a:t>
            </a:r>
          </a:p>
        </p:txBody>
      </p:sp>
      <p:sp>
        <p:nvSpPr>
          <p:cNvPr id="13" name="Rectangle: Rounded Corners 12">
            <a:extLst>
              <a:ext uri="{FF2B5EF4-FFF2-40B4-BE49-F238E27FC236}">
                <a16:creationId xmlns:a16="http://schemas.microsoft.com/office/drawing/2014/main" id="{7F2A3930-C503-DD1C-D301-886A806200B6}"/>
              </a:ext>
            </a:extLst>
          </p:cNvPr>
          <p:cNvSpPr/>
          <p:nvPr/>
        </p:nvSpPr>
        <p:spPr>
          <a:xfrm>
            <a:off x="609600" y="1854200"/>
            <a:ext cx="2413000" cy="6731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login.microsoftonline.com, *.login.microsoft.com, pas.windows.net</a:t>
            </a:r>
          </a:p>
        </p:txBody>
      </p:sp>
      <p:sp>
        <p:nvSpPr>
          <p:cNvPr id="14" name="Rectangle: Rounded Corners 13">
            <a:extLst>
              <a:ext uri="{FF2B5EF4-FFF2-40B4-BE49-F238E27FC236}">
                <a16:creationId xmlns:a16="http://schemas.microsoft.com/office/drawing/2014/main" id="{7125CDDF-288B-5CD4-1A14-F9AC0EE23B93}"/>
              </a:ext>
            </a:extLst>
          </p:cNvPr>
          <p:cNvSpPr/>
          <p:nvPr/>
        </p:nvSpPr>
        <p:spPr>
          <a:xfrm>
            <a:off x="3022600" y="1854200"/>
            <a:ext cx="2853267"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Entra ID tokens (global and regional)</a:t>
            </a:r>
          </a:p>
        </p:txBody>
      </p:sp>
      <p:sp>
        <p:nvSpPr>
          <p:cNvPr id="15" name="Rectangle: Rounded Corners 14">
            <a:extLst>
              <a:ext uri="{FF2B5EF4-FFF2-40B4-BE49-F238E27FC236}">
                <a16:creationId xmlns:a16="http://schemas.microsoft.com/office/drawing/2014/main" id="{21953FC0-FE76-74BF-42E0-3CAE735AB2EC}"/>
              </a:ext>
            </a:extLst>
          </p:cNvPr>
          <p:cNvSpPr/>
          <p:nvPr/>
        </p:nvSpPr>
        <p:spPr>
          <a:xfrm>
            <a:off x="5875867" y="1854200"/>
            <a:ext cx="2853266"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always</a:t>
            </a:r>
          </a:p>
        </p:txBody>
      </p:sp>
      <p:sp>
        <p:nvSpPr>
          <p:cNvPr id="16" name="Rectangle: Rounded Corners 15">
            <a:extLst>
              <a:ext uri="{FF2B5EF4-FFF2-40B4-BE49-F238E27FC236}">
                <a16:creationId xmlns:a16="http://schemas.microsoft.com/office/drawing/2014/main" id="{C8AAA6EB-91EA-8AC3-A450-B7727434369E}"/>
              </a:ext>
            </a:extLst>
          </p:cNvPr>
          <p:cNvSpPr/>
          <p:nvPr/>
        </p:nvSpPr>
        <p:spPr>
          <a:xfrm>
            <a:off x="8729133" y="1854200"/>
            <a:ext cx="2853267"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public</a:t>
            </a:r>
          </a:p>
        </p:txBody>
      </p:sp>
      <p:sp>
        <p:nvSpPr>
          <p:cNvPr id="17" name="Rectangle: Rounded Corners 16">
            <a:extLst>
              <a:ext uri="{FF2B5EF4-FFF2-40B4-BE49-F238E27FC236}">
                <a16:creationId xmlns:a16="http://schemas.microsoft.com/office/drawing/2014/main" id="{710DC1EA-9768-AAA2-6970-4B4A8E56FFC3}"/>
              </a:ext>
            </a:extLst>
          </p:cNvPr>
          <p:cNvSpPr/>
          <p:nvPr/>
        </p:nvSpPr>
        <p:spPr>
          <a:xfrm>
            <a:off x="609600" y="25273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management.azure.com</a:t>
            </a:r>
          </a:p>
        </p:txBody>
      </p:sp>
      <p:sp>
        <p:nvSpPr>
          <p:cNvPr id="18" name="Rectangle: Rounded Corners 17">
            <a:extLst>
              <a:ext uri="{FF2B5EF4-FFF2-40B4-BE49-F238E27FC236}">
                <a16:creationId xmlns:a16="http://schemas.microsoft.com/office/drawing/2014/main" id="{00E25A23-0ECB-8753-CD7E-61BBEA9148A1}"/>
              </a:ext>
            </a:extLst>
          </p:cNvPr>
          <p:cNvSpPr/>
          <p:nvPr/>
        </p:nvSpPr>
        <p:spPr>
          <a:xfrm>
            <a:off x="3022600" y="25273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create or delete the Arc resource</a:t>
            </a:r>
          </a:p>
        </p:txBody>
      </p:sp>
      <p:sp>
        <p:nvSpPr>
          <p:cNvPr id="19" name="Rectangle: Rounded Corners 18">
            <a:extLst>
              <a:ext uri="{FF2B5EF4-FFF2-40B4-BE49-F238E27FC236}">
                <a16:creationId xmlns:a16="http://schemas.microsoft.com/office/drawing/2014/main" id="{1827DF9C-C2E7-C2EA-D889-EE3DB534C987}"/>
              </a:ext>
            </a:extLst>
          </p:cNvPr>
          <p:cNvSpPr/>
          <p:nvPr/>
        </p:nvSpPr>
        <p:spPr>
          <a:xfrm>
            <a:off x="5875867" y="25273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connect and disconnect</a:t>
            </a:r>
          </a:p>
        </p:txBody>
      </p:sp>
      <p:sp>
        <p:nvSpPr>
          <p:cNvPr id="20" name="Rectangle: Rounded Corners 19">
            <a:extLst>
              <a:ext uri="{FF2B5EF4-FFF2-40B4-BE49-F238E27FC236}">
                <a16:creationId xmlns:a16="http://schemas.microsoft.com/office/drawing/2014/main" id="{F6F91307-BFEC-9863-7F8A-713DAEF08A8B}"/>
              </a:ext>
            </a:extLst>
          </p:cNvPr>
          <p:cNvSpPr/>
          <p:nvPr/>
        </p:nvSpPr>
        <p:spPr>
          <a:xfrm>
            <a:off x="8729133" y="25273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public unless resource management private link</a:t>
            </a:r>
          </a:p>
        </p:txBody>
      </p:sp>
      <p:sp>
        <p:nvSpPr>
          <p:cNvPr id="21" name="Rectangle: Rounded Corners 20">
            <a:extLst>
              <a:ext uri="{FF2B5EF4-FFF2-40B4-BE49-F238E27FC236}">
                <a16:creationId xmlns:a16="http://schemas.microsoft.com/office/drawing/2014/main" id="{C6F0E7F9-FD13-EAEA-6D06-70BE758AFBBF}"/>
              </a:ext>
            </a:extLst>
          </p:cNvPr>
          <p:cNvSpPr/>
          <p:nvPr/>
        </p:nvSpPr>
        <p:spPr>
          <a:xfrm>
            <a:off x="609600" y="30226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*.his.arc.azure.com</a:t>
            </a:r>
          </a:p>
        </p:txBody>
      </p:sp>
      <p:sp>
        <p:nvSpPr>
          <p:cNvPr id="22" name="Rectangle: Rounded Corners 21">
            <a:extLst>
              <a:ext uri="{FF2B5EF4-FFF2-40B4-BE49-F238E27FC236}">
                <a16:creationId xmlns:a16="http://schemas.microsoft.com/office/drawing/2014/main" id="{DEF7F141-A7A6-B46E-4B17-CAA6789B043B}"/>
              </a:ext>
            </a:extLst>
          </p:cNvPr>
          <p:cNvSpPr/>
          <p:nvPr/>
        </p:nvSpPr>
        <p:spPr>
          <a:xfrm>
            <a:off x="3022600" y="3022600"/>
            <a:ext cx="2853267"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metadata and hybrid identity</a:t>
            </a:r>
          </a:p>
        </p:txBody>
      </p:sp>
      <p:sp>
        <p:nvSpPr>
          <p:cNvPr id="23" name="Rectangle: Rounded Corners 22">
            <a:extLst>
              <a:ext uri="{FF2B5EF4-FFF2-40B4-BE49-F238E27FC236}">
                <a16:creationId xmlns:a16="http://schemas.microsoft.com/office/drawing/2014/main" id="{62DAECB1-2EC3-D6B3-4E7B-FCF63E97315A}"/>
              </a:ext>
            </a:extLst>
          </p:cNvPr>
          <p:cNvSpPr/>
          <p:nvPr/>
        </p:nvSpPr>
        <p:spPr>
          <a:xfrm>
            <a:off x="5875867" y="3022600"/>
            <a:ext cx="2853266"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always</a:t>
            </a:r>
          </a:p>
        </p:txBody>
      </p:sp>
      <p:sp>
        <p:nvSpPr>
          <p:cNvPr id="24" name="Rectangle: Rounded Corners 23">
            <a:extLst>
              <a:ext uri="{FF2B5EF4-FFF2-40B4-BE49-F238E27FC236}">
                <a16:creationId xmlns:a16="http://schemas.microsoft.com/office/drawing/2014/main" id="{2C271DBB-72CD-EAC7-1819-219D379EF5CC}"/>
              </a:ext>
            </a:extLst>
          </p:cNvPr>
          <p:cNvSpPr/>
          <p:nvPr/>
        </p:nvSpPr>
        <p:spPr>
          <a:xfrm>
            <a:off x="8729133" y="3022600"/>
            <a:ext cx="2853267"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private</a:t>
            </a:r>
          </a:p>
        </p:txBody>
      </p:sp>
      <p:sp>
        <p:nvSpPr>
          <p:cNvPr id="25" name="Rectangle: Rounded Corners 24">
            <a:extLst>
              <a:ext uri="{FF2B5EF4-FFF2-40B4-BE49-F238E27FC236}">
                <a16:creationId xmlns:a16="http://schemas.microsoft.com/office/drawing/2014/main" id="{C5628745-CACF-DD4D-D74D-97E0E5605AEA}"/>
              </a:ext>
            </a:extLst>
          </p:cNvPr>
          <p:cNvSpPr/>
          <p:nvPr/>
        </p:nvSpPr>
        <p:spPr>
          <a:xfrm>
            <a:off x="609600" y="33274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*.guestconfiguration.azure.com</a:t>
            </a:r>
          </a:p>
        </p:txBody>
      </p:sp>
      <p:sp>
        <p:nvSpPr>
          <p:cNvPr id="26" name="Rectangle: Rounded Corners 25">
            <a:extLst>
              <a:ext uri="{FF2B5EF4-FFF2-40B4-BE49-F238E27FC236}">
                <a16:creationId xmlns:a16="http://schemas.microsoft.com/office/drawing/2014/main" id="{15F93C23-77D7-578A-52A5-7F75FC4C43FF}"/>
              </a:ext>
            </a:extLst>
          </p:cNvPr>
          <p:cNvSpPr/>
          <p:nvPr/>
        </p:nvSpPr>
        <p:spPr>
          <a:xfrm>
            <a:off x="3022600" y="3327400"/>
            <a:ext cx="2853267"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extensions and machine configuration</a:t>
            </a:r>
          </a:p>
        </p:txBody>
      </p:sp>
      <p:sp>
        <p:nvSpPr>
          <p:cNvPr id="27" name="Rectangle: Rounded Corners 26">
            <a:extLst>
              <a:ext uri="{FF2B5EF4-FFF2-40B4-BE49-F238E27FC236}">
                <a16:creationId xmlns:a16="http://schemas.microsoft.com/office/drawing/2014/main" id="{FBFC7413-2F8D-65AA-8CD6-A398690E523B}"/>
              </a:ext>
            </a:extLst>
          </p:cNvPr>
          <p:cNvSpPr/>
          <p:nvPr/>
        </p:nvSpPr>
        <p:spPr>
          <a:xfrm>
            <a:off x="5875867" y="3327400"/>
            <a:ext cx="2853266"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always</a:t>
            </a:r>
          </a:p>
        </p:txBody>
      </p:sp>
      <p:sp>
        <p:nvSpPr>
          <p:cNvPr id="28" name="Rectangle: Rounded Corners 27">
            <a:extLst>
              <a:ext uri="{FF2B5EF4-FFF2-40B4-BE49-F238E27FC236}">
                <a16:creationId xmlns:a16="http://schemas.microsoft.com/office/drawing/2014/main" id="{56015C10-5BCC-4764-8812-5F44CDEDAF0E}"/>
              </a:ext>
            </a:extLst>
          </p:cNvPr>
          <p:cNvSpPr/>
          <p:nvPr/>
        </p:nvSpPr>
        <p:spPr>
          <a:xfrm>
            <a:off x="8729133" y="3327400"/>
            <a:ext cx="2853267"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private</a:t>
            </a:r>
          </a:p>
        </p:txBody>
      </p:sp>
      <p:sp>
        <p:nvSpPr>
          <p:cNvPr id="29" name="Rectangle: Rounded Corners 28">
            <a:extLst>
              <a:ext uri="{FF2B5EF4-FFF2-40B4-BE49-F238E27FC236}">
                <a16:creationId xmlns:a16="http://schemas.microsoft.com/office/drawing/2014/main" id="{D387B72F-755B-0392-34FE-3AE2A40D7328}"/>
              </a:ext>
            </a:extLst>
          </p:cNvPr>
          <p:cNvSpPr/>
          <p:nvPr/>
        </p:nvSpPr>
        <p:spPr>
          <a:xfrm>
            <a:off x="609600" y="3632200"/>
            <a:ext cx="2413000" cy="6731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guestnotificationservice.azure.com, azgn*.servicebus.windows.net</a:t>
            </a:r>
          </a:p>
        </p:txBody>
      </p:sp>
      <p:sp>
        <p:nvSpPr>
          <p:cNvPr id="30" name="Rectangle: Rounded Corners 29">
            <a:extLst>
              <a:ext uri="{FF2B5EF4-FFF2-40B4-BE49-F238E27FC236}">
                <a16:creationId xmlns:a16="http://schemas.microsoft.com/office/drawing/2014/main" id="{A53FF173-5E8E-E65E-A956-A8F915B47E41}"/>
              </a:ext>
            </a:extLst>
          </p:cNvPr>
          <p:cNvSpPr/>
          <p:nvPr/>
        </p:nvSpPr>
        <p:spPr>
          <a:xfrm>
            <a:off x="3022600" y="3632200"/>
            <a:ext cx="2853267"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notifications for extensions and connectivity</a:t>
            </a:r>
          </a:p>
        </p:txBody>
      </p:sp>
      <p:sp>
        <p:nvSpPr>
          <p:cNvPr id="31" name="Rectangle: Rounded Corners 30">
            <a:extLst>
              <a:ext uri="{FF2B5EF4-FFF2-40B4-BE49-F238E27FC236}">
                <a16:creationId xmlns:a16="http://schemas.microsoft.com/office/drawing/2014/main" id="{2374FF63-E2FC-A8F9-A18E-8DDDA4244FCA}"/>
              </a:ext>
            </a:extLst>
          </p:cNvPr>
          <p:cNvSpPr/>
          <p:nvPr/>
        </p:nvSpPr>
        <p:spPr>
          <a:xfrm>
            <a:off x="5875867" y="3632200"/>
            <a:ext cx="2853266"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always</a:t>
            </a:r>
          </a:p>
        </p:txBody>
      </p:sp>
      <p:sp>
        <p:nvSpPr>
          <p:cNvPr id="32" name="Rectangle: Rounded Corners 31">
            <a:extLst>
              <a:ext uri="{FF2B5EF4-FFF2-40B4-BE49-F238E27FC236}">
                <a16:creationId xmlns:a16="http://schemas.microsoft.com/office/drawing/2014/main" id="{A633BB1A-52C4-F4C9-4F0F-1BBB7941071D}"/>
              </a:ext>
            </a:extLst>
          </p:cNvPr>
          <p:cNvSpPr/>
          <p:nvPr/>
        </p:nvSpPr>
        <p:spPr>
          <a:xfrm>
            <a:off x="8729133" y="3632200"/>
            <a:ext cx="2853267"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public</a:t>
            </a:r>
          </a:p>
        </p:txBody>
      </p:sp>
      <p:sp>
        <p:nvSpPr>
          <p:cNvPr id="33" name="Rectangle: Rounded Corners 32">
            <a:extLst>
              <a:ext uri="{FF2B5EF4-FFF2-40B4-BE49-F238E27FC236}">
                <a16:creationId xmlns:a16="http://schemas.microsoft.com/office/drawing/2014/main" id="{59CA8946-77A3-4F0A-EC99-D95E5007A444}"/>
              </a:ext>
            </a:extLst>
          </p:cNvPr>
          <p:cNvSpPr/>
          <p:nvPr/>
        </p:nvSpPr>
        <p:spPr>
          <a:xfrm>
            <a:off x="609600" y="43053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download.microsoft.com, packages.microsoft.com</a:t>
            </a:r>
          </a:p>
        </p:txBody>
      </p:sp>
      <p:sp>
        <p:nvSpPr>
          <p:cNvPr id="34" name="Rectangle: Rounded Corners 33">
            <a:extLst>
              <a:ext uri="{FF2B5EF4-FFF2-40B4-BE49-F238E27FC236}">
                <a16:creationId xmlns:a16="http://schemas.microsoft.com/office/drawing/2014/main" id="{BDE33468-EB00-CC4B-123B-847990D1722A}"/>
              </a:ext>
            </a:extLst>
          </p:cNvPr>
          <p:cNvSpPr/>
          <p:nvPr/>
        </p:nvSpPr>
        <p:spPr>
          <a:xfrm>
            <a:off x="3022600" y="43053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agent install and updates</a:t>
            </a:r>
          </a:p>
        </p:txBody>
      </p:sp>
      <p:sp>
        <p:nvSpPr>
          <p:cNvPr id="35" name="Rectangle: Rounded Corners 34">
            <a:extLst>
              <a:ext uri="{FF2B5EF4-FFF2-40B4-BE49-F238E27FC236}">
                <a16:creationId xmlns:a16="http://schemas.microsoft.com/office/drawing/2014/main" id="{9CFF91AF-A071-2940-5E9A-C44886FD4478}"/>
              </a:ext>
            </a:extLst>
          </p:cNvPr>
          <p:cNvSpPr/>
          <p:nvPr/>
        </p:nvSpPr>
        <p:spPr>
          <a:xfrm>
            <a:off x="5875867" y="43053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install and update</a:t>
            </a:r>
          </a:p>
        </p:txBody>
      </p:sp>
      <p:sp>
        <p:nvSpPr>
          <p:cNvPr id="36" name="Rectangle: Rounded Corners 35">
            <a:extLst>
              <a:ext uri="{FF2B5EF4-FFF2-40B4-BE49-F238E27FC236}">
                <a16:creationId xmlns:a16="http://schemas.microsoft.com/office/drawing/2014/main" id="{04F84147-2929-58E6-BC50-FE194C9DC531}"/>
              </a:ext>
            </a:extLst>
          </p:cNvPr>
          <p:cNvSpPr/>
          <p:nvPr/>
        </p:nvSpPr>
        <p:spPr>
          <a:xfrm>
            <a:off x="8729133" y="43053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public</a:t>
            </a:r>
          </a:p>
        </p:txBody>
      </p:sp>
      <p:sp>
        <p:nvSpPr>
          <p:cNvPr id="37" name="Rectangle: Rounded Corners 36">
            <a:extLst>
              <a:ext uri="{FF2B5EF4-FFF2-40B4-BE49-F238E27FC236}">
                <a16:creationId xmlns:a16="http://schemas.microsoft.com/office/drawing/2014/main" id="{771D53C1-2A27-F8A7-8E90-FD110DB03705}"/>
              </a:ext>
            </a:extLst>
          </p:cNvPr>
          <p:cNvSpPr/>
          <p:nvPr/>
        </p:nvSpPr>
        <p:spPr>
          <a:xfrm>
            <a:off x="609600" y="4800600"/>
            <a:ext cx="2413000" cy="8636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Service tags</a:t>
            </a:r>
          </a:p>
        </p:txBody>
      </p:sp>
      <p:sp>
        <p:nvSpPr>
          <p:cNvPr id="38" name="Rectangle: Rounded Corners 37">
            <a:extLst>
              <a:ext uri="{FF2B5EF4-FFF2-40B4-BE49-F238E27FC236}">
                <a16:creationId xmlns:a16="http://schemas.microsoft.com/office/drawing/2014/main" id="{867F8E15-DA42-8F64-383B-EA6724E2C890}"/>
              </a:ext>
            </a:extLst>
          </p:cNvPr>
          <p:cNvSpPr/>
          <p:nvPr/>
        </p:nvSpPr>
        <p:spPr>
          <a:xfrm>
            <a:off x="3022600" y="4800600"/>
            <a:ext cx="2853267"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AzureActiveDirectory, AzureTrafficManager, AzureResourceManager, AzureArcInfrastructure, Storage, AzureFrontDoor.Frontend</a:t>
            </a:r>
          </a:p>
        </p:txBody>
      </p:sp>
      <p:sp>
        <p:nvSpPr>
          <p:cNvPr id="39" name="Rectangle: Rounded Corners 38">
            <a:extLst>
              <a:ext uri="{FF2B5EF4-FFF2-40B4-BE49-F238E27FC236}">
                <a16:creationId xmlns:a16="http://schemas.microsoft.com/office/drawing/2014/main" id="{25063561-864A-73CF-3276-E4940D82A384}"/>
              </a:ext>
            </a:extLst>
          </p:cNvPr>
          <p:cNvSpPr/>
          <p:nvPr/>
        </p:nvSpPr>
        <p:spPr>
          <a:xfrm>
            <a:off x="5875867" y="4800600"/>
            <a:ext cx="2853266"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always</a:t>
            </a:r>
          </a:p>
        </p:txBody>
      </p:sp>
      <p:sp>
        <p:nvSpPr>
          <p:cNvPr id="40" name="Rectangle: Rounded Corners 39">
            <a:extLst>
              <a:ext uri="{FF2B5EF4-FFF2-40B4-BE49-F238E27FC236}">
                <a16:creationId xmlns:a16="http://schemas.microsoft.com/office/drawing/2014/main" id="{0EC5FF9E-9F9A-3DE1-369C-B514CD249656}"/>
              </a:ext>
            </a:extLst>
          </p:cNvPr>
          <p:cNvSpPr/>
          <p:nvPr/>
        </p:nvSpPr>
        <p:spPr>
          <a:xfrm>
            <a:off x="8729133" y="4800600"/>
            <a:ext cx="2853267" cy="8636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n/a</a:t>
            </a:r>
          </a:p>
        </p:txBody>
      </p:sp>
    </p:spTree>
    <p:extLst>
      <p:ext uri="{BB962C8B-B14F-4D97-AF65-F5344CB8AC3E}">
        <p14:creationId xmlns:p14="http://schemas.microsoft.com/office/powerpoint/2010/main" val="132706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A8C3A6F-48F3-5E8D-057C-2DBC7870180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A00FECC-C209-43AB-1BA9-5C8578C161C2}"/>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B1296CC-E3C5-350B-539B-B197B25941E1}"/>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F93E473-1627-2E70-899B-22F864BD93E8}"/>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Onboarding servers at scale</a:t>
            </a:r>
          </a:p>
        </p:txBody>
      </p:sp>
      <p:sp>
        <p:nvSpPr>
          <p:cNvPr id="6" name="ChapterTag">
            <a:extLst>
              <a:ext uri="{FF2B5EF4-FFF2-40B4-BE49-F238E27FC236}">
                <a16:creationId xmlns:a16="http://schemas.microsoft.com/office/drawing/2014/main" id="{1D5064F0-9BC2-CED1-0AC5-A757984F0182}"/>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76B2D40B-93E7-4FEB-4CDB-205A7F9BBE0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A66A8AF-E82F-508E-79E2-1063FAFF87B0}"/>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26</a:t>
            </a:r>
          </a:p>
        </p:txBody>
      </p:sp>
      <p:sp>
        <p:nvSpPr>
          <p:cNvPr id="9" name="Rectangle 8">
            <a:extLst>
              <a:ext uri="{FF2B5EF4-FFF2-40B4-BE49-F238E27FC236}">
                <a16:creationId xmlns:a16="http://schemas.microsoft.com/office/drawing/2014/main" id="{136D9C99-CE20-D870-63B4-E6961DE67FDC}"/>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One machine, interactively (Windows or Linux)</a:t>
            </a:r>
          </a:p>
          <a:p>
            <a:r>
              <a:rPr lang="en-US" sz="1150">
                <a:solidFill>
                  <a:srgbClr val="F4F4F5"/>
                </a:solidFill>
                <a:latin typeface="Consolas" panose="020B0609020204030204" pitchFamily="49" charset="0"/>
              </a:rPr>
              <a:t>azcmagent connect --resource-group rg-arc-prod --tenant-id &lt;tenant&gt; --location eastus2 --subscription-id &lt;sub&gt; --tags site=dc1,owner=platform</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Many machines: a service principal with the Azure Connected Machine Onboarding role, then the generated script via your tooling</a:t>
            </a:r>
          </a:p>
          <a:p>
            <a:r>
              <a:rPr lang="en-US" sz="1150">
                <a:solidFill>
                  <a:srgbClr val="F4F4F5"/>
                </a:solidFill>
                <a:latin typeface="Consolas" panose="020B0609020204030204" pitchFamily="49" charset="0"/>
              </a:rPr>
              <a:t>az ad sp create-for-rbac --name sp-arc-onboarding --role "Azure Connected Machine Onboarding" --scopes /subscriptions/&lt;sub&gt;/resourceGroups/rg-arc-prod</a:t>
            </a:r>
          </a:p>
          <a:p>
            <a:r>
              <a:rPr lang="en-US" sz="1150">
                <a:solidFill>
                  <a:srgbClr val="A3E635"/>
                </a:solidFill>
                <a:latin typeface="Consolas" panose="020B0609020204030204" pitchFamily="49" charset="0"/>
              </a:rPr>
              <a:t># Push the script with Configuration Manager, Ansible, Group Policy, Intune or your VMware or SCVMM tooling</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Verify</a:t>
            </a:r>
          </a:p>
          <a:p>
            <a:r>
              <a:rPr lang="en-US" sz="1150">
                <a:solidFill>
                  <a:srgbClr val="F4F4F5"/>
                </a:solidFill>
                <a:latin typeface="Consolas" panose="020B0609020204030204" pitchFamily="49" charset="0"/>
              </a:rPr>
              <a:t>azcmagent show</a:t>
            </a:r>
          </a:p>
          <a:p>
            <a:r>
              <a:rPr lang="en-US" sz="1150">
                <a:solidFill>
                  <a:srgbClr val="F4F4F5"/>
                </a:solidFill>
                <a:latin typeface="Consolas" panose="020B0609020204030204" pitchFamily="49" charset="0"/>
              </a:rPr>
              <a:t>az connectedmachine list -g rg-arc-prod -o table</a:t>
            </a:r>
          </a:p>
        </p:txBody>
      </p:sp>
    </p:spTree>
    <p:extLst>
      <p:ext uri="{BB962C8B-B14F-4D97-AF65-F5344CB8AC3E}">
        <p14:creationId xmlns:p14="http://schemas.microsoft.com/office/powerpoint/2010/main" val="356621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90C38F8-88D2-1579-1E91-279F91F3FBC0}"/>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BED580FC-AB92-F9B6-FBD5-47043F5B95A8}"/>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1C725BA-E7D0-0746-C4F4-86595925D478}"/>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631C504-0B39-1ADF-5CD2-6EC277D09A31}"/>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VMware and SCVMM: the resource bridge</a:t>
            </a:r>
          </a:p>
        </p:txBody>
      </p:sp>
      <p:sp>
        <p:nvSpPr>
          <p:cNvPr id="6" name="ChapterTag">
            <a:extLst>
              <a:ext uri="{FF2B5EF4-FFF2-40B4-BE49-F238E27FC236}">
                <a16:creationId xmlns:a16="http://schemas.microsoft.com/office/drawing/2014/main" id="{53A7D9E1-E4C9-D189-CBB2-BEBC8C5A50DC}"/>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4CAA3621-9AA7-FF9F-94BE-9466DB0DBBA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FB659E58-F668-B19C-629F-BC4511C271E1}"/>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27</a:t>
            </a:r>
          </a:p>
        </p:txBody>
      </p:sp>
      <p:sp>
        <p:nvSpPr>
          <p:cNvPr id="9" name="Rectangle: Rounded Corners 8">
            <a:extLst>
              <a:ext uri="{FF2B5EF4-FFF2-40B4-BE49-F238E27FC236}">
                <a16:creationId xmlns:a16="http://schemas.microsoft.com/office/drawing/2014/main" id="{D0671393-131F-F253-3A16-851C0A81E4B3}"/>
              </a:ext>
            </a:extLst>
          </p:cNvPr>
          <p:cNvSpPr/>
          <p:nvPr/>
        </p:nvSpPr>
        <p:spPr>
          <a:xfrm>
            <a:off x="609600" y="1600200"/>
            <a:ext cx="6858000" cy="4318000"/>
          </a:xfrm>
          <a:prstGeom prst="roundRect">
            <a:avLst>
              <a:gd name="adj" fmla="val 4000"/>
            </a:avLst>
          </a:prstGeom>
          <a:noFill/>
          <a:ln w="15875" cap="flat" cmpd="sng" algn="ctr">
            <a:solidFill>
              <a:srgbClr val="A3E635"/>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9EC3A84-8161-7772-4622-40B4FEE376A7}"/>
              </a:ext>
            </a:extLst>
          </p:cNvPr>
          <p:cNvSpPr txBox="1"/>
          <p:nvPr/>
        </p:nvSpPr>
        <p:spPr>
          <a:xfrm>
            <a:off x="736600" y="1651000"/>
            <a:ext cx="6604000" cy="228600"/>
          </a:xfrm>
          <a:prstGeom prst="rect">
            <a:avLst/>
          </a:prstGeom>
          <a:noFill/>
        </p:spPr>
        <p:txBody>
          <a:bodyPr vert="horz" wrap="square" lIns="25400" tIns="12700" rIns="25400" bIns="12700" rtlCol="0" anchor="t">
            <a:noAutofit/>
          </a:bodyPr>
          <a:lstStyle/>
          <a:p>
            <a:r>
              <a:rPr lang="en-US" sz="1100" b="1">
                <a:solidFill>
                  <a:srgbClr val="A3E635"/>
                </a:solidFill>
                <a:latin typeface="Calibri" panose="020F0502020204030204" pitchFamily="34" charset="0"/>
              </a:rPr>
              <a:t>PRIVATE CLOUD · vSphere or SCVMM</a:t>
            </a:r>
          </a:p>
        </p:txBody>
      </p:sp>
      <p:sp>
        <p:nvSpPr>
          <p:cNvPr id="11" name="Rectangle: Rounded Corners 10">
            <a:extLst>
              <a:ext uri="{FF2B5EF4-FFF2-40B4-BE49-F238E27FC236}">
                <a16:creationId xmlns:a16="http://schemas.microsoft.com/office/drawing/2014/main" id="{21A0BE3C-7FEC-1CC6-B23B-7637A75C1CC2}"/>
              </a:ext>
            </a:extLst>
          </p:cNvPr>
          <p:cNvSpPr/>
          <p:nvPr/>
        </p:nvSpPr>
        <p:spPr>
          <a:xfrm>
            <a:off x="889000" y="2108200"/>
            <a:ext cx="25400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vCenter 8 or SCVMM</a:t>
            </a:r>
          </a:p>
        </p:txBody>
      </p:sp>
      <p:sp>
        <p:nvSpPr>
          <p:cNvPr id="12" name="Rectangle: Rounded Corners 11">
            <a:extLst>
              <a:ext uri="{FF2B5EF4-FFF2-40B4-BE49-F238E27FC236}">
                <a16:creationId xmlns:a16="http://schemas.microsoft.com/office/drawing/2014/main" id="{03CE76B3-4958-41BB-3AFE-2BD9EE74B1B1}"/>
              </a:ext>
            </a:extLst>
          </p:cNvPr>
          <p:cNvSpPr/>
          <p:nvPr/>
        </p:nvSpPr>
        <p:spPr>
          <a:xfrm>
            <a:off x="3810000" y="1905000"/>
            <a:ext cx="3403600" cy="10414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Arc resource bridge</a:t>
            </a:r>
          </a:p>
          <a:p>
            <a:pPr algn="ctr"/>
            <a:r>
              <a:rPr lang="en-US" sz="1150">
                <a:solidFill>
                  <a:srgbClr val="F4F4F5"/>
                </a:solidFill>
                <a:latin typeface="Calibri" panose="020F0502020204030204" pitchFamily="34" charset="0"/>
              </a:rPr>
              <a:t>appliance VM: a small Kubernetes management cluster with credentials to the platform</a:t>
            </a:r>
          </a:p>
        </p:txBody>
      </p:sp>
      <p:cxnSp>
        <p:nvCxnSpPr>
          <p:cNvPr id="13" name="Straight Connector 12">
            <a:extLst>
              <a:ext uri="{FF2B5EF4-FFF2-40B4-BE49-F238E27FC236}">
                <a16:creationId xmlns:a16="http://schemas.microsoft.com/office/drawing/2014/main" id="{90B7551B-5BC1-7ABD-DD2E-6F14A8A6D586}"/>
              </a:ext>
            </a:extLst>
          </p:cNvPr>
          <p:cNvCxnSpPr/>
          <p:nvPr/>
        </p:nvCxnSpPr>
        <p:spPr>
          <a:xfrm>
            <a:off x="3429000" y="2425700"/>
            <a:ext cx="381000" cy="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B3A45D5-730E-1D1D-4810-29F15826AEA1}"/>
              </a:ext>
            </a:extLst>
          </p:cNvPr>
          <p:cNvSpPr txBox="1"/>
          <p:nvPr/>
        </p:nvSpPr>
        <p:spPr>
          <a:xfrm>
            <a:off x="2730500" y="2171700"/>
            <a:ext cx="1778000" cy="228600"/>
          </a:xfrm>
          <a:prstGeom prst="rect">
            <a:avLst/>
          </a:prstGeom>
          <a:noFill/>
        </p:spPr>
        <p:txBody>
          <a:bodyPr vert="horz" wrap="square" lIns="25400" tIns="12700" rIns="25400" bIns="12700" rtlCol="0" anchor="t">
            <a:noAutofit/>
          </a:bodyPr>
          <a:lstStyle/>
          <a:p>
            <a:pPr algn="ctr"/>
            <a:r>
              <a:rPr lang="en-US" sz="1100" b="1">
                <a:solidFill>
                  <a:srgbClr val="A3E635"/>
                </a:solidFill>
                <a:latin typeface="Calibri" panose="020F0502020204030204" pitchFamily="34" charset="0"/>
              </a:rPr>
              <a:t>reads inventory</a:t>
            </a:r>
          </a:p>
        </p:txBody>
      </p:sp>
      <p:sp>
        <p:nvSpPr>
          <p:cNvPr id="15" name="Rectangle: Rounded Corners 14">
            <a:extLst>
              <a:ext uri="{FF2B5EF4-FFF2-40B4-BE49-F238E27FC236}">
                <a16:creationId xmlns:a16="http://schemas.microsoft.com/office/drawing/2014/main" id="{0B0B0C4F-E5BD-DEE0-8C18-44B50C7858A1}"/>
              </a:ext>
            </a:extLst>
          </p:cNvPr>
          <p:cNvSpPr/>
          <p:nvPr/>
        </p:nvSpPr>
        <p:spPr>
          <a:xfrm>
            <a:off x="889000" y="3175000"/>
            <a:ext cx="2540000" cy="4572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VM · app-01</a:t>
            </a:r>
          </a:p>
        </p:txBody>
      </p:sp>
      <p:sp>
        <p:nvSpPr>
          <p:cNvPr id="16" name="Rectangle: Rounded Corners 15">
            <a:extLst>
              <a:ext uri="{FF2B5EF4-FFF2-40B4-BE49-F238E27FC236}">
                <a16:creationId xmlns:a16="http://schemas.microsoft.com/office/drawing/2014/main" id="{14B7AF61-7B3C-8FE8-A491-B8429C30D42D}"/>
              </a:ext>
            </a:extLst>
          </p:cNvPr>
          <p:cNvSpPr/>
          <p:nvPr/>
        </p:nvSpPr>
        <p:spPr>
          <a:xfrm>
            <a:off x="889000" y="3733800"/>
            <a:ext cx="2540000" cy="4572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VM · db-02</a:t>
            </a:r>
          </a:p>
        </p:txBody>
      </p:sp>
      <p:sp>
        <p:nvSpPr>
          <p:cNvPr id="17" name="Rectangle: Rounded Corners 16">
            <a:extLst>
              <a:ext uri="{FF2B5EF4-FFF2-40B4-BE49-F238E27FC236}">
                <a16:creationId xmlns:a16="http://schemas.microsoft.com/office/drawing/2014/main" id="{47381784-DF49-76A5-EB25-FCA9FA03F724}"/>
              </a:ext>
            </a:extLst>
          </p:cNvPr>
          <p:cNvSpPr/>
          <p:nvPr/>
        </p:nvSpPr>
        <p:spPr>
          <a:xfrm>
            <a:off x="889000" y="4292600"/>
            <a:ext cx="2540000" cy="4572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VM · web-03 (guest management on)</a:t>
            </a:r>
          </a:p>
        </p:txBody>
      </p:sp>
      <p:sp>
        <p:nvSpPr>
          <p:cNvPr id="18" name="Rectangle: Rounded Corners 17">
            <a:extLst>
              <a:ext uri="{FF2B5EF4-FFF2-40B4-BE49-F238E27FC236}">
                <a16:creationId xmlns:a16="http://schemas.microsoft.com/office/drawing/2014/main" id="{47BD4AE0-EFFB-3C0A-54E0-CD56E560172A}"/>
              </a:ext>
            </a:extLst>
          </p:cNvPr>
          <p:cNvSpPr/>
          <p:nvPr/>
        </p:nvSpPr>
        <p:spPr>
          <a:xfrm>
            <a:off x="3810000" y="3175000"/>
            <a:ext cx="3403600" cy="1016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Guest management = the Connected Machine agent installed from Azure, in bulk, without touching each VM</a:t>
            </a:r>
          </a:p>
        </p:txBody>
      </p:sp>
      <p:sp>
        <p:nvSpPr>
          <p:cNvPr id="19" name="Rectangle: Rounded Corners 18">
            <a:extLst>
              <a:ext uri="{FF2B5EF4-FFF2-40B4-BE49-F238E27FC236}">
                <a16:creationId xmlns:a16="http://schemas.microsoft.com/office/drawing/2014/main" id="{ADABBC89-61EE-DBF9-5DC5-81EA6131DA30}"/>
              </a:ext>
            </a:extLst>
          </p:cNvPr>
          <p:cNvSpPr/>
          <p:nvPr/>
        </p:nvSpPr>
        <p:spPr>
          <a:xfrm>
            <a:off x="3810000" y="4343400"/>
            <a:ext cx="3403600" cy="6350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B0B0BA"/>
                </a:solidFill>
                <a:latin typeface="Calibri" panose="020F0502020204030204" pitchFamily="34" charset="0"/>
              </a:rPr>
              <a:t>Telemetry still goes agent → Azure Monitor; the bridge is control plane only</a:t>
            </a:r>
          </a:p>
        </p:txBody>
      </p:sp>
      <p:sp>
        <p:nvSpPr>
          <p:cNvPr id="20" name="TextBox 19">
            <a:extLst>
              <a:ext uri="{FF2B5EF4-FFF2-40B4-BE49-F238E27FC236}">
                <a16:creationId xmlns:a16="http://schemas.microsoft.com/office/drawing/2014/main" id="{D5DA233A-9EDA-8B14-D1F2-731446806EFB}"/>
              </a:ext>
            </a:extLst>
          </p:cNvPr>
          <p:cNvSpPr txBox="1"/>
          <p:nvPr/>
        </p:nvSpPr>
        <p:spPr>
          <a:xfrm>
            <a:off x="889000" y="5207000"/>
            <a:ext cx="6350000" cy="508000"/>
          </a:xfrm>
          <a:prstGeom prst="rect">
            <a:avLst/>
          </a:prstGeom>
          <a:noFill/>
        </p:spPr>
        <p:txBody>
          <a:bodyPr vert="horz" wrap="square" lIns="25400" tIns="12700" rIns="25400" bIns="12700" rtlCol="0" anchor="t">
            <a:noAutofit/>
          </a:bodyPr>
          <a:lstStyle/>
          <a:p>
            <a:r>
              <a:rPr lang="en-US" sz="1100">
                <a:solidFill>
                  <a:srgbClr val="B0B0BA"/>
                </a:solidFill>
                <a:latin typeface="Calibri" panose="020F0502020204030204" pitchFamily="34" charset="0"/>
              </a:rPr>
              <a:t>Limits: up to 9,500 VMs per bridge · vCenter 8 · upgrade at least every 6 months · no Private Link · credentials rotate with your policy</a:t>
            </a:r>
          </a:p>
        </p:txBody>
      </p:sp>
      <p:sp>
        <p:nvSpPr>
          <p:cNvPr id="21" name="Rectangle: Rounded Corners 20">
            <a:extLst>
              <a:ext uri="{FF2B5EF4-FFF2-40B4-BE49-F238E27FC236}">
                <a16:creationId xmlns:a16="http://schemas.microsoft.com/office/drawing/2014/main" id="{7D957C3D-F7D5-5717-F232-759F030F4691}"/>
              </a:ext>
            </a:extLst>
          </p:cNvPr>
          <p:cNvSpPr/>
          <p:nvPr/>
        </p:nvSpPr>
        <p:spPr>
          <a:xfrm>
            <a:off x="7823200" y="1600200"/>
            <a:ext cx="3759200" cy="4318000"/>
          </a:xfrm>
          <a:prstGeom prst="roundRect">
            <a:avLst>
              <a:gd name="adj" fmla="val 4000"/>
            </a:avLst>
          </a:prstGeom>
          <a:noFill/>
          <a:ln w="15875" cap="flat" cmpd="sng" algn="ctr">
            <a:solidFill>
              <a:srgbClr val="7DAA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5605654-C531-2F9D-549E-26E62340BDC3}"/>
              </a:ext>
            </a:extLst>
          </p:cNvPr>
          <p:cNvSpPr txBox="1"/>
          <p:nvPr/>
        </p:nvSpPr>
        <p:spPr>
          <a:xfrm>
            <a:off x="7950200" y="1651000"/>
            <a:ext cx="3505200" cy="228600"/>
          </a:xfrm>
          <a:prstGeom prst="rect">
            <a:avLst/>
          </a:prstGeom>
          <a:noFill/>
        </p:spPr>
        <p:txBody>
          <a:bodyPr vert="horz" wrap="square" lIns="25400" tIns="12700" rIns="25400" bIns="12700" rtlCol="0" anchor="t">
            <a:noAutofit/>
          </a:bodyPr>
          <a:lstStyle/>
          <a:p>
            <a:r>
              <a:rPr lang="en-US" sz="1100" b="1">
                <a:solidFill>
                  <a:srgbClr val="7DAAFA"/>
                </a:solidFill>
                <a:latin typeface="Calibri" panose="020F0502020204030204" pitchFamily="34" charset="0"/>
              </a:rPr>
              <a:t>AZURE</a:t>
            </a:r>
          </a:p>
        </p:txBody>
      </p:sp>
      <p:sp>
        <p:nvSpPr>
          <p:cNvPr id="23" name="Rectangle: Rounded Corners 22">
            <a:extLst>
              <a:ext uri="{FF2B5EF4-FFF2-40B4-BE49-F238E27FC236}">
                <a16:creationId xmlns:a16="http://schemas.microsoft.com/office/drawing/2014/main" id="{DC22858A-249B-1112-C8ED-64E9773EC9F5}"/>
              </a:ext>
            </a:extLst>
          </p:cNvPr>
          <p:cNvSpPr/>
          <p:nvPr/>
        </p:nvSpPr>
        <p:spPr>
          <a:xfrm>
            <a:off x="8077200" y="2108200"/>
            <a:ext cx="32512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Custom location</a:t>
            </a:r>
          </a:p>
        </p:txBody>
      </p:sp>
      <p:sp>
        <p:nvSpPr>
          <p:cNvPr id="24" name="Rectangle: Rounded Corners 23">
            <a:extLst>
              <a:ext uri="{FF2B5EF4-FFF2-40B4-BE49-F238E27FC236}">
                <a16:creationId xmlns:a16="http://schemas.microsoft.com/office/drawing/2014/main" id="{E61697FB-7061-107C-1212-6A29ED59E59A}"/>
              </a:ext>
            </a:extLst>
          </p:cNvPr>
          <p:cNvSpPr/>
          <p:nvPr/>
        </p:nvSpPr>
        <p:spPr>
          <a:xfrm>
            <a:off x="8077200" y="2743200"/>
            <a:ext cx="3251200" cy="762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vCenter or SCVMM resource, VM resources, networks, templates</a:t>
            </a:r>
          </a:p>
        </p:txBody>
      </p:sp>
      <p:sp>
        <p:nvSpPr>
          <p:cNvPr id="25" name="Rectangle: Rounded Corners 24">
            <a:extLst>
              <a:ext uri="{FF2B5EF4-FFF2-40B4-BE49-F238E27FC236}">
                <a16:creationId xmlns:a16="http://schemas.microsoft.com/office/drawing/2014/main" id="{959FE57A-4B91-F6AA-AA4F-6F7506D37E9B}"/>
              </a:ext>
            </a:extLst>
          </p:cNvPr>
          <p:cNvSpPr/>
          <p:nvPr/>
        </p:nvSpPr>
        <p:spPr>
          <a:xfrm>
            <a:off x="8077200" y="3632200"/>
            <a:ext cx="3251200" cy="762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Start, stop, resize, tag, RBAC, Policy, enable guest management</a:t>
            </a:r>
          </a:p>
        </p:txBody>
      </p:sp>
      <p:sp>
        <p:nvSpPr>
          <p:cNvPr id="26" name="Rectangle: Rounded Corners 25">
            <a:extLst>
              <a:ext uri="{FF2B5EF4-FFF2-40B4-BE49-F238E27FC236}">
                <a16:creationId xmlns:a16="http://schemas.microsoft.com/office/drawing/2014/main" id="{FBE46AD5-341F-844C-8247-E7DA9D0A6047}"/>
              </a:ext>
            </a:extLst>
          </p:cNvPr>
          <p:cNvSpPr/>
          <p:nvPr/>
        </p:nvSpPr>
        <p:spPr>
          <a:xfrm>
            <a:off x="8077200" y="4521200"/>
            <a:ext cx="3251200" cy="762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Arc-enabled servers (Microsoft.HybridCompute/machines) once guest management is on</a:t>
            </a:r>
          </a:p>
        </p:txBody>
      </p:sp>
      <p:cxnSp>
        <p:nvCxnSpPr>
          <p:cNvPr id="27" name="Straight Connector 26">
            <a:extLst>
              <a:ext uri="{FF2B5EF4-FFF2-40B4-BE49-F238E27FC236}">
                <a16:creationId xmlns:a16="http://schemas.microsoft.com/office/drawing/2014/main" id="{0F77F543-1377-1123-970C-E14FED08831E}"/>
              </a:ext>
            </a:extLst>
          </p:cNvPr>
          <p:cNvCxnSpPr/>
          <p:nvPr/>
        </p:nvCxnSpPr>
        <p:spPr>
          <a:xfrm>
            <a:off x="7213600" y="2425700"/>
            <a:ext cx="6096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B0A02CAF-4270-DD74-48A6-FFF9B3F49D4D}"/>
              </a:ext>
            </a:extLst>
          </p:cNvPr>
          <p:cNvSpPr txBox="1"/>
          <p:nvPr/>
        </p:nvSpPr>
        <p:spPr>
          <a:xfrm>
            <a:off x="6629400" y="2171700"/>
            <a:ext cx="1778000" cy="228600"/>
          </a:xfrm>
          <a:prstGeom prst="rect">
            <a:avLst/>
          </a:prstGeom>
          <a:noFill/>
        </p:spPr>
        <p:txBody>
          <a:bodyPr vert="horz" wrap="square" lIns="25400" tIns="12700" rIns="25400" bIns="12700" rtlCol="0" anchor="t">
            <a:noAutofit/>
          </a:bodyPr>
          <a:lstStyle/>
          <a:p>
            <a:pPr algn="ctr"/>
            <a:r>
              <a:rPr lang="en-US" sz="1100" b="1">
                <a:solidFill>
                  <a:srgbClr val="FBBF24"/>
                </a:solidFill>
                <a:latin typeface="Calibri" panose="020F0502020204030204" pitchFamily="34" charset="0"/>
              </a:rPr>
              <a:t>projects</a:t>
            </a:r>
          </a:p>
        </p:txBody>
      </p:sp>
      <p:sp>
        <p:nvSpPr>
          <p:cNvPr id="29" name="Rectangle 28">
            <a:extLst>
              <a:ext uri="{FF2B5EF4-FFF2-40B4-BE49-F238E27FC236}">
                <a16:creationId xmlns:a16="http://schemas.microsoft.com/office/drawing/2014/main" id="{97FA9998-94FA-971A-E51A-42A330370C73}"/>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E66CE38-9B9A-DBB3-D923-D2EAF4D34B79}"/>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The bridge projects the platform; guest management turns each VM into an Arc server for the data plane.</a:t>
            </a:r>
          </a:p>
        </p:txBody>
      </p:sp>
    </p:spTree>
    <p:extLst>
      <p:ext uri="{BB962C8B-B14F-4D97-AF65-F5344CB8AC3E}">
        <p14:creationId xmlns:p14="http://schemas.microsoft.com/office/powerpoint/2010/main" val="1935555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1F06DF9-F2C7-3A52-998D-6254E6B86FD1}"/>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58D71A7-1E05-5D1C-AC12-A6BE3B38FDCB}"/>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71B7C62-FC09-4A4D-F195-85EDA4743032}"/>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00FBB4-C0AC-1CB7-E6DE-A806D64580D5}"/>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Kubernetes anywhere</a:t>
            </a:r>
          </a:p>
        </p:txBody>
      </p:sp>
      <p:sp>
        <p:nvSpPr>
          <p:cNvPr id="6" name="ChapterTag">
            <a:extLst>
              <a:ext uri="{FF2B5EF4-FFF2-40B4-BE49-F238E27FC236}">
                <a16:creationId xmlns:a16="http://schemas.microsoft.com/office/drawing/2014/main" id="{6168B1EB-0EF0-4E55-3F60-83B865CB7652}"/>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A9602269-A926-E204-2C9C-EAC61B71AE11}"/>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2AD2B58-D963-307C-1A96-88FA59104542}"/>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28</a:t>
            </a:r>
          </a:p>
        </p:txBody>
      </p:sp>
      <p:sp>
        <p:nvSpPr>
          <p:cNvPr id="9" name="Rectangle 8">
            <a:extLst>
              <a:ext uri="{FF2B5EF4-FFF2-40B4-BE49-F238E27FC236}">
                <a16:creationId xmlns:a16="http://schemas.microsoft.com/office/drawing/2014/main" id="{62C256B1-FEC3-19AF-E02E-3BFF5C2AAB8A}"/>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Connect any CNCF-conformant cluster (EKS, GKE, k3s, OpenShift, on-premises)  as an Arc-enabled Kubernetes resource</a:t>
            </a:r>
          </a:p>
          <a:p>
            <a:r>
              <a:rPr lang="en-US" sz="1150">
                <a:solidFill>
                  <a:srgbClr val="F4F4F5"/>
                </a:solidFill>
                <a:latin typeface="Consolas" panose="020B0609020204030204" pitchFamily="49" charset="0"/>
              </a:rPr>
              <a:t>az connectedk8s connect --name eks-prod-01 --resource-group rg-arc-k8s --location eastus2 --tags cloud=aws,owner=platform</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Verify the agents in the azure-arc namespace</a:t>
            </a:r>
          </a:p>
          <a:p>
            <a:r>
              <a:rPr lang="en-US" sz="1150">
                <a:solidFill>
                  <a:srgbClr val="F4F4F5"/>
                </a:solidFill>
                <a:latin typeface="Consolas" panose="020B0609020204030204" pitchFamily="49" charset="0"/>
              </a:rPr>
              <a:t>kubectl get pods -n azure-arc</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Observability comes as cluster extensions (chapter 4)  Container insights plus Managed Prometheus</a:t>
            </a:r>
          </a:p>
          <a:p>
            <a:r>
              <a:rPr lang="en-US" sz="1150">
                <a:solidFill>
                  <a:srgbClr val="F4F4F5"/>
                </a:solidFill>
                <a:latin typeface="Consolas" panose="020B0609020204030204" pitchFamily="49" charset="0"/>
              </a:rPr>
              <a:t>az k8s-extension create --name azuremonitor-containers --extension-type Microsoft.AzureMonitor.Containers --cluster-name eks-prod-01 --resource-group rg-arc-k8s --cluster-type connectedClusters</a:t>
            </a:r>
          </a:p>
        </p:txBody>
      </p:sp>
    </p:spTree>
    <p:extLst>
      <p:ext uri="{BB962C8B-B14F-4D97-AF65-F5344CB8AC3E}">
        <p14:creationId xmlns:p14="http://schemas.microsoft.com/office/powerpoint/2010/main" val="3165418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7287660C-3B74-AF0C-AB9F-39F08E68C6F5}"/>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CAB34951-98D5-1965-2F86-97542FB4B8F7}"/>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6260C8C-262A-E7F3-5910-585943C01B8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F6C334A-F954-C6FE-1B89-F2687E619602}"/>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AWS: the multicloud connector</a:t>
            </a:r>
          </a:p>
        </p:txBody>
      </p:sp>
      <p:sp>
        <p:nvSpPr>
          <p:cNvPr id="6" name="ChapterTag">
            <a:extLst>
              <a:ext uri="{FF2B5EF4-FFF2-40B4-BE49-F238E27FC236}">
                <a16:creationId xmlns:a16="http://schemas.microsoft.com/office/drawing/2014/main" id="{B23AB85F-D3A1-E29F-7345-8CB16DD68239}"/>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FA4FAB48-16CE-90D1-B821-54850C8B7D1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527C2FA-D281-AA19-CB48-D02105E891C3}"/>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29</a:t>
            </a:r>
          </a:p>
        </p:txBody>
      </p:sp>
      <p:sp>
        <p:nvSpPr>
          <p:cNvPr id="9" name="Rectangle: Rounded Corners 8">
            <a:extLst>
              <a:ext uri="{FF2B5EF4-FFF2-40B4-BE49-F238E27FC236}">
                <a16:creationId xmlns:a16="http://schemas.microsoft.com/office/drawing/2014/main" id="{F9800EBA-0E05-6B84-5A62-C3BCB87C7CA9}"/>
              </a:ext>
            </a:extLst>
          </p:cNvPr>
          <p:cNvSpPr/>
          <p:nvPr/>
        </p:nvSpPr>
        <p:spPr>
          <a:xfrm>
            <a:off x="609600" y="1600200"/>
            <a:ext cx="5334000" cy="4318000"/>
          </a:xfrm>
          <a:prstGeom prst="roundRect">
            <a:avLst>
              <a:gd name="adj" fmla="val 4000"/>
            </a:avLst>
          </a:prstGeom>
          <a:noFill/>
          <a:ln w="15875" cap="flat" cmpd="sng" algn="ctr">
            <a:solidFill>
              <a:srgbClr val="FB923C"/>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BA34CF1-5958-56A7-1B43-16919D76B127}"/>
              </a:ext>
            </a:extLst>
          </p:cNvPr>
          <p:cNvSpPr txBox="1"/>
          <p:nvPr/>
        </p:nvSpPr>
        <p:spPr>
          <a:xfrm>
            <a:off x="736600" y="1651000"/>
            <a:ext cx="5080000" cy="228600"/>
          </a:xfrm>
          <a:prstGeom prst="rect">
            <a:avLst/>
          </a:prstGeom>
          <a:noFill/>
        </p:spPr>
        <p:txBody>
          <a:bodyPr vert="horz" wrap="square" lIns="25400" tIns="12700" rIns="25400" bIns="12700" rtlCol="0" anchor="t">
            <a:noAutofit/>
          </a:bodyPr>
          <a:lstStyle/>
          <a:p>
            <a:r>
              <a:rPr lang="en-US" sz="1100" b="1">
                <a:solidFill>
                  <a:srgbClr val="FB923C"/>
                </a:solidFill>
                <a:latin typeface="Calibri" panose="020F0502020204030204" pitchFamily="34" charset="0"/>
              </a:rPr>
              <a:t>AWS ACCOUNT</a:t>
            </a:r>
          </a:p>
        </p:txBody>
      </p:sp>
      <p:sp>
        <p:nvSpPr>
          <p:cNvPr id="11" name="Rectangle: Rounded Corners 10">
            <a:extLst>
              <a:ext uri="{FF2B5EF4-FFF2-40B4-BE49-F238E27FC236}">
                <a16:creationId xmlns:a16="http://schemas.microsoft.com/office/drawing/2014/main" id="{BE33942D-B305-9BBC-92A8-120B42D8074C}"/>
              </a:ext>
            </a:extLst>
          </p:cNvPr>
          <p:cNvSpPr/>
          <p:nvPr/>
        </p:nvSpPr>
        <p:spPr>
          <a:xfrm>
            <a:off x="889000" y="2032000"/>
            <a:ext cx="4775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CloudFormation stack: IAM roles, optional Lambda (daily) that assigns the SSM instance role</a:t>
            </a:r>
          </a:p>
        </p:txBody>
      </p:sp>
      <p:sp>
        <p:nvSpPr>
          <p:cNvPr id="12" name="Rectangle: Rounded Corners 11">
            <a:extLst>
              <a:ext uri="{FF2B5EF4-FFF2-40B4-BE49-F238E27FC236}">
                <a16:creationId xmlns:a16="http://schemas.microsoft.com/office/drawing/2014/main" id="{EA3BB33F-243E-1B82-10A0-2AF7A1B1BB64}"/>
              </a:ext>
            </a:extLst>
          </p:cNvPr>
          <p:cNvSpPr/>
          <p:nvPr/>
        </p:nvSpPr>
        <p:spPr>
          <a:xfrm>
            <a:off x="889000" y="2921000"/>
            <a:ext cx="2286000" cy="889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EC2 instances</a:t>
            </a:r>
          </a:p>
          <a:p>
            <a:pPr algn="ctr"/>
            <a:r>
              <a:rPr lang="en-US" sz="1150">
                <a:solidFill>
                  <a:srgbClr val="F4F4F5"/>
                </a:solidFill>
                <a:latin typeface="Calibri" panose="020F0502020204030204" pitchFamily="34" charset="0"/>
              </a:rPr>
              <a:t>SSM agent · ArcForServerSSMRole</a:t>
            </a:r>
          </a:p>
        </p:txBody>
      </p:sp>
      <p:sp>
        <p:nvSpPr>
          <p:cNvPr id="13" name="Rectangle: Rounded Corners 12">
            <a:extLst>
              <a:ext uri="{FF2B5EF4-FFF2-40B4-BE49-F238E27FC236}">
                <a16:creationId xmlns:a16="http://schemas.microsoft.com/office/drawing/2014/main" id="{3EA3E013-D18E-5E11-D900-F41CF199AE60}"/>
              </a:ext>
            </a:extLst>
          </p:cNvPr>
          <p:cNvSpPr/>
          <p:nvPr/>
        </p:nvSpPr>
        <p:spPr>
          <a:xfrm>
            <a:off x="3378200" y="2921000"/>
            <a:ext cx="2286000" cy="889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EKS clusters</a:t>
            </a:r>
          </a:p>
        </p:txBody>
      </p:sp>
      <p:sp>
        <p:nvSpPr>
          <p:cNvPr id="14" name="Rectangle: Rounded Corners 13">
            <a:extLst>
              <a:ext uri="{FF2B5EF4-FFF2-40B4-BE49-F238E27FC236}">
                <a16:creationId xmlns:a16="http://schemas.microsoft.com/office/drawing/2014/main" id="{1762E632-7B70-50A1-CC12-B4924EFE5944}"/>
              </a:ext>
            </a:extLst>
          </p:cNvPr>
          <p:cNvSpPr/>
          <p:nvPr/>
        </p:nvSpPr>
        <p:spPr>
          <a:xfrm>
            <a:off x="889000" y="4013200"/>
            <a:ext cx="4775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100+ AWS services: RDS, S3, Lambda, VPC, IAM, CloudTrail, CloudWatch alarms ...</a:t>
            </a:r>
          </a:p>
        </p:txBody>
      </p:sp>
      <p:sp>
        <p:nvSpPr>
          <p:cNvPr id="15" name="TextBox 14">
            <a:extLst>
              <a:ext uri="{FF2B5EF4-FFF2-40B4-BE49-F238E27FC236}">
                <a16:creationId xmlns:a16="http://schemas.microsoft.com/office/drawing/2014/main" id="{4C43FAB5-0706-BAC1-C0B8-215C517240B4}"/>
              </a:ext>
            </a:extLst>
          </p:cNvPr>
          <p:cNvSpPr txBox="1"/>
          <p:nvPr/>
        </p:nvSpPr>
        <p:spPr>
          <a:xfrm>
            <a:off x="889000" y="4953000"/>
            <a:ext cx="4775200" cy="508000"/>
          </a:xfrm>
          <a:prstGeom prst="rect">
            <a:avLst/>
          </a:prstGeom>
          <a:noFill/>
        </p:spPr>
        <p:txBody>
          <a:bodyPr vert="horz" wrap="square" lIns="25400" tIns="12700" rIns="25400" bIns="12700" rtlCol="0" anchor="t">
            <a:noAutofit/>
          </a:bodyPr>
          <a:lstStyle/>
          <a:p>
            <a:r>
              <a:rPr lang="en-US" sz="1100">
                <a:solidFill>
                  <a:srgbClr val="B0B0BA"/>
                </a:solidFill>
                <a:latin typeface="Calibri" panose="020F0502020204030204" pitchFamily="34" charset="0"/>
              </a:rPr>
              <a:t>Filter onboarding by region and tag · one connector per account or at the organization</a:t>
            </a:r>
          </a:p>
        </p:txBody>
      </p:sp>
      <p:sp>
        <p:nvSpPr>
          <p:cNvPr id="16" name="Rectangle: Rounded Corners 15">
            <a:extLst>
              <a:ext uri="{FF2B5EF4-FFF2-40B4-BE49-F238E27FC236}">
                <a16:creationId xmlns:a16="http://schemas.microsoft.com/office/drawing/2014/main" id="{0C56CABC-097A-E42D-FEDA-17238D76F5CF}"/>
              </a:ext>
            </a:extLst>
          </p:cNvPr>
          <p:cNvSpPr/>
          <p:nvPr/>
        </p:nvSpPr>
        <p:spPr>
          <a:xfrm>
            <a:off x="6350000" y="3175000"/>
            <a:ext cx="1778000" cy="1016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50" b="1">
                <a:solidFill>
                  <a:srgbClr val="FBBF24"/>
                </a:solidFill>
                <a:latin typeface="Calibri" panose="020F0502020204030204" pitchFamily="34" charset="0"/>
              </a:rPr>
              <a:t>MULTICLOUD CONNECTOR</a:t>
            </a:r>
          </a:p>
          <a:p>
            <a:pPr algn="ctr"/>
            <a:r>
              <a:rPr lang="en-US" sz="1250" b="1">
                <a:solidFill>
                  <a:srgbClr val="FBBF24"/>
                </a:solidFill>
                <a:latin typeface="Calibri" panose="020F0502020204030204" pitchFamily="34" charset="0"/>
              </a:rPr>
              <a:t>enabled by Azure Arc</a:t>
            </a:r>
          </a:p>
        </p:txBody>
      </p:sp>
      <p:cxnSp>
        <p:nvCxnSpPr>
          <p:cNvPr id="17" name="Straight Connector 16">
            <a:extLst>
              <a:ext uri="{FF2B5EF4-FFF2-40B4-BE49-F238E27FC236}">
                <a16:creationId xmlns:a16="http://schemas.microsoft.com/office/drawing/2014/main" id="{B14A0FF1-2EE0-AE3B-DD72-BB3AD41F8512}"/>
              </a:ext>
            </a:extLst>
          </p:cNvPr>
          <p:cNvCxnSpPr/>
          <p:nvPr/>
        </p:nvCxnSpPr>
        <p:spPr>
          <a:xfrm>
            <a:off x="5664200" y="3365500"/>
            <a:ext cx="685800" cy="19050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AB8C547-7B18-5A31-8298-CE904A24BB40}"/>
              </a:ext>
            </a:extLst>
          </p:cNvPr>
          <p:cNvSpPr txBox="1"/>
          <p:nvPr/>
        </p:nvSpPr>
        <p:spPr>
          <a:xfrm>
            <a:off x="5118100" y="3206750"/>
            <a:ext cx="1778000" cy="228600"/>
          </a:xfrm>
          <a:prstGeom prst="rect">
            <a:avLst/>
          </a:prstGeom>
          <a:noFill/>
        </p:spPr>
        <p:txBody>
          <a:bodyPr vert="horz" wrap="square" lIns="25400" tIns="12700" rIns="25400" bIns="12700" rtlCol="0" anchor="t">
            <a:noAutofit/>
          </a:bodyPr>
          <a:lstStyle/>
          <a:p>
            <a:pPr algn="ctr"/>
            <a:r>
              <a:rPr lang="en-US" sz="1100" b="1">
                <a:solidFill>
                  <a:srgbClr val="FBBF24"/>
                </a:solidFill>
                <a:latin typeface="Calibri" panose="020F0502020204030204" pitchFamily="34" charset="0"/>
              </a:rPr>
              <a:t>Arc onboarding</a:t>
            </a:r>
          </a:p>
        </p:txBody>
      </p:sp>
      <p:cxnSp>
        <p:nvCxnSpPr>
          <p:cNvPr id="19" name="Straight Connector 18">
            <a:extLst>
              <a:ext uri="{FF2B5EF4-FFF2-40B4-BE49-F238E27FC236}">
                <a16:creationId xmlns:a16="http://schemas.microsoft.com/office/drawing/2014/main" id="{4556206A-E16C-C5A0-0B6D-23D5BC4A68AD}"/>
              </a:ext>
            </a:extLst>
          </p:cNvPr>
          <p:cNvCxnSpPr/>
          <p:nvPr/>
        </p:nvCxnSpPr>
        <p:spPr>
          <a:xfrm flipV="1">
            <a:off x="5664200" y="3810000"/>
            <a:ext cx="685800" cy="55880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617C0A2-0DD3-F973-6BD4-307FA518CB79}"/>
              </a:ext>
            </a:extLst>
          </p:cNvPr>
          <p:cNvSpPr txBox="1"/>
          <p:nvPr/>
        </p:nvSpPr>
        <p:spPr>
          <a:xfrm>
            <a:off x="5118100" y="3835400"/>
            <a:ext cx="1778000" cy="228600"/>
          </a:xfrm>
          <a:prstGeom prst="rect">
            <a:avLst/>
          </a:prstGeom>
          <a:noFill/>
        </p:spPr>
        <p:txBody>
          <a:bodyPr vert="horz" wrap="square" lIns="25400" tIns="12700" rIns="25400" bIns="12700" rtlCol="0" anchor="t">
            <a:noAutofit/>
          </a:bodyPr>
          <a:lstStyle/>
          <a:p>
            <a:pPr algn="ctr"/>
            <a:r>
              <a:rPr lang="en-US" sz="1100" b="1">
                <a:solidFill>
                  <a:srgbClr val="FBBF24"/>
                </a:solidFill>
                <a:latin typeface="Calibri" panose="020F0502020204030204" pitchFamily="34" charset="0"/>
              </a:rPr>
              <a:t>Inventory</a:t>
            </a:r>
          </a:p>
        </p:txBody>
      </p:sp>
      <p:sp>
        <p:nvSpPr>
          <p:cNvPr id="21" name="Rectangle: Rounded Corners 20">
            <a:extLst>
              <a:ext uri="{FF2B5EF4-FFF2-40B4-BE49-F238E27FC236}">
                <a16:creationId xmlns:a16="http://schemas.microsoft.com/office/drawing/2014/main" id="{9ED551B7-5E18-F59A-60F3-FD05B032224A}"/>
              </a:ext>
            </a:extLst>
          </p:cNvPr>
          <p:cNvSpPr/>
          <p:nvPr/>
        </p:nvSpPr>
        <p:spPr>
          <a:xfrm>
            <a:off x="8534400" y="1600200"/>
            <a:ext cx="3048000" cy="4318000"/>
          </a:xfrm>
          <a:prstGeom prst="roundRect">
            <a:avLst>
              <a:gd name="adj" fmla="val 4000"/>
            </a:avLst>
          </a:prstGeom>
          <a:noFill/>
          <a:ln w="15875" cap="flat" cmpd="sng" algn="ctr">
            <a:solidFill>
              <a:srgbClr val="7DAA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3BC4452-07D8-13FC-7F6B-B606CB19F0C7}"/>
              </a:ext>
            </a:extLst>
          </p:cNvPr>
          <p:cNvSpPr txBox="1"/>
          <p:nvPr/>
        </p:nvSpPr>
        <p:spPr>
          <a:xfrm>
            <a:off x="8661400" y="1651000"/>
            <a:ext cx="2794000" cy="228600"/>
          </a:xfrm>
          <a:prstGeom prst="rect">
            <a:avLst/>
          </a:prstGeom>
          <a:noFill/>
        </p:spPr>
        <p:txBody>
          <a:bodyPr vert="horz" wrap="square" lIns="25400" tIns="12700" rIns="25400" bIns="12700" rtlCol="0" anchor="t">
            <a:noAutofit/>
          </a:bodyPr>
          <a:lstStyle/>
          <a:p>
            <a:r>
              <a:rPr lang="en-US" sz="1100" b="1">
                <a:solidFill>
                  <a:srgbClr val="7DAAFA"/>
                </a:solidFill>
                <a:latin typeface="Calibri" panose="020F0502020204030204" pitchFamily="34" charset="0"/>
              </a:rPr>
              <a:t>AZURE · resource group AWS_&lt;accountId&gt;</a:t>
            </a:r>
          </a:p>
        </p:txBody>
      </p:sp>
      <p:sp>
        <p:nvSpPr>
          <p:cNvPr id="23" name="Rectangle: Rounded Corners 22">
            <a:extLst>
              <a:ext uri="{FF2B5EF4-FFF2-40B4-BE49-F238E27FC236}">
                <a16:creationId xmlns:a16="http://schemas.microsoft.com/office/drawing/2014/main" id="{0A476097-9452-F8FB-8D79-86EE8747BA6D}"/>
              </a:ext>
            </a:extLst>
          </p:cNvPr>
          <p:cNvSpPr/>
          <p:nvPr/>
        </p:nvSpPr>
        <p:spPr>
          <a:xfrm>
            <a:off x="8788400" y="2159000"/>
            <a:ext cx="2540000" cy="812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Microsoft.HybridCompute/machines</a:t>
            </a:r>
          </a:p>
          <a:p>
            <a:pPr algn="ctr"/>
            <a:r>
              <a:rPr lang="en-US" sz="1150">
                <a:solidFill>
                  <a:srgbClr val="F4F4F5"/>
                </a:solidFill>
                <a:latin typeface="Calibri" panose="020F0502020204030204" pitchFamily="34" charset="0"/>
              </a:rPr>
              <a:t>for every onboarded EC2</a:t>
            </a:r>
          </a:p>
        </p:txBody>
      </p:sp>
      <p:sp>
        <p:nvSpPr>
          <p:cNvPr id="24" name="Rectangle: Rounded Corners 23">
            <a:extLst>
              <a:ext uri="{FF2B5EF4-FFF2-40B4-BE49-F238E27FC236}">
                <a16:creationId xmlns:a16="http://schemas.microsoft.com/office/drawing/2014/main" id="{14D66DCB-0301-45C4-10A4-45BB4A79BA19}"/>
              </a:ext>
            </a:extLst>
          </p:cNvPr>
          <p:cNvSpPr/>
          <p:nvPr/>
        </p:nvSpPr>
        <p:spPr>
          <a:xfrm>
            <a:off x="8788400" y="3098800"/>
            <a:ext cx="2540000" cy="8128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Microsoft.Kubernetes/connectedClusters</a:t>
            </a:r>
          </a:p>
          <a:p>
            <a:pPr algn="ctr"/>
            <a:r>
              <a:rPr lang="en-US" sz="1150">
                <a:solidFill>
                  <a:srgbClr val="F4F4F5"/>
                </a:solidFill>
                <a:latin typeface="Calibri" panose="020F0502020204030204" pitchFamily="34" charset="0"/>
              </a:rPr>
              <a:t>for EKS (PREVIEW)</a:t>
            </a:r>
          </a:p>
        </p:txBody>
      </p:sp>
      <p:sp>
        <p:nvSpPr>
          <p:cNvPr id="25" name="Rectangle: Rounded Corners 24">
            <a:extLst>
              <a:ext uri="{FF2B5EF4-FFF2-40B4-BE49-F238E27FC236}">
                <a16:creationId xmlns:a16="http://schemas.microsoft.com/office/drawing/2014/main" id="{A3077587-733A-C3FF-9A59-F09FE60EE583}"/>
              </a:ext>
            </a:extLst>
          </p:cNvPr>
          <p:cNvSpPr/>
          <p:nvPr/>
        </p:nvSpPr>
        <p:spPr>
          <a:xfrm>
            <a:off x="8788400" y="4038600"/>
            <a:ext cx="2540000" cy="8128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Microsoft.AwsConnector/* inventory</a:t>
            </a:r>
          </a:p>
          <a:p>
            <a:pPr algn="ctr"/>
            <a:r>
              <a:rPr lang="en-US" sz="1150">
                <a:solidFill>
                  <a:srgbClr val="F4F4F5"/>
                </a:solidFill>
                <a:latin typeface="Calibri" panose="020F0502020204030204" pitchFamily="34" charset="0"/>
              </a:rPr>
              <a:t>tags carried over; query in Resource Graph</a:t>
            </a:r>
          </a:p>
        </p:txBody>
      </p:sp>
      <p:cxnSp>
        <p:nvCxnSpPr>
          <p:cNvPr id="26" name="Straight Connector 25">
            <a:extLst>
              <a:ext uri="{FF2B5EF4-FFF2-40B4-BE49-F238E27FC236}">
                <a16:creationId xmlns:a16="http://schemas.microsoft.com/office/drawing/2014/main" id="{999AA5CD-2F43-E420-3639-AF08EE3BA23B}"/>
              </a:ext>
            </a:extLst>
          </p:cNvPr>
          <p:cNvCxnSpPr/>
          <p:nvPr/>
        </p:nvCxnSpPr>
        <p:spPr>
          <a:xfrm>
            <a:off x="8128000" y="3683000"/>
            <a:ext cx="4064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172ABA3E-9F64-C55F-B54A-5E47D2D0C7B1}"/>
              </a:ext>
            </a:extLst>
          </p:cNvPr>
          <p:cNvSpPr txBox="1"/>
          <p:nvPr/>
        </p:nvSpPr>
        <p:spPr>
          <a:xfrm>
            <a:off x="8534400" y="5029200"/>
            <a:ext cx="3048000" cy="7620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Limits: 980 accounts per subscription · agent must not already be installed · providers: HybridCompute, HybridConnectivity, AwsConnector, Kubernetes</a:t>
            </a:r>
          </a:p>
        </p:txBody>
      </p:sp>
      <p:sp>
        <p:nvSpPr>
          <p:cNvPr id="28" name="Rectangle 27">
            <a:extLst>
              <a:ext uri="{FF2B5EF4-FFF2-40B4-BE49-F238E27FC236}">
                <a16:creationId xmlns:a16="http://schemas.microsoft.com/office/drawing/2014/main" id="{C0739376-F6AE-9FED-9455-C1DEAD2D6CFE}"/>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7D7C54D-CEC0-64EB-05F8-BB8838AE2EFB}"/>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The connector does the agent push with SSM and gives you AWS inventory as Azure resources.</a:t>
            </a:r>
          </a:p>
        </p:txBody>
      </p:sp>
    </p:spTree>
    <p:extLst>
      <p:ext uri="{BB962C8B-B14F-4D97-AF65-F5344CB8AC3E}">
        <p14:creationId xmlns:p14="http://schemas.microsoft.com/office/powerpoint/2010/main" val="2846148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0A8B6BCA-FDB3-EECD-0B4A-C8E67DFE14F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CD69F48-CFCD-3719-35A9-5826D1812E6B}"/>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6C653A6-4CAD-F9F8-D836-0CBFF2E20E4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5C4096-8F97-BBAE-2D3A-FE6A85C851A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GCP: the same pattern, in preview</a:t>
            </a:r>
          </a:p>
        </p:txBody>
      </p:sp>
      <p:sp>
        <p:nvSpPr>
          <p:cNvPr id="6" name="ChapterTag">
            <a:extLst>
              <a:ext uri="{FF2B5EF4-FFF2-40B4-BE49-F238E27FC236}">
                <a16:creationId xmlns:a16="http://schemas.microsoft.com/office/drawing/2014/main" id="{0F137F94-938D-B811-BA3C-1B3F782EC5FB}"/>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1FC20CF4-2F4A-C426-B80B-F166DB1D3199}"/>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9430B43-C85F-7A30-67FA-46AAB0EEF12D}"/>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30</a:t>
            </a:r>
          </a:p>
        </p:txBody>
      </p:sp>
      <p:sp>
        <p:nvSpPr>
          <p:cNvPr id="9" name="Oval 8">
            <a:extLst>
              <a:ext uri="{FF2B5EF4-FFF2-40B4-BE49-F238E27FC236}">
                <a16:creationId xmlns:a16="http://schemas.microsoft.com/office/drawing/2014/main" id="{17906181-4188-8B44-1E5A-0689E068A557}"/>
              </a:ext>
            </a:extLst>
          </p:cNvPr>
          <p:cNvSpPr/>
          <p:nvPr/>
        </p:nvSpPr>
        <p:spPr>
          <a:xfrm>
            <a:off x="660400" y="1680210"/>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03F51AA-1659-87C6-0B26-EE5B5F175E7A}"/>
              </a:ext>
            </a:extLst>
          </p:cNvPr>
          <p:cNvSpPr txBox="1"/>
          <p:nvPr/>
        </p:nvSpPr>
        <p:spPr>
          <a:xfrm>
            <a:off x="889000" y="160020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Multicloud connector for GCP is PREVIEW: a Terraform template you apply in the project grants read access for Inventory and OS Policy Assignment Admin for Arc onboarding</a:t>
            </a:r>
          </a:p>
        </p:txBody>
      </p:sp>
      <p:sp>
        <p:nvSpPr>
          <p:cNvPr id="11" name="Oval 10">
            <a:extLst>
              <a:ext uri="{FF2B5EF4-FFF2-40B4-BE49-F238E27FC236}">
                <a16:creationId xmlns:a16="http://schemas.microsoft.com/office/drawing/2014/main" id="{E549345E-D9D1-9161-5FFB-564BCCE6A4BC}"/>
              </a:ext>
            </a:extLst>
          </p:cNvPr>
          <p:cNvSpPr/>
          <p:nvPr/>
        </p:nvSpPr>
        <p:spPr>
          <a:xfrm>
            <a:off x="660400" y="2313178"/>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E2E58EC-1857-BEB4-EE8E-19FD82DBE27C}"/>
              </a:ext>
            </a:extLst>
          </p:cNvPr>
          <p:cNvSpPr txBox="1"/>
          <p:nvPr/>
        </p:nvSpPr>
        <p:spPr>
          <a:xfrm>
            <a:off x="889000" y="2233168"/>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Inventory today covers Compute instances, GKE clusters, Cloud Storage buckets, Cloud SQL instances, BigQuery datasets and Cloud Functions, projected into a GCP_&lt;project&gt; resource group</a:t>
            </a:r>
          </a:p>
        </p:txBody>
      </p:sp>
      <p:sp>
        <p:nvSpPr>
          <p:cNvPr id="13" name="Oval 12">
            <a:extLst>
              <a:ext uri="{FF2B5EF4-FFF2-40B4-BE49-F238E27FC236}">
                <a16:creationId xmlns:a16="http://schemas.microsoft.com/office/drawing/2014/main" id="{7EC0CCAB-1305-DA47-0D92-5907BB1F8221}"/>
              </a:ext>
            </a:extLst>
          </p:cNvPr>
          <p:cNvSpPr/>
          <p:nvPr/>
        </p:nvSpPr>
        <p:spPr>
          <a:xfrm>
            <a:off x="660400" y="2946146"/>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6407BF7-868A-2B5D-03D9-378614DADEE3}"/>
              </a:ext>
            </a:extLst>
          </p:cNvPr>
          <p:cNvSpPr txBox="1"/>
          <p:nvPr/>
        </p:nvSpPr>
        <p:spPr>
          <a:xfrm>
            <a:off x="889000" y="2866136"/>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Arc onboarding discovers Compute Engine VMs and installs the Connected Machine agent through OS Policy; filter by region and label</a:t>
            </a:r>
          </a:p>
        </p:txBody>
      </p:sp>
      <p:sp>
        <p:nvSpPr>
          <p:cNvPr id="15" name="Oval 14">
            <a:extLst>
              <a:ext uri="{FF2B5EF4-FFF2-40B4-BE49-F238E27FC236}">
                <a16:creationId xmlns:a16="http://schemas.microsoft.com/office/drawing/2014/main" id="{D5694031-E9D6-0864-24A7-EA86BA6C918B}"/>
              </a:ext>
            </a:extLst>
          </p:cNvPr>
          <p:cNvSpPr/>
          <p:nvPr/>
        </p:nvSpPr>
        <p:spPr>
          <a:xfrm>
            <a:off x="660400" y="3579114"/>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678235A-7A1F-789C-A36F-876663A0C748}"/>
              </a:ext>
            </a:extLst>
          </p:cNvPr>
          <p:cNvSpPr txBox="1"/>
          <p:nvPr/>
        </p:nvSpPr>
        <p:spPr>
          <a:xfrm>
            <a:off x="889000" y="349910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GKE clusters connect as Arc-enabled Kubernetes with az connectedk8s connect (generally available), then take the same extensions as EKS</a:t>
            </a:r>
          </a:p>
        </p:txBody>
      </p:sp>
      <p:sp>
        <p:nvSpPr>
          <p:cNvPr id="17" name="Oval 16">
            <a:extLst>
              <a:ext uri="{FF2B5EF4-FFF2-40B4-BE49-F238E27FC236}">
                <a16:creationId xmlns:a16="http://schemas.microsoft.com/office/drawing/2014/main" id="{011BA5B9-2203-88BC-EAAD-D8908E383320}"/>
              </a:ext>
            </a:extLst>
          </p:cNvPr>
          <p:cNvSpPr/>
          <p:nvPr/>
        </p:nvSpPr>
        <p:spPr>
          <a:xfrm>
            <a:off x="660400" y="4212082"/>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6246200-A756-2954-D214-39371C8CBA5A}"/>
              </a:ext>
            </a:extLst>
          </p:cNvPr>
          <p:cNvSpPr txBox="1"/>
          <p:nvPr/>
        </p:nvSpPr>
        <p:spPr>
          <a:xfrm>
            <a:off x="889000" y="4132072"/>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Resource providers to register once per subscription: Microsoft.HybridCompute, Microsoft.HybridConnectivity, Microsoft.AwsConnector, Microsoft.Kubernetes</a:t>
            </a:r>
          </a:p>
        </p:txBody>
      </p:sp>
      <p:sp>
        <p:nvSpPr>
          <p:cNvPr id="19" name="Oval 18">
            <a:extLst>
              <a:ext uri="{FF2B5EF4-FFF2-40B4-BE49-F238E27FC236}">
                <a16:creationId xmlns:a16="http://schemas.microsoft.com/office/drawing/2014/main" id="{E965BC85-E801-68E0-C463-8188976D0464}"/>
              </a:ext>
            </a:extLst>
          </p:cNvPr>
          <p:cNvSpPr/>
          <p:nvPr/>
        </p:nvSpPr>
        <p:spPr>
          <a:xfrm>
            <a:off x="660400" y="4845050"/>
            <a:ext cx="101600" cy="101600"/>
          </a:xfrm>
          <a:prstGeom prst="ellipse">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4E0BF8-8752-349F-A6F8-E0569036D0BB}"/>
              </a:ext>
            </a:extLst>
          </p:cNvPr>
          <p:cNvSpPr txBox="1"/>
          <p:nvPr/>
        </p:nvSpPr>
        <p:spPr>
          <a:xfrm>
            <a:off x="889000" y="476504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Where the connector is not available or not wanted, the agent path (previous slides) works on any VM with outbound HTTPS</a:t>
            </a:r>
          </a:p>
        </p:txBody>
      </p:sp>
    </p:spTree>
    <p:extLst>
      <p:ext uri="{BB962C8B-B14F-4D97-AF65-F5344CB8AC3E}">
        <p14:creationId xmlns:p14="http://schemas.microsoft.com/office/powerpoint/2010/main" val="1186108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4BDF5D5A-6861-55D1-5154-D81A10706AA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F8D2145E-08C8-D8E1-83E8-4D7228CCDF79}"/>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CD3A365-E014-6607-7A3B-B54A651E2529}"/>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3FAC5A8-BD1D-F0C4-E5DC-8803FA7683F2}"/>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500" b="1">
                <a:solidFill>
                  <a:srgbClr val="F4F4F5"/>
                </a:solidFill>
                <a:latin typeface="Calibri" panose="020F0502020204030204" pitchFamily="34" charset="0"/>
              </a:rPr>
              <a:t>Governance at scale with Policy and Resource Graph</a:t>
            </a:r>
          </a:p>
        </p:txBody>
      </p:sp>
      <p:sp>
        <p:nvSpPr>
          <p:cNvPr id="6" name="ChapterTag">
            <a:extLst>
              <a:ext uri="{FF2B5EF4-FFF2-40B4-BE49-F238E27FC236}">
                <a16:creationId xmlns:a16="http://schemas.microsoft.com/office/drawing/2014/main" id="{CA1400E1-2556-22AB-906A-11FA4BEB6B87}"/>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84275C73-A5F0-353B-30EA-9F8194C4E9D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4D665BE7-4D8A-0428-9628-03FBF90CE8D1}"/>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31</a:t>
            </a:r>
          </a:p>
        </p:txBody>
      </p:sp>
      <p:sp>
        <p:nvSpPr>
          <p:cNvPr id="9" name="Rectangle 8">
            <a:extLst>
              <a:ext uri="{FF2B5EF4-FFF2-40B4-BE49-F238E27FC236}">
                <a16:creationId xmlns:a16="http://schemas.microsoft.com/office/drawing/2014/main" id="{DF123AAD-BFF4-8D4E-05C6-13B400549DBE}"/>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Install the Azure Monitor Agent on every Arc server and associate the collection rule (built-in initiatives)</a:t>
            </a:r>
          </a:p>
          <a:p>
            <a:r>
              <a:rPr lang="en-US" sz="1150">
                <a:solidFill>
                  <a:srgbClr val="F4F4F5"/>
                </a:solidFill>
                <a:latin typeface="Consolas" panose="020B0609020204030204" pitchFamily="49" charset="0"/>
              </a:rPr>
              <a:t>az policy assignment create --name ama-linux-arc --display-name "Configure Linux Arc machines to run AMA" --policy-set-definition 118f04da-0375-44d1-84e3-0fd9e1849403 --scope /providers/Microsoft.Management/managementGroups/mg-platform --params "{\"dcrResourceId\":{\"value\":\"&lt;dcr-id&gt;\"}}" --mi-system-assigned --location eastus2</a:t>
            </a:r>
          </a:p>
          <a:p>
            <a:r>
              <a:rPr lang="en-US" sz="1150">
                <a:solidFill>
                  <a:srgbClr val="F4F4F5"/>
                </a:solidFill>
                <a:latin typeface="Consolas" panose="020B0609020204030204" pitchFamily="49" charset="0"/>
              </a:rPr>
              <a:t>az policy assignment create --name ama-windows-arc --policy-set-definition 9575b8b7-78ab-4281-b53b-d3c1ace2260b --scope /providers/Microsoft.Management/managementGroups/mg-platform --params "{\"dcrResourceId\":{\"value\":\"&lt;dcr-id&gt;\"}}" --mi-system-assigned --location eastus2</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One inventory, every cloud: Arc servers by site and owner</a:t>
            </a:r>
          </a:p>
          <a:p>
            <a:r>
              <a:rPr lang="en-US" sz="1150">
                <a:solidFill>
                  <a:srgbClr val="F4F4F5"/>
                </a:solidFill>
                <a:latin typeface="Consolas" panose="020B0609020204030204" pitchFamily="49" charset="0"/>
              </a:rPr>
              <a:t>az graph query -q "resources | where type =~ \"microsoft.hybridcompute/machines\" | extend status = properties.status, site = tags.site, owner = tags.owner | summarize count() by tostring(site), tostring(owner), tostring(status)"</a:t>
            </a:r>
          </a:p>
        </p:txBody>
      </p:sp>
    </p:spTree>
    <p:extLst>
      <p:ext uri="{BB962C8B-B14F-4D97-AF65-F5344CB8AC3E}">
        <p14:creationId xmlns:p14="http://schemas.microsoft.com/office/powerpoint/2010/main" val="3712963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B00CAE4-9FBC-A1F6-6204-45B30CD49C1C}"/>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663E825-A81C-940B-4795-90DF4B79F89B}"/>
              </a:ext>
            </a:extLst>
          </p:cNvPr>
          <p:cNvSpPr/>
          <p:nvPr/>
        </p:nvSpPr>
        <p:spPr>
          <a:xfrm>
            <a:off x="0" y="1295400"/>
            <a:ext cx="12192000" cy="38100"/>
          </a:xfrm>
          <a:prstGeom prst="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178089D-ED51-9975-F135-5CBE45DA3CBD}"/>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25D5161-8837-115A-6B90-1876FD78BEAC}"/>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Chapter 3 in one picture</a:t>
            </a:r>
          </a:p>
        </p:txBody>
      </p:sp>
      <p:sp>
        <p:nvSpPr>
          <p:cNvPr id="6" name="ChapterTag">
            <a:extLst>
              <a:ext uri="{FF2B5EF4-FFF2-40B4-BE49-F238E27FC236}">
                <a16:creationId xmlns:a16="http://schemas.microsoft.com/office/drawing/2014/main" id="{9EECD674-B086-6441-625F-4DA60D892AF0}"/>
              </a:ext>
            </a:extLst>
          </p:cNvPr>
          <p:cNvSpPr/>
          <p:nvPr/>
        </p:nvSpPr>
        <p:spPr>
          <a:xfrm>
            <a:off x="9245600" y="381000"/>
            <a:ext cx="2336800" cy="330200"/>
          </a:xfrm>
          <a:prstGeom prst="roundRect">
            <a:avLst/>
          </a:prstGeom>
          <a:solidFill>
            <a:srgbClr val="7DAA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3 · MANAGEMENT PLANE</a:t>
            </a:r>
          </a:p>
        </p:txBody>
      </p:sp>
      <p:sp>
        <p:nvSpPr>
          <p:cNvPr id="7" name="TextBox 6">
            <a:extLst>
              <a:ext uri="{FF2B5EF4-FFF2-40B4-BE49-F238E27FC236}">
                <a16:creationId xmlns:a16="http://schemas.microsoft.com/office/drawing/2014/main" id="{43576282-5811-032D-1C51-0BC217CBB13C}"/>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3693FBBA-A8A6-3099-A4BD-746762AF106A}"/>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32</a:t>
            </a:r>
          </a:p>
        </p:txBody>
      </p:sp>
      <p:sp>
        <p:nvSpPr>
          <p:cNvPr id="9" name="Rectangle: Rounded Corners 8">
            <a:extLst>
              <a:ext uri="{FF2B5EF4-FFF2-40B4-BE49-F238E27FC236}">
                <a16:creationId xmlns:a16="http://schemas.microsoft.com/office/drawing/2014/main" id="{3B8825D0-7DC8-E47E-07A4-F2D9CB2DAA25}"/>
              </a:ext>
            </a:extLst>
          </p:cNvPr>
          <p:cNvSpPr/>
          <p:nvPr/>
        </p:nvSpPr>
        <p:spPr>
          <a:xfrm>
            <a:off x="609600" y="1676400"/>
            <a:ext cx="3683000" cy="5334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Datacenter servers (bare metal, VMware, Hyper-V)</a:t>
            </a:r>
          </a:p>
        </p:txBody>
      </p:sp>
      <p:cxnSp>
        <p:nvCxnSpPr>
          <p:cNvPr id="10" name="Straight Connector 9">
            <a:extLst>
              <a:ext uri="{FF2B5EF4-FFF2-40B4-BE49-F238E27FC236}">
                <a16:creationId xmlns:a16="http://schemas.microsoft.com/office/drawing/2014/main" id="{0DAD546B-126C-8AB7-7527-C085D9C6C63F}"/>
              </a:ext>
            </a:extLst>
          </p:cNvPr>
          <p:cNvCxnSpPr/>
          <p:nvPr/>
        </p:nvCxnSpPr>
        <p:spPr>
          <a:xfrm>
            <a:off x="4292600" y="1943100"/>
            <a:ext cx="685800" cy="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9F49A2C1-79FE-44A5-00CE-325D221E295E}"/>
              </a:ext>
            </a:extLst>
          </p:cNvPr>
          <p:cNvSpPr/>
          <p:nvPr/>
        </p:nvSpPr>
        <p:spPr>
          <a:xfrm>
            <a:off x="609600" y="2336800"/>
            <a:ext cx="3683000" cy="5334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VMware vSphere and SCVMM platforms</a:t>
            </a:r>
          </a:p>
        </p:txBody>
      </p:sp>
      <p:cxnSp>
        <p:nvCxnSpPr>
          <p:cNvPr id="12" name="Straight Connector 11">
            <a:extLst>
              <a:ext uri="{FF2B5EF4-FFF2-40B4-BE49-F238E27FC236}">
                <a16:creationId xmlns:a16="http://schemas.microsoft.com/office/drawing/2014/main" id="{7937C3D3-5037-54F3-2994-F4503D020F43}"/>
              </a:ext>
            </a:extLst>
          </p:cNvPr>
          <p:cNvCxnSpPr/>
          <p:nvPr/>
        </p:nvCxnSpPr>
        <p:spPr>
          <a:xfrm>
            <a:off x="4292600" y="2603500"/>
            <a:ext cx="685800" cy="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EF6B67CB-32EE-6533-0A74-052C37C83B2E}"/>
              </a:ext>
            </a:extLst>
          </p:cNvPr>
          <p:cNvSpPr/>
          <p:nvPr/>
        </p:nvSpPr>
        <p:spPr>
          <a:xfrm>
            <a:off x="609600" y="2997200"/>
            <a:ext cx="3683000" cy="5334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AWS EC2 and EKS</a:t>
            </a:r>
          </a:p>
        </p:txBody>
      </p:sp>
      <p:cxnSp>
        <p:nvCxnSpPr>
          <p:cNvPr id="14" name="Straight Connector 13">
            <a:extLst>
              <a:ext uri="{FF2B5EF4-FFF2-40B4-BE49-F238E27FC236}">
                <a16:creationId xmlns:a16="http://schemas.microsoft.com/office/drawing/2014/main" id="{C0D5C4BF-4DEE-86BB-4BF0-AC2D23693B45}"/>
              </a:ext>
            </a:extLst>
          </p:cNvPr>
          <p:cNvCxnSpPr/>
          <p:nvPr/>
        </p:nvCxnSpPr>
        <p:spPr>
          <a:xfrm>
            <a:off x="4292600" y="3263900"/>
            <a:ext cx="6858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3364A309-9168-446F-4CDD-42A531B7CC0E}"/>
              </a:ext>
            </a:extLst>
          </p:cNvPr>
          <p:cNvSpPr/>
          <p:nvPr/>
        </p:nvSpPr>
        <p:spPr>
          <a:xfrm>
            <a:off x="609600" y="3657600"/>
            <a:ext cx="3683000" cy="5334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GCP Compute Engine and GKE</a:t>
            </a:r>
          </a:p>
        </p:txBody>
      </p:sp>
      <p:cxnSp>
        <p:nvCxnSpPr>
          <p:cNvPr id="16" name="Straight Connector 15">
            <a:extLst>
              <a:ext uri="{FF2B5EF4-FFF2-40B4-BE49-F238E27FC236}">
                <a16:creationId xmlns:a16="http://schemas.microsoft.com/office/drawing/2014/main" id="{F4FEC030-AE56-686A-1B5B-07ECB2FA18EA}"/>
              </a:ext>
            </a:extLst>
          </p:cNvPr>
          <p:cNvCxnSpPr/>
          <p:nvPr/>
        </p:nvCxnSpPr>
        <p:spPr>
          <a:xfrm>
            <a:off x="4292600" y="3924300"/>
            <a:ext cx="685800" cy="0"/>
          </a:xfrm>
          <a:prstGeom prst="line">
            <a:avLst/>
          </a:prstGeom>
          <a:ln w="22225">
            <a:solidFill>
              <a:srgbClr val="2DD4BF"/>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3863AA4A-E15C-CC31-67E4-76614F3FA416}"/>
              </a:ext>
            </a:extLst>
          </p:cNvPr>
          <p:cNvSpPr/>
          <p:nvPr/>
        </p:nvSpPr>
        <p:spPr>
          <a:xfrm>
            <a:off x="609600" y="4318000"/>
            <a:ext cx="3683000" cy="5334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Kubernetes anywhere</a:t>
            </a:r>
          </a:p>
        </p:txBody>
      </p:sp>
      <p:cxnSp>
        <p:nvCxnSpPr>
          <p:cNvPr id="18" name="Straight Connector 17">
            <a:extLst>
              <a:ext uri="{FF2B5EF4-FFF2-40B4-BE49-F238E27FC236}">
                <a16:creationId xmlns:a16="http://schemas.microsoft.com/office/drawing/2014/main" id="{223C1AB1-0767-F908-D80A-D964E75A0807}"/>
              </a:ext>
            </a:extLst>
          </p:cNvPr>
          <p:cNvCxnSpPr/>
          <p:nvPr/>
        </p:nvCxnSpPr>
        <p:spPr>
          <a:xfrm>
            <a:off x="4292600" y="4584700"/>
            <a:ext cx="685800" cy="0"/>
          </a:xfrm>
          <a:prstGeom prst="line">
            <a:avLst/>
          </a:prstGeom>
          <a:ln w="22225">
            <a:solidFill>
              <a:srgbClr val="C4A0FA"/>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43ABF96B-0CD8-288F-4854-6512C282FF8A}"/>
              </a:ext>
            </a:extLst>
          </p:cNvPr>
          <p:cNvSpPr/>
          <p:nvPr/>
        </p:nvSpPr>
        <p:spPr>
          <a:xfrm>
            <a:off x="609600" y="4978400"/>
            <a:ext cx="3683000" cy="5334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Edge and branch</a:t>
            </a:r>
          </a:p>
        </p:txBody>
      </p:sp>
      <p:cxnSp>
        <p:nvCxnSpPr>
          <p:cNvPr id="20" name="Straight Connector 19">
            <a:extLst>
              <a:ext uri="{FF2B5EF4-FFF2-40B4-BE49-F238E27FC236}">
                <a16:creationId xmlns:a16="http://schemas.microsoft.com/office/drawing/2014/main" id="{5880962F-29AC-B390-E203-3DCCC04EEBD0}"/>
              </a:ext>
            </a:extLst>
          </p:cNvPr>
          <p:cNvCxnSpPr/>
          <p:nvPr/>
        </p:nvCxnSpPr>
        <p:spPr>
          <a:xfrm>
            <a:off x="4292600" y="5245100"/>
            <a:ext cx="685800" cy="0"/>
          </a:xfrm>
          <a:prstGeom prst="line">
            <a:avLst/>
          </a:prstGeom>
          <a:ln w="22225">
            <a:solidFill>
              <a:srgbClr val="B0B0BA"/>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38B8CAEC-FEE3-A47B-033F-A407928C4940}"/>
              </a:ext>
            </a:extLst>
          </p:cNvPr>
          <p:cNvSpPr/>
          <p:nvPr/>
        </p:nvSpPr>
        <p:spPr>
          <a:xfrm>
            <a:off x="4978400" y="2540000"/>
            <a:ext cx="2235200" cy="2032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BBF24"/>
                </a:solidFill>
                <a:latin typeface="Calibri" panose="020F0502020204030204" pitchFamily="34" charset="0"/>
              </a:rPr>
              <a:t>AZURE ARC</a:t>
            </a:r>
          </a:p>
          <a:p>
            <a:pPr algn="ctr"/>
            <a:r>
              <a:rPr lang="en-US" sz="1300" b="1">
                <a:solidFill>
                  <a:srgbClr val="FBBF24"/>
                </a:solidFill>
                <a:latin typeface="Calibri" panose="020F0502020204030204" pitchFamily="34" charset="0"/>
              </a:rPr>
              <a:t>agent · resource bridge · connectedk8s · multicloud connector</a:t>
            </a:r>
          </a:p>
        </p:txBody>
      </p:sp>
      <p:cxnSp>
        <p:nvCxnSpPr>
          <p:cNvPr id="22" name="Straight Connector 21">
            <a:extLst>
              <a:ext uri="{FF2B5EF4-FFF2-40B4-BE49-F238E27FC236}">
                <a16:creationId xmlns:a16="http://schemas.microsoft.com/office/drawing/2014/main" id="{25B98FF9-B152-0F56-2854-D0EF89C71E86}"/>
              </a:ext>
            </a:extLst>
          </p:cNvPr>
          <p:cNvCxnSpPr/>
          <p:nvPr/>
        </p:nvCxnSpPr>
        <p:spPr>
          <a:xfrm>
            <a:off x="7213600" y="3556000"/>
            <a:ext cx="6858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7E14B953-E80A-A161-106E-BF7A8AB52EFE}"/>
              </a:ext>
            </a:extLst>
          </p:cNvPr>
          <p:cNvSpPr/>
          <p:nvPr/>
        </p:nvSpPr>
        <p:spPr>
          <a:xfrm>
            <a:off x="7899400" y="1676400"/>
            <a:ext cx="3683000" cy="5334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One resource model (Resource Manager)</a:t>
            </a:r>
          </a:p>
        </p:txBody>
      </p:sp>
      <p:sp>
        <p:nvSpPr>
          <p:cNvPr id="24" name="Rectangle: Rounded Corners 23">
            <a:extLst>
              <a:ext uri="{FF2B5EF4-FFF2-40B4-BE49-F238E27FC236}">
                <a16:creationId xmlns:a16="http://schemas.microsoft.com/office/drawing/2014/main" id="{8ABCD08F-69BE-7C75-BCAD-DBE034BC6608}"/>
              </a:ext>
            </a:extLst>
          </p:cNvPr>
          <p:cNvSpPr/>
          <p:nvPr/>
        </p:nvSpPr>
        <p:spPr>
          <a:xfrm>
            <a:off x="7899400" y="2336800"/>
            <a:ext cx="3683000" cy="5334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One identity per machine or cluster</a:t>
            </a:r>
          </a:p>
        </p:txBody>
      </p:sp>
      <p:sp>
        <p:nvSpPr>
          <p:cNvPr id="25" name="Rectangle: Rounded Corners 24">
            <a:extLst>
              <a:ext uri="{FF2B5EF4-FFF2-40B4-BE49-F238E27FC236}">
                <a16:creationId xmlns:a16="http://schemas.microsoft.com/office/drawing/2014/main" id="{8AA959F8-4DF8-A508-392F-54ECECA3032B}"/>
              </a:ext>
            </a:extLst>
          </p:cNvPr>
          <p:cNvSpPr/>
          <p:nvPr/>
        </p:nvSpPr>
        <p:spPr>
          <a:xfrm>
            <a:off x="7899400" y="2997200"/>
            <a:ext cx="3683000" cy="5334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Azure Policy: agents, tags, configuration</a:t>
            </a:r>
          </a:p>
        </p:txBody>
      </p:sp>
      <p:sp>
        <p:nvSpPr>
          <p:cNvPr id="26" name="Rectangle: Rounded Corners 25">
            <a:extLst>
              <a:ext uri="{FF2B5EF4-FFF2-40B4-BE49-F238E27FC236}">
                <a16:creationId xmlns:a16="http://schemas.microsoft.com/office/drawing/2014/main" id="{EAEAFEE5-A70B-7C65-0788-36CB5BE9580D}"/>
              </a:ext>
            </a:extLst>
          </p:cNvPr>
          <p:cNvSpPr/>
          <p:nvPr/>
        </p:nvSpPr>
        <p:spPr>
          <a:xfrm>
            <a:off x="7899400" y="3657600"/>
            <a:ext cx="3683000" cy="5334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RBAC and tags on every resource</a:t>
            </a:r>
          </a:p>
        </p:txBody>
      </p:sp>
      <p:sp>
        <p:nvSpPr>
          <p:cNvPr id="27" name="Rectangle: Rounded Corners 26">
            <a:extLst>
              <a:ext uri="{FF2B5EF4-FFF2-40B4-BE49-F238E27FC236}">
                <a16:creationId xmlns:a16="http://schemas.microsoft.com/office/drawing/2014/main" id="{15EF0617-E3A9-DA15-3C17-0E0428DC06CE}"/>
              </a:ext>
            </a:extLst>
          </p:cNvPr>
          <p:cNvSpPr/>
          <p:nvPr/>
        </p:nvSpPr>
        <p:spPr>
          <a:xfrm>
            <a:off x="7899400" y="4318000"/>
            <a:ext cx="3683000" cy="5334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Resource Graph: one inventory</a:t>
            </a:r>
          </a:p>
        </p:txBody>
      </p:sp>
      <p:sp>
        <p:nvSpPr>
          <p:cNvPr id="28" name="Rectangle: Rounded Corners 27">
            <a:extLst>
              <a:ext uri="{FF2B5EF4-FFF2-40B4-BE49-F238E27FC236}">
                <a16:creationId xmlns:a16="http://schemas.microsoft.com/office/drawing/2014/main" id="{A8B7EC0C-BA0E-92EE-C850-8B0BC08F25D0}"/>
              </a:ext>
            </a:extLst>
          </p:cNvPr>
          <p:cNvSpPr/>
          <p:nvPr/>
        </p:nvSpPr>
        <p:spPr>
          <a:xfrm>
            <a:off x="7899400" y="4978400"/>
            <a:ext cx="3683000" cy="5334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a:solidFill>
                  <a:srgbClr val="F4F4F5"/>
                </a:solidFill>
                <a:latin typeface="Calibri" panose="020F0502020204030204" pitchFamily="34" charset="0"/>
              </a:rPr>
              <a:t>Defender and Sentinel on the same plane</a:t>
            </a:r>
          </a:p>
        </p:txBody>
      </p:sp>
      <p:sp>
        <p:nvSpPr>
          <p:cNvPr id="29" name="Rectangle 28">
            <a:extLst>
              <a:ext uri="{FF2B5EF4-FFF2-40B4-BE49-F238E27FC236}">
                <a16:creationId xmlns:a16="http://schemas.microsoft.com/office/drawing/2014/main" id="{B56034C3-F7EC-74EC-6062-98E0E4663D24}"/>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A69148A1-CF6B-ECA6-8E70-82F31C19CD98}"/>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Every estate becomes a governed resource with an identity. No telemetry has moved yet.</a:t>
            </a:r>
          </a:p>
        </p:txBody>
      </p:sp>
    </p:spTree>
    <p:extLst>
      <p:ext uri="{BB962C8B-B14F-4D97-AF65-F5344CB8AC3E}">
        <p14:creationId xmlns:p14="http://schemas.microsoft.com/office/powerpoint/2010/main" val="4762963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D311601-AE5F-6A74-9366-6ABDCD640EFA}"/>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7E0ED2E3-F21F-3977-DD5A-F693DC97711A}"/>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BED54F5-D882-816B-9BB9-B12026021312}"/>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EC0C0D4-600B-A173-01CC-A4087139C0AB}"/>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it-IT" sz="2800" b="1">
                <a:solidFill>
                  <a:srgbClr val="F4F4F5"/>
                </a:solidFill>
                <a:latin typeface="Calibri" panose="020F0502020204030204" pitchFamily="34" charset="0"/>
              </a:rPr>
              <a:t>4 · The data plane: Azure Monitor</a:t>
            </a:r>
            <a:endParaRPr lang="en-US" sz="2800" b="1">
              <a:solidFill>
                <a:srgbClr val="F4F4F5"/>
              </a:solidFill>
              <a:latin typeface="Calibri" panose="020F0502020204030204" pitchFamily="34" charset="0"/>
            </a:endParaRPr>
          </a:p>
        </p:txBody>
      </p:sp>
      <p:sp>
        <p:nvSpPr>
          <p:cNvPr id="6" name="ChapterTag">
            <a:extLst>
              <a:ext uri="{FF2B5EF4-FFF2-40B4-BE49-F238E27FC236}">
                <a16:creationId xmlns:a16="http://schemas.microsoft.com/office/drawing/2014/main" id="{28A32F39-E0F0-7DB8-EF31-EF7FD28CAC66}"/>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5E158A5A-46A9-02CF-55F0-D4BA8A74E1BC}"/>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859610A-27F1-A82C-1B2E-D9C566CBC842}"/>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33</a:t>
            </a:r>
          </a:p>
        </p:txBody>
      </p:sp>
      <p:sp>
        <p:nvSpPr>
          <p:cNvPr id="9" name="TextBox 8">
            <a:extLst>
              <a:ext uri="{FF2B5EF4-FFF2-40B4-BE49-F238E27FC236}">
                <a16:creationId xmlns:a16="http://schemas.microsoft.com/office/drawing/2014/main" id="{7B5BBDC3-4FEB-E6C3-3591-B3E4B0E63F38}"/>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C4A0FA"/>
                </a:solidFill>
                <a:latin typeface="Calibri" panose="020F0502020204030204" pitchFamily="34" charset="0"/>
              </a:rPr>
              <a:t>4</a:t>
            </a:r>
          </a:p>
        </p:txBody>
      </p:sp>
      <p:sp>
        <p:nvSpPr>
          <p:cNvPr id="10" name="TextBox 9">
            <a:extLst>
              <a:ext uri="{FF2B5EF4-FFF2-40B4-BE49-F238E27FC236}">
                <a16:creationId xmlns:a16="http://schemas.microsoft.com/office/drawing/2014/main" id="{55C480E0-B3BC-D674-713E-3772A789AB3E}"/>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731FE06B-BCCA-2008-B3F7-6258B510B783}"/>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How does evidence from every estate travel, where does it land, and what does it cost?</a:t>
            </a:r>
          </a:p>
        </p:txBody>
      </p:sp>
      <p:sp>
        <p:nvSpPr>
          <p:cNvPr id="12" name="TextBox 11">
            <a:extLst>
              <a:ext uri="{FF2B5EF4-FFF2-40B4-BE49-F238E27FC236}">
                <a16:creationId xmlns:a16="http://schemas.microsoft.com/office/drawing/2014/main" id="{169A381D-E3C2-F4C6-3DBD-835E6ECCA00F}"/>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C4A0FA"/>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35F88877-9384-A037-BEF1-A79100A1C901}"/>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Architecture · workspaces · the agent and its rules · Kubernetes · OpenTelemetry · platform logs · custom sources · table plans and cost</a:t>
            </a:r>
          </a:p>
        </p:txBody>
      </p:sp>
      <p:sp>
        <p:nvSpPr>
          <p:cNvPr id="14" name="Rectangle: Rounded Corners 13">
            <a:extLst>
              <a:ext uri="{FF2B5EF4-FFF2-40B4-BE49-F238E27FC236}">
                <a16:creationId xmlns:a16="http://schemas.microsoft.com/office/drawing/2014/main" id="{EA89A0AC-BD32-0007-661F-E591448B81EB}"/>
              </a:ext>
            </a:extLst>
          </p:cNvPr>
          <p:cNvSpPr/>
          <p:nvPr/>
        </p:nvSpPr>
        <p:spPr>
          <a:xfrm>
            <a:off x="609600" y="5588000"/>
            <a:ext cx="1282700" cy="508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68F0C9B9-B57B-9DC1-F764-C6E3738EF84C}"/>
              </a:ext>
            </a:extLst>
          </p:cNvPr>
          <p:cNvSpPr/>
          <p:nvPr/>
        </p:nvSpPr>
        <p:spPr>
          <a:xfrm>
            <a:off x="1993900" y="5588000"/>
            <a:ext cx="1282700" cy="508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7B6C53C0-7A57-13FD-F53D-00E53F1C8FCD}"/>
              </a:ext>
            </a:extLst>
          </p:cNvPr>
          <p:cNvSpPr/>
          <p:nvPr/>
        </p:nvSpPr>
        <p:spPr>
          <a:xfrm>
            <a:off x="3378200" y="5588000"/>
            <a:ext cx="12827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319154B3-D39F-1404-41D0-2F66E55BB098}"/>
              </a:ext>
            </a:extLst>
          </p:cNvPr>
          <p:cNvSpPr/>
          <p:nvPr/>
        </p:nvSpPr>
        <p:spPr>
          <a:xfrm>
            <a:off x="4762500" y="5588000"/>
            <a:ext cx="1282700" cy="508000"/>
          </a:xfrm>
          <a:prstGeom prst="roundRect">
            <a:avLst>
              <a:gd name="adj" fmla="val 800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5058A032-D0BF-B9C4-5F99-7C1BE2C738AE}"/>
              </a:ext>
            </a:extLst>
          </p:cNvPr>
          <p:cNvSpPr/>
          <p:nvPr/>
        </p:nvSpPr>
        <p:spPr>
          <a:xfrm>
            <a:off x="6146800" y="5588000"/>
            <a:ext cx="1282700" cy="508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56FB0B43-5715-F6A0-AC7A-DD719DB35149}"/>
              </a:ext>
            </a:extLst>
          </p:cNvPr>
          <p:cNvSpPr/>
          <p:nvPr/>
        </p:nvSpPr>
        <p:spPr>
          <a:xfrm>
            <a:off x="7531100" y="5588000"/>
            <a:ext cx="1282700" cy="508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7E7B2432-FAE3-508E-F03F-FB9B7690EB96}"/>
              </a:ext>
            </a:extLst>
          </p:cNvPr>
          <p:cNvSpPr/>
          <p:nvPr/>
        </p:nvSpPr>
        <p:spPr>
          <a:xfrm>
            <a:off x="8915400" y="5588000"/>
            <a:ext cx="1282700" cy="5080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CCEFACF0-DEC5-DA53-EA9E-138ACF818AED}"/>
              </a:ext>
            </a:extLst>
          </p:cNvPr>
          <p:cNvSpPr/>
          <p:nvPr/>
        </p:nvSpPr>
        <p:spPr>
          <a:xfrm>
            <a:off x="10299700" y="5588000"/>
            <a:ext cx="1282700" cy="5080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Reference</a:t>
            </a:r>
          </a:p>
        </p:txBody>
      </p:sp>
    </p:spTree>
    <p:extLst>
      <p:ext uri="{BB962C8B-B14F-4D97-AF65-F5344CB8AC3E}">
        <p14:creationId xmlns:p14="http://schemas.microsoft.com/office/powerpoint/2010/main" val="32289703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C3FD754-95D2-BA96-D6EB-A556FFAE57DD}"/>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7A19D88A-75F1-A975-103D-EEE46FCA6391}"/>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5CC2A66-20D4-4E3A-70C9-5394534661E9}"/>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1C91E43-77A4-0B1D-2BC7-37083B5BE77E}"/>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500" b="1">
                <a:solidFill>
                  <a:srgbClr val="F4F4F5"/>
                </a:solidFill>
                <a:latin typeface="Calibri" panose="020F0502020204030204" pitchFamily="34" charset="0"/>
              </a:rPr>
              <a:t>Azure Monitor architecture for a multicloud estate</a:t>
            </a:r>
          </a:p>
        </p:txBody>
      </p:sp>
      <p:sp>
        <p:nvSpPr>
          <p:cNvPr id="6" name="ChapterTag">
            <a:extLst>
              <a:ext uri="{FF2B5EF4-FFF2-40B4-BE49-F238E27FC236}">
                <a16:creationId xmlns:a16="http://schemas.microsoft.com/office/drawing/2014/main" id="{A444B0B9-9977-867C-0C08-D806EB0566E2}"/>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08803FE8-0E47-803A-42A8-1B7574A7054A}"/>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FF2CCE25-7C63-189B-888E-FAB288300F6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34</a:t>
            </a:r>
          </a:p>
        </p:txBody>
      </p:sp>
      <p:sp>
        <p:nvSpPr>
          <p:cNvPr id="9" name="TextBox 8">
            <a:extLst>
              <a:ext uri="{FF2B5EF4-FFF2-40B4-BE49-F238E27FC236}">
                <a16:creationId xmlns:a16="http://schemas.microsoft.com/office/drawing/2014/main" id="{7ECCE15E-502C-74EF-6F1F-1CA569DC861F}"/>
              </a:ext>
            </a:extLst>
          </p:cNvPr>
          <p:cNvSpPr txBox="1"/>
          <p:nvPr/>
        </p:nvSpPr>
        <p:spPr>
          <a:xfrm>
            <a:off x="609600" y="1498600"/>
            <a:ext cx="2286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SOURCES</a:t>
            </a:r>
          </a:p>
        </p:txBody>
      </p:sp>
      <p:sp>
        <p:nvSpPr>
          <p:cNvPr id="10" name="TextBox 9">
            <a:extLst>
              <a:ext uri="{FF2B5EF4-FFF2-40B4-BE49-F238E27FC236}">
                <a16:creationId xmlns:a16="http://schemas.microsoft.com/office/drawing/2014/main" id="{185E3A3C-97EB-C514-9E8E-07A904480901}"/>
              </a:ext>
            </a:extLst>
          </p:cNvPr>
          <p:cNvSpPr txBox="1"/>
          <p:nvPr/>
        </p:nvSpPr>
        <p:spPr>
          <a:xfrm>
            <a:off x="3683000" y="1498600"/>
            <a:ext cx="3302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COLLECTION</a:t>
            </a:r>
          </a:p>
        </p:txBody>
      </p:sp>
      <p:sp>
        <p:nvSpPr>
          <p:cNvPr id="11" name="TextBox 10">
            <a:extLst>
              <a:ext uri="{FF2B5EF4-FFF2-40B4-BE49-F238E27FC236}">
                <a16:creationId xmlns:a16="http://schemas.microsoft.com/office/drawing/2014/main" id="{0BF7A968-3765-4E5B-29CE-46E99F24842C}"/>
              </a:ext>
            </a:extLst>
          </p:cNvPr>
          <p:cNvSpPr txBox="1"/>
          <p:nvPr/>
        </p:nvSpPr>
        <p:spPr>
          <a:xfrm>
            <a:off x="7493000" y="1498600"/>
            <a:ext cx="1905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STORES</a:t>
            </a:r>
          </a:p>
        </p:txBody>
      </p:sp>
      <p:sp>
        <p:nvSpPr>
          <p:cNvPr id="12" name="TextBox 11">
            <a:extLst>
              <a:ext uri="{FF2B5EF4-FFF2-40B4-BE49-F238E27FC236}">
                <a16:creationId xmlns:a16="http://schemas.microsoft.com/office/drawing/2014/main" id="{22489C5F-038C-C0B6-8F47-BB043CED8D32}"/>
              </a:ext>
            </a:extLst>
          </p:cNvPr>
          <p:cNvSpPr txBox="1"/>
          <p:nvPr/>
        </p:nvSpPr>
        <p:spPr>
          <a:xfrm>
            <a:off x="9804400" y="1498600"/>
            <a:ext cx="1778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CONSUMERS</a:t>
            </a:r>
          </a:p>
        </p:txBody>
      </p:sp>
      <p:sp>
        <p:nvSpPr>
          <p:cNvPr id="13" name="Rectangle: Rounded Corners 12">
            <a:extLst>
              <a:ext uri="{FF2B5EF4-FFF2-40B4-BE49-F238E27FC236}">
                <a16:creationId xmlns:a16="http://schemas.microsoft.com/office/drawing/2014/main" id="{9059CE58-8613-919A-07FB-A8E76D3A978F}"/>
              </a:ext>
            </a:extLst>
          </p:cNvPr>
          <p:cNvSpPr/>
          <p:nvPr/>
        </p:nvSpPr>
        <p:spPr>
          <a:xfrm>
            <a:off x="609600" y="1752600"/>
            <a:ext cx="26670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Arc servers (datacenter, AWS, GCP, edge)</a:t>
            </a:r>
          </a:p>
        </p:txBody>
      </p:sp>
      <p:sp>
        <p:nvSpPr>
          <p:cNvPr id="14" name="Rectangle: Rounded Corners 13">
            <a:extLst>
              <a:ext uri="{FF2B5EF4-FFF2-40B4-BE49-F238E27FC236}">
                <a16:creationId xmlns:a16="http://schemas.microsoft.com/office/drawing/2014/main" id="{0D84B3A4-A3E3-4E40-EC33-DEA77FBE5D2D}"/>
              </a:ext>
            </a:extLst>
          </p:cNvPr>
          <p:cNvSpPr/>
          <p:nvPr/>
        </p:nvSpPr>
        <p:spPr>
          <a:xfrm>
            <a:off x="609600" y="2514600"/>
            <a:ext cx="2667000" cy="635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Arc Kubernetes (EKS, GKE, on-premises)</a:t>
            </a:r>
          </a:p>
        </p:txBody>
      </p:sp>
      <p:sp>
        <p:nvSpPr>
          <p:cNvPr id="15" name="Rectangle: Rounded Corners 14">
            <a:extLst>
              <a:ext uri="{FF2B5EF4-FFF2-40B4-BE49-F238E27FC236}">
                <a16:creationId xmlns:a16="http://schemas.microsoft.com/office/drawing/2014/main" id="{6909067E-C790-47D3-7B83-BCD219913A4F}"/>
              </a:ext>
            </a:extLst>
          </p:cNvPr>
          <p:cNvSpPr/>
          <p:nvPr/>
        </p:nvSpPr>
        <p:spPr>
          <a:xfrm>
            <a:off x="609600" y="3276600"/>
            <a:ext cx="2667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 resources</a:t>
            </a:r>
          </a:p>
        </p:txBody>
      </p:sp>
      <p:sp>
        <p:nvSpPr>
          <p:cNvPr id="16" name="Rectangle: Rounded Corners 15">
            <a:extLst>
              <a:ext uri="{FF2B5EF4-FFF2-40B4-BE49-F238E27FC236}">
                <a16:creationId xmlns:a16="http://schemas.microsoft.com/office/drawing/2014/main" id="{2DD0F566-4C36-BA8A-4A06-5C55DB1DB668}"/>
              </a:ext>
            </a:extLst>
          </p:cNvPr>
          <p:cNvSpPr/>
          <p:nvPr/>
        </p:nvSpPr>
        <p:spPr>
          <a:xfrm>
            <a:off x="609600" y="4038600"/>
            <a:ext cx="2667000" cy="63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Applications anywhere</a:t>
            </a:r>
          </a:p>
        </p:txBody>
      </p:sp>
      <p:sp>
        <p:nvSpPr>
          <p:cNvPr id="17" name="Rectangle: Rounded Corners 16">
            <a:extLst>
              <a:ext uri="{FF2B5EF4-FFF2-40B4-BE49-F238E27FC236}">
                <a16:creationId xmlns:a16="http://schemas.microsoft.com/office/drawing/2014/main" id="{3F9A1FA9-D356-444F-7F9B-875D30FCCCED}"/>
              </a:ext>
            </a:extLst>
          </p:cNvPr>
          <p:cNvSpPr/>
          <p:nvPr/>
        </p:nvSpPr>
        <p:spPr>
          <a:xfrm>
            <a:off x="609600" y="4800600"/>
            <a:ext cx="2667000" cy="63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AWS and GCP platform logs</a:t>
            </a:r>
          </a:p>
        </p:txBody>
      </p:sp>
      <p:sp>
        <p:nvSpPr>
          <p:cNvPr id="18" name="Rectangle: Rounded Corners 17">
            <a:extLst>
              <a:ext uri="{FF2B5EF4-FFF2-40B4-BE49-F238E27FC236}">
                <a16:creationId xmlns:a16="http://schemas.microsoft.com/office/drawing/2014/main" id="{7E91F43F-4AF4-F410-9D99-0E27F6D211C1}"/>
              </a:ext>
            </a:extLst>
          </p:cNvPr>
          <p:cNvSpPr/>
          <p:nvPr/>
        </p:nvSpPr>
        <p:spPr>
          <a:xfrm>
            <a:off x="3683000" y="1752600"/>
            <a:ext cx="33020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 Monitor Agent + data collection rules (+ endpoint)</a:t>
            </a:r>
          </a:p>
        </p:txBody>
      </p:sp>
      <p:cxnSp>
        <p:nvCxnSpPr>
          <p:cNvPr id="19" name="Straight Connector 18">
            <a:extLst>
              <a:ext uri="{FF2B5EF4-FFF2-40B4-BE49-F238E27FC236}">
                <a16:creationId xmlns:a16="http://schemas.microsoft.com/office/drawing/2014/main" id="{52DB622C-9450-1CDD-69B2-2DDBC1F77573}"/>
              </a:ext>
            </a:extLst>
          </p:cNvPr>
          <p:cNvCxnSpPr/>
          <p:nvPr/>
        </p:nvCxnSpPr>
        <p:spPr>
          <a:xfrm>
            <a:off x="3276600" y="2070100"/>
            <a:ext cx="406400" cy="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98EF9C0E-9E8E-8AD3-B004-BC1DEC289F85}"/>
              </a:ext>
            </a:extLst>
          </p:cNvPr>
          <p:cNvSpPr/>
          <p:nvPr/>
        </p:nvSpPr>
        <p:spPr>
          <a:xfrm>
            <a:off x="3683000" y="2514600"/>
            <a:ext cx="3302000" cy="635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Cluster extensions: Container insights · Managed Prometheus</a:t>
            </a:r>
          </a:p>
        </p:txBody>
      </p:sp>
      <p:cxnSp>
        <p:nvCxnSpPr>
          <p:cNvPr id="21" name="Straight Connector 20">
            <a:extLst>
              <a:ext uri="{FF2B5EF4-FFF2-40B4-BE49-F238E27FC236}">
                <a16:creationId xmlns:a16="http://schemas.microsoft.com/office/drawing/2014/main" id="{DCC7D40D-0650-1DCD-5403-5A72D9380916}"/>
              </a:ext>
            </a:extLst>
          </p:cNvPr>
          <p:cNvCxnSpPr/>
          <p:nvPr/>
        </p:nvCxnSpPr>
        <p:spPr>
          <a:xfrm>
            <a:off x="3276600" y="2832100"/>
            <a:ext cx="406400" cy="0"/>
          </a:xfrm>
          <a:prstGeom prst="line">
            <a:avLst/>
          </a:prstGeom>
          <a:ln w="22225">
            <a:solidFill>
              <a:srgbClr val="C4A0FA"/>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35ECA92C-6D10-C8BB-117D-881027E6312C}"/>
              </a:ext>
            </a:extLst>
          </p:cNvPr>
          <p:cNvSpPr/>
          <p:nvPr/>
        </p:nvSpPr>
        <p:spPr>
          <a:xfrm>
            <a:off x="3683000" y="3276600"/>
            <a:ext cx="3302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Diagnostic settings</a:t>
            </a:r>
          </a:p>
        </p:txBody>
      </p:sp>
      <p:cxnSp>
        <p:nvCxnSpPr>
          <p:cNvPr id="23" name="Straight Connector 22">
            <a:extLst>
              <a:ext uri="{FF2B5EF4-FFF2-40B4-BE49-F238E27FC236}">
                <a16:creationId xmlns:a16="http://schemas.microsoft.com/office/drawing/2014/main" id="{CE259B66-864E-27A0-D6F4-4995BA1102B4}"/>
              </a:ext>
            </a:extLst>
          </p:cNvPr>
          <p:cNvCxnSpPr/>
          <p:nvPr/>
        </p:nvCxnSpPr>
        <p:spPr>
          <a:xfrm>
            <a:off x="3276600" y="3594100"/>
            <a:ext cx="406400" cy="0"/>
          </a:xfrm>
          <a:prstGeom prst="line">
            <a:avLst/>
          </a:prstGeom>
          <a:ln w="22225">
            <a:solidFill>
              <a:srgbClr val="7DAAFA"/>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43552E9B-EE1B-B58C-F2C1-52E6C75E623D}"/>
              </a:ext>
            </a:extLst>
          </p:cNvPr>
          <p:cNvSpPr/>
          <p:nvPr/>
        </p:nvSpPr>
        <p:spPr>
          <a:xfrm>
            <a:off x="3683000" y="4038600"/>
            <a:ext cx="3302000" cy="63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OpenTelemetry: Distro · OTLP via Collector or agent</a:t>
            </a:r>
          </a:p>
        </p:txBody>
      </p:sp>
      <p:cxnSp>
        <p:nvCxnSpPr>
          <p:cNvPr id="25" name="Straight Connector 24">
            <a:extLst>
              <a:ext uri="{FF2B5EF4-FFF2-40B4-BE49-F238E27FC236}">
                <a16:creationId xmlns:a16="http://schemas.microsoft.com/office/drawing/2014/main" id="{F4B7EBAC-FA11-2187-D3C7-93BDE75BE26F}"/>
              </a:ext>
            </a:extLst>
          </p:cNvPr>
          <p:cNvCxnSpPr/>
          <p:nvPr/>
        </p:nvCxnSpPr>
        <p:spPr>
          <a:xfrm>
            <a:off x="3276600" y="4356100"/>
            <a:ext cx="4064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8F436BC6-1CF3-9794-4A50-0FDA6A870380}"/>
              </a:ext>
            </a:extLst>
          </p:cNvPr>
          <p:cNvSpPr/>
          <p:nvPr/>
        </p:nvSpPr>
        <p:spPr>
          <a:xfrm>
            <a:off x="3683000" y="4800600"/>
            <a:ext cx="3302000" cy="63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Logs ingestion API · connectors · Prometheus remote write</a:t>
            </a:r>
          </a:p>
        </p:txBody>
      </p:sp>
      <p:cxnSp>
        <p:nvCxnSpPr>
          <p:cNvPr id="27" name="Straight Connector 26">
            <a:extLst>
              <a:ext uri="{FF2B5EF4-FFF2-40B4-BE49-F238E27FC236}">
                <a16:creationId xmlns:a16="http://schemas.microsoft.com/office/drawing/2014/main" id="{66A44E4A-384E-F79E-3086-70BC29655FA2}"/>
              </a:ext>
            </a:extLst>
          </p:cNvPr>
          <p:cNvCxnSpPr/>
          <p:nvPr/>
        </p:nvCxnSpPr>
        <p:spPr>
          <a:xfrm>
            <a:off x="3276600" y="5118100"/>
            <a:ext cx="4064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C216B904-AF06-D48C-5A03-49EB16ED6BFB}"/>
              </a:ext>
            </a:extLst>
          </p:cNvPr>
          <p:cNvSpPr/>
          <p:nvPr/>
        </p:nvSpPr>
        <p:spPr>
          <a:xfrm>
            <a:off x="7493000" y="1905000"/>
            <a:ext cx="1905000" cy="1397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F4F4F5"/>
                </a:solidFill>
                <a:latin typeface="Calibri" panose="020F0502020204030204" pitchFamily="34" charset="0"/>
              </a:rPr>
              <a:t>Log Analytics workspace</a:t>
            </a:r>
          </a:p>
          <a:p>
            <a:pPr algn="ctr"/>
            <a:r>
              <a:rPr lang="en-US" sz="1150" b="1">
                <a:solidFill>
                  <a:srgbClr val="F4F4F5"/>
                </a:solidFill>
                <a:latin typeface="Calibri" panose="020F0502020204030204" pitchFamily="34" charset="0"/>
              </a:rPr>
              <a:t>logs, events, Perf, custom tables, Application Insights tables</a:t>
            </a:r>
          </a:p>
        </p:txBody>
      </p:sp>
      <p:sp>
        <p:nvSpPr>
          <p:cNvPr id="29" name="Rectangle: Rounded Corners 28">
            <a:extLst>
              <a:ext uri="{FF2B5EF4-FFF2-40B4-BE49-F238E27FC236}">
                <a16:creationId xmlns:a16="http://schemas.microsoft.com/office/drawing/2014/main" id="{172CB4B3-BD3B-51C3-0987-A0E9A06F7E6A}"/>
              </a:ext>
            </a:extLst>
          </p:cNvPr>
          <p:cNvSpPr/>
          <p:nvPr/>
        </p:nvSpPr>
        <p:spPr>
          <a:xfrm>
            <a:off x="7493000" y="3479800"/>
            <a:ext cx="1905000" cy="889000"/>
          </a:xfrm>
          <a:prstGeom prst="roundRect">
            <a:avLst>
              <a:gd name="adj" fmla="val 8000"/>
            </a:avLst>
          </a:prstGeom>
          <a:solidFill>
            <a:srgbClr val="27272C"/>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F4F4F5"/>
                </a:solidFill>
                <a:latin typeface="Calibri" panose="020F0502020204030204" pitchFamily="34" charset="0"/>
              </a:rPr>
              <a:t>Azure Monitor workspace</a:t>
            </a:r>
          </a:p>
          <a:p>
            <a:pPr algn="ctr"/>
            <a:r>
              <a:rPr lang="en-US" sz="1150" b="1">
                <a:solidFill>
                  <a:srgbClr val="F4F4F5"/>
                </a:solidFill>
                <a:latin typeface="Calibri" panose="020F0502020204030204" pitchFamily="34" charset="0"/>
              </a:rPr>
              <a:t>Prometheus metrics</a:t>
            </a:r>
          </a:p>
        </p:txBody>
      </p:sp>
      <p:sp>
        <p:nvSpPr>
          <p:cNvPr id="30" name="Rectangle: Rounded Corners 29">
            <a:extLst>
              <a:ext uri="{FF2B5EF4-FFF2-40B4-BE49-F238E27FC236}">
                <a16:creationId xmlns:a16="http://schemas.microsoft.com/office/drawing/2014/main" id="{5CE07236-1CE6-5228-1C27-DCEC670D53A5}"/>
              </a:ext>
            </a:extLst>
          </p:cNvPr>
          <p:cNvSpPr/>
          <p:nvPr/>
        </p:nvSpPr>
        <p:spPr>
          <a:xfrm>
            <a:off x="7493000" y="4521200"/>
            <a:ext cx="1905000" cy="889000"/>
          </a:xfrm>
          <a:prstGeom prst="roundRect">
            <a:avLst>
              <a:gd name="adj" fmla="val 8000"/>
            </a:avLst>
          </a:prstGeom>
          <a:solidFill>
            <a:srgbClr val="27272C"/>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F4F4F5"/>
                </a:solidFill>
                <a:latin typeface="Calibri" panose="020F0502020204030204" pitchFamily="34" charset="0"/>
              </a:rPr>
              <a:t>Azure Monitor Metrics</a:t>
            </a:r>
          </a:p>
          <a:p>
            <a:pPr algn="ctr"/>
            <a:r>
              <a:rPr lang="en-US" sz="1150" b="1">
                <a:solidFill>
                  <a:srgbClr val="F4F4F5"/>
                </a:solidFill>
                <a:latin typeface="Calibri" panose="020F0502020204030204" pitchFamily="34" charset="0"/>
              </a:rPr>
              <a:t>platform and guest metrics</a:t>
            </a:r>
          </a:p>
        </p:txBody>
      </p:sp>
      <p:cxnSp>
        <p:nvCxnSpPr>
          <p:cNvPr id="31" name="Straight Connector 30">
            <a:extLst>
              <a:ext uri="{FF2B5EF4-FFF2-40B4-BE49-F238E27FC236}">
                <a16:creationId xmlns:a16="http://schemas.microsoft.com/office/drawing/2014/main" id="{ADACA011-42DB-3690-47CF-8D8BADEEF4C8}"/>
              </a:ext>
            </a:extLst>
          </p:cNvPr>
          <p:cNvCxnSpPr/>
          <p:nvPr/>
        </p:nvCxnSpPr>
        <p:spPr>
          <a:xfrm>
            <a:off x="6985000" y="2070100"/>
            <a:ext cx="508000" cy="5334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63571A1-164E-FD3E-4830-046DFE4D011E}"/>
              </a:ext>
            </a:extLst>
          </p:cNvPr>
          <p:cNvCxnSpPr/>
          <p:nvPr/>
        </p:nvCxnSpPr>
        <p:spPr>
          <a:xfrm flipV="1">
            <a:off x="6985000" y="2603500"/>
            <a:ext cx="508000" cy="2286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A0D3E571-9DB7-040D-6BC7-6326F058A11F}"/>
              </a:ext>
            </a:extLst>
          </p:cNvPr>
          <p:cNvCxnSpPr/>
          <p:nvPr/>
        </p:nvCxnSpPr>
        <p:spPr>
          <a:xfrm>
            <a:off x="6985000" y="3594100"/>
            <a:ext cx="508000" cy="3302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765DB43-B2B6-81A0-0996-54F2DB02C685}"/>
              </a:ext>
            </a:extLst>
          </p:cNvPr>
          <p:cNvCxnSpPr/>
          <p:nvPr/>
        </p:nvCxnSpPr>
        <p:spPr>
          <a:xfrm>
            <a:off x="6985000" y="4356100"/>
            <a:ext cx="508000" cy="6096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7206771-1AF8-2E7D-D155-1CB7D550E55C}"/>
              </a:ext>
            </a:extLst>
          </p:cNvPr>
          <p:cNvCxnSpPr/>
          <p:nvPr/>
        </p:nvCxnSpPr>
        <p:spPr>
          <a:xfrm flipV="1">
            <a:off x="6985000" y="4965700"/>
            <a:ext cx="508000" cy="1524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C9252CED-BC8C-49F7-3393-A9DF131DD52E}"/>
              </a:ext>
            </a:extLst>
          </p:cNvPr>
          <p:cNvSpPr/>
          <p:nvPr/>
        </p:nvSpPr>
        <p:spPr>
          <a:xfrm>
            <a:off x="9804400" y="17526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Log Analytics (KQL)</a:t>
            </a:r>
          </a:p>
        </p:txBody>
      </p:sp>
      <p:cxnSp>
        <p:nvCxnSpPr>
          <p:cNvPr id="37" name="Straight Connector 36">
            <a:extLst>
              <a:ext uri="{FF2B5EF4-FFF2-40B4-BE49-F238E27FC236}">
                <a16:creationId xmlns:a16="http://schemas.microsoft.com/office/drawing/2014/main" id="{036F2EB2-634F-DC67-A0E7-BC2F97C7D405}"/>
              </a:ext>
            </a:extLst>
          </p:cNvPr>
          <p:cNvCxnSpPr/>
          <p:nvPr/>
        </p:nvCxnSpPr>
        <p:spPr>
          <a:xfrm>
            <a:off x="9398000" y="20320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Rounded Corners 37">
            <a:extLst>
              <a:ext uri="{FF2B5EF4-FFF2-40B4-BE49-F238E27FC236}">
                <a16:creationId xmlns:a16="http://schemas.microsoft.com/office/drawing/2014/main" id="{ED28A590-CBE8-904A-4CCD-7215851843B5}"/>
              </a:ext>
            </a:extLst>
          </p:cNvPr>
          <p:cNvSpPr/>
          <p:nvPr/>
        </p:nvSpPr>
        <p:spPr>
          <a:xfrm>
            <a:off x="9804400" y="24130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Managed Grafana</a:t>
            </a:r>
          </a:p>
        </p:txBody>
      </p:sp>
      <p:cxnSp>
        <p:nvCxnSpPr>
          <p:cNvPr id="39" name="Straight Connector 38">
            <a:extLst>
              <a:ext uri="{FF2B5EF4-FFF2-40B4-BE49-F238E27FC236}">
                <a16:creationId xmlns:a16="http://schemas.microsoft.com/office/drawing/2014/main" id="{4C8DA38E-BF6F-B073-30FF-CC27F8E24AF8}"/>
              </a:ext>
            </a:extLst>
          </p:cNvPr>
          <p:cNvCxnSpPr/>
          <p:nvPr/>
        </p:nvCxnSpPr>
        <p:spPr>
          <a:xfrm>
            <a:off x="9398000" y="26924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C556F909-F929-A33F-F108-EBACB61079D3}"/>
              </a:ext>
            </a:extLst>
          </p:cNvPr>
          <p:cNvSpPr/>
          <p:nvPr/>
        </p:nvSpPr>
        <p:spPr>
          <a:xfrm>
            <a:off x="9804400" y="30734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Workbooks and dashboards</a:t>
            </a:r>
          </a:p>
        </p:txBody>
      </p:sp>
      <p:cxnSp>
        <p:nvCxnSpPr>
          <p:cNvPr id="41" name="Straight Connector 40">
            <a:extLst>
              <a:ext uri="{FF2B5EF4-FFF2-40B4-BE49-F238E27FC236}">
                <a16:creationId xmlns:a16="http://schemas.microsoft.com/office/drawing/2014/main" id="{DF728402-43C7-F5BC-CE9C-E24CD24E3900}"/>
              </a:ext>
            </a:extLst>
          </p:cNvPr>
          <p:cNvCxnSpPr/>
          <p:nvPr/>
        </p:nvCxnSpPr>
        <p:spPr>
          <a:xfrm>
            <a:off x="9398000" y="33528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09385FF1-EC6A-709D-ABE9-3B3A06145139}"/>
              </a:ext>
            </a:extLst>
          </p:cNvPr>
          <p:cNvSpPr/>
          <p:nvPr/>
        </p:nvSpPr>
        <p:spPr>
          <a:xfrm>
            <a:off x="9804400" y="37338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Health Models (PREVIEW)</a:t>
            </a:r>
          </a:p>
        </p:txBody>
      </p:sp>
      <p:cxnSp>
        <p:nvCxnSpPr>
          <p:cNvPr id="43" name="Straight Connector 42">
            <a:extLst>
              <a:ext uri="{FF2B5EF4-FFF2-40B4-BE49-F238E27FC236}">
                <a16:creationId xmlns:a16="http://schemas.microsoft.com/office/drawing/2014/main" id="{B6AEA085-2719-AE3B-9AE1-92085BE289CA}"/>
              </a:ext>
            </a:extLst>
          </p:cNvPr>
          <p:cNvCxnSpPr/>
          <p:nvPr/>
        </p:nvCxnSpPr>
        <p:spPr>
          <a:xfrm>
            <a:off x="9398000" y="40132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Rounded Corners 43">
            <a:extLst>
              <a:ext uri="{FF2B5EF4-FFF2-40B4-BE49-F238E27FC236}">
                <a16:creationId xmlns:a16="http://schemas.microsoft.com/office/drawing/2014/main" id="{ACAEC94E-1297-952B-503E-529D74419251}"/>
              </a:ext>
            </a:extLst>
          </p:cNvPr>
          <p:cNvSpPr/>
          <p:nvPr/>
        </p:nvSpPr>
        <p:spPr>
          <a:xfrm>
            <a:off x="9804400" y="43942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Alerts and action groups</a:t>
            </a:r>
          </a:p>
        </p:txBody>
      </p:sp>
      <p:cxnSp>
        <p:nvCxnSpPr>
          <p:cNvPr id="45" name="Straight Connector 44">
            <a:extLst>
              <a:ext uri="{FF2B5EF4-FFF2-40B4-BE49-F238E27FC236}">
                <a16:creationId xmlns:a16="http://schemas.microsoft.com/office/drawing/2014/main" id="{3A7D4DC1-63F4-A118-B4C1-9A226064D139}"/>
              </a:ext>
            </a:extLst>
          </p:cNvPr>
          <p:cNvCxnSpPr/>
          <p:nvPr/>
        </p:nvCxnSpPr>
        <p:spPr>
          <a:xfrm>
            <a:off x="9398000" y="46736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Rounded Corners 45">
            <a:extLst>
              <a:ext uri="{FF2B5EF4-FFF2-40B4-BE49-F238E27FC236}">
                <a16:creationId xmlns:a16="http://schemas.microsoft.com/office/drawing/2014/main" id="{BFCF286E-2005-AFF8-A3FA-611D26F110F8}"/>
              </a:ext>
            </a:extLst>
          </p:cNvPr>
          <p:cNvSpPr/>
          <p:nvPr/>
        </p:nvSpPr>
        <p:spPr>
          <a:xfrm>
            <a:off x="9804400" y="50546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Microsoft Sentinel and Defender</a:t>
            </a:r>
          </a:p>
        </p:txBody>
      </p:sp>
      <p:cxnSp>
        <p:nvCxnSpPr>
          <p:cNvPr id="47" name="Straight Connector 46">
            <a:extLst>
              <a:ext uri="{FF2B5EF4-FFF2-40B4-BE49-F238E27FC236}">
                <a16:creationId xmlns:a16="http://schemas.microsoft.com/office/drawing/2014/main" id="{567014E8-F899-134B-E75C-81AC1973CC5B}"/>
              </a:ext>
            </a:extLst>
          </p:cNvPr>
          <p:cNvCxnSpPr/>
          <p:nvPr/>
        </p:nvCxnSpPr>
        <p:spPr>
          <a:xfrm>
            <a:off x="9398000" y="53340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A710FF3B-095F-8472-8759-D90C5806B7D3}"/>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0A5CE534-A196-3725-E0EE-A9E58D6887AF}"/>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Four collection paths, three stores, one set of consumers, for every estate.</a:t>
            </a:r>
          </a:p>
        </p:txBody>
      </p:sp>
    </p:spTree>
    <p:extLst>
      <p:ext uri="{BB962C8B-B14F-4D97-AF65-F5344CB8AC3E}">
        <p14:creationId xmlns:p14="http://schemas.microsoft.com/office/powerpoint/2010/main" val="36667840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5B87FA68-6FBB-E839-4DF6-D566BCA777E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C76CC03D-9A7B-E88A-DEA8-A06112B7CF3F}"/>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A23F78D-C8E3-28ED-AB53-7587582C27AD}"/>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CEBEE3-9747-83B1-D57A-7A66B6F95EA0}"/>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Workspace design</a:t>
            </a:r>
          </a:p>
        </p:txBody>
      </p:sp>
      <p:sp>
        <p:nvSpPr>
          <p:cNvPr id="6" name="ChapterTag">
            <a:extLst>
              <a:ext uri="{FF2B5EF4-FFF2-40B4-BE49-F238E27FC236}">
                <a16:creationId xmlns:a16="http://schemas.microsoft.com/office/drawing/2014/main" id="{FB0E7A08-2828-0EAA-3E07-A95AF34220FF}"/>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F85841E7-828B-4450-2477-397966625426}"/>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8F4DF28-5764-ACA3-65A1-180160364A28}"/>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35</a:t>
            </a:r>
          </a:p>
        </p:txBody>
      </p:sp>
      <p:sp>
        <p:nvSpPr>
          <p:cNvPr id="9" name="Rectangle: Rounded Corners 8">
            <a:extLst>
              <a:ext uri="{FF2B5EF4-FFF2-40B4-BE49-F238E27FC236}">
                <a16:creationId xmlns:a16="http://schemas.microsoft.com/office/drawing/2014/main" id="{B90FFA18-CEF2-87B3-AB32-D2A338DDA803}"/>
              </a:ext>
            </a:extLst>
          </p:cNvPr>
          <p:cNvSpPr/>
          <p:nvPr/>
        </p:nvSpPr>
        <p:spPr>
          <a:xfrm>
            <a:off x="609600" y="1600200"/>
            <a:ext cx="5384800" cy="4699000"/>
          </a:xfrm>
          <a:prstGeom prst="roundRect">
            <a:avLst>
              <a:gd name="adj" fmla="val 4000"/>
            </a:avLst>
          </a:prstGeom>
          <a:noFill/>
          <a:ln w="15875" cap="flat" cmpd="sng" algn="ctr">
            <a:solidFill>
              <a:srgbClr val="C4A0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78DFEE1-3800-FB37-8D3C-7F7BB75D528B}"/>
              </a:ext>
            </a:extLst>
          </p:cNvPr>
          <p:cNvSpPr txBox="1"/>
          <p:nvPr/>
        </p:nvSpPr>
        <p:spPr>
          <a:xfrm>
            <a:off x="762000" y="1701800"/>
            <a:ext cx="5080000" cy="279400"/>
          </a:xfrm>
          <a:prstGeom prst="rect">
            <a:avLst/>
          </a:prstGeom>
          <a:noFill/>
        </p:spPr>
        <p:txBody>
          <a:bodyPr vert="horz" wrap="square" lIns="25400" tIns="12700" rIns="25400" bIns="12700" rtlCol="0" anchor="t">
            <a:noAutofit/>
          </a:bodyPr>
          <a:lstStyle/>
          <a:p>
            <a:r>
              <a:rPr lang="en-US" sz="1250" b="1">
                <a:solidFill>
                  <a:srgbClr val="C4A0FA"/>
                </a:solidFill>
                <a:latin typeface="Calibri" panose="020F0502020204030204" pitchFamily="34" charset="0"/>
              </a:rPr>
              <a:t>ONE WORKSPACE (default)</a:t>
            </a:r>
          </a:p>
        </p:txBody>
      </p:sp>
      <p:sp>
        <p:nvSpPr>
          <p:cNvPr id="11" name="Oval 10">
            <a:extLst>
              <a:ext uri="{FF2B5EF4-FFF2-40B4-BE49-F238E27FC236}">
                <a16:creationId xmlns:a16="http://schemas.microsoft.com/office/drawing/2014/main" id="{81A7400E-ED96-80FC-6E1D-E16EA43E049B}"/>
              </a:ext>
            </a:extLst>
          </p:cNvPr>
          <p:cNvSpPr/>
          <p:nvPr/>
        </p:nvSpPr>
        <p:spPr>
          <a:xfrm>
            <a:off x="787400" y="2137410"/>
            <a:ext cx="88900" cy="889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DCAD6D6-5514-4CA3-C935-A4D31832F537}"/>
              </a:ext>
            </a:extLst>
          </p:cNvPr>
          <p:cNvSpPr txBox="1"/>
          <p:nvPr/>
        </p:nvSpPr>
        <p:spPr>
          <a:xfrm>
            <a:off x="965200" y="205740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query across every estate</a:t>
            </a:r>
          </a:p>
        </p:txBody>
      </p:sp>
      <p:sp>
        <p:nvSpPr>
          <p:cNvPr id="13" name="Oval 12">
            <a:extLst>
              <a:ext uri="{FF2B5EF4-FFF2-40B4-BE49-F238E27FC236}">
                <a16:creationId xmlns:a16="http://schemas.microsoft.com/office/drawing/2014/main" id="{ED47DE0E-CB5E-B7C5-ED3C-38371EC5DBA7}"/>
              </a:ext>
            </a:extLst>
          </p:cNvPr>
          <p:cNvSpPr/>
          <p:nvPr/>
        </p:nvSpPr>
        <p:spPr>
          <a:xfrm>
            <a:off x="787400" y="2491994"/>
            <a:ext cx="88900" cy="889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1917689-7625-1771-8DE5-8DEEDA0446A9}"/>
              </a:ext>
            </a:extLst>
          </p:cNvPr>
          <p:cNvSpPr txBox="1"/>
          <p:nvPr/>
        </p:nvSpPr>
        <p:spPr>
          <a:xfrm>
            <a:off x="965200" y="2411984"/>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RBAC model, one retention policy</a:t>
            </a:r>
          </a:p>
        </p:txBody>
      </p:sp>
      <p:sp>
        <p:nvSpPr>
          <p:cNvPr id="15" name="Oval 14">
            <a:extLst>
              <a:ext uri="{FF2B5EF4-FFF2-40B4-BE49-F238E27FC236}">
                <a16:creationId xmlns:a16="http://schemas.microsoft.com/office/drawing/2014/main" id="{330EE025-0C82-62BF-DC7B-1CC27166D4B0}"/>
              </a:ext>
            </a:extLst>
          </p:cNvPr>
          <p:cNvSpPr/>
          <p:nvPr/>
        </p:nvSpPr>
        <p:spPr>
          <a:xfrm>
            <a:off x="787400" y="2846578"/>
            <a:ext cx="88900" cy="889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0AF5D74-CD3E-BFB1-584C-75E953D114D9}"/>
              </a:ext>
            </a:extLst>
          </p:cNvPr>
          <p:cNvSpPr txBox="1"/>
          <p:nvPr/>
        </p:nvSpPr>
        <p:spPr>
          <a:xfrm>
            <a:off x="965200" y="2766568"/>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resource-context access still scopes what each team sees</a:t>
            </a:r>
          </a:p>
        </p:txBody>
      </p:sp>
      <p:sp>
        <p:nvSpPr>
          <p:cNvPr id="17" name="Oval 16">
            <a:extLst>
              <a:ext uri="{FF2B5EF4-FFF2-40B4-BE49-F238E27FC236}">
                <a16:creationId xmlns:a16="http://schemas.microsoft.com/office/drawing/2014/main" id="{A235553A-8ED9-F14C-B9D8-C3E577924881}"/>
              </a:ext>
            </a:extLst>
          </p:cNvPr>
          <p:cNvSpPr/>
          <p:nvPr/>
        </p:nvSpPr>
        <p:spPr>
          <a:xfrm>
            <a:off x="787400" y="3201162"/>
            <a:ext cx="88900" cy="889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6F9BA4A-3631-5E15-6BF8-EB67C79620AD}"/>
              </a:ext>
            </a:extLst>
          </p:cNvPr>
          <p:cNvSpPr txBox="1"/>
          <p:nvPr/>
        </p:nvSpPr>
        <p:spPr>
          <a:xfrm>
            <a:off x="965200" y="3121152"/>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simplest for Health Models, Sentinel and cost reviews</a:t>
            </a:r>
          </a:p>
        </p:txBody>
      </p:sp>
      <p:sp>
        <p:nvSpPr>
          <p:cNvPr id="19" name="Rectangle: Rounded Corners 18">
            <a:extLst>
              <a:ext uri="{FF2B5EF4-FFF2-40B4-BE49-F238E27FC236}">
                <a16:creationId xmlns:a16="http://schemas.microsoft.com/office/drawing/2014/main" id="{F035B1F9-7C98-E9F2-6508-2CF0D259030D}"/>
              </a:ext>
            </a:extLst>
          </p:cNvPr>
          <p:cNvSpPr/>
          <p:nvPr/>
        </p:nvSpPr>
        <p:spPr>
          <a:xfrm>
            <a:off x="6197600" y="1600200"/>
            <a:ext cx="5384800" cy="4699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9E8ACA9-C3A3-1486-77D3-29C5B4EA5D98}"/>
              </a:ext>
            </a:extLst>
          </p:cNvPr>
          <p:cNvSpPr txBox="1"/>
          <p:nvPr/>
        </p:nvSpPr>
        <p:spPr>
          <a:xfrm>
            <a:off x="6350000" y="1701800"/>
            <a:ext cx="5080000" cy="279400"/>
          </a:xfrm>
          <a:prstGeom prst="rect">
            <a:avLst/>
          </a:prstGeom>
          <a:noFill/>
        </p:spPr>
        <p:txBody>
          <a:bodyPr vert="horz" wrap="square" lIns="25400" tIns="12700" rIns="25400" bIns="12700" rtlCol="0" anchor="t">
            <a:noAutofit/>
          </a:bodyPr>
          <a:lstStyle/>
          <a:p>
            <a:r>
              <a:rPr lang="en-US" sz="1250" b="1">
                <a:solidFill>
                  <a:srgbClr val="2DD4BF"/>
                </a:solidFill>
                <a:latin typeface="Calibri" panose="020F0502020204030204" pitchFamily="34" charset="0"/>
              </a:rPr>
              <a:t>SEVERAL WORKSPACES (when forced)</a:t>
            </a:r>
          </a:p>
        </p:txBody>
      </p:sp>
      <p:sp>
        <p:nvSpPr>
          <p:cNvPr id="21" name="Oval 20">
            <a:extLst>
              <a:ext uri="{FF2B5EF4-FFF2-40B4-BE49-F238E27FC236}">
                <a16:creationId xmlns:a16="http://schemas.microsoft.com/office/drawing/2014/main" id="{7BC3D271-DC1F-5F6A-D6CD-C7AF91667BCD}"/>
              </a:ext>
            </a:extLst>
          </p:cNvPr>
          <p:cNvSpPr/>
          <p:nvPr/>
        </p:nvSpPr>
        <p:spPr>
          <a:xfrm>
            <a:off x="6375400" y="2137410"/>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C8606D7-1F94-DBB4-991A-626BF04C9A5F}"/>
              </a:ext>
            </a:extLst>
          </p:cNvPr>
          <p:cNvSpPr txBox="1"/>
          <p:nvPr/>
        </p:nvSpPr>
        <p:spPr>
          <a:xfrm>
            <a:off x="6553200" y="2057400"/>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data residency: EU estate must stay in EU</a:t>
            </a:r>
          </a:p>
        </p:txBody>
      </p:sp>
      <p:sp>
        <p:nvSpPr>
          <p:cNvPr id="23" name="Oval 22">
            <a:extLst>
              <a:ext uri="{FF2B5EF4-FFF2-40B4-BE49-F238E27FC236}">
                <a16:creationId xmlns:a16="http://schemas.microsoft.com/office/drawing/2014/main" id="{2A12FB12-E920-5AA6-CB12-E5AD3CC625E0}"/>
              </a:ext>
            </a:extLst>
          </p:cNvPr>
          <p:cNvSpPr/>
          <p:nvPr/>
        </p:nvSpPr>
        <p:spPr>
          <a:xfrm>
            <a:off x="6375400" y="2491994"/>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2891BD-0C17-CC09-8C34-403BAB69ACCE}"/>
              </a:ext>
            </a:extLst>
          </p:cNvPr>
          <p:cNvSpPr txBox="1"/>
          <p:nvPr/>
        </p:nvSpPr>
        <p:spPr>
          <a:xfrm>
            <a:off x="6553200" y="2411984"/>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 tenant or legal boundary</a:t>
            </a:r>
          </a:p>
        </p:txBody>
      </p:sp>
      <p:sp>
        <p:nvSpPr>
          <p:cNvPr id="25" name="Oval 24">
            <a:extLst>
              <a:ext uri="{FF2B5EF4-FFF2-40B4-BE49-F238E27FC236}">
                <a16:creationId xmlns:a16="http://schemas.microsoft.com/office/drawing/2014/main" id="{01736830-D30F-B01E-5D57-724557E521B7}"/>
              </a:ext>
            </a:extLst>
          </p:cNvPr>
          <p:cNvSpPr/>
          <p:nvPr/>
        </p:nvSpPr>
        <p:spPr>
          <a:xfrm>
            <a:off x="6375400" y="2846578"/>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09D07D1-8E84-69F9-0828-F4B4C1FB8990}"/>
              </a:ext>
            </a:extLst>
          </p:cNvPr>
          <p:cNvSpPr txBox="1"/>
          <p:nvPr/>
        </p:nvSpPr>
        <p:spPr>
          <a:xfrm>
            <a:off x="6553200" y="2766568"/>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Sentinel at a very different scale from operations</a:t>
            </a:r>
          </a:p>
        </p:txBody>
      </p:sp>
      <p:sp>
        <p:nvSpPr>
          <p:cNvPr id="27" name="Oval 26">
            <a:extLst>
              <a:ext uri="{FF2B5EF4-FFF2-40B4-BE49-F238E27FC236}">
                <a16:creationId xmlns:a16="http://schemas.microsoft.com/office/drawing/2014/main" id="{E932FB1A-AB4B-47AD-DF4F-1048A3ACA923}"/>
              </a:ext>
            </a:extLst>
          </p:cNvPr>
          <p:cNvSpPr/>
          <p:nvPr/>
        </p:nvSpPr>
        <p:spPr>
          <a:xfrm>
            <a:off x="6375400" y="3201162"/>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7EB160A-3FF5-2AD6-CFC2-F1B4E10377F9}"/>
              </a:ext>
            </a:extLst>
          </p:cNvPr>
          <p:cNvSpPr txBox="1"/>
          <p:nvPr/>
        </p:nvSpPr>
        <p:spPr>
          <a:xfrm>
            <a:off x="6553200" y="3121152"/>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cost split that must be hard, not reported</a:t>
            </a:r>
          </a:p>
        </p:txBody>
      </p:sp>
      <p:sp>
        <p:nvSpPr>
          <p:cNvPr id="29" name="Oval 28">
            <a:extLst>
              <a:ext uri="{FF2B5EF4-FFF2-40B4-BE49-F238E27FC236}">
                <a16:creationId xmlns:a16="http://schemas.microsoft.com/office/drawing/2014/main" id="{9E73E469-5794-67A2-DB6F-1B3BF2922A6C}"/>
              </a:ext>
            </a:extLst>
          </p:cNvPr>
          <p:cNvSpPr/>
          <p:nvPr/>
        </p:nvSpPr>
        <p:spPr>
          <a:xfrm>
            <a:off x="6375400" y="3555746"/>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190C553-6B81-70B9-75A2-E7AB57CCC1A6}"/>
              </a:ext>
            </a:extLst>
          </p:cNvPr>
          <p:cNvSpPr txBox="1"/>
          <p:nvPr/>
        </p:nvSpPr>
        <p:spPr>
          <a:xfrm>
            <a:off x="6553200" y="3475736"/>
            <a:ext cx="4851400" cy="3037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keep the count small and name the reason</a:t>
            </a:r>
          </a:p>
        </p:txBody>
      </p:sp>
    </p:spTree>
    <p:extLst>
      <p:ext uri="{BB962C8B-B14F-4D97-AF65-F5344CB8AC3E}">
        <p14:creationId xmlns:p14="http://schemas.microsoft.com/office/powerpoint/2010/main" val="2236318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131061DB-AF13-46FC-A5AA-286BD081F915}"/>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1838E3DB-6A9F-4172-1A95-0CB9424D9189}"/>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6C64C55-B367-3E3C-B420-0545108B4BBB}"/>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AE63CE8-696E-984D-A13C-3F23A68FA295}"/>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500" b="1">
                <a:solidFill>
                  <a:srgbClr val="F4F4F5"/>
                </a:solidFill>
                <a:latin typeface="Calibri" panose="020F0502020204030204" pitchFamily="34" charset="0"/>
              </a:rPr>
              <a:t>The Azure Monitor Agent and data collection rules</a:t>
            </a:r>
          </a:p>
        </p:txBody>
      </p:sp>
      <p:sp>
        <p:nvSpPr>
          <p:cNvPr id="6" name="ChapterTag">
            <a:extLst>
              <a:ext uri="{FF2B5EF4-FFF2-40B4-BE49-F238E27FC236}">
                <a16:creationId xmlns:a16="http://schemas.microsoft.com/office/drawing/2014/main" id="{06E16B78-EC46-BCC0-489B-933E69E1AA5D}"/>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3AA346D2-68FF-F8BF-37D2-7C616E8CEDA4}"/>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BF3AE68-3C4B-70E2-470B-92C0E1ADB172}"/>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36</a:t>
            </a:r>
          </a:p>
        </p:txBody>
      </p:sp>
      <p:sp>
        <p:nvSpPr>
          <p:cNvPr id="9" name="Rectangle: Rounded Corners 8">
            <a:extLst>
              <a:ext uri="{FF2B5EF4-FFF2-40B4-BE49-F238E27FC236}">
                <a16:creationId xmlns:a16="http://schemas.microsoft.com/office/drawing/2014/main" id="{D3087AF7-822D-1F88-2D84-37B7D0B35BDF}"/>
              </a:ext>
            </a:extLst>
          </p:cNvPr>
          <p:cNvSpPr/>
          <p:nvPr/>
        </p:nvSpPr>
        <p:spPr>
          <a:xfrm>
            <a:off x="609600" y="1905000"/>
            <a:ext cx="2159000" cy="1143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MACHINE</a:t>
            </a:r>
          </a:p>
          <a:p>
            <a:pPr algn="ctr"/>
            <a:r>
              <a:rPr lang="en-US" sz="1300" b="1">
                <a:solidFill>
                  <a:srgbClr val="F4F4F5"/>
                </a:solidFill>
                <a:latin typeface="Calibri" panose="020F0502020204030204" pitchFamily="34" charset="0"/>
              </a:rPr>
              <a:t>Arc server or Azure VM</a:t>
            </a:r>
          </a:p>
        </p:txBody>
      </p:sp>
      <p:sp>
        <p:nvSpPr>
          <p:cNvPr id="10" name="Rectangle: Rounded Corners 9">
            <a:extLst>
              <a:ext uri="{FF2B5EF4-FFF2-40B4-BE49-F238E27FC236}">
                <a16:creationId xmlns:a16="http://schemas.microsoft.com/office/drawing/2014/main" id="{F4F667FA-865A-826E-B0E2-3BF55CCE8CF6}"/>
              </a:ext>
            </a:extLst>
          </p:cNvPr>
          <p:cNvSpPr/>
          <p:nvPr/>
        </p:nvSpPr>
        <p:spPr>
          <a:xfrm>
            <a:off x="609600" y="3302000"/>
            <a:ext cx="2159000" cy="1143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 Monitor Agent</a:t>
            </a:r>
          </a:p>
          <a:p>
            <a:pPr algn="ctr"/>
            <a:r>
              <a:rPr lang="en-US" sz="1150">
                <a:solidFill>
                  <a:srgbClr val="F4F4F5"/>
                </a:solidFill>
                <a:latin typeface="Calibri" panose="020F0502020204030204" pitchFamily="34" charset="0"/>
              </a:rPr>
              <a:t>(extension; collects nothing without a rule)</a:t>
            </a:r>
          </a:p>
        </p:txBody>
      </p:sp>
      <p:sp>
        <p:nvSpPr>
          <p:cNvPr id="11" name="Rectangle: Rounded Corners 10">
            <a:extLst>
              <a:ext uri="{FF2B5EF4-FFF2-40B4-BE49-F238E27FC236}">
                <a16:creationId xmlns:a16="http://schemas.microsoft.com/office/drawing/2014/main" id="{E08498B0-C0F0-AEBE-E4A6-E7CB98F5A8A1}"/>
              </a:ext>
            </a:extLst>
          </p:cNvPr>
          <p:cNvSpPr/>
          <p:nvPr/>
        </p:nvSpPr>
        <p:spPr>
          <a:xfrm>
            <a:off x="3327400" y="1651000"/>
            <a:ext cx="5461000" cy="3048000"/>
          </a:xfrm>
          <a:prstGeom prst="roundRect">
            <a:avLst>
              <a:gd name="adj" fmla="val 4000"/>
            </a:avLst>
          </a:prstGeom>
          <a:noFill/>
          <a:ln w="15875" cap="flat" cmpd="sng" algn="ctr">
            <a:solidFill>
              <a:srgbClr val="FBBF24"/>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9A1D0C9-5DBA-3E5D-202A-4B7A4AF1CF2E}"/>
              </a:ext>
            </a:extLst>
          </p:cNvPr>
          <p:cNvSpPr txBox="1"/>
          <p:nvPr/>
        </p:nvSpPr>
        <p:spPr>
          <a:xfrm>
            <a:off x="3454400" y="1701800"/>
            <a:ext cx="5207000" cy="228600"/>
          </a:xfrm>
          <a:prstGeom prst="rect">
            <a:avLst/>
          </a:prstGeom>
          <a:noFill/>
        </p:spPr>
        <p:txBody>
          <a:bodyPr vert="horz" wrap="square" lIns="25400" tIns="12700" rIns="25400" bIns="12700" rtlCol="0" anchor="t">
            <a:noAutofit/>
          </a:bodyPr>
          <a:lstStyle/>
          <a:p>
            <a:r>
              <a:rPr lang="en-US" sz="1100" b="1">
                <a:solidFill>
                  <a:srgbClr val="FBBF24"/>
                </a:solidFill>
                <a:latin typeface="Calibri" panose="020F0502020204030204" pitchFamily="34" charset="0"/>
              </a:rPr>
              <a:t>DATA COLLECTION RULE</a:t>
            </a:r>
          </a:p>
        </p:txBody>
      </p:sp>
      <p:sp>
        <p:nvSpPr>
          <p:cNvPr id="13" name="Rectangle: Rounded Corners 12">
            <a:extLst>
              <a:ext uri="{FF2B5EF4-FFF2-40B4-BE49-F238E27FC236}">
                <a16:creationId xmlns:a16="http://schemas.microsoft.com/office/drawing/2014/main" id="{BEEB22B9-1E58-1B31-1332-1C4074F839F3}"/>
              </a:ext>
            </a:extLst>
          </p:cNvPr>
          <p:cNvSpPr/>
          <p:nvPr/>
        </p:nvSpPr>
        <p:spPr>
          <a:xfrm>
            <a:off x="3556000" y="2057400"/>
            <a:ext cx="24130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DATA SOURCES</a:t>
            </a:r>
          </a:p>
          <a:p>
            <a:pPr algn="ctr"/>
            <a:r>
              <a:rPr lang="en-US" sz="1100">
                <a:solidFill>
                  <a:srgbClr val="F4F4F5"/>
                </a:solidFill>
                <a:latin typeface="Calibri" panose="020F0502020204030204" pitchFamily="34" charset="0"/>
              </a:rPr>
              <a:t>perf counters · Windows events · Syslog · text and JSON logs · IIS · OTLP</a:t>
            </a:r>
          </a:p>
        </p:txBody>
      </p:sp>
      <p:sp>
        <p:nvSpPr>
          <p:cNvPr id="14" name="Rectangle: Rounded Corners 13">
            <a:extLst>
              <a:ext uri="{FF2B5EF4-FFF2-40B4-BE49-F238E27FC236}">
                <a16:creationId xmlns:a16="http://schemas.microsoft.com/office/drawing/2014/main" id="{E2696103-032E-83AB-628E-3DAD42F56A9E}"/>
              </a:ext>
            </a:extLst>
          </p:cNvPr>
          <p:cNvSpPr/>
          <p:nvPr/>
        </p:nvSpPr>
        <p:spPr>
          <a:xfrm>
            <a:off x="6146800" y="2057400"/>
            <a:ext cx="24130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TRANSFORMATION</a:t>
            </a:r>
          </a:p>
          <a:p>
            <a:pPr algn="ctr"/>
            <a:r>
              <a:rPr lang="en-US" sz="1100">
                <a:solidFill>
                  <a:srgbClr val="F4F4F5"/>
                </a:solidFill>
                <a:latin typeface="Calibri" panose="020F0502020204030204" pitchFamily="34" charset="0"/>
              </a:rPr>
              <a:t>KQL at ingestion: filter rows, drop columns, reshape</a:t>
            </a:r>
          </a:p>
        </p:txBody>
      </p:sp>
      <p:sp>
        <p:nvSpPr>
          <p:cNvPr id="15" name="Rectangle: Rounded Corners 14">
            <a:extLst>
              <a:ext uri="{FF2B5EF4-FFF2-40B4-BE49-F238E27FC236}">
                <a16:creationId xmlns:a16="http://schemas.microsoft.com/office/drawing/2014/main" id="{F0726EE6-3A60-88C8-DC42-E58AB3AEE938}"/>
              </a:ext>
            </a:extLst>
          </p:cNvPr>
          <p:cNvSpPr/>
          <p:nvPr/>
        </p:nvSpPr>
        <p:spPr>
          <a:xfrm>
            <a:off x="3556000" y="3378200"/>
            <a:ext cx="5003800" cy="1016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DESTINATIONS</a:t>
            </a:r>
          </a:p>
          <a:p>
            <a:pPr algn="ctr"/>
            <a:r>
              <a:rPr lang="en-US" sz="1100">
                <a:solidFill>
                  <a:srgbClr val="F4F4F5"/>
                </a:solidFill>
                <a:latin typeface="Calibri" panose="020F0502020204030204" pitchFamily="34" charset="0"/>
              </a:rPr>
              <a:t>workspace and table · Azure Monitor Metrics · (a second workspace)</a:t>
            </a:r>
          </a:p>
        </p:txBody>
      </p:sp>
      <p:cxnSp>
        <p:nvCxnSpPr>
          <p:cNvPr id="16" name="Straight Connector 15">
            <a:extLst>
              <a:ext uri="{FF2B5EF4-FFF2-40B4-BE49-F238E27FC236}">
                <a16:creationId xmlns:a16="http://schemas.microsoft.com/office/drawing/2014/main" id="{FD2B65A7-C693-F97F-3F45-CCA5C3B6CFA9}"/>
              </a:ext>
            </a:extLst>
          </p:cNvPr>
          <p:cNvCxnSpPr/>
          <p:nvPr/>
        </p:nvCxnSpPr>
        <p:spPr>
          <a:xfrm>
            <a:off x="5969000" y="2628900"/>
            <a:ext cx="1778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7010BA5-0F7C-7597-FF60-E0830EAA60B4}"/>
              </a:ext>
            </a:extLst>
          </p:cNvPr>
          <p:cNvCxnSpPr/>
          <p:nvPr/>
        </p:nvCxnSpPr>
        <p:spPr>
          <a:xfrm>
            <a:off x="6057900" y="3200400"/>
            <a:ext cx="0" cy="17780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F4E82E0E-FAA8-3226-0BFD-691CA11D6902}"/>
              </a:ext>
            </a:extLst>
          </p:cNvPr>
          <p:cNvSpPr/>
          <p:nvPr/>
        </p:nvSpPr>
        <p:spPr>
          <a:xfrm>
            <a:off x="3327400" y="4953000"/>
            <a:ext cx="2540000" cy="762000"/>
          </a:xfrm>
          <a:prstGeom prst="roundRect">
            <a:avLst>
              <a:gd name="adj" fmla="val 8000"/>
            </a:avLst>
          </a:prstGeom>
          <a:solidFill>
            <a:srgbClr val="27272C"/>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ASSOCIATION</a:t>
            </a:r>
          </a:p>
          <a:p>
            <a:pPr algn="ctr"/>
            <a:r>
              <a:rPr lang="en-US" sz="1100">
                <a:solidFill>
                  <a:srgbClr val="F4F4F5"/>
                </a:solidFill>
                <a:latin typeface="Calibri" panose="020F0502020204030204" pitchFamily="34" charset="0"/>
              </a:rPr>
              <a:t>binds the rule to the machine; created by Policy at scale</a:t>
            </a:r>
          </a:p>
        </p:txBody>
      </p:sp>
      <p:cxnSp>
        <p:nvCxnSpPr>
          <p:cNvPr id="19" name="Straight Connector 18">
            <a:extLst>
              <a:ext uri="{FF2B5EF4-FFF2-40B4-BE49-F238E27FC236}">
                <a16:creationId xmlns:a16="http://schemas.microsoft.com/office/drawing/2014/main" id="{B9B090C8-747F-B707-C2EB-90E31C41A895}"/>
              </a:ext>
            </a:extLst>
          </p:cNvPr>
          <p:cNvCxnSpPr/>
          <p:nvPr/>
        </p:nvCxnSpPr>
        <p:spPr>
          <a:xfrm>
            <a:off x="2768600" y="3873500"/>
            <a:ext cx="558800" cy="1460500"/>
          </a:xfrm>
          <a:prstGeom prst="line">
            <a:avLst/>
          </a:prstGeom>
          <a:ln w="22225">
            <a:solidFill>
              <a:srgbClr val="7DAAF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47E5A401-65B5-4D49-C400-4258482DE7CF}"/>
              </a:ext>
            </a:extLst>
          </p:cNvPr>
          <p:cNvCxnSpPr/>
          <p:nvPr/>
        </p:nvCxnSpPr>
        <p:spPr>
          <a:xfrm flipV="1">
            <a:off x="4597400" y="4699000"/>
            <a:ext cx="0" cy="254000"/>
          </a:xfrm>
          <a:prstGeom prst="line">
            <a:avLst/>
          </a:prstGeom>
          <a:ln w="22225">
            <a:solidFill>
              <a:srgbClr val="7DAAFA"/>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FC3E9BAD-1C93-5D52-6168-B7C779E4DF46}"/>
              </a:ext>
            </a:extLst>
          </p:cNvPr>
          <p:cNvSpPr/>
          <p:nvPr/>
        </p:nvSpPr>
        <p:spPr>
          <a:xfrm>
            <a:off x="6248400" y="4953000"/>
            <a:ext cx="2540000" cy="762000"/>
          </a:xfrm>
          <a:prstGeom prst="roundRect">
            <a:avLst>
              <a:gd name="adj" fmla="val 8000"/>
            </a:avLst>
          </a:prstGeom>
          <a:solidFill>
            <a:srgbClr val="27272C"/>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DATA COLLECTION ENDPOINT</a:t>
            </a:r>
          </a:p>
          <a:p>
            <a:pPr algn="ctr"/>
            <a:r>
              <a:rPr lang="en-US" sz="1100">
                <a:solidFill>
                  <a:srgbClr val="F4F4F5"/>
                </a:solidFill>
                <a:latin typeface="Calibri" panose="020F0502020204030204" pitchFamily="34" charset="0"/>
              </a:rPr>
              <a:t>needed for private link and for custom text or JSON logs</a:t>
            </a:r>
          </a:p>
        </p:txBody>
      </p:sp>
      <p:sp>
        <p:nvSpPr>
          <p:cNvPr id="22" name="Rectangle: Rounded Corners 21">
            <a:extLst>
              <a:ext uri="{FF2B5EF4-FFF2-40B4-BE49-F238E27FC236}">
                <a16:creationId xmlns:a16="http://schemas.microsoft.com/office/drawing/2014/main" id="{DE345258-B103-4C32-6106-61CA6D5053CB}"/>
              </a:ext>
            </a:extLst>
          </p:cNvPr>
          <p:cNvSpPr/>
          <p:nvPr/>
        </p:nvSpPr>
        <p:spPr>
          <a:xfrm>
            <a:off x="9347200" y="2286000"/>
            <a:ext cx="2235200" cy="762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Log Analytics workspace</a:t>
            </a:r>
          </a:p>
        </p:txBody>
      </p:sp>
      <p:sp>
        <p:nvSpPr>
          <p:cNvPr id="23" name="Rectangle: Rounded Corners 22">
            <a:extLst>
              <a:ext uri="{FF2B5EF4-FFF2-40B4-BE49-F238E27FC236}">
                <a16:creationId xmlns:a16="http://schemas.microsoft.com/office/drawing/2014/main" id="{AA649885-9307-438D-7E48-D87A491DAF1D}"/>
              </a:ext>
            </a:extLst>
          </p:cNvPr>
          <p:cNvSpPr/>
          <p:nvPr/>
        </p:nvSpPr>
        <p:spPr>
          <a:xfrm>
            <a:off x="9347200" y="3327400"/>
            <a:ext cx="2235200" cy="762000"/>
          </a:xfrm>
          <a:prstGeom prst="roundRect">
            <a:avLst>
              <a:gd name="adj" fmla="val 8000"/>
            </a:avLst>
          </a:prstGeom>
          <a:solidFill>
            <a:srgbClr val="27272C"/>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Azure Monitor Metrics</a:t>
            </a:r>
          </a:p>
        </p:txBody>
      </p:sp>
      <p:cxnSp>
        <p:nvCxnSpPr>
          <p:cNvPr id="24" name="Straight Connector 23">
            <a:extLst>
              <a:ext uri="{FF2B5EF4-FFF2-40B4-BE49-F238E27FC236}">
                <a16:creationId xmlns:a16="http://schemas.microsoft.com/office/drawing/2014/main" id="{13253D7E-E60D-CC82-9538-A54022E4E3CC}"/>
              </a:ext>
            </a:extLst>
          </p:cNvPr>
          <p:cNvCxnSpPr/>
          <p:nvPr/>
        </p:nvCxnSpPr>
        <p:spPr>
          <a:xfrm flipV="1">
            <a:off x="8559800" y="2667000"/>
            <a:ext cx="787400" cy="114300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9EC342D-BF6E-0CD5-E739-A7C83C0B580F}"/>
              </a:ext>
            </a:extLst>
          </p:cNvPr>
          <p:cNvCxnSpPr/>
          <p:nvPr/>
        </p:nvCxnSpPr>
        <p:spPr>
          <a:xfrm flipV="1">
            <a:off x="8559800" y="3708400"/>
            <a:ext cx="787400" cy="355600"/>
          </a:xfrm>
          <a:prstGeom prst="line">
            <a:avLst/>
          </a:prstGeom>
          <a:ln w="22225">
            <a:solidFill>
              <a:srgbClr val="7DAAFA"/>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id="{06E05100-1F28-73C0-4EED-3421F5761E60}"/>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EB3FDB9-C675-C023-0174-5F754CC1E335}"/>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One rule, thousands of machines. The transformation is your first and cheapest cost control.</a:t>
            </a:r>
          </a:p>
        </p:txBody>
      </p:sp>
    </p:spTree>
    <p:extLst>
      <p:ext uri="{BB962C8B-B14F-4D97-AF65-F5344CB8AC3E}">
        <p14:creationId xmlns:p14="http://schemas.microsoft.com/office/powerpoint/2010/main" val="2529033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6D63686-F2E9-E096-4C4A-A51B42AB3276}"/>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54D6ED9-405F-D316-17CE-E4ACD71723F6}"/>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B53CA94-1255-4CF5-A9A1-02709D26388B}"/>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7B2924B-BF70-7F6A-2F5D-DDF9D814A64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 data collection rule, read closely</a:t>
            </a:r>
          </a:p>
        </p:txBody>
      </p:sp>
      <p:sp>
        <p:nvSpPr>
          <p:cNvPr id="6" name="ChapterTag">
            <a:extLst>
              <a:ext uri="{FF2B5EF4-FFF2-40B4-BE49-F238E27FC236}">
                <a16:creationId xmlns:a16="http://schemas.microsoft.com/office/drawing/2014/main" id="{70DE9DA8-5BCD-1A16-9541-1338E96E4CB8}"/>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FCDBF724-1958-7E22-EC18-C937AEC37B3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07374ED5-742D-E0DD-F2F9-7660007750CC}"/>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37</a:t>
            </a:r>
          </a:p>
        </p:txBody>
      </p:sp>
      <p:sp>
        <p:nvSpPr>
          <p:cNvPr id="9" name="Rectangle 8">
            <a:extLst>
              <a:ext uri="{FF2B5EF4-FFF2-40B4-BE49-F238E27FC236}">
                <a16:creationId xmlns:a16="http://schemas.microsoft.com/office/drawing/2014/main" id="{F8AA7AE3-E3F0-1D16-32F7-E39F585CA7FE}"/>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F4F4F5"/>
                </a:solidFill>
                <a:latin typeface="Consolas" panose="020B0609020204030204" pitchFamily="49" charset="0"/>
              </a:rPr>
              <a:t>{</a:t>
            </a:r>
          </a:p>
          <a:p>
            <a:r>
              <a:rPr lang="en-US" sz="1150">
                <a:solidFill>
                  <a:srgbClr val="F4F4F5"/>
                </a:solidFill>
                <a:latin typeface="Consolas" panose="020B0609020204030204" pitchFamily="49" charset="0"/>
              </a:rPr>
              <a:t>  "location": "eastus2",</a:t>
            </a:r>
          </a:p>
          <a:p>
            <a:r>
              <a:rPr lang="en-US" sz="1150">
                <a:solidFill>
                  <a:srgbClr val="F4F4F5"/>
                </a:solidFill>
                <a:latin typeface="Consolas" panose="020B0609020204030204" pitchFamily="49" charset="0"/>
              </a:rPr>
              <a:t>  "properties": {</a:t>
            </a:r>
          </a:p>
          <a:p>
            <a:r>
              <a:rPr lang="en-US" sz="1150">
                <a:solidFill>
                  <a:srgbClr val="F4F4F5"/>
                </a:solidFill>
                <a:latin typeface="Consolas" panose="020B0609020204030204" pitchFamily="49" charset="0"/>
              </a:rPr>
              <a:t>    "dataSources": {</a:t>
            </a:r>
          </a:p>
          <a:p>
            <a:r>
              <a:rPr lang="en-US" sz="1150">
                <a:solidFill>
                  <a:srgbClr val="F4F4F5"/>
                </a:solidFill>
                <a:latin typeface="Consolas" panose="020B0609020204030204" pitchFamily="49" charset="0"/>
              </a:rPr>
              <a:t>      "performanceCounters": [{ "name": "perf", "streams": ["Microsoft-Perf"], "samplingFrequencyInSeconds": 60,</a:t>
            </a:r>
          </a:p>
          <a:p>
            <a:r>
              <a:rPr lang="en-US" sz="1150">
                <a:solidFill>
                  <a:srgbClr val="F4F4F5"/>
                </a:solidFill>
                <a:latin typeface="Consolas" panose="020B0609020204030204" pitchFamily="49" charset="0"/>
              </a:rPr>
              <a:t>        "counterSpecifiers": ["\\Processor(_Total)\\% Processor Time", "\\Memory\\Available MBytes", "\\LogicalDisk(*)\\% Free Space"] }],</a:t>
            </a:r>
          </a:p>
          <a:p>
            <a:r>
              <a:rPr lang="en-US" sz="1150">
                <a:solidFill>
                  <a:srgbClr val="F4F4F5"/>
                </a:solidFill>
                <a:latin typeface="Consolas" panose="020B0609020204030204" pitchFamily="49" charset="0"/>
              </a:rPr>
              <a:t>      "syslog": [{ "name": "sys", "streams": ["Microsoft-Syslog"], "facilityNames": ["auth","daemon","kern"], "logLevels": ["Warning","Error","Critical"] }]</a:t>
            </a:r>
          </a:p>
          <a:p>
            <a:r>
              <a:rPr lang="en-US" sz="1150">
                <a:solidFill>
                  <a:srgbClr val="F4F4F5"/>
                </a:solidFill>
                <a:latin typeface="Consolas" panose="020B0609020204030204" pitchFamily="49" charset="0"/>
              </a:rPr>
              <a:t>    },</a:t>
            </a:r>
          </a:p>
          <a:p>
            <a:r>
              <a:rPr lang="en-US" sz="1150">
                <a:solidFill>
                  <a:srgbClr val="F4F4F5"/>
                </a:solidFill>
                <a:latin typeface="Consolas" panose="020B0609020204030204" pitchFamily="49" charset="0"/>
              </a:rPr>
              <a:t>    "destinations": { "logAnalytics": [{ "name": "law", "workspaceResourceId": "&lt;workspace-id&gt;" }] },</a:t>
            </a:r>
          </a:p>
          <a:p>
            <a:r>
              <a:rPr lang="en-US" sz="1150">
                <a:solidFill>
                  <a:srgbClr val="F4F4F5"/>
                </a:solidFill>
                <a:latin typeface="Consolas" panose="020B0609020204030204" pitchFamily="49" charset="0"/>
              </a:rPr>
              <a:t>    "dataFlows": [</a:t>
            </a:r>
          </a:p>
          <a:p>
            <a:r>
              <a:rPr lang="en-US" sz="1150">
                <a:solidFill>
                  <a:srgbClr val="F4F4F5"/>
                </a:solidFill>
                <a:latin typeface="Consolas" panose="020B0609020204030204" pitchFamily="49" charset="0"/>
              </a:rPr>
              <a:t>      { "streams": ["Microsoft-Perf"], "destinations": ["law"], "transformKql": "source | where CounterValue != 0" },</a:t>
            </a:r>
          </a:p>
          <a:p>
            <a:r>
              <a:rPr lang="en-US" sz="1150">
                <a:solidFill>
                  <a:srgbClr val="F4F4F5"/>
                </a:solidFill>
                <a:latin typeface="Consolas" panose="020B0609020204030204" pitchFamily="49" charset="0"/>
              </a:rPr>
              <a:t>      { "streams": ["Microsoft-Syslog"], "destinations": ["law"] }</a:t>
            </a:r>
          </a:p>
          <a:p>
            <a:r>
              <a:rPr lang="en-US" sz="1150">
                <a:solidFill>
                  <a:srgbClr val="F4F4F5"/>
                </a:solidFill>
                <a:latin typeface="Consolas" panose="020B0609020204030204" pitchFamily="49" charset="0"/>
              </a:rPr>
              <a:t>    ]</a:t>
            </a:r>
          </a:p>
          <a:p>
            <a:r>
              <a:rPr lang="en-US" sz="1150">
                <a:solidFill>
                  <a:srgbClr val="F4F4F5"/>
                </a:solidFill>
                <a:latin typeface="Consolas" panose="020B0609020204030204" pitchFamily="49" charset="0"/>
              </a:rPr>
              <a:t>  }</a:t>
            </a:r>
          </a:p>
          <a:p>
            <a:r>
              <a:rPr lang="en-US" sz="1150">
                <a:solidFill>
                  <a:srgbClr val="F4F4F5"/>
                </a:solidFill>
                <a:latin typeface="Consolas" panose="020B0609020204030204" pitchFamily="49" charset="0"/>
              </a:rPr>
              <a:t>}</a:t>
            </a:r>
          </a:p>
        </p:txBody>
      </p:sp>
    </p:spTree>
    <p:extLst>
      <p:ext uri="{BB962C8B-B14F-4D97-AF65-F5344CB8AC3E}">
        <p14:creationId xmlns:p14="http://schemas.microsoft.com/office/powerpoint/2010/main" val="787310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36CA97CF-DCCC-9BBE-F4CF-D01905F13DDC}"/>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5F1BBFA6-7F7F-9F8B-3123-B61D2C1BED97}"/>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E196411-DA98-9010-F3E3-970F9932813C}"/>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EEB2517-81C3-2047-75EF-4E57E2711D44}"/>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What to collect from every machine</a:t>
            </a:r>
          </a:p>
        </p:txBody>
      </p:sp>
      <p:sp>
        <p:nvSpPr>
          <p:cNvPr id="6" name="ChapterTag">
            <a:extLst>
              <a:ext uri="{FF2B5EF4-FFF2-40B4-BE49-F238E27FC236}">
                <a16:creationId xmlns:a16="http://schemas.microsoft.com/office/drawing/2014/main" id="{0DDBCFB8-7F65-BCB2-8A2B-D1A815F3E0CB}"/>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8A88CDC1-1EE9-5B55-00D6-5530D8B5F1C7}"/>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39A79E8-43F9-9AF9-FCAC-181FECC56FC5}"/>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38</a:t>
            </a:r>
          </a:p>
        </p:txBody>
      </p:sp>
      <p:sp>
        <p:nvSpPr>
          <p:cNvPr id="9" name="Rectangle: Rounded Corners 8">
            <a:extLst>
              <a:ext uri="{FF2B5EF4-FFF2-40B4-BE49-F238E27FC236}">
                <a16:creationId xmlns:a16="http://schemas.microsoft.com/office/drawing/2014/main" id="{0A6B3F4D-ED74-EFC3-A991-3311ACB42C92}"/>
              </a:ext>
            </a:extLst>
          </p:cNvPr>
          <p:cNvSpPr/>
          <p:nvPr/>
        </p:nvSpPr>
        <p:spPr>
          <a:xfrm>
            <a:off x="609600" y="1549400"/>
            <a:ext cx="2413000"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Signal</a:t>
            </a:r>
          </a:p>
        </p:txBody>
      </p:sp>
      <p:sp>
        <p:nvSpPr>
          <p:cNvPr id="10" name="Rectangle: Rounded Corners 9">
            <a:extLst>
              <a:ext uri="{FF2B5EF4-FFF2-40B4-BE49-F238E27FC236}">
                <a16:creationId xmlns:a16="http://schemas.microsoft.com/office/drawing/2014/main" id="{1F62E7B1-1A14-EEA7-4061-BB6EA257AFE1}"/>
              </a:ext>
            </a:extLst>
          </p:cNvPr>
          <p:cNvSpPr/>
          <p:nvPr/>
        </p:nvSpPr>
        <p:spPr>
          <a:xfrm>
            <a:off x="3022600" y="1549400"/>
            <a:ext cx="2853267"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Source</a:t>
            </a:r>
          </a:p>
        </p:txBody>
      </p:sp>
      <p:sp>
        <p:nvSpPr>
          <p:cNvPr id="11" name="Rectangle: Rounded Corners 10">
            <a:extLst>
              <a:ext uri="{FF2B5EF4-FFF2-40B4-BE49-F238E27FC236}">
                <a16:creationId xmlns:a16="http://schemas.microsoft.com/office/drawing/2014/main" id="{6C987E5E-0E52-54BE-2484-5F4A0A355AEA}"/>
              </a:ext>
            </a:extLst>
          </p:cNvPr>
          <p:cNvSpPr/>
          <p:nvPr/>
        </p:nvSpPr>
        <p:spPr>
          <a:xfrm>
            <a:off x="5875867" y="1549400"/>
            <a:ext cx="2853266"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Table</a:t>
            </a:r>
          </a:p>
        </p:txBody>
      </p:sp>
      <p:sp>
        <p:nvSpPr>
          <p:cNvPr id="12" name="Rectangle: Rounded Corners 11">
            <a:extLst>
              <a:ext uri="{FF2B5EF4-FFF2-40B4-BE49-F238E27FC236}">
                <a16:creationId xmlns:a16="http://schemas.microsoft.com/office/drawing/2014/main" id="{6A8FE18B-B65C-A7EF-99CC-95198881B676}"/>
              </a:ext>
            </a:extLst>
          </p:cNvPr>
          <p:cNvSpPr/>
          <p:nvPr/>
        </p:nvSpPr>
        <p:spPr>
          <a:xfrm>
            <a:off x="8729133" y="1549400"/>
            <a:ext cx="2853267"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Why</a:t>
            </a:r>
          </a:p>
        </p:txBody>
      </p:sp>
      <p:sp>
        <p:nvSpPr>
          <p:cNvPr id="13" name="Rectangle: Rounded Corners 12">
            <a:extLst>
              <a:ext uri="{FF2B5EF4-FFF2-40B4-BE49-F238E27FC236}">
                <a16:creationId xmlns:a16="http://schemas.microsoft.com/office/drawing/2014/main" id="{05C5F0CC-0F9E-91D0-7446-00B3BD558A45}"/>
              </a:ext>
            </a:extLst>
          </p:cNvPr>
          <p:cNvSpPr/>
          <p:nvPr/>
        </p:nvSpPr>
        <p:spPr>
          <a:xfrm>
            <a:off x="609600" y="1854200"/>
            <a:ext cx="2413000" cy="6731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Heartbeat</a:t>
            </a:r>
          </a:p>
        </p:txBody>
      </p:sp>
      <p:sp>
        <p:nvSpPr>
          <p:cNvPr id="14" name="Rectangle: Rounded Corners 13">
            <a:extLst>
              <a:ext uri="{FF2B5EF4-FFF2-40B4-BE49-F238E27FC236}">
                <a16:creationId xmlns:a16="http://schemas.microsoft.com/office/drawing/2014/main" id="{A5E0DB69-668D-EEB9-9C32-8FCF56921C51}"/>
              </a:ext>
            </a:extLst>
          </p:cNvPr>
          <p:cNvSpPr/>
          <p:nvPr/>
        </p:nvSpPr>
        <p:spPr>
          <a:xfrm>
            <a:off x="3022600" y="1854200"/>
            <a:ext cx="2853267"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agent</a:t>
            </a:r>
          </a:p>
        </p:txBody>
      </p:sp>
      <p:sp>
        <p:nvSpPr>
          <p:cNvPr id="15" name="Rectangle: Rounded Corners 14">
            <a:extLst>
              <a:ext uri="{FF2B5EF4-FFF2-40B4-BE49-F238E27FC236}">
                <a16:creationId xmlns:a16="http://schemas.microsoft.com/office/drawing/2014/main" id="{33E9FF76-2A06-D20E-DAA9-9C3B5F1BA1D1}"/>
              </a:ext>
            </a:extLst>
          </p:cNvPr>
          <p:cNvSpPr/>
          <p:nvPr/>
        </p:nvSpPr>
        <p:spPr>
          <a:xfrm>
            <a:off x="5875867" y="1854200"/>
            <a:ext cx="2853266"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Heartbeat</a:t>
            </a:r>
          </a:p>
        </p:txBody>
      </p:sp>
      <p:sp>
        <p:nvSpPr>
          <p:cNvPr id="16" name="Rectangle: Rounded Corners 15">
            <a:extLst>
              <a:ext uri="{FF2B5EF4-FFF2-40B4-BE49-F238E27FC236}">
                <a16:creationId xmlns:a16="http://schemas.microsoft.com/office/drawing/2014/main" id="{2EE0B72B-5CCF-1262-9FF7-A8AD82DCD38A}"/>
              </a:ext>
            </a:extLst>
          </p:cNvPr>
          <p:cNvSpPr/>
          <p:nvPr/>
        </p:nvSpPr>
        <p:spPr>
          <a:xfrm>
            <a:off x="8729133" y="1854200"/>
            <a:ext cx="2853267"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is the machine reporting at all; the freshness signal everything else depends on</a:t>
            </a:r>
          </a:p>
        </p:txBody>
      </p:sp>
      <p:sp>
        <p:nvSpPr>
          <p:cNvPr id="17" name="Rectangle: Rounded Corners 16">
            <a:extLst>
              <a:ext uri="{FF2B5EF4-FFF2-40B4-BE49-F238E27FC236}">
                <a16:creationId xmlns:a16="http://schemas.microsoft.com/office/drawing/2014/main" id="{4622258C-BBB2-E178-0DB0-BB34E1D627D2}"/>
              </a:ext>
            </a:extLst>
          </p:cNvPr>
          <p:cNvSpPr/>
          <p:nvPr/>
        </p:nvSpPr>
        <p:spPr>
          <a:xfrm>
            <a:off x="609600" y="25273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CPU, memory, disk, network</a:t>
            </a:r>
          </a:p>
        </p:txBody>
      </p:sp>
      <p:sp>
        <p:nvSpPr>
          <p:cNvPr id="18" name="Rectangle: Rounded Corners 17">
            <a:extLst>
              <a:ext uri="{FF2B5EF4-FFF2-40B4-BE49-F238E27FC236}">
                <a16:creationId xmlns:a16="http://schemas.microsoft.com/office/drawing/2014/main" id="{DEAFD69C-6781-9B7F-3111-50406E38020B}"/>
              </a:ext>
            </a:extLst>
          </p:cNvPr>
          <p:cNvSpPr/>
          <p:nvPr/>
        </p:nvSpPr>
        <p:spPr>
          <a:xfrm>
            <a:off x="3022600" y="25273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performance counters, 60 s</a:t>
            </a:r>
          </a:p>
        </p:txBody>
      </p:sp>
      <p:sp>
        <p:nvSpPr>
          <p:cNvPr id="19" name="Rectangle: Rounded Corners 18">
            <a:extLst>
              <a:ext uri="{FF2B5EF4-FFF2-40B4-BE49-F238E27FC236}">
                <a16:creationId xmlns:a16="http://schemas.microsoft.com/office/drawing/2014/main" id="{10C97851-D127-2C34-BEDB-8CE7DCFF78E1}"/>
              </a:ext>
            </a:extLst>
          </p:cNvPr>
          <p:cNvSpPr/>
          <p:nvPr/>
        </p:nvSpPr>
        <p:spPr>
          <a:xfrm>
            <a:off x="5875867" y="25273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Perf or InsightsMetrics</a:t>
            </a:r>
          </a:p>
        </p:txBody>
      </p:sp>
      <p:sp>
        <p:nvSpPr>
          <p:cNvPr id="20" name="Rectangle: Rounded Corners 19">
            <a:extLst>
              <a:ext uri="{FF2B5EF4-FFF2-40B4-BE49-F238E27FC236}">
                <a16:creationId xmlns:a16="http://schemas.microsoft.com/office/drawing/2014/main" id="{D8B1AB79-D7CB-2ED5-9F7D-D9304D601486}"/>
              </a:ext>
            </a:extLst>
          </p:cNvPr>
          <p:cNvSpPr/>
          <p:nvPr/>
        </p:nvSpPr>
        <p:spPr>
          <a:xfrm>
            <a:off x="8729133" y="25273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capacity and saturation; keep the counter list short</a:t>
            </a:r>
          </a:p>
        </p:txBody>
      </p:sp>
      <p:sp>
        <p:nvSpPr>
          <p:cNvPr id="21" name="Rectangle: Rounded Corners 20">
            <a:extLst>
              <a:ext uri="{FF2B5EF4-FFF2-40B4-BE49-F238E27FC236}">
                <a16:creationId xmlns:a16="http://schemas.microsoft.com/office/drawing/2014/main" id="{0785BFC8-6D3A-2952-51B3-AECFC8F72D38}"/>
              </a:ext>
            </a:extLst>
          </p:cNvPr>
          <p:cNvSpPr/>
          <p:nvPr/>
        </p:nvSpPr>
        <p:spPr>
          <a:xfrm>
            <a:off x="609600" y="30226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Windows events and Syslog</a:t>
            </a:r>
          </a:p>
        </p:txBody>
      </p:sp>
      <p:sp>
        <p:nvSpPr>
          <p:cNvPr id="22" name="Rectangle: Rounded Corners 21">
            <a:extLst>
              <a:ext uri="{FF2B5EF4-FFF2-40B4-BE49-F238E27FC236}">
                <a16:creationId xmlns:a16="http://schemas.microsoft.com/office/drawing/2014/main" id="{471516D3-0B0C-3AC1-FDE9-9276AF3E2229}"/>
              </a:ext>
            </a:extLst>
          </p:cNvPr>
          <p:cNvSpPr/>
          <p:nvPr/>
        </p:nvSpPr>
        <p:spPr>
          <a:xfrm>
            <a:off x="3022600" y="30226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event logs, auth, daemon, kern</a:t>
            </a:r>
          </a:p>
        </p:txBody>
      </p:sp>
      <p:sp>
        <p:nvSpPr>
          <p:cNvPr id="23" name="Rectangle: Rounded Corners 22">
            <a:extLst>
              <a:ext uri="{FF2B5EF4-FFF2-40B4-BE49-F238E27FC236}">
                <a16:creationId xmlns:a16="http://schemas.microsoft.com/office/drawing/2014/main" id="{D76D1F2A-BE55-8E0E-5036-0255CC05A4C6}"/>
              </a:ext>
            </a:extLst>
          </p:cNvPr>
          <p:cNvSpPr/>
          <p:nvPr/>
        </p:nvSpPr>
        <p:spPr>
          <a:xfrm>
            <a:off x="5875867" y="30226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Event, Syslog</a:t>
            </a:r>
          </a:p>
        </p:txBody>
      </p:sp>
      <p:sp>
        <p:nvSpPr>
          <p:cNvPr id="24" name="Rectangle: Rounded Corners 23">
            <a:extLst>
              <a:ext uri="{FF2B5EF4-FFF2-40B4-BE49-F238E27FC236}">
                <a16:creationId xmlns:a16="http://schemas.microsoft.com/office/drawing/2014/main" id="{23B59E67-EB5E-D8C7-42A8-CD5EF292B67C}"/>
              </a:ext>
            </a:extLst>
          </p:cNvPr>
          <p:cNvSpPr/>
          <p:nvPr/>
        </p:nvSpPr>
        <p:spPr>
          <a:xfrm>
            <a:off x="8729133" y="30226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what happened; warnings and above, not information</a:t>
            </a:r>
          </a:p>
        </p:txBody>
      </p:sp>
      <p:sp>
        <p:nvSpPr>
          <p:cNvPr id="25" name="Rectangle: Rounded Corners 24">
            <a:extLst>
              <a:ext uri="{FF2B5EF4-FFF2-40B4-BE49-F238E27FC236}">
                <a16:creationId xmlns:a16="http://schemas.microsoft.com/office/drawing/2014/main" id="{FADA4832-D402-1AF6-6E99-5692BE53C28A}"/>
              </a:ext>
            </a:extLst>
          </p:cNvPr>
          <p:cNvSpPr/>
          <p:nvPr/>
        </p:nvSpPr>
        <p:spPr>
          <a:xfrm>
            <a:off x="609600" y="35179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Processes and dependencies</a:t>
            </a:r>
          </a:p>
        </p:txBody>
      </p:sp>
      <p:sp>
        <p:nvSpPr>
          <p:cNvPr id="26" name="Rectangle: Rounded Corners 25">
            <a:extLst>
              <a:ext uri="{FF2B5EF4-FFF2-40B4-BE49-F238E27FC236}">
                <a16:creationId xmlns:a16="http://schemas.microsoft.com/office/drawing/2014/main" id="{FFA0EDED-3CC2-5A3E-02B8-F37326BE8F86}"/>
              </a:ext>
            </a:extLst>
          </p:cNvPr>
          <p:cNvSpPr/>
          <p:nvPr/>
        </p:nvSpPr>
        <p:spPr>
          <a:xfrm>
            <a:off x="3022600" y="3517900"/>
            <a:ext cx="2853267"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VM insights (Dependency agent)</a:t>
            </a:r>
          </a:p>
        </p:txBody>
      </p:sp>
      <p:sp>
        <p:nvSpPr>
          <p:cNvPr id="27" name="Rectangle: Rounded Corners 26">
            <a:extLst>
              <a:ext uri="{FF2B5EF4-FFF2-40B4-BE49-F238E27FC236}">
                <a16:creationId xmlns:a16="http://schemas.microsoft.com/office/drawing/2014/main" id="{75A22B6F-B8E2-53B8-EC6C-108FBD268FC1}"/>
              </a:ext>
            </a:extLst>
          </p:cNvPr>
          <p:cNvSpPr/>
          <p:nvPr/>
        </p:nvSpPr>
        <p:spPr>
          <a:xfrm>
            <a:off x="5875867" y="3517900"/>
            <a:ext cx="2853266"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VMConnection, VMProcess</a:t>
            </a:r>
          </a:p>
        </p:txBody>
      </p:sp>
      <p:sp>
        <p:nvSpPr>
          <p:cNvPr id="28" name="Rectangle: Rounded Corners 27">
            <a:extLst>
              <a:ext uri="{FF2B5EF4-FFF2-40B4-BE49-F238E27FC236}">
                <a16:creationId xmlns:a16="http://schemas.microsoft.com/office/drawing/2014/main" id="{A91C09B0-761B-CA40-971B-FB4DD720E7E8}"/>
              </a:ext>
            </a:extLst>
          </p:cNvPr>
          <p:cNvSpPr/>
          <p:nvPr/>
        </p:nvSpPr>
        <p:spPr>
          <a:xfrm>
            <a:off x="8729133" y="3517900"/>
            <a:ext cx="2853267"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topology you did not draw</a:t>
            </a:r>
          </a:p>
        </p:txBody>
      </p:sp>
      <p:sp>
        <p:nvSpPr>
          <p:cNvPr id="29" name="Rectangle: Rounded Corners 28">
            <a:extLst>
              <a:ext uri="{FF2B5EF4-FFF2-40B4-BE49-F238E27FC236}">
                <a16:creationId xmlns:a16="http://schemas.microsoft.com/office/drawing/2014/main" id="{3C2CED73-3BAE-060E-BB2D-7C039869A4C2}"/>
              </a:ext>
            </a:extLst>
          </p:cNvPr>
          <p:cNvSpPr/>
          <p:nvPr/>
        </p:nvSpPr>
        <p:spPr>
          <a:xfrm>
            <a:off x="609600" y="38227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Change tracking and inventory</a:t>
            </a:r>
          </a:p>
        </p:txBody>
      </p:sp>
      <p:sp>
        <p:nvSpPr>
          <p:cNvPr id="30" name="Rectangle: Rounded Corners 29">
            <a:extLst>
              <a:ext uri="{FF2B5EF4-FFF2-40B4-BE49-F238E27FC236}">
                <a16:creationId xmlns:a16="http://schemas.microsoft.com/office/drawing/2014/main" id="{6C4DFCBA-CBD1-C6CC-F8D4-A5A9EA5A6A51}"/>
              </a:ext>
            </a:extLst>
          </p:cNvPr>
          <p:cNvSpPr/>
          <p:nvPr/>
        </p:nvSpPr>
        <p:spPr>
          <a:xfrm>
            <a:off x="3022600" y="38227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Change Tracking DCR</a:t>
            </a:r>
          </a:p>
        </p:txBody>
      </p:sp>
      <p:sp>
        <p:nvSpPr>
          <p:cNvPr id="31" name="Rectangle: Rounded Corners 30">
            <a:extLst>
              <a:ext uri="{FF2B5EF4-FFF2-40B4-BE49-F238E27FC236}">
                <a16:creationId xmlns:a16="http://schemas.microsoft.com/office/drawing/2014/main" id="{A65C97B9-9A75-750F-2E11-809D2ACC7A28}"/>
              </a:ext>
            </a:extLst>
          </p:cNvPr>
          <p:cNvSpPr/>
          <p:nvPr/>
        </p:nvSpPr>
        <p:spPr>
          <a:xfrm>
            <a:off x="5875867" y="38227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ConfigurationChange, ConfigurationData</a:t>
            </a:r>
          </a:p>
        </p:txBody>
      </p:sp>
      <p:sp>
        <p:nvSpPr>
          <p:cNvPr id="32" name="Rectangle: Rounded Corners 31">
            <a:extLst>
              <a:ext uri="{FF2B5EF4-FFF2-40B4-BE49-F238E27FC236}">
                <a16:creationId xmlns:a16="http://schemas.microsoft.com/office/drawing/2014/main" id="{0734DDDB-30F9-6CAF-954B-C72A4794AF85}"/>
              </a:ext>
            </a:extLst>
          </p:cNvPr>
          <p:cNvSpPr/>
          <p:nvPr/>
        </p:nvSpPr>
        <p:spPr>
          <a:xfrm>
            <a:off x="8729133" y="38227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what changed before it broke</a:t>
            </a:r>
          </a:p>
        </p:txBody>
      </p:sp>
      <p:sp>
        <p:nvSpPr>
          <p:cNvPr id="33" name="Rectangle: Rounded Corners 32">
            <a:extLst>
              <a:ext uri="{FF2B5EF4-FFF2-40B4-BE49-F238E27FC236}">
                <a16:creationId xmlns:a16="http://schemas.microsoft.com/office/drawing/2014/main" id="{D4D38157-500C-F26E-99B5-AA7AE5D6F2F4}"/>
              </a:ext>
            </a:extLst>
          </p:cNvPr>
          <p:cNvSpPr/>
          <p:nvPr/>
        </p:nvSpPr>
        <p:spPr>
          <a:xfrm>
            <a:off x="609600" y="43180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Application records</a:t>
            </a:r>
          </a:p>
        </p:txBody>
      </p:sp>
      <p:sp>
        <p:nvSpPr>
          <p:cNvPr id="34" name="Rectangle: Rounded Corners 33">
            <a:extLst>
              <a:ext uri="{FF2B5EF4-FFF2-40B4-BE49-F238E27FC236}">
                <a16:creationId xmlns:a16="http://schemas.microsoft.com/office/drawing/2014/main" id="{25029656-2EB7-514D-44E4-B9A0DC762702}"/>
              </a:ext>
            </a:extLst>
          </p:cNvPr>
          <p:cNvSpPr/>
          <p:nvPr/>
        </p:nvSpPr>
        <p:spPr>
          <a:xfrm>
            <a:off x="3022600" y="43180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logs ingestion API or OpenTelemetry</a:t>
            </a:r>
          </a:p>
        </p:txBody>
      </p:sp>
      <p:sp>
        <p:nvSpPr>
          <p:cNvPr id="35" name="Rectangle: Rounded Corners 34">
            <a:extLst>
              <a:ext uri="{FF2B5EF4-FFF2-40B4-BE49-F238E27FC236}">
                <a16:creationId xmlns:a16="http://schemas.microsoft.com/office/drawing/2014/main" id="{E8EF9E80-41E5-9E29-C123-E3D2F2731396}"/>
              </a:ext>
            </a:extLst>
          </p:cNvPr>
          <p:cNvSpPr/>
          <p:nvPr/>
        </p:nvSpPr>
        <p:spPr>
          <a:xfrm>
            <a:off x="5875867" y="43180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custom table or AppTraces</a:t>
            </a:r>
          </a:p>
        </p:txBody>
      </p:sp>
      <p:sp>
        <p:nvSpPr>
          <p:cNvPr id="36" name="Rectangle: Rounded Corners 35">
            <a:extLst>
              <a:ext uri="{FF2B5EF4-FFF2-40B4-BE49-F238E27FC236}">
                <a16:creationId xmlns:a16="http://schemas.microsoft.com/office/drawing/2014/main" id="{452B4FAC-BE59-32BA-85AD-D1B48F825B57}"/>
              </a:ext>
            </a:extLst>
          </p:cNvPr>
          <p:cNvSpPr/>
          <p:nvPr/>
        </p:nvSpPr>
        <p:spPr>
          <a:xfrm>
            <a:off x="8729133" y="43180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the service question, not the server question</a:t>
            </a:r>
          </a:p>
        </p:txBody>
      </p:sp>
    </p:spTree>
    <p:extLst>
      <p:ext uri="{BB962C8B-B14F-4D97-AF65-F5344CB8AC3E}">
        <p14:creationId xmlns:p14="http://schemas.microsoft.com/office/powerpoint/2010/main" val="1595650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BBD07CEE-26DD-88B9-8D6F-7268B5D5CEA2}"/>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99BCDDE8-7D77-217A-3048-B4E6B6D5D352}"/>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62C870F-3227-916C-7C19-D48E6BED1AD3}"/>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923420D-5778-AEDE-A0BF-2B02EE74C00C}"/>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500" b="1">
                <a:solidFill>
                  <a:srgbClr val="F4F4F5"/>
                </a:solidFill>
                <a:latin typeface="Calibri" panose="020F0502020204030204" pitchFamily="34" charset="0"/>
              </a:rPr>
              <a:t>Kubernetes: Container insights and Managed Prometheus</a:t>
            </a:r>
          </a:p>
        </p:txBody>
      </p:sp>
      <p:sp>
        <p:nvSpPr>
          <p:cNvPr id="6" name="ChapterTag">
            <a:extLst>
              <a:ext uri="{FF2B5EF4-FFF2-40B4-BE49-F238E27FC236}">
                <a16:creationId xmlns:a16="http://schemas.microsoft.com/office/drawing/2014/main" id="{B6357907-0090-F012-133D-ED045A69BEAD}"/>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FAAE20BF-11B7-E8A4-5208-238F3B95F07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3DB48D41-8143-6E22-DDF1-05D9C09C2FFB}"/>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39</a:t>
            </a:r>
          </a:p>
        </p:txBody>
      </p:sp>
      <p:sp>
        <p:nvSpPr>
          <p:cNvPr id="9" name="Rectangle: Rounded Corners 8">
            <a:extLst>
              <a:ext uri="{FF2B5EF4-FFF2-40B4-BE49-F238E27FC236}">
                <a16:creationId xmlns:a16="http://schemas.microsoft.com/office/drawing/2014/main" id="{C922EC80-4687-D390-8BAA-11C38AB50F2C}"/>
              </a:ext>
            </a:extLst>
          </p:cNvPr>
          <p:cNvSpPr/>
          <p:nvPr/>
        </p:nvSpPr>
        <p:spPr>
          <a:xfrm>
            <a:off x="609600" y="1600200"/>
            <a:ext cx="7112000" cy="4191000"/>
          </a:xfrm>
          <a:prstGeom prst="roundRect">
            <a:avLst>
              <a:gd name="adj" fmla="val 4000"/>
            </a:avLst>
          </a:prstGeom>
          <a:noFill/>
          <a:ln w="15875" cap="flat" cmpd="sng" algn="ctr">
            <a:solidFill>
              <a:srgbClr val="C4A0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F8C7AC8-B708-14B7-9EBC-08BE81327A74}"/>
              </a:ext>
            </a:extLst>
          </p:cNvPr>
          <p:cNvSpPr txBox="1"/>
          <p:nvPr/>
        </p:nvSpPr>
        <p:spPr>
          <a:xfrm>
            <a:off x="736600" y="1651000"/>
            <a:ext cx="6858000" cy="228600"/>
          </a:xfrm>
          <a:prstGeom prst="rect">
            <a:avLst/>
          </a:prstGeom>
          <a:noFill/>
        </p:spPr>
        <p:txBody>
          <a:bodyPr vert="horz" wrap="square" lIns="25400" tIns="12700" rIns="25400" bIns="12700" rtlCol="0" anchor="t">
            <a:noAutofit/>
          </a:bodyPr>
          <a:lstStyle/>
          <a:p>
            <a:r>
              <a:rPr lang="en-US" sz="1100" b="1">
                <a:solidFill>
                  <a:srgbClr val="C4A0FA"/>
                </a:solidFill>
                <a:latin typeface="Calibri" panose="020F0502020204030204" pitchFamily="34" charset="0"/>
              </a:rPr>
              <a:t>ARC-ENABLED CLUSTER · EKS, GKE, on-premises (same on AKS)</a:t>
            </a:r>
          </a:p>
        </p:txBody>
      </p:sp>
      <p:sp>
        <p:nvSpPr>
          <p:cNvPr id="11" name="Rectangle: Rounded Corners 10">
            <a:extLst>
              <a:ext uri="{FF2B5EF4-FFF2-40B4-BE49-F238E27FC236}">
                <a16:creationId xmlns:a16="http://schemas.microsoft.com/office/drawing/2014/main" id="{315986EF-22B9-C6E1-091F-04EE7337F5BE}"/>
              </a:ext>
            </a:extLst>
          </p:cNvPr>
          <p:cNvSpPr/>
          <p:nvPr/>
        </p:nvSpPr>
        <p:spPr>
          <a:xfrm>
            <a:off x="889000" y="2032000"/>
            <a:ext cx="3048000" cy="762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azure-arc namespace</a:t>
            </a:r>
          </a:p>
          <a:p>
            <a:pPr algn="ctr"/>
            <a:r>
              <a:rPr lang="en-US" sz="1150">
                <a:solidFill>
                  <a:srgbClr val="F4F4F5"/>
                </a:solidFill>
                <a:latin typeface="Calibri" panose="020F0502020204030204" pitchFamily="34" charset="0"/>
              </a:rPr>
              <a:t>Arc agents: identity, config, extensions</a:t>
            </a:r>
          </a:p>
        </p:txBody>
      </p:sp>
      <p:sp>
        <p:nvSpPr>
          <p:cNvPr id="12" name="Rectangle: Rounded Corners 11">
            <a:extLst>
              <a:ext uri="{FF2B5EF4-FFF2-40B4-BE49-F238E27FC236}">
                <a16:creationId xmlns:a16="http://schemas.microsoft.com/office/drawing/2014/main" id="{9196D42B-1BE9-6542-95E7-F963194E200D}"/>
              </a:ext>
            </a:extLst>
          </p:cNvPr>
          <p:cNvSpPr/>
          <p:nvPr/>
        </p:nvSpPr>
        <p:spPr>
          <a:xfrm>
            <a:off x="889000" y="2997200"/>
            <a:ext cx="3048000" cy="1016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Extension: azuremonitor-containers</a:t>
            </a:r>
          </a:p>
          <a:p>
            <a:pPr algn="ctr"/>
            <a:r>
              <a:rPr lang="en-US" sz="1100">
                <a:solidFill>
                  <a:srgbClr val="F4F4F5"/>
                </a:solidFill>
                <a:latin typeface="Calibri" panose="020F0502020204030204" pitchFamily="34" charset="0"/>
              </a:rPr>
              <a:t>containerised Azure Monitor Agent: stdout, stderr, events, inventory</a:t>
            </a:r>
          </a:p>
        </p:txBody>
      </p:sp>
      <p:sp>
        <p:nvSpPr>
          <p:cNvPr id="13" name="Rectangle: Rounded Corners 12">
            <a:extLst>
              <a:ext uri="{FF2B5EF4-FFF2-40B4-BE49-F238E27FC236}">
                <a16:creationId xmlns:a16="http://schemas.microsoft.com/office/drawing/2014/main" id="{5F2FCD30-44FA-734E-7384-F61C23DDD77A}"/>
              </a:ext>
            </a:extLst>
          </p:cNvPr>
          <p:cNvSpPr/>
          <p:nvPr/>
        </p:nvSpPr>
        <p:spPr>
          <a:xfrm>
            <a:off x="889000" y="4216400"/>
            <a:ext cx="3048000" cy="1016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Extension: azuremonitor-metrics</a:t>
            </a:r>
          </a:p>
          <a:p>
            <a:pPr algn="ctr"/>
            <a:r>
              <a:rPr lang="en-US" sz="1100">
                <a:solidFill>
                  <a:srgbClr val="F4F4F5"/>
                </a:solidFill>
                <a:latin typeface="Calibri" panose="020F0502020204030204" pitchFamily="34" charset="0"/>
              </a:rPr>
              <a:t>Managed Prometheus scraping: node, pod, kube-state, custom targets</a:t>
            </a:r>
          </a:p>
        </p:txBody>
      </p:sp>
      <p:sp>
        <p:nvSpPr>
          <p:cNvPr id="14" name="Rectangle: Rounded Corners 13">
            <a:extLst>
              <a:ext uri="{FF2B5EF4-FFF2-40B4-BE49-F238E27FC236}">
                <a16:creationId xmlns:a16="http://schemas.microsoft.com/office/drawing/2014/main" id="{FBE267B7-85CD-E115-DEDF-B96A0AC72FCE}"/>
              </a:ext>
            </a:extLst>
          </p:cNvPr>
          <p:cNvSpPr/>
          <p:nvPr/>
        </p:nvSpPr>
        <p:spPr>
          <a:xfrm>
            <a:off x="4394200" y="2032000"/>
            <a:ext cx="3048000" cy="762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Workloads</a:t>
            </a:r>
          </a:p>
          <a:p>
            <a:pPr algn="ctr"/>
            <a:r>
              <a:rPr lang="en-US" sz="1150">
                <a:solidFill>
                  <a:srgbClr val="F4F4F5"/>
                </a:solidFill>
                <a:latin typeface="Calibri" panose="020F0502020204030204" pitchFamily="34" charset="0"/>
              </a:rPr>
              <a:t>apps instrumented with OpenTelemetry</a:t>
            </a:r>
          </a:p>
        </p:txBody>
      </p:sp>
      <p:sp>
        <p:nvSpPr>
          <p:cNvPr id="15" name="Rectangle: Rounded Corners 14">
            <a:extLst>
              <a:ext uri="{FF2B5EF4-FFF2-40B4-BE49-F238E27FC236}">
                <a16:creationId xmlns:a16="http://schemas.microsoft.com/office/drawing/2014/main" id="{FBD6AEDF-978B-F5B0-AA6D-4D1C79865E89}"/>
              </a:ext>
            </a:extLst>
          </p:cNvPr>
          <p:cNvSpPr/>
          <p:nvPr/>
        </p:nvSpPr>
        <p:spPr>
          <a:xfrm>
            <a:off x="4394200" y="2997200"/>
            <a:ext cx="3048000" cy="11430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050">
                <a:solidFill>
                  <a:srgbClr val="B0B0BA"/>
                </a:solidFill>
                <a:latin typeface="Calibri" panose="020F0502020204030204" pitchFamily="34" charset="0"/>
              </a:rPr>
              <a:t>Control plane logs: only where the platform exposes them (AKS diagnostic settings); EKS and GKE keep them in CloudWatch and Cloud Logging</a:t>
            </a:r>
          </a:p>
        </p:txBody>
      </p:sp>
      <p:sp>
        <p:nvSpPr>
          <p:cNvPr id="16" name="Rectangle: Rounded Corners 15">
            <a:extLst>
              <a:ext uri="{FF2B5EF4-FFF2-40B4-BE49-F238E27FC236}">
                <a16:creationId xmlns:a16="http://schemas.microsoft.com/office/drawing/2014/main" id="{B03B8D49-9821-B6E0-797B-FF343F1DEFC4}"/>
              </a:ext>
            </a:extLst>
          </p:cNvPr>
          <p:cNvSpPr/>
          <p:nvPr/>
        </p:nvSpPr>
        <p:spPr>
          <a:xfrm>
            <a:off x="4394200" y="4343400"/>
            <a:ext cx="3048000" cy="8890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050">
                <a:solidFill>
                  <a:srgbClr val="B0B0BA"/>
                </a:solidFill>
                <a:latin typeface="Calibri" panose="020F0502020204030204" pitchFamily="34" charset="0"/>
              </a:rPr>
              <a:t>Clusters you cannot Arc-enable: Prometheus remote write to the Azure Monitor workspace</a:t>
            </a:r>
          </a:p>
        </p:txBody>
      </p:sp>
      <p:sp>
        <p:nvSpPr>
          <p:cNvPr id="17" name="Rectangle: Rounded Corners 16">
            <a:extLst>
              <a:ext uri="{FF2B5EF4-FFF2-40B4-BE49-F238E27FC236}">
                <a16:creationId xmlns:a16="http://schemas.microsoft.com/office/drawing/2014/main" id="{1C45D1F1-2E2A-A76C-3EFC-CF77A9FC2030}"/>
              </a:ext>
            </a:extLst>
          </p:cNvPr>
          <p:cNvSpPr/>
          <p:nvPr/>
        </p:nvSpPr>
        <p:spPr>
          <a:xfrm>
            <a:off x="8382000" y="2286000"/>
            <a:ext cx="3048000" cy="6858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300" b="1">
                <a:solidFill>
                  <a:srgbClr val="F4F4F5"/>
                </a:solidFill>
                <a:latin typeface="Calibri" panose="020F0502020204030204" pitchFamily="34" charset="0"/>
              </a:rPr>
              <a:t>Log Analytics workspace</a:t>
            </a:r>
          </a:p>
        </p:txBody>
      </p:sp>
      <p:sp>
        <p:nvSpPr>
          <p:cNvPr id="18" name="Rectangle: Rounded Corners 17">
            <a:extLst>
              <a:ext uri="{FF2B5EF4-FFF2-40B4-BE49-F238E27FC236}">
                <a16:creationId xmlns:a16="http://schemas.microsoft.com/office/drawing/2014/main" id="{D80F22B8-942D-BA91-F316-508981589271}"/>
              </a:ext>
            </a:extLst>
          </p:cNvPr>
          <p:cNvSpPr/>
          <p:nvPr/>
        </p:nvSpPr>
        <p:spPr>
          <a:xfrm>
            <a:off x="8382000" y="3327400"/>
            <a:ext cx="3048000" cy="685800"/>
          </a:xfrm>
          <a:prstGeom prst="roundRect">
            <a:avLst>
              <a:gd name="adj" fmla="val 8000"/>
            </a:avLst>
          </a:prstGeom>
          <a:solidFill>
            <a:srgbClr val="27272C"/>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4F4F5"/>
                </a:solidFill>
                <a:latin typeface="Calibri" panose="020F0502020204030204" pitchFamily="34" charset="0"/>
              </a:rPr>
              <a:t>Azure Monitor workspace (Prometheus)</a:t>
            </a:r>
          </a:p>
        </p:txBody>
      </p:sp>
      <p:sp>
        <p:nvSpPr>
          <p:cNvPr id="19" name="Rectangle: Rounded Corners 18">
            <a:extLst>
              <a:ext uri="{FF2B5EF4-FFF2-40B4-BE49-F238E27FC236}">
                <a16:creationId xmlns:a16="http://schemas.microsoft.com/office/drawing/2014/main" id="{AF5DAA42-F8D0-B2C6-3ED2-45D01D99518F}"/>
              </a:ext>
            </a:extLst>
          </p:cNvPr>
          <p:cNvSpPr/>
          <p:nvPr/>
        </p:nvSpPr>
        <p:spPr>
          <a:xfrm>
            <a:off x="8382000" y="4368800"/>
            <a:ext cx="3048000" cy="762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Managed Grafana · Container insights views · PromQL alerts</a:t>
            </a:r>
          </a:p>
        </p:txBody>
      </p:sp>
      <p:cxnSp>
        <p:nvCxnSpPr>
          <p:cNvPr id="20" name="Straight Connector 19">
            <a:extLst>
              <a:ext uri="{FF2B5EF4-FFF2-40B4-BE49-F238E27FC236}">
                <a16:creationId xmlns:a16="http://schemas.microsoft.com/office/drawing/2014/main" id="{B19ED666-EF35-225A-D556-669431AD3B49}"/>
              </a:ext>
            </a:extLst>
          </p:cNvPr>
          <p:cNvCxnSpPr/>
          <p:nvPr/>
        </p:nvCxnSpPr>
        <p:spPr>
          <a:xfrm flipV="1">
            <a:off x="3937000" y="2628900"/>
            <a:ext cx="4445000" cy="87630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E0254B9-4CDB-02A1-34A0-8AE8BA87A3F1}"/>
              </a:ext>
            </a:extLst>
          </p:cNvPr>
          <p:cNvCxnSpPr/>
          <p:nvPr/>
        </p:nvCxnSpPr>
        <p:spPr>
          <a:xfrm flipV="1">
            <a:off x="3937000" y="3670300"/>
            <a:ext cx="4445000" cy="1054100"/>
          </a:xfrm>
          <a:prstGeom prst="line">
            <a:avLst/>
          </a:prstGeom>
          <a:ln w="22225">
            <a:solidFill>
              <a:srgbClr val="C4A0FA"/>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822709F1-4DA0-31F1-3270-3AA78CC08BF1}"/>
              </a:ext>
            </a:extLst>
          </p:cNvPr>
          <p:cNvCxnSpPr/>
          <p:nvPr/>
        </p:nvCxnSpPr>
        <p:spPr>
          <a:xfrm>
            <a:off x="9906000" y="4013200"/>
            <a:ext cx="0" cy="3556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1552723-F99C-C9ED-E19F-91863863317B}"/>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5D88FBD-E712-2607-7CED-1D55B577E43E}"/>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Two extensions, two stores, the same on every cluster you can project; remote write for the rest.</a:t>
            </a:r>
          </a:p>
        </p:txBody>
      </p:sp>
    </p:spTree>
    <p:extLst>
      <p:ext uri="{BB962C8B-B14F-4D97-AF65-F5344CB8AC3E}">
        <p14:creationId xmlns:p14="http://schemas.microsoft.com/office/powerpoint/2010/main" val="3384875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E52B8BBA-720F-CD56-3347-FE886D9D50FB}"/>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24EC87AF-1666-9D2A-8C14-02FED6E645FE}"/>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0E46A3-F684-01E1-0BBE-5B5BD6BAB99E}"/>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976EAD-E252-6C5B-C7C5-DEB283227E2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Enabling cluster monitoring</a:t>
            </a:r>
          </a:p>
        </p:txBody>
      </p:sp>
      <p:sp>
        <p:nvSpPr>
          <p:cNvPr id="6" name="ChapterTag">
            <a:extLst>
              <a:ext uri="{FF2B5EF4-FFF2-40B4-BE49-F238E27FC236}">
                <a16:creationId xmlns:a16="http://schemas.microsoft.com/office/drawing/2014/main" id="{A4285EFB-E3CE-2DFD-2C51-9C2A9A1241E5}"/>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6EBAE92F-DB75-4699-BA1E-8FA4681A9563}"/>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26A11AE5-D0BB-322C-C822-693171402AF6}"/>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40</a:t>
            </a:r>
          </a:p>
        </p:txBody>
      </p:sp>
      <p:sp>
        <p:nvSpPr>
          <p:cNvPr id="9" name="Rectangle 8">
            <a:extLst>
              <a:ext uri="{FF2B5EF4-FFF2-40B4-BE49-F238E27FC236}">
                <a16:creationId xmlns:a16="http://schemas.microsoft.com/office/drawing/2014/main" id="{A211C5F5-FEBA-D41A-04F7-593CB2F19978}"/>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Container insights (logs, events, inventory) to a Log Analytics workspace</a:t>
            </a:r>
          </a:p>
          <a:p>
            <a:r>
              <a:rPr lang="en-US" sz="1150">
                <a:solidFill>
                  <a:srgbClr val="F4F4F5"/>
                </a:solidFill>
                <a:latin typeface="Consolas" panose="020B0609020204030204" pitchFamily="49" charset="0"/>
              </a:rPr>
              <a:t>az k8s-extension create --name azuremonitor-containers --extension-type Microsoft.AzureMonitor.Containers --cluster-name gke-prod-01 --resource-group rg-arc-k8s --cluster-type connectedClusters --configuration-settings logAnalyticsWorkspaceResourceID=&lt;workspace-id&gt;</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Managed Prometheus (metrics) to an Azure Monitor workspace</a:t>
            </a:r>
          </a:p>
          <a:p>
            <a:r>
              <a:rPr lang="en-US" sz="1150">
                <a:solidFill>
                  <a:srgbClr val="F4F4F5"/>
                </a:solidFill>
                <a:latin typeface="Consolas" panose="020B0609020204030204" pitchFamily="49" charset="0"/>
              </a:rPr>
              <a:t>az k8s-extension create --name azuremonitor-metrics --extension-type Microsoft.AzureMonitor.Containers.Metrics --cluster-name gke-prod-01 --resource-group rg-arc-k8s --cluster-type connectedClusters --configuration-settings azure-monitor-workspace-resource-id=&lt;amw-id&gt;</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Grafana reads the Azure Monitor workspace</a:t>
            </a:r>
          </a:p>
          <a:p>
            <a:r>
              <a:rPr lang="en-US" sz="1150">
                <a:solidFill>
                  <a:srgbClr val="F4F4F5"/>
                </a:solidFill>
                <a:latin typeface="Consolas" panose="020B0609020204030204" pitchFamily="49" charset="0"/>
              </a:rPr>
              <a:t>az grafana create --name grf-platform --resource-group rg-monitoring --location eastus2</a:t>
            </a:r>
          </a:p>
        </p:txBody>
      </p:sp>
    </p:spTree>
    <p:extLst>
      <p:ext uri="{BB962C8B-B14F-4D97-AF65-F5344CB8AC3E}">
        <p14:creationId xmlns:p14="http://schemas.microsoft.com/office/powerpoint/2010/main" val="2150543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EBADECF-72E0-3D34-4DF4-A1D44CFE5CF5}"/>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F8ECBF6-6420-8F2F-58DA-78EB2B5AEBBD}"/>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C23D060-2136-AC79-A93A-8141404D66EF}"/>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70FF13-CE32-A04E-E539-E5B1C01476C3}"/>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Applications: OpenTelemetry</a:t>
            </a:r>
          </a:p>
        </p:txBody>
      </p:sp>
      <p:sp>
        <p:nvSpPr>
          <p:cNvPr id="6" name="ChapterTag">
            <a:extLst>
              <a:ext uri="{FF2B5EF4-FFF2-40B4-BE49-F238E27FC236}">
                <a16:creationId xmlns:a16="http://schemas.microsoft.com/office/drawing/2014/main" id="{DF976C17-C2B8-B383-11A2-1E5B6E9C01D2}"/>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9C99D935-469B-3604-54A9-A891C47DFE5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9DE34F62-7094-03E0-514D-D7A70716FCE8}"/>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41</a:t>
            </a:r>
          </a:p>
        </p:txBody>
      </p:sp>
      <p:sp>
        <p:nvSpPr>
          <p:cNvPr id="9" name="Rectangle: Rounded Corners 8">
            <a:extLst>
              <a:ext uri="{FF2B5EF4-FFF2-40B4-BE49-F238E27FC236}">
                <a16:creationId xmlns:a16="http://schemas.microsoft.com/office/drawing/2014/main" id="{2FD90174-7CFE-6D21-F0B4-7ADFF9AFE454}"/>
              </a:ext>
            </a:extLst>
          </p:cNvPr>
          <p:cNvSpPr/>
          <p:nvPr/>
        </p:nvSpPr>
        <p:spPr>
          <a:xfrm>
            <a:off x="609600" y="1600200"/>
            <a:ext cx="3454400" cy="508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AZURE MONITOR OPENTELEMETRY DISTRO</a:t>
            </a:r>
          </a:p>
        </p:txBody>
      </p:sp>
      <p:sp>
        <p:nvSpPr>
          <p:cNvPr id="10" name="Rectangle: Rounded Corners 9">
            <a:extLst>
              <a:ext uri="{FF2B5EF4-FFF2-40B4-BE49-F238E27FC236}">
                <a16:creationId xmlns:a16="http://schemas.microsoft.com/office/drawing/2014/main" id="{6B61E6AB-5CBF-DBFA-21F1-614CB4CAD001}"/>
              </a:ext>
            </a:extLst>
          </p:cNvPr>
          <p:cNvSpPr/>
          <p:nvPr/>
        </p:nvSpPr>
        <p:spPr>
          <a:xfrm>
            <a:off x="609600" y="2184400"/>
            <a:ext cx="3454400" cy="1397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150">
                <a:solidFill>
                  <a:srgbClr val="F4F4F5"/>
                </a:solidFill>
                <a:latin typeface="Calibri" panose="020F0502020204030204" pitchFamily="34" charset="0"/>
              </a:rPr>
              <a:t>in-process: .NET, Java, Node.js, Python; sampling, Entra auth, live metrics, offline retry; the supported default</a:t>
            </a:r>
          </a:p>
        </p:txBody>
      </p:sp>
      <p:cxnSp>
        <p:nvCxnSpPr>
          <p:cNvPr id="11" name="Straight Connector 10">
            <a:extLst>
              <a:ext uri="{FF2B5EF4-FFF2-40B4-BE49-F238E27FC236}">
                <a16:creationId xmlns:a16="http://schemas.microsoft.com/office/drawing/2014/main" id="{2CCF9FD4-81DE-1010-E537-59EB9B127A50}"/>
              </a:ext>
            </a:extLst>
          </p:cNvPr>
          <p:cNvCxnSpPr/>
          <p:nvPr/>
        </p:nvCxnSpPr>
        <p:spPr>
          <a:xfrm>
            <a:off x="2336800" y="3581400"/>
            <a:ext cx="0" cy="48260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2EEFDBD4-A090-84FF-93D0-C774935D4E76}"/>
              </a:ext>
            </a:extLst>
          </p:cNvPr>
          <p:cNvSpPr/>
          <p:nvPr/>
        </p:nvSpPr>
        <p:spPr>
          <a:xfrm>
            <a:off x="4318000" y="1600200"/>
            <a:ext cx="3454400" cy="508000"/>
          </a:xfrm>
          <a:prstGeom prst="roundRect">
            <a:avLst>
              <a:gd name="adj" fmla="val 8000"/>
            </a:avLst>
          </a:prstGeom>
          <a:solidFill>
            <a:srgbClr val="27272C"/>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C4A0FA"/>
                </a:solidFill>
                <a:latin typeface="Calibri" panose="020F0502020204030204" pitchFamily="34" charset="0"/>
              </a:rPr>
              <a:t>OTLP VIA OPENTELEMETRY COLLECTOR</a:t>
            </a:r>
          </a:p>
        </p:txBody>
      </p:sp>
      <p:sp>
        <p:nvSpPr>
          <p:cNvPr id="13" name="Rectangle: Rounded Corners 12">
            <a:extLst>
              <a:ext uri="{FF2B5EF4-FFF2-40B4-BE49-F238E27FC236}">
                <a16:creationId xmlns:a16="http://schemas.microsoft.com/office/drawing/2014/main" id="{1BAC1C2B-6368-F5D0-1639-DD98500838F0}"/>
              </a:ext>
            </a:extLst>
          </p:cNvPr>
          <p:cNvSpPr/>
          <p:nvPr/>
        </p:nvSpPr>
        <p:spPr>
          <a:xfrm>
            <a:off x="4318000" y="2184400"/>
            <a:ext cx="3454400" cy="1397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150">
                <a:solidFill>
                  <a:srgbClr val="F4F4F5"/>
                </a:solidFill>
                <a:latin typeface="Calibri" panose="020F0502020204030204" pitchFamily="34" charset="0"/>
              </a:rPr>
              <a:t>any OpenTelemetry SDK → Collector 0.132+ with the Azure auth extension → regional ingestion endpoint; OTLP HTTP protobuf</a:t>
            </a:r>
          </a:p>
        </p:txBody>
      </p:sp>
      <p:cxnSp>
        <p:nvCxnSpPr>
          <p:cNvPr id="14" name="Straight Connector 13">
            <a:extLst>
              <a:ext uri="{FF2B5EF4-FFF2-40B4-BE49-F238E27FC236}">
                <a16:creationId xmlns:a16="http://schemas.microsoft.com/office/drawing/2014/main" id="{FD9F13D3-7CE1-6FDE-4FFA-81FC954CCCB2}"/>
              </a:ext>
            </a:extLst>
          </p:cNvPr>
          <p:cNvCxnSpPr/>
          <p:nvPr/>
        </p:nvCxnSpPr>
        <p:spPr>
          <a:xfrm>
            <a:off x="6045200" y="3581400"/>
            <a:ext cx="0" cy="482600"/>
          </a:xfrm>
          <a:prstGeom prst="line">
            <a:avLst/>
          </a:prstGeom>
          <a:ln w="22225">
            <a:solidFill>
              <a:srgbClr val="C4A0FA"/>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FD2C8C3D-F10D-6B20-8567-B8FE3B3F6B2C}"/>
              </a:ext>
            </a:extLst>
          </p:cNvPr>
          <p:cNvSpPr/>
          <p:nvPr/>
        </p:nvSpPr>
        <p:spPr>
          <a:xfrm>
            <a:off x="8026400" y="1600200"/>
            <a:ext cx="3454400" cy="508000"/>
          </a:xfrm>
          <a:prstGeom prst="roundRect">
            <a:avLst>
              <a:gd name="adj" fmla="val 8000"/>
            </a:avLst>
          </a:prstGeom>
          <a:solidFill>
            <a:srgbClr val="27272C"/>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A3E635"/>
                </a:solidFill>
                <a:latin typeface="Calibri" panose="020F0502020204030204" pitchFamily="34" charset="0"/>
              </a:rPr>
              <a:t>OTLP VIA AZURE MONITOR AGENT</a:t>
            </a:r>
          </a:p>
        </p:txBody>
      </p:sp>
      <p:sp>
        <p:nvSpPr>
          <p:cNvPr id="16" name="Rectangle: Rounded Corners 15">
            <a:extLst>
              <a:ext uri="{FF2B5EF4-FFF2-40B4-BE49-F238E27FC236}">
                <a16:creationId xmlns:a16="http://schemas.microsoft.com/office/drawing/2014/main" id="{48634848-489B-5A72-928E-F2ED235100B1}"/>
              </a:ext>
            </a:extLst>
          </p:cNvPr>
          <p:cNvSpPr/>
          <p:nvPr/>
        </p:nvSpPr>
        <p:spPr>
          <a:xfrm>
            <a:off x="8026400" y="2184400"/>
            <a:ext cx="3454400" cy="1397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r>
              <a:rPr lang="en-US" sz="1150">
                <a:solidFill>
                  <a:srgbClr val="F4F4F5"/>
                </a:solidFill>
                <a:latin typeface="Calibri" panose="020F0502020204030204" pitchFamily="34" charset="0"/>
              </a:rPr>
              <a:t>apps on Arc servers send OTLP to localhost: 4317 (metrics), 4319 (logs and traces), gRPC; the agent forwards with the machine identity</a:t>
            </a:r>
          </a:p>
        </p:txBody>
      </p:sp>
      <p:cxnSp>
        <p:nvCxnSpPr>
          <p:cNvPr id="17" name="Straight Connector 16">
            <a:extLst>
              <a:ext uri="{FF2B5EF4-FFF2-40B4-BE49-F238E27FC236}">
                <a16:creationId xmlns:a16="http://schemas.microsoft.com/office/drawing/2014/main" id="{06338BFC-C592-8C56-4195-945D2241A75F}"/>
              </a:ext>
            </a:extLst>
          </p:cNvPr>
          <p:cNvCxnSpPr/>
          <p:nvPr/>
        </p:nvCxnSpPr>
        <p:spPr>
          <a:xfrm>
            <a:off x="9753600" y="3581400"/>
            <a:ext cx="0" cy="48260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B8EBA9A2-7AA1-6258-1BF9-7C2B7B55257C}"/>
              </a:ext>
            </a:extLst>
          </p:cNvPr>
          <p:cNvSpPr/>
          <p:nvPr/>
        </p:nvSpPr>
        <p:spPr>
          <a:xfrm>
            <a:off x="609600" y="4064000"/>
            <a:ext cx="10972800" cy="7112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50" b="1">
                <a:solidFill>
                  <a:srgbClr val="F4F4F5"/>
                </a:solidFill>
                <a:latin typeface="Calibri" panose="020F0502020204030204" pitchFamily="34" charset="0"/>
              </a:rPr>
              <a:t>Application Insights on the Log Analytics workspace: requests, dependencies, exceptions, traces, custom metrics, with OpenTelemetry semantic conventions</a:t>
            </a:r>
          </a:p>
        </p:txBody>
      </p:sp>
      <p:sp>
        <p:nvSpPr>
          <p:cNvPr id="19" name="TextBox 18">
            <a:extLst>
              <a:ext uri="{FF2B5EF4-FFF2-40B4-BE49-F238E27FC236}">
                <a16:creationId xmlns:a16="http://schemas.microsoft.com/office/drawing/2014/main" id="{3F73F43E-F5BC-048D-98A3-9DE1C352E3E5}"/>
              </a:ext>
            </a:extLst>
          </p:cNvPr>
          <p:cNvSpPr txBox="1"/>
          <p:nvPr/>
        </p:nvSpPr>
        <p:spPr>
          <a:xfrm>
            <a:off x="609600" y="4978400"/>
            <a:ext cx="10972800" cy="508000"/>
          </a:xfrm>
          <a:prstGeom prst="rect">
            <a:avLst/>
          </a:prstGeom>
          <a:noFill/>
        </p:spPr>
        <p:txBody>
          <a:bodyPr vert="horz" wrap="square" lIns="25400" tIns="12700" rIns="25400" bIns="12700" rtlCol="0" anchor="t">
            <a:noAutofit/>
          </a:bodyPr>
          <a:lstStyle/>
          <a:p>
            <a:r>
              <a:rPr lang="en-US" sz="1250">
                <a:solidFill>
                  <a:srgbClr val="F4F4F5"/>
                </a:solidFill>
                <a:latin typeface="Calibri" panose="020F0502020204030204" pitchFamily="34" charset="0"/>
              </a:rPr>
              <a:t>Resource attributes carry the context: service.name, service.namespace, cloud.provider, cloud.region, deployment.environment. Set them in the SDK or stamp them in the Collector.</a:t>
            </a:r>
          </a:p>
        </p:txBody>
      </p:sp>
      <p:sp>
        <p:nvSpPr>
          <p:cNvPr id="20" name="Rectangle 19">
            <a:extLst>
              <a:ext uri="{FF2B5EF4-FFF2-40B4-BE49-F238E27FC236}">
                <a16:creationId xmlns:a16="http://schemas.microsoft.com/office/drawing/2014/main" id="{0A78D238-D2AA-3A47-B20E-357DAF22563C}"/>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782818B-69E3-B543-01A7-86AFAD5735D0}"/>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Standard in, correlated out: app traces land next to the heartbeat of the machine that produced them.</a:t>
            </a:r>
          </a:p>
        </p:txBody>
      </p:sp>
    </p:spTree>
    <p:extLst>
      <p:ext uri="{BB962C8B-B14F-4D97-AF65-F5344CB8AC3E}">
        <p14:creationId xmlns:p14="http://schemas.microsoft.com/office/powerpoint/2010/main" val="25638216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21F9649A-0E46-4515-F8EE-27A3B53BB0E8}"/>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74ADC6C-27C7-1240-8F67-5BAEDC17F19B}"/>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1FAC41B-B475-E2D6-2070-AA203FCA7889}"/>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605E94D-B6DC-2AC8-D851-8018698FFF02}"/>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500" b="1">
                <a:solidFill>
                  <a:srgbClr val="F4F4F5"/>
                </a:solidFill>
                <a:latin typeface="Calibri" panose="020F0502020204030204" pitchFamily="34" charset="0"/>
              </a:rPr>
              <a:t>An OpenTelemetry Collector for a non-Azure host</a:t>
            </a:r>
          </a:p>
        </p:txBody>
      </p:sp>
      <p:sp>
        <p:nvSpPr>
          <p:cNvPr id="6" name="ChapterTag">
            <a:extLst>
              <a:ext uri="{FF2B5EF4-FFF2-40B4-BE49-F238E27FC236}">
                <a16:creationId xmlns:a16="http://schemas.microsoft.com/office/drawing/2014/main" id="{580E07CB-8191-4BF4-79EE-DAC15C3B9451}"/>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91006EE4-CC1F-16FA-C121-2DC9D8913C50}"/>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FC0338E9-AF2D-79AD-6160-4075D7B0C000}"/>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42</a:t>
            </a:r>
          </a:p>
        </p:txBody>
      </p:sp>
      <p:sp>
        <p:nvSpPr>
          <p:cNvPr id="9" name="Rectangle 8">
            <a:extLst>
              <a:ext uri="{FF2B5EF4-FFF2-40B4-BE49-F238E27FC236}">
                <a16:creationId xmlns:a16="http://schemas.microsoft.com/office/drawing/2014/main" id="{9681382F-2276-CDE5-1725-E23F08447904}"/>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F4F4F5"/>
                </a:solidFill>
                <a:latin typeface="Consolas" panose="020B0609020204030204" pitchFamily="49" charset="0"/>
              </a:rPr>
              <a:t>receivers:</a:t>
            </a:r>
          </a:p>
          <a:p>
            <a:r>
              <a:rPr lang="en-US" sz="1150">
                <a:solidFill>
                  <a:srgbClr val="F4F4F5"/>
                </a:solidFill>
                <a:latin typeface="Consolas" panose="020B0609020204030204" pitchFamily="49" charset="0"/>
              </a:rPr>
              <a:t>  otlp:</a:t>
            </a:r>
          </a:p>
          <a:p>
            <a:r>
              <a:rPr lang="en-US" sz="1150">
                <a:solidFill>
                  <a:srgbClr val="F4F4F5"/>
                </a:solidFill>
                <a:latin typeface="Consolas" panose="020B0609020204030204" pitchFamily="49" charset="0"/>
              </a:rPr>
              <a:t>    protocols:</a:t>
            </a:r>
          </a:p>
          <a:p>
            <a:r>
              <a:rPr lang="en-US" sz="1150">
                <a:solidFill>
                  <a:srgbClr val="F4F4F5"/>
                </a:solidFill>
                <a:latin typeface="Consolas" panose="020B0609020204030204" pitchFamily="49" charset="0"/>
              </a:rPr>
              <a:t>      grpc: { endpoint: 0.0.0.0:4317 }</a:t>
            </a:r>
          </a:p>
          <a:p>
            <a:r>
              <a:rPr lang="en-US" sz="1150">
                <a:solidFill>
                  <a:srgbClr val="F4F4F5"/>
                </a:solidFill>
                <a:latin typeface="Consolas" panose="020B0609020204030204" pitchFamily="49" charset="0"/>
              </a:rPr>
              <a:t>      http: { endpoint: 0.0.0.0:4318 }</a:t>
            </a:r>
          </a:p>
          <a:p>
            <a:r>
              <a:rPr lang="en-US" sz="1150">
                <a:solidFill>
                  <a:srgbClr val="F4F4F5"/>
                </a:solidFill>
                <a:latin typeface="Consolas" panose="020B0609020204030204" pitchFamily="49" charset="0"/>
              </a:rPr>
              <a:t>processors:</a:t>
            </a:r>
          </a:p>
          <a:p>
            <a:r>
              <a:rPr lang="en-US" sz="1150">
                <a:solidFill>
                  <a:srgbClr val="F4F4F5"/>
                </a:solidFill>
                <a:latin typeface="Consolas" panose="020B0609020204030204" pitchFamily="49" charset="0"/>
              </a:rPr>
              <a:t>  batch: {}</a:t>
            </a:r>
          </a:p>
          <a:p>
            <a:r>
              <a:rPr lang="en-US" sz="1150">
                <a:solidFill>
                  <a:srgbClr val="F4F4F5"/>
                </a:solidFill>
                <a:latin typeface="Consolas" panose="020B0609020204030204" pitchFamily="49" charset="0"/>
              </a:rPr>
              <a:t>  resource:</a:t>
            </a:r>
          </a:p>
          <a:p>
            <a:r>
              <a:rPr lang="en-US" sz="1150">
                <a:solidFill>
                  <a:srgbClr val="F4F4F5"/>
                </a:solidFill>
                <a:latin typeface="Consolas" panose="020B0609020204030204" pitchFamily="49" charset="0"/>
              </a:rPr>
              <a:t>    attributes: [ { key: cloud.provider, value: aws, action: upsert }, { key: service.namespace, value: orders, action: upsert } ]</a:t>
            </a:r>
          </a:p>
          <a:p>
            <a:r>
              <a:rPr lang="en-US" sz="1150">
                <a:solidFill>
                  <a:srgbClr val="F4F4F5"/>
                </a:solidFill>
                <a:latin typeface="Consolas" panose="020B0609020204030204" pitchFamily="49" charset="0"/>
              </a:rPr>
              <a:t>extensions:</a:t>
            </a:r>
          </a:p>
          <a:p>
            <a:r>
              <a:rPr lang="en-US" sz="1150">
                <a:solidFill>
                  <a:srgbClr val="F4F4F5"/>
                </a:solidFill>
                <a:latin typeface="Consolas" panose="020B0609020204030204" pitchFamily="49" charset="0"/>
              </a:rPr>
              <a:t>  azureauth:</a:t>
            </a:r>
          </a:p>
          <a:p>
            <a:r>
              <a:rPr lang="en-US" sz="1150">
                <a:solidFill>
                  <a:srgbClr val="F4F4F5"/>
                </a:solidFill>
                <a:latin typeface="Consolas" panose="020B0609020204030204" pitchFamily="49" charset="0"/>
              </a:rPr>
              <a:t>    managed_identity: { client_id: &lt;arc-managed-identity-client-id&gt; }</a:t>
            </a:r>
          </a:p>
          <a:p>
            <a:r>
              <a:rPr lang="en-US" sz="1150">
                <a:solidFill>
                  <a:srgbClr val="F4F4F5"/>
                </a:solidFill>
                <a:latin typeface="Consolas" panose="020B0609020204030204" pitchFamily="49" charset="0"/>
              </a:rPr>
              <a:t>exporters:</a:t>
            </a:r>
          </a:p>
          <a:p>
            <a:r>
              <a:rPr lang="en-US" sz="1150">
                <a:solidFill>
                  <a:srgbClr val="F4F4F5"/>
                </a:solidFill>
                <a:latin typeface="Consolas" panose="020B0609020204030204" pitchFamily="49" charset="0"/>
              </a:rPr>
              <a:t>  otlphttp/azuremonitor:</a:t>
            </a:r>
          </a:p>
          <a:p>
            <a:r>
              <a:rPr lang="en-US" sz="1150">
                <a:solidFill>
                  <a:srgbClr val="F4F4F5"/>
                </a:solidFill>
                <a:latin typeface="Consolas" panose="020B0609020204030204" pitchFamily="49" charset="0"/>
              </a:rPr>
              <a:t>    endpoint: https://&lt;region&gt;.ingest.monitor.azure.com/otlp</a:t>
            </a:r>
          </a:p>
          <a:p>
            <a:r>
              <a:rPr lang="en-US" sz="1150">
                <a:solidFill>
                  <a:srgbClr val="F4F4F5"/>
                </a:solidFill>
                <a:latin typeface="Consolas" panose="020B0609020204030204" pitchFamily="49" charset="0"/>
              </a:rPr>
              <a:t>    auth: { authenticator: azureauth }</a:t>
            </a:r>
          </a:p>
          <a:p>
            <a:r>
              <a:rPr lang="en-US" sz="1150">
                <a:solidFill>
                  <a:srgbClr val="F4F4F5"/>
                </a:solidFill>
                <a:latin typeface="Consolas" panose="020B0609020204030204" pitchFamily="49" charset="0"/>
              </a:rPr>
              <a:t>service:</a:t>
            </a:r>
          </a:p>
          <a:p>
            <a:r>
              <a:rPr lang="en-US" sz="1150">
                <a:solidFill>
                  <a:srgbClr val="F4F4F5"/>
                </a:solidFill>
                <a:latin typeface="Consolas" panose="020B0609020204030204" pitchFamily="49" charset="0"/>
              </a:rPr>
              <a:t>  extensions: [azureauth]</a:t>
            </a:r>
          </a:p>
          <a:p>
            <a:r>
              <a:rPr lang="en-US" sz="1150">
                <a:solidFill>
                  <a:srgbClr val="F4F4F5"/>
                </a:solidFill>
                <a:latin typeface="Consolas" panose="020B0609020204030204" pitchFamily="49" charset="0"/>
              </a:rPr>
              <a:t>  pipelines:</a:t>
            </a:r>
          </a:p>
          <a:p>
            <a:r>
              <a:rPr lang="en-US" sz="1150">
                <a:solidFill>
                  <a:srgbClr val="F4F4F5"/>
                </a:solidFill>
                <a:latin typeface="Consolas" panose="020B0609020204030204" pitchFamily="49" charset="0"/>
              </a:rPr>
              <a:t>    traces:  { receivers: [otlp], processors: [resource, batch], exporters: [otlphttp/azuremonitor] }</a:t>
            </a:r>
          </a:p>
          <a:p>
            <a:r>
              <a:rPr lang="en-US" sz="1150">
                <a:solidFill>
                  <a:srgbClr val="F4F4F5"/>
                </a:solidFill>
                <a:latin typeface="Consolas" panose="020B0609020204030204" pitchFamily="49" charset="0"/>
              </a:rPr>
              <a:t>    logs:    { receivers: [otlp], processors: [resource, batch], exporters: [otlphttp/azuremonitor] }</a:t>
            </a:r>
          </a:p>
          <a:p>
            <a:r>
              <a:rPr lang="en-US" sz="1150">
                <a:solidFill>
                  <a:srgbClr val="F4F4F5"/>
                </a:solidFill>
                <a:latin typeface="Consolas" panose="020B0609020204030204" pitchFamily="49" charset="0"/>
              </a:rPr>
              <a:t>    metrics: { receivers: [otlp], processors: [resource, batch], exporters: [otlphttp/azuremonitor] }</a:t>
            </a:r>
          </a:p>
        </p:txBody>
      </p:sp>
    </p:spTree>
    <p:extLst>
      <p:ext uri="{BB962C8B-B14F-4D97-AF65-F5344CB8AC3E}">
        <p14:creationId xmlns:p14="http://schemas.microsoft.com/office/powerpoint/2010/main" val="8525556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6DCB1E42-B482-E2A7-C6D7-277B833E9F28}"/>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A49A6564-8384-074E-BB99-880BEB489674}"/>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7217347-E4EC-093F-F7A1-A19AEDCDB510}"/>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7BB86C7-9A86-E20E-C5D8-15A2D3BABBA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Platform logs and the other clouds</a:t>
            </a:r>
          </a:p>
        </p:txBody>
      </p:sp>
      <p:sp>
        <p:nvSpPr>
          <p:cNvPr id="6" name="ChapterTag">
            <a:extLst>
              <a:ext uri="{FF2B5EF4-FFF2-40B4-BE49-F238E27FC236}">
                <a16:creationId xmlns:a16="http://schemas.microsoft.com/office/drawing/2014/main" id="{4A80DE5E-8159-8672-D7C2-35A43D13BC03}"/>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C22ED3A5-916F-3840-2967-88446B94C35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E99C4BD9-4B99-FB4D-A6C4-3FEE286E41E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43</a:t>
            </a:r>
          </a:p>
        </p:txBody>
      </p:sp>
      <p:sp>
        <p:nvSpPr>
          <p:cNvPr id="9" name="Oval 8">
            <a:extLst>
              <a:ext uri="{FF2B5EF4-FFF2-40B4-BE49-F238E27FC236}">
                <a16:creationId xmlns:a16="http://schemas.microsoft.com/office/drawing/2014/main" id="{7A2590EA-842C-2DC5-4DD3-D4B0F20BF655}"/>
              </a:ext>
            </a:extLst>
          </p:cNvPr>
          <p:cNvSpPr/>
          <p:nvPr/>
        </p:nvSpPr>
        <p:spPr>
          <a:xfrm>
            <a:off x="660400" y="1680210"/>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2A1FEC0-3593-8B35-95BB-E3FDCC0207A2}"/>
              </a:ext>
            </a:extLst>
          </p:cNvPr>
          <p:cNvSpPr txBox="1"/>
          <p:nvPr/>
        </p:nvSpPr>
        <p:spPr>
          <a:xfrm>
            <a:off x="889000" y="160020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Azure resources: diagnostic settings send resource logs and platform metrics to the workspace; assign them with Policy so new resources are covered</a:t>
            </a:r>
          </a:p>
        </p:txBody>
      </p:sp>
      <p:sp>
        <p:nvSpPr>
          <p:cNvPr id="11" name="Oval 10">
            <a:extLst>
              <a:ext uri="{FF2B5EF4-FFF2-40B4-BE49-F238E27FC236}">
                <a16:creationId xmlns:a16="http://schemas.microsoft.com/office/drawing/2014/main" id="{BF04465B-3A67-0652-69A4-1EFE41D12C98}"/>
              </a:ext>
            </a:extLst>
          </p:cNvPr>
          <p:cNvSpPr/>
          <p:nvPr/>
        </p:nvSpPr>
        <p:spPr>
          <a:xfrm>
            <a:off x="660400" y="2313178"/>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8F35F06-A933-1B2F-17FE-6B2BD88ED1ED}"/>
              </a:ext>
            </a:extLst>
          </p:cNvPr>
          <p:cNvSpPr txBox="1"/>
          <p:nvPr/>
        </p:nvSpPr>
        <p:spPr>
          <a:xfrm>
            <a:off x="889000" y="223316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Activity log and Entra sign-in and audit logs: the change and identity evidence for Azure, also via diagnostic settings</a:t>
            </a:r>
          </a:p>
        </p:txBody>
      </p:sp>
      <p:sp>
        <p:nvSpPr>
          <p:cNvPr id="13" name="Oval 12">
            <a:extLst>
              <a:ext uri="{FF2B5EF4-FFF2-40B4-BE49-F238E27FC236}">
                <a16:creationId xmlns:a16="http://schemas.microsoft.com/office/drawing/2014/main" id="{5DBA1539-97F6-BC04-BAB2-CF1133FAA225}"/>
              </a:ext>
            </a:extLst>
          </p:cNvPr>
          <p:cNvSpPr/>
          <p:nvPr/>
        </p:nvSpPr>
        <p:spPr>
          <a:xfrm>
            <a:off x="660400" y="2718562"/>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10E73A0-E3DB-8061-72A4-543B9EF34827}"/>
              </a:ext>
            </a:extLst>
          </p:cNvPr>
          <p:cNvSpPr txBox="1"/>
          <p:nvPr/>
        </p:nvSpPr>
        <p:spPr>
          <a:xfrm>
            <a:off x="889000" y="2638552"/>
            <a:ext cx="10693400" cy="784352"/>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AWS: CloudWatch Logs and CloudTrail stay in AWS for AWS-managed services; forward what the cross-cloud question needs (CloudTrail, VPC flow logs, S3 access) through the Amazon Web Services connectors in Sentinel or your own forwarder to the logs ingestion API</a:t>
            </a:r>
          </a:p>
        </p:txBody>
      </p:sp>
      <p:sp>
        <p:nvSpPr>
          <p:cNvPr id="15" name="Oval 14">
            <a:extLst>
              <a:ext uri="{FF2B5EF4-FFF2-40B4-BE49-F238E27FC236}">
                <a16:creationId xmlns:a16="http://schemas.microsoft.com/office/drawing/2014/main" id="{2D39CB30-CA7E-4EBE-E75C-1057ABCFAF57}"/>
              </a:ext>
            </a:extLst>
          </p:cNvPr>
          <p:cNvSpPr/>
          <p:nvPr/>
        </p:nvSpPr>
        <p:spPr>
          <a:xfrm>
            <a:off x="660400" y="3579114"/>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55E2060-2A97-A752-951A-EC8CB2BD55B2}"/>
              </a:ext>
            </a:extLst>
          </p:cNvPr>
          <p:cNvSpPr txBox="1"/>
          <p:nvPr/>
        </p:nvSpPr>
        <p:spPr>
          <a:xfrm>
            <a:off x="889000" y="349910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GCP: Cloud Logging and Cloud Audit Logs stay in GCP; forward audit logs through the Google Cloud Platform connectors in Sentinel or the logs ingestion API</a:t>
            </a:r>
          </a:p>
        </p:txBody>
      </p:sp>
      <p:sp>
        <p:nvSpPr>
          <p:cNvPr id="17" name="Oval 16">
            <a:extLst>
              <a:ext uri="{FF2B5EF4-FFF2-40B4-BE49-F238E27FC236}">
                <a16:creationId xmlns:a16="http://schemas.microsoft.com/office/drawing/2014/main" id="{383ADD78-A1AB-C351-1275-BA107F0D5EAE}"/>
              </a:ext>
            </a:extLst>
          </p:cNvPr>
          <p:cNvSpPr/>
          <p:nvPr/>
        </p:nvSpPr>
        <p:spPr>
          <a:xfrm>
            <a:off x="660400" y="4212082"/>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8788A23-6C6B-6A4C-CB93-81C6E400C234}"/>
              </a:ext>
            </a:extLst>
          </p:cNvPr>
          <p:cNvSpPr txBox="1"/>
          <p:nvPr/>
        </p:nvSpPr>
        <p:spPr>
          <a:xfrm>
            <a:off x="889000" y="4132072"/>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Network: NSG flow logs and Connection Monitor in Azure; site links and DNS from your network tooling into the workspace via Syslog or the ingestion API</a:t>
            </a:r>
          </a:p>
        </p:txBody>
      </p:sp>
      <p:sp>
        <p:nvSpPr>
          <p:cNvPr id="19" name="Oval 18">
            <a:extLst>
              <a:ext uri="{FF2B5EF4-FFF2-40B4-BE49-F238E27FC236}">
                <a16:creationId xmlns:a16="http://schemas.microsoft.com/office/drawing/2014/main" id="{5FE9003A-BB4B-0146-CCC4-B3AED3D5C0B8}"/>
              </a:ext>
            </a:extLst>
          </p:cNvPr>
          <p:cNvSpPr/>
          <p:nvPr/>
        </p:nvSpPr>
        <p:spPr>
          <a:xfrm>
            <a:off x="660400" y="4845050"/>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7C9AD6F-E023-044B-2C6E-0D044B6D005C}"/>
              </a:ext>
            </a:extLst>
          </p:cNvPr>
          <p:cNvSpPr txBox="1"/>
          <p:nvPr/>
        </p:nvSpPr>
        <p:spPr>
          <a:xfrm>
            <a:off x="889000" y="476504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Rule: forward only what answers a cross-cloud question; everything else is cheaper where it was born</a:t>
            </a:r>
          </a:p>
        </p:txBody>
      </p:sp>
    </p:spTree>
    <p:extLst>
      <p:ext uri="{BB962C8B-B14F-4D97-AF65-F5344CB8AC3E}">
        <p14:creationId xmlns:p14="http://schemas.microsoft.com/office/powerpoint/2010/main" val="42251865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DBA99F0-5A08-1E03-304D-CC73DBD6DCE8}"/>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2BFEC836-0E2E-7521-6867-57E52AD0FBEB}"/>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1FD0B49-3C6D-B051-33D2-18A7487DA367}"/>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2EB195B-A5F4-A8F4-A88F-E7633EAE4497}"/>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Custom sources: the logs ingestion API</a:t>
            </a:r>
          </a:p>
        </p:txBody>
      </p:sp>
      <p:sp>
        <p:nvSpPr>
          <p:cNvPr id="6" name="ChapterTag">
            <a:extLst>
              <a:ext uri="{FF2B5EF4-FFF2-40B4-BE49-F238E27FC236}">
                <a16:creationId xmlns:a16="http://schemas.microsoft.com/office/drawing/2014/main" id="{3CCDECAF-500A-91E9-9BB1-493BA7B2CC64}"/>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15375A8C-E139-0F25-5C87-7D7D52C4A125}"/>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207030A6-6AFF-8389-505E-5BF6B4C54D50}"/>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44</a:t>
            </a:r>
          </a:p>
        </p:txBody>
      </p:sp>
      <p:sp>
        <p:nvSpPr>
          <p:cNvPr id="9" name="Rectangle 8">
            <a:extLst>
              <a:ext uri="{FF2B5EF4-FFF2-40B4-BE49-F238E27FC236}">
                <a16:creationId xmlns:a16="http://schemas.microsoft.com/office/drawing/2014/main" id="{B8D181D6-3904-8C52-7FBC-C82A174DBBE4}"/>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1. A custom table with a declared schema</a:t>
            </a:r>
          </a:p>
          <a:p>
            <a:r>
              <a:rPr lang="en-US" sz="1150">
                <a:solidFill>
                  <a:srgbClr val="F4F4F5"/>
                </a:solidFill>
                <a:latin typeface="Consolas" panose="020B0609020204030204" pitchFamily="49" charset="0"/>
              </a:rPr>
              <a:t>az monitor log-analytics workspace table create --resource-group rg-monitoring --workspace-name law-platform --name ServiceStage_CL --columns TimeGenerated=datetime CorrelationId=string Cloud=string Component=string Stage=string Success=bool DurationMs=long</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2. A data collection endpoint and a direct DCR with a stream for that table (rule file declares streamDeclarations + dataFlows)</a:t>
            </a:r>
          </a:p>
          <a:p>
            <a:r>
              <a:rPr lang="en-US" sz="1150">
                <a:solidFill>
                  <a:srgbClr val="F4F4F5"/>
                </a:solidFill>
                <a:latin typeface="Consolas" panose="020B0609020204030204" pitchFamily="49" charset="0"/>
              </a:rPr>
              <a:t>az monitor data-collection endpoint create --name dce-platform --resource-group rg-monitoring --location eastus2 --public-network-access Enabled</a:t>
            </a:r>
          </a:p>
          <a:p>
            <a:r>
              <a:rPr lang="en-US" sz="1150">
                <a:solidFill>
                  <a:srgbClr val="F4F4F5"/>
                </a:solidFill>
                <a:latin typeface="Consolas" panose="020B0609020204030204" pitchFamily="49" charset="0"/>
              </a:rPr>
              <a:t>az monitor data-collection rule create --name dcr-servicestage --resource-group rg-monitoring --location eastus2 --rule-file dcr-servicestage.json</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3. Grant the sender identity (an Arc managed identity, a Function app, a GitHub runner) the role on the rule</a:t>
            </a:r>
          </a:p>
          <a:p>
            <a:r>
              <a:rPr lang="en-US" sz="1150">
                <a:solidFill>
                  <a:srgbClr val="F4F4F5"/>
                </a:solidFill>
                <a:latin typeface="Consolas" panose="020B0609020204030204" pitchFamily="49" charset="0"/>
              </a:rPr>
              <a:t>az role assignment create --assignee-object-id &lt;mi-object-id&gt; --assignee-principal-type ServicePrincipal --role "Monitoring Metrics Publisher" --scope &lt;dcr-id&gt;</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4. POST https://&lt;dce&gt;.ingest.monitor.azure.com/dataCollectionRules/&lt;immutable-id&gt;/streams/Custom-ServiceStage_CL?api-version=2023-01-01  (JSON array, bearer token)</a:t>
            </a:r>
          </a:p>
        </p:txBody>
      </p:sp>
    </p:spTree>
    <p:extLst>
      <p:ext uri="{BB962C8B-B14F-4D97-AF65-F5344CB8AC3E}">
        <p14:creationId xmlns:p14="http://schemas.microsoft.com/office/powerpoint/2010/main" val="4095517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3661E9B8-CD18-ADEF-8790-D1FBAB64160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CCCEAFC6-3C4C-8C8E-B6BC-DF7B073B7A8B}"/>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49B68F2-B608-2E7B-64AD-1012A81CA3AF}"/>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E47C593-5235-92C0-8F21-B0D98A7ABBD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Table plans and retention</a:t>
            </a:r>
          </a:p>
        </p:txBody>
      </p:sp>
      <p:sp>
        <p:nvSpPr>
          <p:cNvPr id="6" name="ChapterTag">
            <a:extLst>
              <a:ext uri="{FF2B5EF4-FFF2-40B4-BE49-F238E27FC236}">
                <a16:creationId xmlns:a16="http://schemas.microsoft.com/office/drawing/2014/main" id="{D0B962A3-E796-403B-7F48-7A66AD9AFD77}"/>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2977A697-FF96-3ACF-569C-7FCA50131DA7}"/>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078A13D-AD5F-FE76-EB0C-66102D8F04FF}"/>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45</a:t>
            </a:r>
          </a:p>
        </p:txBody>
      </p:sp>
      <p:sp>
        <p:nvSpPr>
          <p:cNvPr id="9" name="Rectangle: Rounded Corners 8">
            <a:extLst>
              <a:ext uri="{FF2B5EF4-FFF2-40B4-BE49-F238E27FC236}">
                <a16:creationId xmlns:a16="http://schemas.microsoft.com/office/drawing/2014/main" id="{349C863F-FF44-1625-1C4A-71F5C747F791}"/>
              </a:ext>
            </a:extLst>
          </p:cNvPr>
          <p:cNvSpPr/>
          <p:nvPr/>
        </p:nvSpPr>
        <p:spPr>
          <a:xfrm>
            <a:off x="609600" y="1549400"/>
            <a:ext cx="2413000"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Plan</a:t>
            </a:r>
          </a:p>
        </p:txBody>
      </p:sp>
      <p:sp>
        <p:nvSpPr>
          <p:cNvPr id="10" name="Rectangle: Rounded Corners 9">
            <a:extLst>
              <a:ext uri="{FF2B5EF4-FFF2-40B4-BE49-F238E27FC236}">
                <a16:creationId xmlns:a16="http://schemas.microsoft.com/office/drawing/2014/main" id="{D992DFFC-02A3-FAB2-341E-6A68D48AC772}"/>
              </a:ext>
            </a:extLst>
          </p:cNvPr>
          <p:cNvSpPr/>
          <p:nvPr/>
        </p:nvSpPr>
        <p:spPr>
          <a:xfrm>
            <a:off x="3022600" y="1549400"/>
            <a:ext cx="2139950"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Ingestion</a:t>
            </a:r>
          </a:p>
        </p:txBody>
      </p:sp>
      <p:sp>
        <p:nvSpPr>
          <p:cNvPr id="11" name="Rectangle: Rounded Corners 10">
            <a:extLst>
              <a:ext uri="{FF2B5EF4-FFF2-40B4-BE49-F238E27FC236}">
                <a16:creationId xmlns:a16="http://schemas.microsoft.com/office/drawing/2014/main" id="{80EDAAE4-3DD0-8203-86BB-8D7AA69599C9}"/>
              </a:ext>
            </a:extLst>
          </p:cNvPr>
          <p:cNvSpPr/>
          <p:nvPr/>
        </p:nvSpPr>
        <p:spPr>
          <a:xfrm>
            <a:off x="5162550" y="1549400"/>
            <a:ext cx="2139950"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Query</a:t>
            </a:r>
          </a:p>
        </p:txBody>
      </p:sp>
      <p:sp>
        <p:nvSpPr>
          <p:cNvPr id="12" name="Rectangle: Rounded Corners 11">
            <a:extLst>
              <a:ext uri="{FF2B5EF4-FFF2-40B4-BE49-F238E27FC236}">
                <a16:creationId xmlns:a16="http://schemas.microsoft.com/office/drawing/2014/main" id="{9B491DD3-5EAD-6CBB-E6BE-F4AFC85C5A19}"/>
              </a:ext>
            </a:extLst>
          </p:cNvPr>
          <p:cNvSpPr/>
          <p:nvPr/>
        </p:nvSpPr>
        <p:spPr>
          <a:xfrm>
            <a:off x="7302500" y="1549400"/>
            <a:ext cx="2139950"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Retention</a:t>
            </a:r>
          </a:p>
        </p:txBody>
      </p:sp>
      <p:sp>
        <p:nvSpPr>
          <p:cNvPr id="13" name="Rectangle: Rounded Corners 12">
            <a:extLst>
              <a:ext uri="{FF2B5EF4-FFF2-40B4-BE49-F238E27FC236}">
                <a16:creationId xmlns:a16="http://schemas.microsoft.com/office/drawing/2014/main" id="{F5B14C0A-D198-32A6-2CBD-D3C64A1340EB}"/>
              </a:ext>
            </a:extLst>
          </p:cNvPr>
          <p:cNvSpPr/>
          <p:nvPr/>
        </p:nvSpPr>
        <p:spPr>
          <a:xfrm>
            <a:off x="9442450" y="1549400"/>
            <a:ext cx="2139950" cy="304800"/>
          </a:xfrm>
          <a:prstGeom prst="roundRect">
            <a:avLst>
              <a:gd name="adj" fmla="val 0"/>
            </a:avLst>
          </a:prstGeom>
          <a:solidFill>
            <a:srgbClr val="C4A0F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Use it for</a:t>
            </a:r>
          </a:p>
        </p:txBody>
      </p:sp>
      <p:sp>
        <p:nvSpPr>
          <p:cNvPr id="14" name="Rectangle: Rounded Corners 13">
            <a:extLst>
              <a:ext uri="{FF2B5EF4-FFF2-40B4-BE49-F238E27FC236}">
                <a16:creationId xmlns:a16="http://schemas.microsoft.com/office/drawing/2014/main" id="{25FC2C2E-CAA5-B20F-8857-7717F2248CBD}"/>
              </a:ext>
            </a:extLst>
          </p:cNvPr>
          <p:cNvSpPr/>
          <p:nvPr/>
        </p:nvSpPr>
        <p:spPr>
          <a:xfrm>
            <a:off x="609600" y="1854200"/>
            <a:ext cx="2413000" cy="10414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Analytics</a:t>
            </a:r>
          </a:p>
        </p:txBody>
      </p:sp>
      <p:sp>
        <p:nvSpPr>
          <p:cNvPr id="15" name="Rectangle: Rounded Corners 14">
            <a:extLst>
              <a:ext uri="{FF2B5EF4-FFF2-40B4-BE49-F238E27FC236}">
                <a16:creationId xmlns:a16="http://schemas.microsoft.com/office/drawing/2014/main" id="{B58D7C2D-3F58-1112-B598-1D157E0EA24E}"/>
              </a:ext>
            </a:extLst>
          </p:cNvPr>
          <p:cNvSpPr/>
          <p:nvPr/>
        </p:nvSpPr>
        <p:spPr>
          <a:xfrm>
            <a:off x="3022600" y="1854200"/>
            <a:ext cx="2139950" cy="10414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per GB; 31 days of analytics retention included; commitment tiers from 100 GB a day (31-day term)</a:t>
            </a:r>
          </a:p>
        </p:txBody>
      </p:sp>
      <p:sp>
        <p:nvSpPr>
          <p:cNvPr id="16" name="Rectangle: Rounded Corners 15">
            <a:extLst>
              <a:ext uri="{FF2B5EF4-FFF2-40B4-BE49-F238E27FC236}">
                <a16:creationId xmlns:a16="http://schemas.microsoft.com/office/drawing/2014/main" id="{1B92BA63-D5DD-F434-AF2D-AABF0025DC87}"/>
              </a:ext>
            </a:extLst>
          </p:cNvPr>
          <p:cNvSpPr/>
          <p:nvPr/>
        </p:nvSpPr>
        <p:spPr>
          <a:xfrm>
            <a:off x="5162550" y="1854200"/>
            <a:ext cx="2139950" cy="10414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no charge per scan</a:t>
            </a:r>
          </a:p>
        </p:txBody>
      </p:sp>
      <p:sp>
        <p:nvSpPr>
          <p:cNvPr id="17" name="Rectangle: Rounded Corners 16">
            <a:extLst>
              <a:ext uri="{FF2B5EF4-FFF2-40B4-BE49-F238E27FC236}">
                <a16:creationId xmlns:a16="http://schemas.microsoft.com/office/drawing/2014/main" id="{EB8FE5AE-3A09-7349-4178-3BCCA95D904C}"/>
              </a:ext>
            </a:extLst>
          </p:cNvPr>
          <p:cNvSpPr/>
          <p:nvPr/>
        </p:nvSpPr>
        <p:spPr>
          <a:xfrm>
            <a:off x="7302500" y="1854200"/>
            <a:ext cx="2139950" cy="10414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analytics 30 days (90 for Sentinel and Application Insights), extendable to 2 years; total up to 12 years</a:t>
            </a:r>
          </a:p>
        </p:txBody>
      </p:sp>
      <p:sp>
        <p:nvSpPr>
          <p:cNvPr id="18" name="Rectangle: Rounded Corners 17">
            <a:extLst>
              <a:ext uri="{FF2B5EF4-FFF2-40B4-BE49-F238E27FC236}">
                <a16:creationId xmlns:a16="http://schemas.microsoft.com/office/drawing/2014/main" id="{238E6679-0D76-627F-E0BD-08A0F22FE048}"/>
              </a:ext>
            </a:extLst>
          </p:cNvPr>
          <p:cNvSpPr/>
          <p:nvPr/>
        </p:nvSpPr>
        <p:spPr>
          <a:xfrm>
            <a:off x="9442450" y="1854200"/>
            <a:ext cx="2139950" cy="10414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anything you alert on or query every day</a:t>
            </a:r>
          </a:p>
        </p:txBody>
      </p:sp>
      <p:sp>
        <p:nvSpPr>
          <p:cNvPr id="19" name="Rectangle: Rounded Corners 18">
            <a:extLst>
              <a:ext uri="{FF2B5EF4-FFF2-40B4-BE49-F238E27FC236}">
                <a16:creationId xmlns:a16="http://schemas.microsoft.com/office/drawing/2014/main" id="{A3C57752-AF37-D862-6E5C-A8A0167C4DAF}"/>
              </a:ext>
            </a:extLst>
          </p:cNvPr>
          <p:cNvSpPr/>
          <p:nvPr/>
        </p:nvSpPr>
        <p:spPr>
          <a:xfrm>
            <a:off x="609600" y="28956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Basic</a:t>
            </a:r>
          </a:p>
        </p:txBody>
      </p:sp>
      <p:sp>
        <p:nvSpPr>
          <p:cNvPr id="20" name="Rectangle: Rounded Corners 19">
            <a:extLst>
              <a:ext uri="{FF2B5EF4-FFF2-40B4-BE49-F238E27FC236}">
                <a16:creationId xmlns:a16="http://schemas.microsoft.com/office/drawing/2014/main" id="{E9908E75-4FCD-D350-A77D-DCD65690DBF1}"/>
              </a:ext>
            </a:extLst>
          </p:cNvPr>
          <p:cNvSpPr/>
          <p:nvPr/>
        </p:nvSpPr>
        <p:spPr>
          <a:xfrm>
            <a:off x="3022600" y="28956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reduced flat rate per GB</a:t>
            </a:r>
          </a:p>
        </p:txBody>
      </p:sp>
      <p:sp>
        <p:nvSpPr>
          <p:cNvPr id="21" name="Rectangle: Rounded Corners 20">
            <a:extLst>
              <a:ext uri="{FF2B5EF4-FFF2-40B4-BE49-F238E27FC236}">
                <a16:creationId xmlns:a16="http://schemas.microsoft.com/office/drawing/2014/main" id="{5AA6CC48-AA6F-33FF-194C-4C2B2244E493}"/>
              </a:ext>
            </a:extLst>
          </p:cNvPr>
          <p:cNvSpPr/>
          <p:nvPr/>
        </p:nvSpPr>
        <p:spPr>
          <a:xfrm>
            <a:off x="5162550" y="28956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charged per GB scanned</a:t>
            </a:r>
          </a:p>
        </p:txBody>
      </p:sp>
      <p:sp>
        <p:nvSpPr>
          <p:cNvPr id="22" name="Rectangle: Rounded Corners 21">
            <a:extLst>
              <a:ext uri="{FF2B5EF4-FFF2-40B4-BE49-F238E27FC236}">
                <a16:creationId xmlns:a16="http://schemas.microsoft.com/office/drawing/2014/main" id="{E54A677F-920A-FE75-85D9-0F4921193798}"/>
              </a:ext>
            </a:extLst>
          </p:cNvPr>
          <p:cNvSpPr/>
          <p:nvPr/>
        </p:nvSpPr>
        <p:spPr>
          <a:xfrm>
            <a:off x="7302500" y="28956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30 days then long-term retention</a:t>
            </a:r>
          </a:p>
        </p:txBody>
      </p:sp>
      <p:sp>
        <p:nvSpPr>
          <p:cNvPr id="23" name="Rectangle: Rounded Corners 22">
            <a:extLst>
              <a:ext uri="{FF2B5EF4-FFF2-40B4-BE49-F238E27FC236}">
                <a16:creationId xmlns:a16="http://schemas.microsoft.com/office/drawing/2014/main" id="{30DB1049-09D1-FCE8-D349-B22A710013A9}"/>
              </a:ext>
            </a:extLst>
          </p:cNvPr>
          <p:cNvSpPr/>
          <p:nvPr/>
        </p:nvSpPr>
        <p:spPr>
          <a:xfrm>
            <a:off x="9442450" y="28956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troubleshooting and incident data; verbose app logs</a:t>
            </a:r>
          </a:p>
        </p:txBody>
      </p:sp>
      <p:sp>
        <p:nvSpPr>
          <p:cNvPr id="24" name="Rectangle: Rounded Corners 23">
            <a:extLst>
              <a:ext uri="{FF2B5EF4-FFF2-40B4-BE49-F238E27FC236}">
                <a16:creationId xmlns:a16="http://schemas.microsoft.com/office/drawing/2014/main" id="{C617FB45-44DD-D590-79ED-A4018C9C5ECD}"/>
              </a:ext>
            </a:extLst>
          </p:cNvPr>
          <p:cNvSpPr/>
          <p:nvPr/>
        </p:nvSpPr>
        <p:spPr>
          <a:xfrm>
            <a:off x="609600" y="3390900"/>
            <a:ext cx="2413000" cy="6731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Auxiliary</a:t>
            </a:r>
          </a:p>
        </p:txBody>
      </p:sp>
      <p:sp>
        <p:nvSpPr>
          <p:cNvPr id="25" name="Rectangle: Rounded Corners 24">
            <a:extLst>
              <a:ext uri="{FF2B5EF4-FFF2-40B4-BE49-F238E27FC236}">
                <a16:creationId xmlns:a16="http://schemas.microsoft.com/office/drawing/2014/main" id="{B0FF7338-7B91-000B-C70E-A9A0A955F908}"/>
              </a:ext>
            </a:extLst>
          </p:cNvPr>
          <p:cNvSpPr/>
          <p:nvPr/>
        </p:nvSpPr>
        <p:spPr>
          <a:xfrm>
            <a:off x="3022600" y="33909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lowest flat rate per GB</a:t>
            </a:r>
          </a:p>
        </p:txBody>
      </p:sp>
      <p:sp>
        <p:nvSpPr>
          <p:cNvPr id="26" name="Rectangle: Rounded Corners 25">
            <a:extLst>
              <a:ext uri="{FF2B5EF4-FFF2-40B4-BE49-F238E27FC236}">
                <a16:creationId xmlns:a16="http://schemas.microsoft.com/office/drawing/2014/main" id="{7CA4EA01-FAFB-F18F-5001-BFD8D9C89965}"/>
              </a:ext>
            </a:extLst>
          </p:cNvPr>
          <p:cNvSpPr/>
          <p:nvPr/>
        </p:nvSpPr>
        <p:spPr>
          <a:xfrm>
            <a:off x="5162550" y="33909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charged per GB scanned, slower</a:t>
            </a:r>
          </a:p>
        </p:txBody>
      </p:sp>
      <p:sp>
        <p:nvSpPr>
          <p:cNvPr id="27" name="Rectangle: Rounded Corners 26">
            <a:extLst>
              <a:ext uri="{FF2B5EF4-FFF2-40B4-BE49-F238E27FC236}">
                <a16:creationId xmlns:a16="http://schemas.microsoft.com/office/drawing/2014/main" id="{A3A5F419-16C8-4EC8-FC7C-C7806985D00F}"/>
              </a:ext>
            </a:extLst>
          </p:cNvPr>
          <p:cNvSpPr/>
          <p:nvPr/>
        </p:nvSpPr>
        <p:spPr>
          <a:xfrm>
            <a:off x="7302500" y="33909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total retention up to 12 years, queryable throughout</a:t>
            </a:r>
          </a:p>
        </p:txBody>
      </p:sp>
      <p:sp>
        <p:nvSpPr>
          <p:cNvPr id="28" name="Rectangle: Rounded Corners 27">
            <a:extLst>
              <a:ext uri="{FF2B5EF4-FFF2-40B4-BE49-F238E27FC236}">
                <a16:creationId xmlns:a16="http://schemas.microsoft.com/office/drawing/2014/main" id="{5F67B7A2-CEB0-150B-F763-6B9E89ECA20E}"/>
              </a:ext>
            </a:extLst>
          </p:cNvPr>
          <p:cNvSpPr/>
          <p:nvPr/>
        </p:nvSpPr>
        <p:spPr>
          <a:xfrm>
            <a:off x="9442450" y="3390900"/>
            <a:ext cx="2139950" cy="6731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audit and compliance volume; set only at table creation</a:t>
            </a:r>
          </a:p>
        </p:txBody>
      </p:sp>
      <p:sp>
        <p:nvSpPr>
          <p:cNvPr id="29" name="Rectangle: Rounded Corners 28">
            <a:extLst>
              <a:ext uri="{FF2B5EF4-FFF2-40B4-BE49-F238E27FC236}">
                <a16:creationId xmlns:a16="http://schemas.microsoft.com/office/drawing/2014/main" id="{4C95D6CE-6732-F7E9-8AD2-52F029F7F987}"/>
              </a:ext>
            </a:extLst>
          </p:cNvPr>
          <p:cNvSpPr/>
          <p:nvPr/>
        </p:nvSpPr>
        <p:spPr>
          <a:xfrm>
            <a:off x="609600" y="40640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Long-term retention</a:t>
            </a:r>
          </a:p>
        </p:txBody>
      </p:sp>
      <p:sp>
        <p:nvSpPr>
          <p:cNvPr id="30" name="Rectangle: Rounded Corners 29">
            <a:extLst>
              <a:ext uri="{FF2B5EF4-FFF2-40B4-BE49-F238E27FC236}">
                <a16:creationId xmlns:a16="http://schemas.microsoft.com/office/drawing/2014/main" id="{B48E333E-E551-7788-530F-9BBE63F9D9B6}"/>
              </a:ext>
            </a:extLst>
          </p:cNvPr>
          <p:cNvSpPr/>
          <p:nvPr/>
        </p:nvSpPr>
        <p:spPr>
          <a:xfrm>
            <a:off x="3022600" y="40640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per GB per month</a:t>
            </a:r>
          </a:p>
        </p:txBody>
      </p:sp>
      <p:sp>
        <p:nvSpPr>
          <p:cNvPr id="31" name="Rectangle: Rounded Corners 30">
            <a:extLst>
              <a:ext uri="{FF2B5EF4-FFF2-40B4-BE49-F238E27FC236}">
                <a16:creationId xmlns:a16="http://schemas.microsoft.com/office/drawing/2014/main" id="{B9D21D15-6898-D2D3-2EE2-52BC4F8B2358}"/>
              </a:ext>
            </a:extLst>
          </p:cNvPr>
          <p:cNvSpPr/>
          <p:nvPr/>
        </p:nvSpPr>
        <p:spPr>
          <a:xfrm>
            <a:off x="5162550" y="40640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search job to retrieve</a:t>
            </a:r>
          </a:p>
        </p:txBody>
      </p:sp>
      <p:sp>
        <p:nvSpPr>
          <p:cNvPr id="32" name="Rectangle: Rounded Corners 31">
            <a:extLst>
              <a:ext uri="{FF2B5EF4-FFF2-40B4-BE49-F238E27FC236}">
                <a16:creationId xmlns:a16="http://schemas.microsoft.com/office/drawing/2014/main" id="{575D2214-EF1E-F76D-1D73-846594667A7F}"/>
              </a:ext>
            </a:extLst>
          </p:cNvPr>
          <p:cNvSpPr/>
          <p:nvPr/>
        </p:nvSpPr>
        <p:spPr>
          <a:xfrm>
            <a:off x="7302500" y="40640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up to 12 years</a:t>
            </a:r>
          </a:p>
        </p:txBody>
      </p:sp>
      <p:sp>
        <p:nvSpPr>
          <p:cNvPr id="33" name="Rectangle: Rounded Corners 32">
            <a:extLst>
              <a:ext uri="{FF2B5EF4-FFF2-40B4-BE49-F238E27FC236}">
                <a16:creationId xmlns:a16="http://schemas.microsoft.com/office/drawing/2014/main" id="{2CB2C49A-6941-9E65-670C-B49F8FA7BB6F}"/>
              </a:ext>
            </a:extLst>
          </p:cNvPr>
          <p:cNvSpPr/>
          <p:nvPr/>
        </p:nvSpPr>
        <p:spPr>
          <a:xfrm>
            <a:off x="9442450" y="4064000"/>
            <a:ext cx="213995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what you must keep and rarely read</a:t>
            </a:r>
          </a:p>
        </p:txBody>
      </p:sp>
    </p:spTree>
    <p:extLst>
      <p:ext uri="{BB962C8B-B14F-4D97-AF65-F5344CB8AC3E}">
        <p14:creationId xmlns:p14="http://schemas.microsoft.com/office/powerpoint/2010/main" val="13745065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A346C7B9-B59D-0816-620E-3CA171D7393A}"/>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F865F524-DC50-0799-B45B-2EC2C2CEB695}"/>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29EBD93-415D-94B4-C4DE-EDADDCD328C7}"/>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C1607A5-765C-BC78-FF27-DD618B374FB1}"/>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Reducing cost before it is billed</a:t>
            </a:r>
          </a:p>
        </p:txBody>
      </p:sp>
      <p:sp>
        <p:nvSpPr>
          <p:cNvPr id="6" name="ChapterTag">
            <a:extLst>
              <a:ext uri="{FF2B5EF4-FFF2-40B4-BE49-F238E27FC236}">
                <a16:creationId xmlns:a16="http://schemas.microsoft.com/office/drawing/2014/main" id="{D734E680-F4D5-7A65-6314-5733C8618E19}"/>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12BAF113-846F-C0CA-946D-7A5CFE188EBD}"/>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A6530E0E-EEA1-7FA2-A1D7-2D4C72578E0F}"/>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46</a:t>
            </a:r>
          </a:p>
        </p:txBody>
      </p:sp>
      <p:sp>
        <p:nvSpPr>
          <p:cNvPr id="9" name="Oval 8">
            <a:extLst>
              <a:ext uri="{FF2B5EF4-FFF2-40B4-BE49-F238E27FC236}">
                <a16:creationId xmlns:a16="http://schemas.microsoft.com/office/drawing/2014/main" id="{81BA693E-A71F-D31D-A33B-4220B204951E}"/>
              </a:ext>
            </a:extLst>
          </p:cNvPr>
          <p:cNvSpPr/>
          <p:nvPr/>
        </p:nvSpPr>
        <p:spPr>
          <a:xfrm>
            <a:off x="660400" y="1680210"/>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091E898-CF5B-4AFB-E40B-63D745C3B978}"/>
              </a:ext>
            </a:extLst>
          </p:cNvPr>
          <p:cNvSpPr txBox="1"/>
          <p:nvPr/>
        </p:nvSpPr>
        <p:spPr>
          <a:xfrm>
            <a:off x="889000" y="160020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Transformations in the data collection rule: filter rows and drop columns at ingestion with KQL; the cheapest byte is the one never sent</a:t>
            </a:r>
          </a:p>
        </p:txBody>
      </p:sp>
      <p:sp>
        <p:nvSpPr>
          <p:cNvPr id="11" name="Oval 10">
            <a:extLst>
              <a:ext uri="{FF2B5EF4-FFF2-40B4-BE49-F238E27FC236}">
                <a16:creationId xmlns:a16="http://schemas.microsoft.com/office/drawing/2014/main" id="{1C47830A-5A5B-D949-8320-1263B1066AC5}"/>
              </a:ext>
            </a:extLst>
          </p:cNvPr>
          <p:cNvSpPr/>
          <p:nvPr/>
        </p:nvSpPr>
        <p:spPr>
          <a:xfrm>
            <a:off x="660400" y="2313178"/>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8574811-7C2F-2DC0-0A37-9341F21CE486}"/>
              </a:ext>
            </a:extLst>
          </p:cNvPr>
          <p:cNvSpPr txBox="1"/>
          <p:nvPr/>
        </p:nvSpPr>
        <p:spPr>
          <a:xfrm>
            <a:off x="889000" y="223316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Counter lists and event levels: 60-second counters and warning-and-above events cover almost every question</a:t>
            </a:r>
          </a:p>
        </p:txBody>
      </p:sp>
      <p:sp>
        <p:nvSpPr>
          <p:cNvPr id="13" name="Oval 12">
            <a:extLst>
              <a:ext uri="{FF2B5EF4-FFF2-40B4-BE49-F238E27FC236}">
                <a16:creationId xmlns:a16="http://schemas.microsoft.com/office/drawing/2014/main" id="{CFAB88AA-4967-8A80-F2C0-55A7D0DD66C9}"/>
              </a:ext>
            </a:extLst>
          </p:cNvPr>
          <p:cNvSpPr/>
          <p:nvPr/>
        </p:nvSpPr>
        <p:spPr>
          <a:xfrm>
            <a:off x="660400" y="2718562"/>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1609986-6F63-E35D-B198-2E78DDDB33E0}"/>
              </a:ext>
            </a:extLst>
          </p:cNvPr>
          <p:cNvSpPr txBox="1"/>
          <p:nvPr/>
        </p:nvSpPr>
        <p:spPr>
          <a:xfrm>
            <a:off x="889000" y="26385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Table plans: move verbose or audit tables to Basic or Auxiliary; keep Analytics for what you alert on</a:t>
            </a:r>
          </a:p>
        </p:txBody>
      </p:sp>
      <p:sp>
        <p:nvSpPr>
          <p:cNvPr id="15" name="Oval 14">
            <a:extLst>
              <a:ext uri="{FF2B5EF4-FFF2-40B4-BE49-F238E27FC236}">
                <a16:creationId xmlns:a16="http://schemas.microsoft.com/office/drawing/2014/main" id="{7F49F3BE-3F20-0016-6978-5ECCA1EDA171}"/>
              </a:ext>
            </a:extLst>
          </p:cNvPr>
          <p:cNvSpPr/>
          <p:nvPr/>
        </p:nvSpPr>
        <p:spPr>
          <a:xfrm>
            <a:off x="660400" y="3123946"/>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D1AFF1C-B2F4-71CA-6328-8F74B47CD6AB}"/>
              </a:ext>
            </a:extLst>
          </p:cNvPr>
          <p:cNvSpPr txBox="1"/>
          <p:nvPr/>
        </p:nvSpPr>
        <p:spPr>
          <a:xfrm>
            <a:off x="889000" y="3043936"/>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Summary rules: aggregate high-volume tables into small Analytics tables on a schedule and alert on those</a:t>
            </a:r>
          </a:p>
        </p:txBody>
      </p:sp>
      <p:sp>
        <p:nvSpPr>
          <p:cNvPr id="17" name="Oval 16">
            <a:extLst>
              <a:ext uri="{FF2B5EF4-FFF2-40B4-BE49-F238E27FC236}">
                <a16:creationId xmlns:a16="http://schemas.microsoft.com/office/drawing/2014/main" id="{27BED643-6104-4FBE-6C0A-C40D561BA04E}"/>
              </a:ext>
            </a:extLst>
          </p:cNvPr>
          <p:cNvSpPr/>
          <p:nvPr/>
        </p:nvSpPr>
        <p:spPr>
          <a:xfrm>
            <a:off x="660400" y="3529330"/>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315DA31-258A-65F1-FB9B-21030F9944F7}"/>
              </a:ext>
            </a:extLst>
          </p:cNvPr>
          <p:cNvSpPr txBox="1"/>
          <p:nvPr/>
        </p:nvSpPr>
        <p:spPr>
          <a:xfrm>
            <a:off x="889000" y="344932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Commitment tiers: once a workspace is steadily above 100 GB a day, a tier is up to 30 percent cheaper than pay-as-you-go</a:t>
            </a:r>
          </a:p>
        </p:txBody>
      </p:sp>
      <p:sp>
        <p:nvSpPr>
          <p:cNvPr id="19" name="Oval 18">
            <a:extLst>
              <a:ext uri="{FF2B5EF4-FFF2-40B4-BE49-F238E27FC236}">
                <a16:creationId xmlns:a16="http://schemas.microsoft.com/office/drawing/2014/main" id="{A7EC61BF-8C0C-1A0E-EF68-91C2390BA770}"/>
              </a:ext>
            </a:extLst>
          </p:cNvPr>
          <p:cNvSpPr/>
          <p:nvPr/>
        </p:nvSpPr>
        <p:spPr>
          <a:xfrm>
            <a:off x="660400" y="3934714"/>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1159156-C912-A5D2-9F2C-B08D21E62BB8}"/>
              </a:ext>
            </a:extLst>
          </p:cNvPr>
          <p:cNvSpPr txBox="1"/>
          <p:nvPr/>
        </p:nvSpPr>
        <p:spPr>
          <a:xfrm>
            <a:off x="889000" y="3854704"/>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Prometheus: scrape what dashboards and alerts read; drop the rest with the metrics extension's configuration</a:t>
            </a:r>
          </a:p>
        </p:txBody>
      </p:sp>
      <p:sp>
        <p:nvSpPr>
          <p:cNvPr id="21" name="Oval 20">
            <a:extLst>
              <a:ext uri="{FF2B5EF4-FFF2-40B4-BE49-F238E27FC236}">
                <a16:creationId xmlns:a16="http://schemas.microsoft.com/office/drawing/2014/main" id="{FA4007F2-C867-4DD0-DE69-EBFE052D5E8A}"/>
              </a:ext>
            </a:extLst>
          </p:cNvPr>
          <p:cNvSpPr/>
          <p:nvPr/>
        </p:nvSpPr>
        <p:spPr>
          <a:xfrm>
            <a:off x="660400" y="4340098"/>
            <a:ext cx="101600" cy="1016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34DBAB6-47E9-EA20-5A5A-33DB15E31A9C}"/>
              </a:ext>
            </a:extLst>
          </p:cNvPr>
          <p:cNvSpPr txBox="1"/>
          <p:nvPr/>
        </p:nvSpPr>
        <p:spPr>
          <a:xfrm>
            <a:off x="889000" y="426008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Application sampling: the Distro's sampler keeps traces complete; sample traces, never metrics</a:t>
            </a:r>
          </a:p>
        </p:txBody>
      </p:sp>
    </p:spTree>
    <p:extLst>
      <p:ext uri="{BB962C8B-B14F-4D97-AF65-F5344CB8AC3E}">
        <p14:creationId xmlns:p14="http://schemas.microsoft.com/office/powerpoint/2010/main" val="13871931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586FD4F8-39F1-0065-392B-DD295DB1639C}"/>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AE76112-5C3A-9362-4CB1-230974A9FC77}"/>
              </a:ext>
            </a:extLst>
          </p:cNvPr>
          <p:cNvSpPr/>
          <p:nvPr/>
        </p:nvSpPr>
        <p:spPr>
          <a:xfrm>
            <a:off x="0" y="1295400"/>
            <a:ext cx="12192000" cy="38100"/>
          </a:xfrm>
          <a:prstGeom prst="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0513BD4-2628-8C50-4913-2C52E56BC0EE}"/>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5252309-D95A-23EA-6800-39C3833F3804}"/>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Chapter 4 in one picture</a:t>
            </a:r>
          </a:p>
        </p:txBody>
      </p:sp>
      <p:sp>
        <p:nvSpPr>
          <p:cNvPr id="6" name="ChapterTag">
            <a:extLst>
              <a:ext uri="{FF2B5EF4-FFF2-40B4-BE49-F238E27FC236}">
                <a16:creationId xmlns:a16="http://schemas.microsoft.com/office/drawing/2014/main" id="{8B358E25-2749-DBDB-1777-4C280E7362BB}"/>
              </a:ext>
            </a:extLst>
          </p:cNvPr>
          <p:cNvSpPr/>
          <p:nvPr/>
        </p:nvSpPr>
        <p:spPr>
          <a:xfrm>
            <a:off x="9245600" y="381000"/>
            <a:ext cx="2336800" cy="330200"/>
          </a:xfrm>
          <a:prstGeom prst="roundRect">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4 · DATA PLANE</a:t>
            </a:r>
          </a:p>
        </p:txBody>
      </p:sp>
      <p:sp>
        <p:nvSpPr>
          <p:cNvPr id="7" name="TextBox 6">
            <a:extLst>
              <a:ext uri="{FF2B5EF4-FFF2-40B4-BE49-F238E27FC236}">
                <a16:creationId xmlns:a16="http://schemas.microsoft.com/office/drawing/2014/main" id="{313FFF9B-2765-EA34-6182-E46853529E2D}"/>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60EA08D-6422-7215-ECF4-243089224C79}"/>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47</a:t>
            </a:r>
          </a:p>
        </p:txBody>
      </p:sp>
      <p:sp>
        <p:nvSpPr>
          <p:cNvPr id="9" name="TextBox 8">
            <a:extLst>
              <a:ext uri="{FF2B5EF4-FFF2-40B4-BE49-F238E27FC236}">
                <a16:creationId xmlns:a16="http://schemas.microsoft.com/office/drawing/2014/main" id="{577B183E-D3EF-0DFD-34DB-DE920913DDE0}"/>
              </a:ext>
            </a:extLst>
          </p:cNvPr>
          <p:cNvSpPr txBox="1"/>
          <p:nvPr/>
        </p:nvSpPr>
        <p:spPr>
          <a:xfrm>
            <a:off x="609600" y="1498600"/>
            <a:ext cx="2286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SOURCES</a:t>
            </a:r>
          </a:p>
        </p:txBody>
      </p:sp>
      <p:sp>
        <p:nvSpPr>
          <p:cNvPr id="10" name="TextBox 9">
            <a:extLst>
              <a:ext uri="{FF2B5EF4-FFF2-40B4-BE49-F238E27FC236}">
                <a16:creationId xmlns:a16="http://schemas.microsoft.com/office/drawing/2014/main" id="{9EFE7FDC-A06E-2BA9-0DB6-7DBA36B68130}"/>
              </a:ext>
            </a:extLst>
          </p:cNvPr>
          <p:cNvSpPr txBox="1"/>
          <p:nvPr/>
        </p:nvSpPr>
        <p:spPr>
          <a:xfrm>
            <a:off x="3683000" y="1498600"/>
            <a:ext cx="3302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COLLECTION</a:t>
            </a:r>
          </a:p>
        </p:txBody>
      </p:sp>
      <p:sp>
        <p:nvSpPr>
          <p:cNvPr id="11" name="TextBox 10">
            <a:extLst>
              <a:ext uri="{FF2B5EF4-FFF2-40B4-BE49-F238E27FC236}">
                <a16:creationId xmlns:a16="http://schemas.microsoft.com/office/drawing/2014/main" id="{EF62EF8E-4EA7-3C48-6916-DFD74411A455}"/>
              </a:ext>
            </a:extLst>
          </p:cNvPr>
          <p:cNvSpPr txBox="1"/>
          <p:nvPr/>
        </p:nvSpPr>
        <p:spPr>
          <a:xfrm>
            <a:off x="7493000" y="1498600"/>
            <a:ext cx="1905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STORES</a:t>
            </a:r>
          </a:p>
        </p:txBody>
      </p:sp>
      <p:sp>
        <p:nvSpPr>
          <p:cNvPr id="12" name="TextBox 11">
            <a:extLst>
              <a:ext uri="{FF2B5EF4-FFF2-40B4-BE49-F238E27FC236}">
                <a16:creationId xmlns:a16="http://schemas.microsoft.com/office/drawing/2014/main" id="{A946AF99-8676-71A7-9D9D-0CD80D2B14E8}"/>
              </a:ext>
            </a:extLst>
          </p:cNvPr>
          <p:cNvSpPr txBox="1"/>
          <p:nvPr/>
        </p:nvSpPr>
        <p:spPr>
          <a:xfrm>
            <a:off x="9804400" y="1498600"/>
            <a:ext cx="1778000" cy="2032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CONSUMERS</a:t>
            </a:r>
          </a:p>
        </p:txBody>
      </p:sp>
      <p:sp>
        <p:nvSpPr>
          <p:cNvPr id="13" name="Rectangle: Rounded Corners 12">
            <a:extLst>
              <a:ext uri="{FF2B5EF4-FFF2-40B4-BE49-F238E27FC236}">
                <a16:creationId xmlns:a16="http://schemas.microsoft.com/office/drawing/2014/main" id="{F8BCD173-72F4-1639-7767-DB3B86FB0B80}"/>
              </a:ext>
            </a:extLst>
          </p:cNvPr>
          <p:cNvSpPr/>
          <p:nvPr/>
        </p:nvSpPr>
        <p:spPr>
          <a:xfrm>
            <a:off x="609600" y="1752600"/>
            <a:ext cx="26670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Arc servers (datacenter, AWS, GCP, edge)</a:t>
            </a:r>
          </a:p>
        </p:txBody>
      </p:sp>
      <p:sp>
        <p:nvSpPr>
          <p:cNvPr id="14" name="Rectangle: Rounded Corners 13">
            <a:extLst>
              <a:ext uri="{FF2B5EF4-FFF2-40B4-BE49-F238E27FC236}">
                <a16:creationId xmlns:a16="http://schemas.microsoft.com/office/drawing/2014/main" id="{DC98C332-580D-1143-F072-8EFD189B929E}"/>
              </a:ext>
            </a:extLst>
          </p:cNvPr>
          <p:cNvSpPr/>
          <p:nvPr/>
        </p:nvSpPr>
        <p:spPr>
          <a:xfrm>
            <a:off x="609600" y="2514600"/>
            <a:ext cx="2667000" cy="635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Arc Kubernetes (EKS, GKE, on-premises)</a:t>
            </a:r>
          </a:p>
        </p:txBody>
      </p:sp>
      <p:sp>
        <p:nvSpPr>
          <p:cNvPr id="15" name="Rectangle: Rounded Corners 14">
            <a:extLst>
              <a:ext uri="{FF2B5EF4-FFF2-40B4-BE49-F238E27FC236}">
                <a16:creationId xmlns:a16="http://schemas.microsoft.com/office/drawing/2014/main" id="{9A8B0A5E-828B-AA17-ED08-BEC2FCAD1F6F}"/>
              </a:ext>
            </a:extLst>
          </p:cNvPr>
          <p:cNvSpPr/>
          <p:nvPr/>
        </p:nvSpPr>
        <p:spPr>
          <a:xfrm>
            <a:off x="609600" y="3276600"/>
            <a:ext cx="2667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 resources</a:t>
            </a:r>
          </a:p>
        </p:txBody>
      </p:sp>
      <p:sp>
        <p:nvSpPr>
          <p:cNvPr id="16" name="Rectangle: Rounded Corners 15">
            <a:extLst>
              <a:ext uri="{FF2B5EF4-FFF2-40B4-BE49-F238E27FC236}">
                <a16:creationId xmlns:a16="http://schemas.microsoft.com/office/drawing/2014/main" id="{17CD7FCA-F7BA-DB4B-4437-9591B5CDDD59}"/>
              </a:ext>
            </a:extLst>
          </p:cNvPr>
          <p:cNvSpPr/>
          <p:nvPr/>
        </p:nvSpPr>
        <p:spPr>
          <a:xfrm>
            <a:off x="609600" y="4038600"/>
            <a:ext cx="2667000" cy="63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Applications anywhere</a:t>
            </a:r>
          </a:p>
        </p:txBody>
      </p:sp>
      <p:sp>
        <p:nvSpPr>
          <p:cNvPr id="17" name="Rectangle: Rounded Corners 16">
            <a:extLst>
              <a:ext uri="{FF2B5EF4-FFF2-40B4-BE49-F238E27FC236}">
                <a16:creationId xmlns:a16="http://schemas.microsoft.com/office/drawing/2014/main" id="{CD6726B8-DE0E-A2D8-2B47-7BD04277C068}"/>
              </a:ext>
            </a:extLst>
          </p:cNvPr>
          <p:cNvSpPr/>
          <p:nvPr/>
        </p:nvSpPr>
        <p:spPr>
          <a:xfrm>
            <a:off x="609600" y="4800600"/>
            <a:ext cx="2667000" cy="63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AWS and GCP platform logs</a:t>
            </a:r>
          </a:p>
        </p:txBody>
      </p:sp>
      <p:sp>
        <p:nvSpPr>
          <p:cNvPr id="18" name="Rectangle: Rounded Corners 17">
            <a:extLst>
              <a:ext uri="{FF2B5EF4-FFF2-40B4-BE49-F238E27FC236}">
                <a16:creationId xmlns:a16="http://schemas.microsoft.com/office/drawing/2014/main" id="{C0F37517-4FB9-F5DF-F8CF-A4F8A9BAB5A3}"/>
              </a:ext>
            </a:extLst>
          </p:cNvPr>
          <p:cNvSpPr/>
          <p:nvPr/>
        </p:nvSpPr>
        <p:spPr>
          <a:xfrm>
            <a:off x="3683000" y="1752600"/>
            <a:ext cx="3302000" cy="635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Azure Monitor Agent + data collection rules (+ endpoint)</a:t>
            </a:r>
          </a:p>
        </p:txBody>
      </p:sp>
      <p:cxnSp>
        <p:nvCxnSpPr>
          <p:cNvPr id="19" name="Straight Connector 18">
            <a:extLst>
              <a:ext uri="{FF2B5EF4-FFF2-40B4-BE49-F238E27FC236}">
                <a16:creationId xmlns:a16="http://schemas.microsoft.com/office/drawing/2014/main" id="{B298DD6C-E426-2C56-4E4B-7AC6EB6A705C}"/>
              </a:ext>
            </a:extLst>
          </p:cNvPr>
          <p:cNvCxnSpPr/>
          <p:nvPr/>
        </p:nvCxnSpPr>
        <p:spPr>
          <a:xfrm>
            <a:off x="3276600" y="2070100"/>
            <a:ext cx="406400" cy="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36DA715C-D705-C5F3-67DB-67BFAA7E6D97}"/>
              </a:ext>
            </a:extLst>
          </p:cNvPr>
          <p:cNvSpPr/>
          <p:nvPr/>
        </p:nvSpPr>
        <p:spPr>
          <a:xfrm>
            <a:off x="3683000" y="2514600"/>
            <a:ext cx="3302000" cy="635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Cluster extensions: Container insights · Managed Prometheus</a:t>
            </a:r>
          </a:p>
        </p:txBody>
      </p:sp>
      <p:cxnSp>
        <p:nvCxnSpPr>
          <p:cNvPr id="21" name="Straight Connector 20">
            <a:extLst>
              <a:ext uri="{FF2B5EF4-FFF2-40B4-BE49-F238E27FC236}">
                <a16:creationId xmlns:a16="http://schemas.microsoft.com/office/drawing/2014/main" id="{AE503AB5-8226-BFDA-8A0C-10A819F15F58}"/>
              </a:ext>
            </a:extLst>
          </p:cNvPr>
          <p:cNvCxnSpPr/>
          <p:nvPr/>
        </p:nvCxnSpPr>
        <p:spPr>
          <a:xfrm>
            <a:off x="3276600" y="2832100"/>
            <a:ext cx="406400" cy="0"/>
          </a:xfrm>
          <a:prstGeom prst="line">
            <a:avLst/>
          </a:prstGeom>
          <a:ln w="22225">
            <a:solidFill>
              <a:srgbClr val="C4A0FA"/>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8C945AF8-C985-FC1A-7A70-77F546B3DE89}"/>
              </a:ext>
            </a:extLst>
          </p:cNvPr>
          <p:cNvSpPr/>
          <p:nvPr/>
        </p:nvSpPr>
        <p:spPr>
          <a:xfrm>
            <a:off x="3683000" y="3276600"/>
            <a:ext cx="3302000" cy="635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Diagnostic settings</a:t>
            </a:r>
          </a:p>
        </p:txBody>
      </p:sp>
      <p:cxnSp>
        <p:nvCxnSpPr>
          <p:cNvPr id="23" name="Straight Connector 22">
            <a:extLst>
              <a:ext uri="{FF2B5EF4-FFF2-40B4-BE49-F238E27FC236}">
                <a16:creationId xmlns:a16="http://schemas.microsoft.com/office/drawing/2014/main" id="{9653FFE0-C026-6F43-6629-0B54C74045CC}"/>
              </a:ext>
            </a:extLst>
          </p:cNvPr>
          <p:cNvCxnSpPr/>
          <p:nvPr/>
        </p:nvCxnSpPr>
        <p:spPr>
          <a:xfrm>
            <a:off x="3276600" y="3594100"/>
            <a:ext cx="406400" cy="0"/>
          </a:xfrm>
          <a:prstGeom prst="line">
            <a:avLst/>
          </a:prstGeom>
          <a:ln w="22225">
            <a:solidFill>
              <a:srgbClr val="7DAAFA"/>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3CC58F6D-9D69-EBF6-B8A8-814F6203937D}"/>
              </a:ext>
            </a:extLst>
          </p:cNvPr>
          <p:cNvSpPr/>
          <p:nvPr/>
        </p:nvSpPr>
        <p:spPr>
          <a:xfrm>
            <a:off x="3683000" y="4038600"/>
            <a:ext cx="3302000" cy="635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OpenTelemetry: Distro · OTLP via Collector or agent</a:t>
            </a:r>
          </a:p>
        </p:txBody>
      </p:sp>
      <p:cxnSp>
        <p:nvCxnSpPr>
          <p:cNvPr id="25" name="Straight Connector 24">
            <a:extLst>
              <a:ext uri="{FF2B5EF4-FFF2-40B4-BE49-F238E27FC236}">
                <a16:creationId xmlns:a16="http://schemas.microsoft.com/office/drawing/2014/main" id="{C82A8BFB-6D6D-FA7F-8584-19E1D38D0720}"/>
              </a:ext>
            </a:extLst>
          </p:cNvPr>
          <p:cNvCxnSpPr/>
          <p:nvPr/>
        </p:nvCxnSpPr>
        <p:spPr>
          <a:xfrm>
            <a:off x="3276600" y="4356100"/>
            <a:ext cx="4064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7F7C06B7-762F-4BC8-E754-FA34B71FD011}"/>
              </a:ext>
            </a:extLst>
          </p:cNvPr>
          <p:cNvSpPr/>
          <p:nvPr/>
        </p:nvSpPr>
        <p:spPr>
          <a:xfrm>
            <a:off x="3683000" y="4800600"/>
            <a:ext cx="3302000" cy="63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Logs ingestion API · connectors · Prometheus remote write</a:t>
            </a:r>
          </a:p>
        </p:txBody>
      </p:sp>
      <p:cxnSp>
        <p:nvCxnSpPr>
          <p:cNvPr id="27" name="Straight Connector 26">
            <a:extLst>
              <a:ext uri="{FF2B5EF4-FFF2-40B4-BE49-F238E27FC236}">
                <a16:creationId xmlns:a16="http://schemas.microsoft.com/office/drawing/2014/main" id="{F8B24BBB-28B0-CBA2-19D7-88DA28D979B9}"/>
              </a:ext>
            </a:extLst>
          </p:cNvPr>
          <p:cNvCxnSpPr/>
          <p:nvPr/>
        </p:nvCxnSpPr>
        <p:spPr>
          <a:xfrm>
            <a:off x="3276600" y="5118100"/>
            <a:ext cx="4064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016F734C-4794-BEFB-F3DA-084A2429B47B}"/>
              </a:ext>
            </a:extLst>
          </p:cNvPr>
          <p:cNvSpPr/>
          <p:nvPr/>
        </p:nvSpPr>
        <p:spPr>
          <a:xfrm>
            <a:off x="7493000" y="1905000"/>
            <a:ext cx="1905000" cy="1397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F4F4F5"/>
                </a:solidFill>
                <a:latin typeface="Calibri" panose="020F0502020204030204" pitchFamily="34" charset="0"/>
              </a:rPr>
              <a:t>Log Analytics workspace</a:t>
            </a:r>
          </a:p>
          <a:p>
            <a:pPr algn="ctr"/>
            <a:r>
              <a:rPr lang="en-US" sz="1150" b="1">
                <a:solidFill>
                  <a:srgbClr val="F4F4F5"/>
                </a:solidFill>
                <a:latin typeface="Calibri" panose="020F0502020204030204" pitchFamily="34" charset="0"/>
              </a:rPr>
              <a:t>logs, events, Perf, custom tables, Application Insights tables</a:t>
            </a:r>
          </a:p>
        </p:txBody>
      </p:sp>
      <p:sp>
        <p:nvSpPr>
          <p:cNvPr id="29" name="Rectangle: Rounded Corners 28">
            <a:extLst>
              <a:ext uri="{FF2B5EF4-FFF2-40B4-BE49-F238E27FC236}">
                <a16:creationId xmlns:a16="http://schemas.microsoft.com/office/drawing/2014/main" id="{DFA589D7-26B7-30A7-B666-948B4A5A117B}"/>
              </a:ext>
            </a:extLst>
          </p:cNvPr>
          <p:cNvSpPr/>
          <p:nvPr/>
        </p:nvSpPr>
        <p:spPr>
          <a:xfrm>
            <a:off x="7493000" y="3479800"/>
            <a:ext cx="1905000" cy="889000"/>
          </a:xfrm>
          <a:prstGeom prst="roundRect">
            <a:avLst>
              <a:gd name="adj" fmla="val 8000"/>
            </a:avLst>
          </a:prstGeom>
          <a:solidFill>
            <a:srgbClr val="27272C"/>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F4F4F5"/>
                </a:solidFill>
                <a:latin typeface="Calibri" panose="020F0502020204030204" pitchFamily="34" charset="0"/>
              </a:rPr>
              <a:t>Azure Monitor workspace</a:t>
            </a:r>
          </a:p>
          <a:p>
            <a:pPr algn="ctr"/>
            <a:r>
              <a:rPr lang="en-US" sz="1150" b="1">
                <a:solidFill>
                  <a:srgbClr val="F4F4F5"/>
                </a:solidFill>
                <a:latin typeface="Calibri" panose="020F0502020204030204" pitchFamily="34" charset="0"/>
              </a:rPr>
              <a:t>Prometheus metrics</a:t>
            </a:r>
          </a:p>
        </p:txBody>
      </p:sp>
      <p:sp>
        <p:nvSpPr>
          <p:cNvPr id="30" name="Rectangle: Rounded Corners 29">
            <a:extLst>
              <a:ext uri="{FF2B5EF4-FFF2-40B4-BE49-F238E27FC236}">
                <a16:creationId xmlns:a16="http://schemas.microsoft.com/office/drawing/2014/main" id="{1F4FA53D-125F-213A-3CBE-3825731D2D02}"/>
              </a:ext>
            </a:extLst>
          </p:cNvPr>
          <p:cNvSpPr/>
          <p:nvPr/>
        </p:nvSpPr>
        <p:spPr>
          <a:xfrm>
            <a:off x="7493000" y="4521200"/>
            <a:ext cx="1905000" cy="889000"/>
          </a:xfrm>
          <a:prstGeom prst="roundRect">
            <a:avLst>
              <a:gd name="adj" fmla="val 8000"/>
            </a:avLst>
          </a:prstGeom>
          <a:solidFill>
            <a:srgbClr val="27272C"/>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F4F4F5"/>
                </a:solidFill>
                <a:latin typeface="Calibri" panose="020F0502020204030204" pitchFamily="34" charset="0"/>
              </a:rPr>
              <a:t>Azure Monitor Metrics</a:t>
            </a:r>
          </a:p>
          <a:p>
            <a:pPr algn="ctr"/>
            <a:r>
              <a:rPr lang="en-US" sz="1150" b="1">
                <a:solidFill>
                  <a:srgbClr val="F4F4F5"/>
                </a:solidFill>
                <a:latin typeface="Calibri" panose="020F0502020204030204" pitchFamily="34" charset="0"/>
              </a:rPr>
              <a:t>platform and guest metrics</a:t>
            </a:r>
          </a:p>
        </p:txBody>
      </p:sp>
      <p:cxnSp>
        <p:nvCxnSpPr>
          <p:cNvPr id="31" name="Straight Connector 30">
            <a:extLst>
              <a:ext uri="{FF2B5EF4-FFF2-40B4-BE49-F238E27FC236}">
                <a16:creationId xmlns:a16="http://schemas.microsoft.com/office/drawing/2014/main" id="{946854B0-CF1F-8C70-5685-4ED27F4530CD}"/>
              </a:ext>
            </a:extLst>
          </p:cNvPr>
          <p:cNvCxnSpPr/>
          <p:nvPr/>
        </p:nvCxnSpPr>
        <p:spPr>
          <a:xfrm>
            <a:off x="6985000" y="2070100"/>
            <a:ext cx="508000" cy="5334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BE2171E9-3F73-46FD-4967-B7D0CBFA214F}"/>
              </a:ext>
            </a:extLst>
          </p:cNvPr>
          <p:cNvCxnSpPr/>
          <p:nvPr/>
        </p:nvCxnSpPr>
        <p:spPr>
          <a:xfrm flipV="1">
            <a:off x="6985000" y="2603500"/>
            <a:ext cx="508000" cy="2286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D4E0F89-84A9-EBE4-4385-998ED785C495}"/>
              </a:ext>
            </a:extLst>
          </p:cNvPr>
          <p:cNvCxnSpPr/>
          <p:nvPr/>
        </p:nvCxnSpPr>
        <p:spPr>
          <a:xfrm>
            <a:off x="6985000" y="3594100"/>
            <a:ext cx="508000" cy="3302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8405EAE-09F1-68AC-22AD-18A46FD8BD07}"/>
              </a:ext>
            </a:extLst>
          </p:cNvPr>
          <p:cNvCxnSpPr/>
          <p:nvPr/>
        </p:nvCxnSpPr>
        <p:spPr>
          <a:xfrm>
            <a:off x="6985000" y="4356100"/>
            <a:ext cx="508000" cy="6096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2CB6592-9700-FA74-B368-B57DE3CCAFA9}"/>
              </a:ext>
            </a:extLst>
          </p:cNvPr>
          <p:cNvCxnSpPr/>
          <p:nvPr/>
        </p:nvCxnSpPr>
        <p:spPr>
          <a:xfrm flipV="1">
            <a:off x="6985000" y="4965700"/>
            <a:ext cx="508000" cy="15240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6A559BEA-3370-B560-35FD-FCCBBB4C41B5}"/>
              </a:ext>
            </a:extLst>
          </p:cNvPr>
          <p:cNvSpPr/>
          <p:nvPr/>
        </p:nvSpPr>
        <p:spPr>
          <a:xfrm>
            <a:off x="9804400" y="17526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Log Analytics (KQL)</a:t>
            </a:r>
          </a:p>
        </p:txBody>
      </p:sp>
      <p:cxnSp>
        <p:nvCxnSpPr>
          <p:cNvPr id="37" name="Straight Connector 36">
            <a:extLst>
              <a:ext uri="{FF2B5EF4-FFF2-40B4-BE49-F238E27FC236}">
                <a16:creationId xmlns:a16="http://schemas.microsoft.com/office/drawing/2014/main" id="{65A638F4-6766-656E-31A7-8CB87E569DDC}"/>
              </a:ext>
            </a:extLst>
          </p:cNvPr>
          <p:cNvCxnSpPr/>
          <p:nvPr/>
        </p:nvCxnSpPr>
        <p:spPr>
          <a:xfrm>
            <a:off x="9398000" y="20320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38" name="Rectangle: Rounded Corners 37">
            <a:extLst>
              <a:ext uri="{FF2B5EF4-FFF2-40B4-BE49-F238E27FC236}">
                <a16:creationId xmlns:a16="http://schemas.microsoft.com/office/drawing/2014/main" id="{080A2C16-CD4E-5962-2156-6488ABDFE119}"/>
              </a:ext>
            </a:extLst>
          </p:cNvPr>
          <p:cNvSpPr/>
          <p:nvPr/>
        </p:nvSpPr>
        <p:spPr>
          <a:xfrm>
            <a:off x="9804400" y="24130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Managed Grafana</a:t>
            </a:r>
          </a:p>
        </p:txBody>
      </p:sp>
      <p:cxnSp>
        <p:nvCxnSpPr>
          <p:cNvPr id="39" name="Straight Connector 38">
            <a:extLst>
              <a:ext uri="{FF2B5EF4-FFF2-40B4-BE49-F238E27FC236}">
                <a16:creationId xmlns:a16="http://schemas.microsoft.com/office/drawing/2014/main" id="{AF42ED2B-50AD-8875-4B9C-56CAA5799B9A}"/>
              </a:ext>
            </a:extLst>
          </p:cNvPr>
          <p:cNvCxnSpPr/>
          <p:nvPr/>
        </p:nvCxnSpPr>
        <p:spPr>
          <a:xfrm>
            <a:off x="9398000" y="26924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1DC6F985-CC06-6C6E-014E-079DA179411E}"/>
              </a:ext>
            </a:extLst>
          </p:cNvPr>
          <p:cNvSpPr/>
          <p:nvPr/>
        </p:nvSpPr>
        <p:spPr>
          <a:xfrm>
            <a:off x="9804400" y="30734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Workbooks and dashboards</a:t>
            </a:r>
          </a:p>
        </p:txBody>
      </p:sp>
      <p:cxnSp>
        <p:nvCxnSpPr>
          <p:cNvPr id="41" name="Straight Connector 40">
            <a:extLst>
              <a:ext uri="{FF2B5EF4-FFF2-40B4-BE49-F238E27FC236}">
                <a16:creationId xmlns:a16="http://schemas.microsoft.com/office/drawing/2014/main" id="{F4CDFCC0-47D1-3491-F4A1-F8A1059C84EE}"/>
              </a:ext>
            </a:extLst>
          </p:cNvPr>
          <p:cNvCxnSpPr/>
          <p:nvPr/>
        </p:nvCxnSpPr>
        <p:spPr>
          <a:xfrm>
            <a:off x="9398000" y="33528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7D4145D8-9A59-6BFB-7496-7662189FA030}"/>
              </a:ext>
            </a:extLst>
          </p:cNvPr>
          <p:cNvSpPr/>
          <p:nvPr/>
        </p:nvSpPr>
        <p:spPr>
          <a:xfrm>
            <a:off x="9804400" y="37338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Health Models (PREVIEW)</a:t>
            </a:r>
          </a:p>
        </p:txBody>
      </p:sp>
      <p:cxnSp>
        <p:nvCxnSpPr>
          <p:cNvPr id="43" name="Straight Connector 42">
            <a:extLst>
              <a:ext uri="{FF2B5EF4-FFF2-40B4-BE49-F238E27FC236}">
                <a16:creationId xmlns:a16="http://schemas.microsoft.com/office/drawing/2014/main" id="{69EE2085-880B-82F8-47BB-7763F36AEF0F}"/>
              </a:ext>
            </a:extLst>
          </p:cNvPr>
          <p:cNvCxnSpPr/>
          <p:nvPr/>
        </p:nvCxnSpPr>
        <p:spPr>
          <a:xfrm>
            <a:off x="9398000" y="40132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Rounded Corners 43">
            <a:extLst>
              <a:ext uri="{FF2B5EF4-FFF2-40B4-BE49-F238E27FC236}">
                <a16:creationId xmlns:a16="http://schemas.microsoft.com/office/drawing/2014/main" id="{EBA7D350-EB77-1A53-9030-E8F0ED0CC9CF}"/>
              </a:ext>
            </a:extLst>
          </p:cNvPr>
          <p:cNvSpPr/>
          <p:nvPr/>
        </p:nvSpPr>
        <p:spPr>
          <a:xfrm>
            <a:off x="9804400" y="43942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Alerts and action groups</a:t>
            </a:r>
          </a:p>
        </p:txBody>
      </p:sp>
      <p:cxnSp>
        <p:nvCxnSpPr>
          <p:cNvPr id="45" name="Straight Connector 44">
            <a:extLst>
              <a:ext uri="{FF2B5EF4-FFF2-40B4-BE49-F238E27FC236}">
                <a16:creationId xmlns:a16="http://schemas.microsoft.com/office/drawing/2014/main" id="{77302F27-0219-8610-FD26-73362CE6A104}"/>
              </a:ext>
            </a:extLst>
          </p:cNvPr>
          <p:cNvCxnSpPr/>
          <p:nvPr/>
        </p:nvCxnSpPr>
        <p:spPr>
          <a:xfrm>
            <a:off x="9398000" y="46736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6" name="Rectangle: Rounded Corners 45">
            <a:extLst>
              <a:ext uri="{FF2B5EF4-FFF2-40B4-BE49-F238E27FC236}">
                <a16:creationId xmlns:a16="http://schemas.microsoft.com/office/drawing/2014/main" id="{96076E32-CC0E-22FC-C47D-6B216AB05FEE}"/>
              </a:ext>
            </a:extLst>
          </p:cNvPr>
          <p:cNvSpPr/>
          <p:nvPr/>
        </p:nvSpPr>
        <p:spPr>
          <a:xfrm>
            <a:off x="9804400" y="5054600"/>
            <a:ext cx="1778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Microsoft Sentinel and Defender</a:t>
            </a:r>
          </a:p>
        </p:txBody>
      </p:sp>
      <p:cxnSp>
        <p:nvCxnSpPr>
          <p:cNvPr id="47" name="Straight Connector 46">
            <a:extLst>
              <a:ext uri="{FF2B5EF4-FFF2-40B4-BE49-F238E27FC236}">
                <a16:creationId xmlns:a16="http://schemas.microsoft.com/office/drawing/2014/main" id="{2919BBCB-EEA7-D51C-EADA-4C20C1A2DED3}"/>
              </a:ext>
            </a:extLst>
          </p:cNvPr>
          <p:cNvCxnSpPr/>
          <p:nvPr/>
        </p:nvCxnSpPr>
        <p:spPr>
          <a:xfrm>
            <a:off x="9398000" y="5334000"/>
            <a:ext cx="4064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09A2FB81-0D8F-0E5F-E269-5A1B21089DEB}"/>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6FD1BBE8-9646-8D8E-EC4B-461485FE283C}"/>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Four collection paths, three stores, one set of consumers, for every estate.</a:t>
            </a:r>
          </a:p>
        </p:txBody>
      </p:sp>
    </p:spTree>
    <p:extLst>
      <p:ext uri="{BB962C8B-B14F-4D97-AF65-F5344CB8AC3E}">
        <p14:creationId xmlns:p14="http://schemas.microsoft.com/office/powerpoint/2010/main" val="2331752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A1DA2230-BE1C-7F63-EEB4-7696780F112C}"/>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277FF20-0835-2077-D920-404093CDDCB1}"/>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27CA1F9-6E6B-4616-7240-DB25BDEF1873}"/>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757931-72D9-CCA7-966A-F6E08A98BAAA}"/>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5 · Plan it</a:t>
            </a:r>
          </a:p>
        </p:txBody>
      </p:sp>
      <p:sp>
        <p:nvSpPr>
          <p:cNvPr id="6" name="ChapterTag">
            <a:extLst>
              <a:ext uri="{FF2B5EF4-FFF2-40B4-BE49-F238E27FC236}">
                <a16:creationId xmlns:a16="http://schemas.microsoft.com/office/drawing/2014/main" id="{38778149-C23D-00DC-720A-17DD4A6D063A}"/>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64CDE8F8-A8EB-373E-52A4-D53F8991965E}"/>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A4B374B0-089A-1293-76DC-0A95A925AE58}"/>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48</a:t>
            </a:r>
          </a:p>
        </p:txBody>
      </p:sp>
      <p:sp>
        <p:nvSpPr>
          <p:cNvPr id="9" name="TextBox 8">
            <a:extLst>
              <a:ext uri="{FF2B5EF4-FFF2-40B4-BE49-F238E27FC236}">
                <a16:creationId xmlns:a16="http://schemas.microsoft.com/office/drawing/2014/main" id="{75942685-B3FA-D58C-8CCE-FD785B6481B5}"/>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A3E635"/>
                </a:solidFill>
                <a:latin typeface="Calibri" panose="020F0502020204030204" pitchFamily="34" charset="0"/>
              </a:rPr>
              <a:t>5</a:t>
            </a:r>
          </a:p>
        </p:txBody>
      </p:sp>
      <p:sp>
        <p:nvSpPr>
          <p:cNvPr id="10" name="TextBox 9">
            <a:extLst>
              <a:ext uri="{FF2B5EF4-FFF2-40B4-BE49-F238E27FC236}">
                <a16:creationId xmlns:a16="http://schemas.microsoft.com/office/drawing/2014/main" id="{2633A488-AD64-B0AC-FF55-B32A0ED54D4F}"/>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BFADF3D1-D633-023C-FD24-0122E79239A2}"/>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What do we decide before we install anything, and in what order?</a:t>
            </a:r>
          </a:p>
        </p:txBody>
      </p:sp>
      <p:sp>
        <p:nvSpPr>
          <p:cNvPr id="12" name="TextBox 11">
            <a:extLst>
              <a:ext uri="{FF2B5EF4-FFF2-40B4-BE49-F238E27FC236}">
                <a16:creationId xmlns:a16="http://schemas.microsoft.com/office/drawing/2014/main" id="{B51D2099-A957-4CAC-76FC-0FA6C8373EE3}"/>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A3E635"/>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017471E6-873A-2F7A-E7A5-1765B3848A91}"/>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Inventory · ownership and tags · service boundaries · SLIs and SLOs · the signal catalogue · alert design · dashboards · health models · access · cost and residency · phases</a:t>
            </a:r>
          </a:p>
        </p:txBody>
      </p:sp>
      <p:sp>
        <p:nvSpPr>
          <p:cNvPr id="14" name="Rectangle: Rounded Corners 13">
            <a:extLst>
              <a:ext uri="{FF2B5EF4-FFF2-40B4-BE49-F238E27FC236}">
                <a16:creationId xmlns:a16="http://schemas.microsoft.com/office/drawing/2014/main" id="{1AC2617F-686A-F40D-BD38-D7BB6EB489FE}"/>
              </a:ext>
            </a:extLst>
          </p:cNvPr>
          <p:cNvSpPr/>
          <p:nvPr/>
        </p:nvSpPr>
        <p:spPr>
          <a:xfrm>
            <a:off x="609600" y="5588000"/>
            <a:ext cx="1282700" cy="508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9866135E-4685-E90F-FBF4-1F18E177E572}"/>
              </a:ext>
            </a:extLst>
          </p:cNvPr>
          <p:cNvSpPr/>
          <p:nvPr/>
        </p:nvSpPr>
        <p:spPr>
          <a:xfrm>
            <a:off x="1993900" y="5588000"/>
            <a:ext cx="1282700" cy="508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EBDE075C-4C4E-3FEB-A527-39438F8CB761}"/>
              </a:ext>
            </a:extLst>
          </p:cNvPr>
          <p:cNvSpPr/>
          <p:nvPr/>
        </p:nvSpPr>
        <p:spPr>
          <a:xfrm>
            <a:off x="3378200" y="5588000"/>
            <a:ext cx="12827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371E68F3-9CFD-D8DD-0D69-494A0279F7E1}"/>
              </a:ext>
            </a:extLst>
          </p:cNvPr>
          <p:cNvSpPr/>
          <p:nvPr/>
        </p:nvSpPr>
        <p:spPr>
          <a:xfrm>
            <a:off x="4762500" y="5588000"/>
            <a:ext cx="1282700" cy="508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9554E554-FEA7-ED6B-8E19-3BA477A45930}"/>
              </a:ext>
            </a:extLst>
          </p:cNvPr>
          <p:cNvSpPr/>
          <p:nvPr/>
        </p:nvSpPr>
        <p:spPr>
          <a:xfrm>
            <a:off x="6146800" y="5588000"/>
            <a:ext cx="1282700" cy="508000"/>
          </a:xfrm>
          <a:prstGeom prst="roundRect">
            <a:avLst>
              <a:gd name="adj" fmla="val 800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2FAEB65E-0FA6-1657-B844-C773A18F048F}"/>
              </a:ext>
            </a:extLst>
          </p:cNvPr>
          <p:cNvSpPr/>
          <p:nvPr/>
        </p:nvSpPr>
        <p:spPr>
          <a:xfrm>
            <a:off x="7531100" y="5588000"/>
            <a:ext cx="1282700" cy="508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155028C5-D5C8-07FB-28E5-E23162F009A4}"/>
              </a:ext>
            </a:extLst>
          </p:cNvPr>
          <p:cNvSpPr/>
          <p:nvPr/>
        </p:nvSpPr>
        <p:spPr>
          <a:xfrm>
            <a:off x="8915400" y="5588000"/>
            <a:ext cx="1282700" cy="5080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EF2AB502-A6A6-8C7F-EFE6-D020630109F0}"/>
              </a:ext>
            </a:extLst>
          </p:cNvPr>
          <p:cNvSpPr/>
          <p:nvPr/>
        </p:nvSpPr>
        <p:spPr>
          <a:xfrm>
            <a:off x="10299700" y="5588000"/>
            <a:ext cx="1282700" cy="5080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Reference</a:t>
            </a:r>
          </a:p>
        </p:txBody>
      </p:sp>
    </p:spTree>
    <p:extLst>
      <p:ext uri="{BB962C8B-B14F-4D97-AF65-F5344CB8AC3E}">
        <p14:creationId xmlns:p14="http://schemas.microsoft.com/office/powerpoint/2010/main" val="13381953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C0E47307-B626-81E8-FB98-310DA823783D}"/>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EBF16470-8DCB-811F-EAD2-C7A0BF20019D}"/>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EAB9332-A25F-326F-F255-425C1790A871}"/>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D55B9F1-07C5-30C2-2D05-D4CC312B6CE8}"/>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planning sequence</a:t>
            </a:r>
          </a:p>
        </p:txBody>
      </p:sp>
      <p:sp>
        <p:nvSpPr>
          <p:cNvPr id="6" name="ChapterTag">
            <a:extLst>
              <a:ext uri="{FF2B5EF4-FFF2-40B4-BE49-F238E27FC236}">
                <a16:creationId xmlns:a16="http://schemas.microsoft.com/office/drawing/2014/main" id="{DEF83B92-4473-3A37-B2D6-6D295019A40E}"/>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24DFD4CC-F890-0B44-4FD3-307898CE817D}"/>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E2DC292D-C1C3-831B-B42F-3E88DA51DD95}"/>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49</a:t>
            </a:r>
          </a:p>
        </p:txBody>
      </p:sp>
      <p:sp>
        <p:nvSpPr>
          <p:cNvPr id="9" name="Oval 8">
            <a:extLst>
              <a:ext uri="{FF2B5EF4-FFF2-40B4-BE49-F238E27FC236}">
                <a16:creationId xmlns:a16="http://schemas.microsoft.com/office/drawing/2014/main" id="{DCB9289C-2D07-1B81-90EC-0D36CAD99507}"/>
              </a:ext>
            </a:extLst>
          </p:cNvPr>
          <p:cNvSpPr/>
          <p:nvPr/>
        </p:nvSpPr>
        <p:spPr>
          <a:xfrm>
            <a:off x="660400" y="16446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ED01C8EF-B4BE-496C-07FB-2EF3DF106E6B}"/>
              </a:ext>
            </a:extLst>
          </p:cNvPr>
          <p:cNvSpPr/>
          <p:nvPr/>
        </p:nvSpPr>
        <p:spPr>
          <a:xfrm>
            <a:off x="1219200" y="16002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Inventory what you run and where</a:t>
            </a:r>
          </a:p>
        </p:txBody>
      </p:sp>
      <p:sp>
        <p:nvSpPr>
          <p:cNvPr id="11" name="Oval 10">
            <a:extLst>
              <a:ext uri="{FF2B5EF4-FFF2-40B4-BE49-F238E27FC236}">
                <a16:creationId xmlns:a16="http://schemas.microsoft.com/office/drawing/2014/main" id="{6484391C-53D5-B5C4-2270-4622CF1521A2}"/>
              </a:ext>
            </a:extLst>
          </p:cNvPr>
          <p:cNvSpPr/>
          <p:nvPr/>
        </p:nvSpPr>
        <p:spPr>
          <a:xfrm>
            <a:off x="660400" y="21653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2" name="Rectangle: Rounded Corners 11">
            <a:extLst>
              <a:ext uri="{FF2B5EF4-FFF2-40B4-BE49-F238E27FC236}">
                <a16:creationId xmlns:a16="http://schemas.microsoft.com/office/drawing/2014/main" id="{604D0C8D-2AC2-A15C-F832-DC7334B7458C}"/>
              </a:ext>
            </a:extLst>
          </p:cNvPr>
          <p:cNvSpPr/>
          <p:nvPr/>
        </p:nvSpPr>
        <p:spPr>
          <a:xfrm>
            <a:off x="1219200" y="21209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Name an owner for every service and every machine</a:t>
            </a:r>
          </a:p>
        </p:txBody>
      </p:sp>
      <p:sp>
        <p:nvSpPr>
          <p:cNvPr id="13" name="Oval 12">
            <a:extLst>
              <a:ext uri="{FF2B5EF4-FFF2-40B4-BE49-F238E27FC236}">
                <a16:creationId xmlns:a16="http://schemas.microsoft.com/office/drawing/2014/main" id="{720986EE-E61F-CAD2-CDE3-EBDAF6FF2B25}"/>
              </a:ext>
            </a:extLst>
          </p:cNvPr>
          <p:cNvSpPr/>
          <p:nvPr/>
        </p:nvSpPr>
        <p:spPr>
          <a:xfrm>
            <a:off x="660400" y="26860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4" name="Rectangle: Rounded Corners 13">
            <a:extLst>
              <a:ext uri="{FF2B5EF4-FFF2-40B4-BE49-F238E27FC236}">
                <a16:creationId xmlns:a16="http://schemas.microsoft.com/office/drawing/2014/main" id="{75FD909D-A59C-4DBF-F906-D726A620B330}"/>
              </a:ext>
            </a:extLst>
          </p:cNvPr>
          <p:cNvSpPr/>
          <p:nvPr/>
        </p:nvSpPr>
        <p:spPr>
          <a:xfrm>
            <a:off x="1219200" y="26416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Draw service boundaries and dependencies</a:t>
            </a:r>
          </a:p>
        </p:txBody>
      </p:sp>
      <p:sp>
        <p:nvSpPr>
          <p:cNvPr id="15" name="Oval 14">
            <a:extLst>
              <a:ext uri="{FF2B5EF4-FFF2-40B4-BE49-F238E27FC236}">
                <a16:creationId xmlns:a16="http://schemas.microsoft.com/office/drawing/2014/main" id="{C6B48AE3-7FE4-E8C3-1FF9-9F4552F7E291}"/>
              </a:ext>
            </a:extLst>
          </p:cNvPr>
          <p:cNvSpPr/>
          <p:nvPr/>
        </p:nvSpPr>
        <p:spPr>
          <a:xfrm>
            <a:off x="660400" y="32067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6" name="Rectangle: Rounded Corners 15">
            <a:extLst>
              <a:ext uri="{FF2B5EF4-FFF2-40B4-BE49-F238E27FC236}">
                <a16:creationId xmlns:a16="http://schemas.microsoft.com/office/drawing/2014/main" id="{CBCD88F6-6018-DB9A-9C2A-7FFC4070DAB2}"/>
              </a:ext>
            </a:extLst>
          </p:cNvPr>
          <p:cNvSpPr/>
          <p:nvPr/>
        </p:nvSpPr>
        <p:spPr>
          <a:xfrm>
            <a:off x="1219200" y="31623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Define what working means: SLIs, SLOs, time targets</a:t>
            </a:r>
          </a:p>
        </p:txBody>
      </p:sp>
      <p:sp>
        <p:nvSpPr>
          <p:cNvPr id="17" name="Oval 16">
            <a:extLst>
              <a:ext uri="{FF2B5EF4-FFF2-40B4-BE49-F238E27FC236}">
                <a16:creationId xmlns:a16="http://schemas.microsoft.com/office/drawing/2014/main" id="{8E588843-7087-0603-19F9-B9AD0B1B7810}"/>
              </a:ext>
            </a:extLst>
          </p:cNvPr>
          <p:cNvSpPr/>
          <p:nvPr/>
        </p:nvSpPr>
        <p:spPr>
          <a:xfrm>
            <a:off x="660400" y="37274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18" name="Rectangle: Rounded Corners 17">
            <a:extLst>
              <a:ext uri="{FF2B5EF4-FFF2-40B4-BE49-F238E27FC236}">
                <a16:creationId xmlns:a16="http://schemas.microsoft.com/office/drawing/2014/main" id="{C0862206-E798-FE7B-0167-6695AAE35F43}"/>
              </a:ext>
            </a:extLst>
          </p:cNvPr>
          <p:cNvSpPr/>
          <p:nvPr/>
        </p:nvSpPr>
        <p:spPr>
          <a:xfrm>
            <a:off x="1219200" y="36830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Choose the signals that prove them, and only those</a:t>
            </a:r>
          </a:p>
        </p:txBody>
      </p:sp>
      <p:sp>
        <p:nvSpPr>
          <p:cNvPr id="19" name="Oval 18">
            <a:extLst>
              <a:ext uri="{FF2B5EF4-FFF2-40B4-BE49-F238E27FC236}">
                <a16:creationId xmlns:a16="http://schemas.microsoft.com/office/drawing/2014/main" id="{A84858FF-7113-7CD6-3BA4-3C8DEE4C5748}"/>
              </a:ext>
            </a:extLst>
          </p:cNvPr>
          <p:cNvSpPr/>
          <p:nvPr/>
        </p:nvSpPr>
        <p:spPr>
          <a:xfrm>
            <a:off x="660400" y="42481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6</a:t>
            </a:r>
          </a:p>
        </p:txBody>
      </p:sp>
      <p:sp>
        <p:nvSpPr>
          <p:cNvPr id="20" name="Rectangle: Rounded Corners 19">
            <a:extLst>
              <a:ext uri="{FF2B5EF4-FFF2-40B4-BE49-F238E27FC236}">
                <a16:creationId xmlns:a16="http://schemas.microsoft.com/office/drawing/2014/main" id="{A78EAD19-E50D-C083-0C6A-7BAB86D961A6}"/>
              </a:ext>
            </a:extLst>
          </p:cNvPr>
          <p:cNvSpPr/>
          <p:nvPr/>
        </p:nvSpPr>
        <p:spPr>
          <a:xfrm>
            <a:off x="1219200" y="42037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Design alerts with owners and routing</a:t>
            </a:r>
          </a:p>
        </p:txBody>
      </p:sp>
      <p:sp>
        <p:nvSpPr>
          <p:cNvPr id="21" name="Oval 20">
            <a:extLst>
              <a:ext uri="{FF2B5EF4-FFF2-40B4-BE49-F238E27FC236}">
                <a16:creationId xmlns:a16="http://schemas.microsoft.com/office/drawing/2014/main" id="{A1CA39E7-EF0B-ADE9-6EE2-6FDEA3B5387E}"/>
              </a:ext>
            </a:extLst>
          </p:cNvPr>
          <p:cNvSpPr/>
          <p:nvPr/>
        </p:nvSpPr>
        <p:spPr>
          <a:xfrm>
            <a:off x="660400" y="47688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7</a:t>
            </a:r>
          </a:p>
        </p:txBody>
      </p:sp>
      <p:sp>
        <p:nvSpPr>
          <p:cNvPr id="22" name="Rectangle: Rounded Corners 21">
            <a:extLst>
              <a:ext uri="{FF2B5EF4-FFF2-40B4-BE49-F238E27FC236}">
                <a16:creationId xmlns:a16="http://schemas.microsoft.com/office/drawing/2014/main" id="{7683BD83-AEC3-2778-78E2-9C7BD7A929F7}"/>
              </a:ext>
            </a:extLst>
          </p:cNvPr>
          <p:cNvSpPr/>
          <p:nvPr/>
        </p:nvSpPr>
        <p:spPr>
          <a:xfrm>
            <a:off x="1219200" y="47244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Design the views: service first, resource second</a:t>
            </a:r>
          </a:p>
        </p:txBody>
      </p:sp>
      <p:sp>
        <p:nvSpPr>
          <p:cNvPr id="23" name="Oval 22">
            <a:extLst>
              <a:ext uri="{FF2B5EF4-FFF2-40B4-BE49-F238E27FC236}">
                <a16:creationId xmlns:a16="http://schemas.microsoft.com/office/drawing/2014/main" id="{78FDDE69-2049-6A26-2CE1-2A0868B745C3}"/>
              </a:ext>
            </a:extLst>
          </p:cNvPr>
          <p:cNvSpPr/>
          <p:nvPr/>
        </p:nvSpPr>
        <p:spPr>
          <a:xfrm>
            <a:off x="660400" y="52895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8</a:t>
            </a:r>
          </a:p>
        </p:txBody>
      </p:sp>
      <p:sp>
        <p:nvSpPr>
          <p:cNvPr id="24" name="Rectangle: Rounded Corners 23">
            <a:extLst>
              <a:ext uri="{FF2B5EF4-FFF2-40B4-BE49-F238E27FC236}">
                <a16:creationId xmlns:a16="http://schemas.microsoft.com/office/drawing/2014/main" id="{3D2D01EA-40FD-EDA4-F514-066D5FED26B3}"/>
              </a:ext>
            </a:extLst>
          </p:cNvPr>
          <p:cNvSpPr/>
          <p:nvPr/>
        </p:nvSpPr>
        <p:spPr>
          <a:xfrm>
            <a:off x="1219200" y="52451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Set access, retention, residency and budget</a:t>
            </a:r>
          </a:p>
        </p:txBody>
      </p:sp>
      <p:sp>
        <p:nvSpPr>
          <p:cNvPr id="25" name="Oval 24">
            <a:extLst>
              <a:ext uri="{FF2B5EF4-FFF2-40B4-BE49-F238E27FC236}">
                <a16:creationId xmlns:a16="http://schemas.microsoft.com/office/drawing/2014/main" id="{03B7790E-C2C3-B5CE-01CC-4D7E46AE2112}"/>
              </a:ext>
            </a:extLst>
          </p:cNvPr>
          <p:cNvSpPr/>
          <p:nvPr/>
        </p:nvSpPr>
        <p:spPr>
          <a:xfrm>
            <a:off x="660400" y="581025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9</a:t>
            </a:r>
          </a:p>
        </p:txBody>
      </p:sp>
      <p:sp>
        <p:nvSpPr>
          <p:cNvPr id="26" name="Rectangle: Rounded Corners 25">
            <a:extLst>
              <a:ext uri="{FF2B5EF4-FFF2-40B4-BE49-F238E27FC236}">
                <a16:creationId xmlns:a16="http://schemas.microsoft.com/office/drawing/2014/main" id="{F3EA30C7-7AA1-4217-80DD-775DD55199BF}"/>
              </a:ext>
            </a:extLst>
          </p:cNvPr>
          <p:cNvSpPr/>
          <p:nvPr/>
        </p:nvSpPr>
        <p:spPr>
          <a:xfrm>
            <a:off x="1219200" y="5765800"/>
            <a:ext cx="10363200" cy="4445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250">
                <a:solidFill>
                  <a:srgbClr val="F4F4F5"/>
                </a:solidFill>
                <a:latin typeface="Calibri" panose="020F0502020204030204" pitchFamily="34" charset="0"/>
              </a:rPr>
              <a:t>Phase the rollout by estate</a:t>
            </a:r>
          </a:p>
        </p:txBody>
      </p:sp>
    </p:spTree>
    <p:extLst>
      <p:ext uri="{BB962C8B-B14F-4D97-AF65-F5344CB8AC3E}">
        <p14:creationId xmlns:p14="http://schemas.microsoft.com/office/powerpoint/2010/main" val="36244230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672F3445-9A16-3935-0754-A9EEEB39425A}"/>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91902C56-198D-8D3B-7812-ECB2C0079EAB}"/>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BF6AC26-33AC-8A99-4F72-402BB5FBC327}"/>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24F862A-42E7-8D08-3C95-379B44BC2BE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Inventory and ownership</a:t>
            </a:r>
          </a:p>
        </p:txBody>
      </p:sp>
      <p:sp>
        <p:nvSpPr>
          <p:cNvPr id="6" name="ChapterTag">
            <a:extLst>
              <a:ext uri="{FF2B5EF4-FFF2-40B4-BE49-F238E27FC236}">
                <a16:creationId xmlns:a16="http://schemas.microsoft.com/office/drawing/2014/main" id="{1CB49972-320B-73AD-7C0E-88465A73D4E7}"/>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551C69ED-07CA-DA80-7DB4-17BCAB08D0ED}"/>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4DEA4302-7ED7-EE6B-5B9E-1CD2F9C1FC1E}"/>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50</a:t>
            </a:r>
          </a:p>
        </p:txBody>
      </p:sp>
      <p:sp>
        <p:nvSpPr>
          <p:cNvPr id="9" name="Oval 8">
            <a:extLst>
              <a:ext uri="{FF2B5EF4-FFF2-40B4-BE49-F238E27FC236}">
                <a16:creationId xmlns:a16="http://schemas.microsoft.com/office/drawing/2014/main" id="{A562308A-265E-B7DC-57C4-74E942FBD72D}"/>
              </a:ext>
            </a:extLst>
          </p:cNvPr>
          <p:cNvSpPr/>
          <p:nvPr/>
        </p:nvSpPr>
        <p:spPr>
          <a:xfrm>
            <a:off x="660400" y="1685925"/>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7FA0BF0-3F83-7CC4-28AC-AD52987555D5}"/>
              </a:ext>
            </a:extLst>
          </p:cNvPr>
          <p:cNvSpPr txBox="1"/>
          <p:nvPr/>
        </p:nvSpPr>
        <p:spPr>
          <a:xfrm>
            <a:off x="889000" y="1600200"/>
            <a:ext cx="10693400" cy="58928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Sources of truth: Azure Resource Graph for everything Arc projects; vCenter and SCVMM inventory through the resource bridge; the multicloud connector for AWS and GCP services; your CMDB for what is not yet projected</a:t>
            </a:r>
          </a:p>
        </p:txBody>
      </p:sp>
      <p:sp>
        <p:nvSpPr>
          <p:cNvPr id="11" name="Oval 10">
            <a:extLst>
              <a:ext uri="{FF2B5EF4-FFF2-40B4-BE49-F238E27FC236}">
                <a16:creationId xmlns:a16="http://schemas.microsoft.com/office/drawing/2014/main" id="{75D44B6D-589C-90C9-432D-CAF00E6EBDF1}"/>
              </a:ext>
            </a:extLst>
          </p:cNvPr>
          <p:cNvSpPr/>
          <p:nvPr/>
        </p:nvSpPr>
        <p:spPr>
          <a:xfrm>
            <a:off x="660400" y="2351405"/>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8D81CAD-B670-AD95-284D-AD405A589DA6}"/>
              </a:ext>
            </a:extLst>
          </p:cNvPr>
          <p:cNvSpPr txBox="1"/>
          <p:nvPr/>
        </p:nvSpPr>
        <p:spPr>
          <a:xfrm>
            <a:off x="889000" y="226568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Minimum tags, enforced by Policy at connect time: service, owner, environment, site or cloud, costCentre, dataClass</a:t>
            </a:r>
          </a:p>
        </p:txBody>
      </p:sp>
      <p:sp>
        <p:nvSpPr>
          <p:cNvPr id="13" name="Oval 12">
            <a:extLst>
              <a:ext uri="{FF2B5EF4-FFF2-40B4-BE49-F238E27FC236}">
                <a16:creationId xmlns:a16="http://schemas.microsoft.com/office/drawing/2014/main" id="{8520F48B-071D-3271-AC25-2D50D3B0B81C}"/>
              </a:ext>
            </a:extLst>
          </p:cNvPr>
          <p:cNvSpPr/>
          <p:nvPr/>
        </p:nvSpPr>
        <p:spPr>
          <a:xfrm>
            <a:off x="660400" y="2773045"/>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FAF5472-A355-3C3E-764C-FF9F16E8D35D}"/>
              </a:ext>
            </a:extLst>
          </p:cNvPr>
          <p:cNvSpPr txBox="1"/>
          <p:nvPr/>
        </p:nvSpPr>
        <p:spPr>
          <a:xfrm>
            <a:off x="889000" y="2687320"/>
            <a:ext cx="10693400" cy="58928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Ownership is per service, not per server: the service owner declares the service recovered; component owners make changes</a:t>
            </a:r>
          </a:p>
        </p:txBody>
      </p:sp>
      <p:sp>
        <p:nvSpPr>
          <p:cNvPr id="15" name="Oval 14">
            <a:extLst>
              <a:ext uri="{FF2B5EF4-FFF2-40B4-BE49-F238E27FC236}">
                <a16:creationId xmlns:a16="http://schemas.microsoft.com/office/drawing/2014/main" id="{885A4783-A459-F7B3-40EE-F6134D2C3AF4}"/>
              </a:ext>
            </a:extLst>
          </p:cNvPr>
          <p:cNvSpPr/>
          <p:nvPr/>
        </p:nvSpPr>
        <p:spPr>
          <a:xfrm>
            <a:off x="660400" y="3438525"/>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623885C-12C2-9A75-CA01-4C26532ABE07}"/>
              </a:ext>
            </a:extLst>
          </p:cNvPr>
          <p:cNvSpPr txBox="1"/>
          <p:nvPr/>
        </p:nvSpPr>
        <p:spPr>
          <a:xfrm>
            <a:off x="889000" y="3352800"/>
            <a:ext cx="10693400" cy="58928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Reconcile monthly: Resource Graph against the CMDB; anything with no owner is a risk, anything with no tags is unmonitored by definition</a:t>
            </a:r>
          </a:p>
        </p:txBody>
      </p:sp>
      <p:sp>
        <p:nvSpPr>
          <p:cNvPr id="17" name="Oval 16">
            <a:extLst>
              <a:ext uri="{FF2B5EF4-FFF2-40B4-BE49-F238E27FC236}">
                <a16:creationId xmlns:a16="http://schemas.microsoft.com/office/drawing/2014/main" id="{E8505744-5645-ACE0-C8F4-AEB7827FFCF4}"/>
              </a:ext>
            </a:extLst>
          </p:cNvPr>
          <p:cNvSpPr/>
          <p:nvPr/>
        </p:nvSpPr>
        <p:spPr>
          <a:xfrm>
            <a:off x="660400" y="4104005"/>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0114DB9-3068-93F2-6995-B039497B629E}"/>
              </a:ext>
            </a:extLst>
          </p:cNvPr>
          <p:cNvSpPr txBox="1"/>
          <p:nvPr/>
        </p:nvSpPr>
        <p:spPr>
          <a:xfrm>
            <a:off x="889000" y="401828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Decide now what is out of scope (lab machines that are not production, appliances you cannot agent) and record it</a:t>
            </a:r>
          </a:p>
        </p:txBody>
      </p:sp>
    </p:spTree>
    <p:extLst>
      <p:ext uri="{BB962C8B-B14F-4D97-AF65-F5344CB8AC3E}">
        <p14:creationId xmlns:p14="http://schemas.microsoft.com/office/powerpoint/2010/main" val="12920950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F87E19F2-2759-9076-D770-AC199A4600E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CF2A2B27-F691-9B1A-6EA0-A0EE2A13D9F2}"/>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4BC3E12-7882-F8EB-D2CA-1FC0AD9BCD99}"/>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A6FEEC-5AC9-C1CF-48C7-C66FFDFFDDC8}"/>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Service boundaries and dependencies</a:t>
            </a:r>
          </a:p>
        </p:txBody>
      </p:sp>
      <p:sp>
        <p:nvSpPr>
          <p:cNvPr id="6" name="ChapterTag">
            <a:extLst>
              <a:ext uri="{FF2B5EF4-FFF2-40B4-BE49-F238E27FC236}">
                <a16:creationId xmlns:a16="http://schemas.microsoft.com/office/drawing/2014/main" id="{319896E7-6F39-25A0-479B-F0EA0BF15C54}"/>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E586FA47-0000-D76B-5ABB-B91C3D517DEA}"/>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8CE08446-86F8-A02D-8771-A95FFF3AA6F3}"/>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51</a:t>
            </a:r>
          </a:p>
        </p:txBody>
      </p:sp>
      <p:sp>
        <p:nvSpPr>
          <p:cNvPr id="9" name="Rectangle: Rounded Corners 8">
            <a:extLst>
              <a:ext uri="{FF2B5EF4-FFF2-40B4-BE49-F238E27FC236}">
                <a16:creationId xmlns:a16="http://schemas.microsoft.com/office/drawing/2014/main" id="{9BFC71C6-2EC9-50DF-B2B1-2FFD322B6039}"/>
              </a:ext>
            </a:extLst>
          </p:cNvPr>
          <p:cNvSpPr/>
          <p:nvPr/>
        </p:nvSpPr>
        <p:spPr>
          <a:xfrm>
            <a:off x="609600" y="1600200"/>
            <a:ext cx="10972800" cy="3175000"/>
          </a:xfrm>
          <a:prstGeom prst="roundRect">
            <a:avLst>
              <a:gd name="adj" fmla="val 4000"/>
            </a:avLst>
          </a:prstGeom>
          <a:noFill/>
          <a:ln w="15875" cap="flat" cmpd="sng" algn="ctr">
            <a:solidFill>
              <a:srgbClr val="FBBF24"/>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AE88C73-3042-1B46-F179-40F73096525C}"/>
              </a:ext>
            </a:extLst>
          </p:cNvPr>
          <p:cNvSpPr txBox="1"/>
          <p:nvPr/>
        </p:nvSpPr>
        <p:spPr>
          <a:xfrm>
            <a:off x="736600" y="1651000"/>
            <a:ext cx="10718800" cy="228600"/>
          </a:xfrm>
          <a:prstGeom prst="rect">
            <a:avLst/>
          </a:prstGeom>
          <a:noFill/>
        </p:spPr>
        <p:txBody>
          <a:bodyPr vert="horz" wrap="square" lIns="25400" tIns="12700" rIns="25400" bIns="12700" rtlCol="0" anchor="t">
            <a:noAutofit/>
          </a:bodyPr>
          <a:lstStyle/>
          <a:p>
            <a:r>
              <a:rPr lang="en-US" sz="1100" b="1">
                <a:solidFill>
                  <a:srgbClr val="FBBF24"/>
                </a:solidFill>
                <a:latin typeface="Calibri" panose="020F0502020204030204" pitchFamily="34" charset="0"/>
              </a:rPr>
              <a:t>SERVICE BOUNDARY · "customers can complete a transaction"</a:t>
            </a:r>
          </a:p>
        </p:txBody>
      </p:sp>
      <p:sp>
        <p:nvSpPr>
          <p:cNvPr id="11" name="Rectangle: Rounded Corners 10">
            <a:extLst>
              <a:ext uri="{FF2B5EF4-FFF2-40B4-BE49-F238E27FC236}">
                <a16:creationId xmlns:a16="http://schemas.microsoft.com/office/drawing/2014/main" id="{7B674280-C549-46CF-F517-0B53B4A744ED}"/>
              </a:ext>
            </a:extLst>
          </p:cNvPr>
          <p:cNvSpPr/>
          <p:nvPr/>
        </p:nvSpPr>
        <p:spPr>
          <a:xfrm>
            <a:off x="838200" y="2159000"/>
            <a:ext cx="1549400" cy="889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Entry</a:t>
            </a:r>
          </a:p>
          <a:p>
            <a:pPr algn="ctr"/>
            <a:r>
              <a:rPr lang="en-US" sz="1150">
                <a:solidFill>
                  <a:srgbClr val="F4F4F5"/>
                </a:solidFill>
                <a:latin typeface="Calibri" panose="020F0502020204030204" pitchFamily="34" charset="0"/>
              </a:rPr>
              <a:t>DNS · gateway · WAF</a:t>
            </a:r>
          </a:p>
        </p:txBody>
      </p:sp>
      <p:cxnSp>
        <p:nvCxnSpPr>
          <p:cNvPr id="12" name="Straight Connector 11">
            <a:extLst>
              <a:ext uri="{FF2B5EF4-FFF2-40B4-BE49-F238E27FC236}">
                <a16:creationId xmlns:a16="http://schemas.microsoft.com/office/drawing/2014/main" id="{A2520FB0-2AED-215F-3AA2-3F6E1C1CCAE5}"/>
              </a:ext>
            </a:extLst>
          </p:cNvPr>
          <p:cNvCxnSpPr/>
          <p:nvPr/>
        </p:nvCxnSpPr>
        <p:spPr>
          <a:xfrm>
            <a:off x="2387600" y="2603500"/>
            <a:ext cx="2286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5A153C69-EC30-D9A2-B969-6BCC906B63E7}"/>
              </a:ext>
            </a:extLst>
          </p:cNvPr>
          <p:cNvSpPr/>
          <p:nvPr/>
        </p:nvSpPr>
        <p:spPr>
          <a:xfrm>
            <a:off x="2616200" y="2159000"/>
            <a:ext cx="1549400" cy="889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Front end</a:t>
            </a:r>
          </a:p>
          <a:p>
            <a:pPr algn="ctr"/>
            <a:r>
              <a:rPr lang="en-US" sz="1150">
                <a:solidFill>
                  <a:srgbClr val="F4F4F5"/>
                </a:solidFill>
                <a:latin typeface="Calibri" panose="020F0502020204030204" pitchFamily="34" charset="0"/>
              </a:rPr>
              <a:t>portal (two origins)</a:t>
            </a:r>
          </a:p>
        </p:txBody>
      </p:sp>
      <p:cxnSp>
        <p:nvCxnSpPr>
          <p:cNvPr id="14" name="Straight Connector 13">
            <a:extLst>
              <a:ext uri="{FF2B5EF4-FFF2-40B4-BE49-F238E27FC236}">
                <a16:creationId xmlns:a16="http://schemas.microsoft.com/office/drawing/2014/main" id="{D4DFBEF7-3F59-8355-5C13-E4AF091B84AD}"/>
              </a:ext>
            </a:extLst>
          </p:cNvPr>
          <p:cNvCxnSpPr/>
          <p:nvPr/>
        </p:nvCxnSpPr>
        <p:spPr>
          <a:xfrm>
            <a:off x="4165600" y="2603500"/>
            <a:ext cx="2286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4B48C153-6656-20CE-C467-EE3DC734072F}"/>
              </a:ext>
            </a:extLst>
          </p:cNvPr>
          <p:cNvSpPr/>
          <p:nvPr/>
        </p:nvSpPr>
        <p:spPr>
          <a:xfrm>
            <a:off x="4394200" y="2159000"/>
            <a:ext cx="1549400" cy="889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Back end</a:t>
            </a:r>
          </a:p>
          <a:p>
            <a:pPr algn="ctr"/>
            <a:r>
              <a:rPr lang="en-US" sz="1150">
                <a:solidFill>
                  <a:srgbClr val="F4F4F5"/>
                </a:solidFill>
                <a:latin typeface="Calibri" panose="020F0502020204030204" pitchFamily="34" charset="0"/>
              </a:rPr>
              <a:t>coordinator · queue</a:t>
            </a:r>
          </a:p>
        </p:txBody>
      </p:sp>
      <p:cxnSp>
        <p:nvCxnSpPr>
          <p:cNvPr id="16" name="Straight Connector 15">
            <a:extLst>
              <a:ext uri="{FF2B5EF4-FFF2-40B4-BE49-F238E27FC236}">
                <a16:creationId xmlns:a16="http://schemas.microsoft.com/office/drawing/2014/main" id="{B07ED544-408F-C7B3-46C9-A5EE48CBC2AD}"/>
              </a:ext>
            </a:extLst>
          </p:cNvPr>
          <p:cNvCxnSpPr/>
          <p:nvPr/>
        </p:nvCxnSpPr>
        <p:spPr>
          <a:xfrm>
            <a:off x="5943600" y="2603500"/>
            <a:ext cx="2286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9D5930FE-3073-05F8-C5C8-343DBD626F1F}"/>
              </a:ext>
            </a:extLst>
          </p:cNvPr>
          <p:cNvSpPr/>
          <p:nvPr/>
        </p:nvSpPr>
        <p:spPr>
          <a:xfrm>
            <a:off x="6172200" y="2159000"/>
            <a:ext cx="1549400" cy="889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Worker A</a:t>
            </a:r>
          </a:p>
          <a:p>
            <a:pPr algn="ctr"/>
            <a:r>
              <a:rPr lang="en-US" sz="1150">
                <a:solidFill>
                  <a:srgbClr val="F4F4F5"/>
                </a:solidFill>
                <a:latin typeface="Calibri" panose="020F0502020204030204" pitchFamily="34" charset="0"/>
              </a:rPr>
              <a:t>datacenter</a:t>
            </a:r>
          </a:p>
        </p:txBody>
      </p:sp>
      <p:cxnSp>
        <p:nvCxnSpPr>
          <p:cNvPr id="18" name="Straight Connector 17">
            <a:extLst>
              <a:ext uri="{FF2B5EF4-FFF2-40B4-BE49-F238E27FC236}">
                <a16:creationId xmlns:a16="http://schemas.microsoft.com/office/drawing/2014/main" id="{A1F30A23-41A1-AA30-18D7-96AE46B4BFB0}"/>
              </a:ext>
            </a:extLst>
          </p:cNvPr>
          <p:cNvCxnSpPr/>
          <p:nvPr/>
        </p:nvCxnSpPr>
        <p:spPr>
          <a:xfrm>
            <a:off x="7721600" y="2603500"/>
            <a:ext cx="2286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06FBE1FE-832E-B29F-7024-8663028EE1F2}"/>
              </a:ext>
            </a:extLst>
          </p:cNvPr>
          <p:cNvSpPr/>
          <p:nvPr/>
        </p:nvSpPr>
        <p:spPr>
          <a:xfrm>
            <a:off x="7950200" y="2159000"/>
            <a:ext cx="1549400" cy="889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Worker B</a:t>
            </a:r>
          </a:p>
          <a:p>
            <a:pPr algn="ctr"/>
            <a:r>
              <a:rPr lang="en-US" sz="1150">
                <a:solidFill>
                  <a:srgbClr val="F4F4F5"/>
                </a:solidFill>
                <a:latin typeface="Calibri" panose="020F0502020204030204" pitchFamily="34" charset="0"/>
              </a:rPr>
              <a:t>AWS</a:t>
            </a:r>
          </a:p>
        </p:txBody>
      </p:sp>
      <p:cxnSp>
        <p:nvCxnSpPr>
          <p:cNvPr id="20" name="Straight Connector 19">
            <a:extLst>
              <a:ext uri="{FF2B5EF4-FFF2-40B4-BE49-F238E27FC236}">
                <a16:creationId xmlns:a16="http://schemas.microsoft.com/office/drawing/2014/main" id="{96CBE0B0-5D9C-0F69-F33B-5B7684B834BC}"/>
              </a:ext>
            </a:extLst>
          </p:cNvPr>
          <p:cNvCxnSpPr/>
          <p:nvPr/>
        </p:nvCxnSpPr>
        <p:spPr>
          <a:xfrm>
            <a:off x="9499600" y="2603500"/>
            <a:ext cx="2286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8A0CAB2C-BF28-90D6-A35E-E10D76C1A31B}"/>
              </a:ext>
            </a:extLst>
          </p:cNvPr>
          <p:cNvSpPr/>
          <p:nvPr/>
        </p:nvSpPr>
        <p:spPr>
          <a:xfrm>
            <a:off x="9728200" y="2159000"/>
            <a:ext cx="1549400" cy="889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Data</a:t>
            </a:r>
          </a:p>
          <a:p>
            <a:pPr algn="ctr"/>
            <a:r>
              <a:rPr lang="en-US" sz="1150">
                <a:solidFill>
                  <a:srgbClr val="F4F4F5"/>
                </a:solidFill>
                <a:latin typeface="Calibri" panose="020F0502020204030204" pitchFamily="34" charset="0"/>
              </a:rPr>
              <a:t>managed database</a:t>
            </a:r>
          </a:p>
        </p:txBody>
      </p:sp>
      <p:sp>
        <p:nvSpPr>
          <p:cNvPr id="22" name="TextBox 21">
            <a:extLst>
              <a:ext uri="{FF2B5EF4-FFF2-40B4-BE49-F238E27FC236}">
                <a16:creationId xmlns:a16="http://schemas.microsoft.com/office/drawing/2014/main" id="{058AD5A3-782D-875D-897B-4B8226AD7715}"/>
              </a:ext>
            </a:extLst>
          </p:cNvPr>
          <p:cNvSpPr txBox="1"/>
          <p:nvPr/>
        </p:nvSpPr>
        <p:spPr>
          <a:xfrm>
            <a:off x="838200" y="3149600"/>
            <a:ext cx="1549400" cy="228600"/>
          </a:xfrm>
          <a:prstGeom prst="rect">
            <a:avLst/>
          </a:prstGeom>
          <a:noFill/>
        </p:spPr>
        <p:txBody>
          <a:bodyPr vert="horz" wrap="square" lIns="25400" tIns="12700" rIns="25400" bIns="12700" rtlCol="0" anchor="t">
            <a:noAutofit/>
          </a:bodyPr>
          <a:lstStyle/>
          <a:p>
            <a:pPr algn="ctr"/>
            <a:r>
              <a:rPr lang="en-US" sz="1100" b="1">
                <a:solidFill>
                  <a:srgbClr val="FA8282"/>
                </a:solidFill>
                <a:latin typeface="Calibri" panose="020F0502020204030204" pitchFamily="34" charset="0"/>
              </a:rPr>
              <a:t>REQUIRED</a:t>
            </a:r>
          </a:p>
        </p:txBody>
      </p:sp>
      <p:sp>
        <p:nvSpPr>
          <p:cNvPr id="23" name="TextBox 22">
            <a:extLst>
              <a:ext uri="{FF2B5EF4-FFF2-40B4-BE49-F238E27FC236}">
                <a16:creationId xmlns:a16="http://schemas.microsoft.com/office/drawing/2014/main" id="{ED6F66A4-0E29-61E7-AAE8-63AB3F253273}"/>
              </a:ext>
            </a:extLst>
          </p:cNvPr>
          <p:cNvSpPr txBox="1"/>
          <p:nvPr/>
        </p:nvSpPr>
        <p:spPr>
          <a:xfrm>
            <a:off x="2616200" y="3149600"/>
            <a:ext cx="1549400" cy="228600"/>
          </a:xfrm>
          <a:prstGeom prst="rect">
            <a:avLst/>
          </a:prstGeom>
          <a:noFill/>
        </p:spPr>
        <p:txBody>
          <a:bodyPr vert="horz" wrap="square" lIns="25400" tIns="12700" rIns="25400" bIns="12700" rtlCol="0" anchor="t">
            <a:noAutofit/>
          </a:bodyPr>
          <a:lstStyle/>
          <a:p>
            <a:pPr algn="ctr"/>
            <a:r>
              <a:rPr lang="en-US" sz="1100" b="1">
                <a:solidFill>
                  <a:srgbClr val="A3E635"/>
                </a:solidFill>
                <a:latin typeface="Calibri" panose="020F0502020204030204" pitchFamily="34" charset="0"/>
              </a:rPr>
              <a:t>REDUNDANT</a:t>
            </a:r>
          </a:p>
        </p:txBody>
      </p:sp>
      <p:sp>
        <p:nvSpPr>
          <p:cNvPr id="24" name="TextBox 23">
            <a:extLst>
              <a:ext uri="{FF2B5EF4-FFF2-40B4-BE49-F238E27FC236}">
                <a16:creationId xmlns:a16="http://schemas.microsoft.com/office/drawing/2014/main" id="{C15F597B-6060-B3FB-059D-3EEC8045D16B}"/>
              </a:ext>
            </a:extLst>
          </p:cNvPr>
          <p:cNvSpPr txBox="1"/>
          <p:nvPr/>
        </p:nvSpPr>
        <p:spPr>
          <a:xfrm>
            <a:off x="4394200" y="3149600"/>
            <a:ext cx="1549400" cy="228600"/>
          </a:xfrm>
          <a:prstGeom prst="rect">
            <a:avLst/>
          </a:prstGeom>
          <a:noFill/>
        </p:spPr>
        <p:txBody>
          <a:bodyPr vert="horz" wrap="square" lIns="25400" tIns="12700" rIns="25400" bIns="12700" rtlCol="0" anchor="t">
            <a:noAutofit/>
          </a:bodyPr>
          <a:lstStyle/>
          <a:p>
            <a:pPr algn="ctr"/>
            <a:r>
              <a:rPr lang="en-US" sz="1100" b="1">
                <a:solidFill>
                  <a:srgbClr val="FA8282"/>
                </a:solidFill>
                <a:latin typeface="Calibri" panose="020F0502020204030204" pitchFamily="34" charset="0"/>
              </a:rPr>
              <a:t>REQUIRED</a:t>
            </a:r>
          </a:p>
        </p:txBody>
      </p:sp>
      <p:sp>
        <p:nvSpPr>
          <p:cNvPr id="25" name="TextBox 24">
            <a:extLst>
              <a:ext uri="{FF2B5EF4-FFF2-40B4-BE49-F238E27FC236}">
                <a16:creationId xmlns:a16="http://schemas.microsoft.com/office/drawing/2014/main" id="{BD2A5A5C-A161-95AC-69FA-4CCB5572A680}"/>
              </a:ext>
            </a:extLst>
          </p:cNvPr>
          <p:cNvSpPr txBox="1"/>
          <p:nvPr/>
        </p:nvSpPr>
        <p:spPr>
          <a:xfrm>
            <a:off x="6172200" y="3149600"/>
            <a:ext cx="1549400" cy="228600"/>
          </a:xfrm>
          <a:prstGeom prst="rect">
            <a:avLst/>
          </a:prstGeom>
          <a:noFill/>
        </p:spPr>
        <p:txBody>
          <a:bodyPr vert="horz" wrap="square" lIns="25400" tIns="12700" rIns="25400" bIns="12700" rtlCol="0" anchor="t">
            <a:noAutofit/>
          </a:bodyPr>
          <a:lstStyle/>
          <a:p>
            <a:pPr algn="ctr"/>
            <a:r>
              <a:rPr lang="en-US" sz="1100" b="1">
                <a:solidFill>
                  <a:srgbClr val="FA8282"/>
                </a:solidFill>
                <a:latin typeface="Calibri" panose="020F0502020204030204" pitchFamily="34" charset="0"/>
              </a:rPr>
              <a:t>REQUIRED</a:t>
            </a:r>
          </a:p>
        </p:txBody>
      </p:sp>
      <p:sp>
        <p:nvSpPr>
          <p:cNvPr id="26" name="TextBox 25">
            <a:extLst>
              <a:ext uri="{FF2B5EF4-FFF2-40B4-BE49-F238E27FC236}">
                <a16:creationId xmlns:a16="http://schemas.microsoft.com/office/drawing/2014/main" id="{2A5E06E1-B979-71E8-08BD-F329C5F53B8A}"/>
              </a:ext>
            </a:extLst>
          </p:cNvPr>
          <p:cNvSpPr txBox="1"/>
          <p:nvPr/>
        </p:nvSpPr>
        <p:spPr>
          <a:xfrm>
            <a:off x="7950200" y="3149600"/>
            <a:ext cx="1549400" cy="228600"/>
          </a:xfrm>
          <a:prstGeom prst="rect">
            <a:avLst/>
          </a:prstGeom>
          <a:noFill/>
        </p:spPr>
        <p:txBody>
          <a:bodyPr vert="horz" wrap="square" lIns="25400" tIns="12700" rIns="25400" bIns="12700" rtlCol="0" anchor="t">
            <a:noAutofit/>
          </a:bodyPr>
          <a:lstStyle/>
          <a:p>
            <a:pPr algn="ctr"/>
            <a:r>
              <a:rPr lang="en-US" sz="1100" b="1">
                <a:solidFill>
                  <a:srgbClr val="FA8282"/>
                </a:solidFill>
                <a:latin typeface="Calibri" panose="020F0502020204030204" pitchFamily="34" charset="0"/>
              </a:rPr>
              <a:t>REQUIRED</a:t>
            </a:r>
          </a:p>
        </p:txBody>
      </p:sp>
      <p:sp>
        <p:nvSpPr>
          <p:cNvPr id="27" name="TextBox 26">
            <a:extLst>
              <a:ext uri="{FF2B5EF4-FFF2-40B4-BE49-F238E27FC236}">
                <a16:creationId xmlns:a16="http://schemas.microsoft.com/office/drawing/2014/main" id="{19660112-6E9C-E9FA-5766-B6366A41FEC3}"/>
              </a:ext>
            </a:extLst>
          </p:cNvPr>
          <p:cNvSpPr txBox="1"/>
          <p:nvPr/>
        </p:nvSpPr>
        <p:spPr>
          <a:xfrm>
            <a:off x="9728200" y="3149600"/>
            <a:ext cx="1549400" cy="228600"/>
          </a:xfrm>
          <a:prstGeom prst="rect">
            <a:avLst/>
          </a:prstGeom>
          <a:noFill/>
        </p:spPr>
        <p:txBody>
          <a:bodyPr vert="horz" wrap="square" lIns="25400" tIns="12700" rIns="25400" bIns="12700" rtlCol="0" anchor="t">
            <a:noAutofit/>
          </a:bodyPr>
          <a:lstStyle/>
          <a:p>
            <a:pPr algn="ctr"/>
            <a:r>
              <a:rPr lang="en-US" sz="1100" b="1">
                <a:solidFill>
                  <a:srgbClr val="FA8282"/>
                </a:solidFill>
                <a:latin typeface="Calibri" panose="020F0502020204030204" pitchFamily="34" charset="0"/>
              </a:rPr>
              <a:t>REQUIRED</a:t>
            </a:r>
          </a:p>
        </p:txBody>
      </p:sp>
      <p:sp>
        <p:nvSpPr>
          <p:cNvPr id="28" name="TextBox 27">
            <a:extLst>
              <a:ext uri="{FF2B5EF4-FFF2-40B4-BE49-F238E27FC236}">
                <a16:creationId xmlns:a16="http://schemas.microsoft.com/office/drawing/2014/main" id="{4FD57A07-8B0C-E3A0-2BEF-0FA0D07F6645}"/>
              </a:ext>
            </a:extLst>
          </p:cNvPr>
          <p:cNvSpPr txBox="1"/>
          <p:nvPr/>
        </p:nvSpPr>
        <p:spPr>
          <a:xfrm>
            <a:off x="609600" y="3683000"/>
            <a:ext cx="10972800" cy="254000"/>
          </a:xfrm>
          <a:prstGeom prst="rect">
            <a:avLst/>
          </a:prstGeom>
          <a:noFill/>
        </p:spPr>
        <p:txBody>
          <a:bodyPr vert="horz" wrap="square" lIns="25400" tIns="12700" rIns="25400" bIns="12700" rtlCol="0" anchor="t">
            <a:noAutofit/>
          </a:bodyPr>
          <a:lstStyle/>
          <a:p>
            <a:pPr algn="ctr"/>
            <a:r>
              <a:rPr lang="en-US" sz="1150">
                <a:solidFill>
                  <a:srgbClr val="B0B0BA"/>
                </a:solidFill>
                <a:latin typeface="Calibri" panose="020F0502020204030204" pitchFamily="34" charset="0"/>
              </a:rPr>
              <a:t>cross-cloud links (where evidence goes missing)</a:t>
            </a:r>
          </a:p>
        </p:txBody>
      </p:sp>
      <p:cxnSp>
        <p:nvCxnSpPr>
          <p:cNvPr id="29" name="Straight Connector 28">
            <a:extLst>
              <a:ext uri="{FF2B5EF4-FFF2-40B4-BE49-F238E27FC236}">
                <a16:creationId xmlns:a16="http://schemas.microsoft.com/office/drawing/2014/main" id="{05F95938-0B7E-1276-0112-824F4B4218AA}"/>
              </a:ext>
            </a:extLst>
          </p:cNvPr>
          <p:cNvCxnSpPr/>
          <p:nvPr/>
        </p:nvCxnSpPr>
        <p:spPr>
          <a:xfrm>
            <a:off x="6096000" y="4038600"/>
            <a:ext cx="1778000" cy="0"/>
          </a:xfrm>
          <a:prstGeom prst="line">
            <a:avLst/>
          </a:prstGeom>
          <a:ln w="22225">
            <a:solidFill>
              <a:srgbClr val="FA8282"/>
            </a:solidFill>
            <a:prstDash val="dash"/>
            <a:tailEnd type="non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A741B68A-0204-7939-4F6B-4E6F48AD709F}"/>
              </a:ext>
            </a:extLst>
          </p:cNvPr>
          <p:cNvSpPr txBox="1"/>
          <p:nvPr/>
        </p:nvSpPr>
        <p:spPr>
          <a:xfrm>
            <a:off x="5334000" y="4140200"/>
            <a:ext cx="2286000" cy="228600"/>
          </a:xfrm>
          <a:prstGeom prst="rect">
            <a:avLst/>
          </a:prstGeom>
          <a:noFill/>
        </p:spPr>
        <p:txBody>
          <a:bodyPr vert="horz" wrap="square" lIns="25400" tIns="12700" rIns="25400" bIns="12700" rtlCol="0" anchor="t">
            <a:noAutofit/>
          </a:bodyPr>
          <a:lstStyle/>
          <a:p>
            <a:pPr algn="ctr"/>
            <a:r>
              <a:rPr lang="en-US" sz="1050">
                <a:solidFill>
                  <a:srgbClr val="FA8282"/>
                </a:solidFill>
                <a:latin typeface="Calibri" panose="020F0502020204030204" pitchFamily="34" charset="0"/>
              </a:rPr>
              <a:t>Azure → datacenter</a:t>
            </a:r>
          </a:p>
        </p:txBody>
      </p:sp>
      <p:cxnSp>
        <p:nvCxnSpPr>
          <p:cNvPr id="31" name="Straight Connector 30">
            <a:extLst>
              <a:ext uri="{FF2B5EF4-FFF2-40B4-BE49-F238E27FC236}">
                <a16:creationId xmlns:a16="http://schemas.microsoft.com/office/drawing/2014/main" id="{56A26C46-F340-7DD2-CFD7-BCF5FD216DD4}"/>
              </a:ext>
            </a:extLst>
          </p:cNvPr>
          <p:cNvCxnSpPr/>
          <p:nvPr/>
        </p:nvCxnSpPr>
        <p:spPr>
          <a:xfrm>
            <a:off x="8128000" y="4038600"/>
            <a:ext cx="1524000" cy="0"/>
          </a:xfrm>
          <a:prstGeom prst="line">
            <a:avLst/>
          </a:prstGeom>
          <a:ln w="22225">
            <a:solidFill>
              <a:srgbClr val="FA8282"/>
            </a:solidFill>
            <a:prstDash val="dash"/>
            <a:tailEnd type="non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F46B17C-B587-AFFD-88D6-5F608AF061EA}"/>
              </a:ext>
            </a:extLst>
          </p:cNvPr>
          <p:cNvSpPr txBox="1"/>
          <p:nvPr/>
        </p:nvSpPr>
        <p:spPr>
          <a:xfrm>
            <a:off x="8128000" y="4140200"/>
            <a:ext cx="2540000" cy="228600"/>
          </a:xfrm>
          <a:prstGeom prst="rect">
            <a:avLst/>
          </a:prstGeom>
          <a:noFill/>
        </p:spPr>
        <p:txBody>
          <a:bodyPr vert="horz" wrap="square" lIns="25400" tIns="12700" rIns="25400" bIns="12700" rtlCol="0" anchor="t">
            <a:noAutofit/>
          </a:bodyPr>
          <a:lstStyle/>
          <a:p>
            <a:pPr algn="ctr"/>
            <a:r>
              <a:rPr lang="en-US" sz="1050">
                <a:solidFill>
                  <a:srgbClr val="FA8282"/>
                </a:solidFill>
                <a:latin typeface="Calibri" panose="020F0502020204030204" pitchFamily="34" charset="0"/>
              </a:rPr>
              <a:t>Azure → AWS · AWS → GCP</a:t>
            </a:r>
          </a:p>
        </p:txBody>
      </p:sp>
      <p:sp>
        <p:nvSpPr>
          <p:cNvPr id="33" name="TextBox 32">
            <a:extLst>
              <a:ext uri="{FF2B5EF4-FFF2-40B4-BE49-F238E27FC236}">
                <a16:creationId xmlns:a16="http://schemas.microsoft.com/office/drawing/2014/main" id="{29350D17-9EFF-C583-F731-4E8E34820840}"/>
              </a:ext>
            </a:extLst>
          </p:cNvPr>
          <p:cNvSpPr txBox="1"/>
          <p:nvPr/>
        </p:nvSpPr>
        <p:spPr>
          <a:xfrm>
            <a:off x="609600" y="5080000"/>
            <a:ext cx="10972800" cy="508000"/>
          </a:xfrm>
          <a:prstGeom prst="rect">
            <a:avLst/>
          </a:prstGeom>
          <a:noFill/>
        </p:spPr>
        <p:txBody>
          <a:bodyPr vert="horz" wrap="square" lIns="25400" tIns="12700" rIns="25400" bIns="12700" rtlCol="0" anchor="t">
            <a:noAutofit/>
          </a:bodyPr>
          <a:lstStyle/>
          <a:p>
            <a:r>
              <a:rPr lang="en-US" sz="1250">
                <a:solidFill>
                  <a:srgbClr val="F4F4F5"/>
                </a:solidFill>
                <a:latin typeface="Calibri" panose="020F0502020204030204" pitchFamily="34" charset="0"/>
              </a:rPr>
              <a:t>Draw four to eight of these for a typical estate. Each gets an owner, two or three commitments, and a health model in chapter 6.</a:t>
            </a:r>
          </a:p>
        </p:txBody>
      </p:sp>
      <p:sp>
        <p:nvSpPr>
          <p:cNvPr id="34" name="Rectangle 33">
            <a:extLst>
              <a:ext uri="{FF2B5EF4-FFF2-40B4-BE49-F238E27FC236}">
                <a16:creationId xmlns:a16="http://schemas.microsoft.com/office/drawing/2014/main" id="{FDE1FDC2-8DD6-C770-F95C-5E3F959883F2}"/>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27EC7D67-5336-72A0-6B9B-2ACC8BBC3D16}"/>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A boundary is the chain a request crosses, with each dependency marked required or redundant.</a:t>
            </a:r>
          </a:p>
        </p:txBody>
      </p:sp>
    </p:spTree>
    <p:extLst>
      <p:ext uri="{BB962C8B-B14F-4D97-AF65-F5344CB8AC3E}">
        <p14:creationId xmlns:p14="http://schemas.microsoft.com/office/powerpoint/2010/main" val="15602256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7DF1A347-8ED4-19BF-7464-3A742BFC33B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19723E3B-F253-9C4F-C32B-2FDB3C5A72D0}"/>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1EA95B1-90B9-9A99-A716-382E4E3EF340}"/>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DC1F4A0-D734-C47C-ED70-FC64E9F4435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What working means: SLIs and SLOs</a:t>
            </a:r>
          </a:p>
        </p:txBody>
      </p:sp>
      <p:sp>
        <p:nvSpPr>
          <p:cNvPr id="6" name="ChapterTag">
            <a:extLst>
              <a:ext uri="{FF2B5EF4-FFF2-40B4-BE49-F238E27FC236}">
                <a16:creationId xmlns:a16="http://schemas.microsoft.com/office/drawing/2014/main" id="{6EF3C97A-6D68-4E1F-A968-307692904A63}"/>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3029ED14-1482-6204-1AF4-A87FF8E59C3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626619DB-3B53-F41C-8A6F-2083AB723C09}"/>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52</a:t>
            </a:r>
          </a:p>
        </p:txBody>
      </p:sp>
      <p:sp>
        <p:nvSpPr>
          <p:cNvPr id="9" name="Rectangle: Rounded Corners 8">
            <a:extLst>
              <a:ext uri="{FF2B5EF4-FFF2-40B4-BE49-F238E27FC236}">
                <a16:creationId xmlns:a16="http://schemas.microsoft.com/office/drawing/2014/main" id="{031B09CB-5BBA-A040-C79B-024F1CC2F54B}"/>
              </a:ext>
            </a:extLst>
          </p:cNvPr>
          <p:cNvSpPr/>
          <p:nvPr/>
        </p:nvSpPr>
        <p:spPr>
          <a:xfrm>
            <a:off x="609600" y="1549400"/>
            <a:ext cx="2413000" cy="3175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Commitment</a:t>
            </a:r>
          </a:p>
        </p:txBody>
      </p:sp>
      <p:sp>
        <p:nvSpPr>
          <p:cNvPr id="10" name="Rectangle: Rounded Corners 9">
            <a:extLst>
              <a:ext uri="{FF2B5EF4-FFF2-40B4-BE49-F238E27FC236}">
                <a16:creationId xmlns:a16="http://schemas.microsoft.com/office/drawing/2014/main" id="{B2994B43-C159-E3A7-0857-424F5B500C63}"/>
              </a:ext>
            </a:extLst>
          </p:cNvPr>
          <p:cNvSpPr/>
          <p:nvPr/>
        </p:nvSpPr>
        <p:spPr>
          <a:xfrm>
            <a:off x="3022600" y="1549400"/>
            <a:ext cx="2853267" cy="3175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SLI (what you measure)</a:t>
            </a:r>
          </a:p>
        </p:txBody>
      </p:sp>
      <p:sp>
        <p:nvSpPr>
          <p:cNvPr id="11" name="Rectangle: Rounded Corners 10">
            <a:extLst>
              <a:ext uri="{FF2B5EF4-FFF2-40B4-BE49-F238E27FC236}">
                <a16:creationId xmlns:a16="http://schemas.microsoft.com/office/drawing/2014/main" id="{15D26469-30DA-DC23-C5E1-7934086A4E19}"/>
              </a:ext>
            </a:extLst>
          </p:cNvPr>
          <p:cNvSpPr/>
          <p:nvPr/>
        </p:nvSpPr>
        <p:spPr>
          <a:xfrm>
            <a:off x="5875867" y="1549400"/>
            <a:ext cx="2853266" cy="3175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SLO (target)</a:t>
            </a:r>
          </a:p>
        </p:txBody>
      </p:sp>
      <p:sp>
        <p:nvSpPr>
          <p:cNvPr id="12" name="Rectangle: Rounded Corners 11">
            <a:extLst>
              <a:ext uri="{FF2B5EF4-FFF2-40B4-BE49-F238E27FC236}">
                <a16:creationId xmlns:a16="http://schemas.microsoft.com/office/drawing/2014/main" id="{92A76D1F-F388-72D1-34B1-BD641A0B6F25}"/>
              </a:ext>
            </a:extLst>
          </p:cNvPr>
          <p:cNvSpPr/>
          <p:nvPr/>
        </p:nvSpPr>
        <p:spPr>
          <a:xfrm>
            <a:off x="8729133" y="1549400"/>
            <a:ext cx="2853267" cy="3175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Evidence source</a:t>
            </a:r>
          </a:p>
        </p:txBody>
      </p:sp>
      <p:sp>
        <p:nvSpPr>
          <p:cNvPr id="13" name="Rectangle: Rounded Corners 12">
            <a:extLst>
              <a:ext uri="{FF2B5EF4-FFF2-40B4-BE49-F238E27FC236}">
                <a16:creationId xmlns:a16="http://schemas.microsoft.com/office/drawing/2014/main" id="{27E51CFB-04E0-7BD5-0D72-E25E3D558AD2}"/>
              </a:ext>
            </a:extLst>
          </p:cNvPr>
          <p:cNvSpPr/>
          <p:nvPr/>
        </p:nvSpPr>
        <p:spPr>
          <a:xfrm>
            <a:off x="609600" y="18669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Users can sign in</a:t>
            </a:r>
          </a:p>
        </p:txBody>
      </p:sp>
      <p:sp>
        <p:nvSpPr>
          <p:cNvPr id="14" name="Rectangle: Rounded Corners 13">
            <a:extLst>
              <a:ext uri="{FF2B5EF4-FFF2-40B4-BE49-F238E27FC236}">
                <a16:creationId xmlns:a16="http://schemas.microsoft.com/office/drawing/2014/main" id="{5BFE5623-2D46-5F47-EC83-64B7ED6E7AC8}"/>
              </a:ext>
            </a:extLst>
          </p:cNvPr>
          <p:cNvSpPr/>
          <p:nvPr/>
        </p:nvSpPr>
        <p:spPr>
          <a:xfrm>
            <a:off x="3022600" y="1866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successful sign-ins over attempts, 5-minute windows</a:t>
            </a:r>
          </a:p>
        </p:txBody>
      </p:sp>
      <p:sp>
        <p:nvSpPr>
          <p:cNvPr id="15" name="Rectangle: Rounded Corners 14">
            <a:extLst>
              <a:ext uri="{FF2B5EF4-FFF2-40B4-BE49-F238E27FC236}">
                <a16:creationId xmlns:a16="http://schemas.microsoft.com/office/drawing/2014/main" id="{7B2B9962-2ACA-043D-4681-F9FA566BC7A4}"/>
              </a:ext>
            </a:extLst>
          </p:cNvPr>
          <p:cNvSpPr/>
          <p:nvPr/>
        </p:nvSpPr>
        <p:spPr>
          <a:xfrm>
            <a:off x="5875867" y="1866900"/>
            <a:ext cx="2853266"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99.9 percent over 30 days</a:t>
            </a:r>
          </a:p>
        </p:txBody>
      </p:sp>
      <p:sp>
        <p:nvSpPr>
          <p:cNvPr id="16" name="Rectangle: Rounded Corners 15">
            <a:extLst>
              <a:ext uri="{FF2B5EF4-FFF2-40B4-BE49-F238E27FC236}">
                <a16:creationId xmlns:a16="http://schemas.microsoft.com/office/drawing/2014/main" id="{6CABDD27-D0CA-A399-C710-13376F729445}"/>
              </a:ext>
            </a:extLst>
          </p:cNvPr>
          <p:cNvSpPr/>
          <p:nvPr/>
        </p:nvSpPr>
        <p:spPr>
          <a:xfrm>
            <a:off x="8729133" y="1866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Entra sign-in logs, gateway logs</a:t>
            </a:r>
          </a:p>
        </p:txBody>
      </p:sp>
      <p:sp>
        <p:nvSpPr>
          <p:cNvPr id="17" name="Rectangle: Rounded Corners 16">
            <a:extLst>
              <a:ext uri="{FF2B5EF4-FFF2-40B4-BE49-F238E27FC236}">
                <a16:creationId xmlns:a16="http://schemas.microsoft.com/office/drawing/2014/main" id="{DB337437-5DBE-692D-330C-5B3ED2E538EF}"/>
              </a:ext>
            </a:extLst>
          </p:cNvPr>
          <p:cNvSpPr/>
          <p:nvPr/>
        </p:nvSpPr>
        <p:spPr>
          <a:xfrm>
            <a:off x="609600" y="23749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Users can complete the core transaction</a:t>
            </a:r>
          </a:p>
        </p:txBody>
      </p:sp>
      <p:sp>
        <p:nvSpPr>
          <p:cNvPr id="18" name="Rectangle: Rounded Corners 17">
            <a:extLst>
              <a:ext uri="{FF2B5EF4-FFF2-40B4-BE49-F238E27FC236}">
                <a16:creationId xmlns:a16="http://schemas.microsoft.com/office/drawing/2014/main" id="{A662CEC2-925D-B3AD-5227-E6076BF267B5}"/>
              </a:ext>
            </a:extLst>
          </p:cNvPr>
          <p:cNvSpPr/>
          <p:nvPr/>
        </p:nvSpPr>
        <p:spPr>
          <a:xfrm>
            <a:off x="3022600" y="2374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completed within the time target over started</a:t>
            </a:r>
          </a:p>
        </p:txBody>
      </p:sp>
      <p:sp>
        <p:nvSpPr>
          <p:cNvPr id="19" name="Rectangle: Rounded Corners 18">
            <a:extLst>
              <a:ext uri="{FF2B5EF4-FFF2-40B4-BE49-F238E27FC236}">
                <a16:creationId xmlns:a16="http://schemas.microsoft.com/office/drawing/2014/main" id="{9B5B7030-7647-C476-F75C-322FE9D1BADB}"/>
              </a:ext>
            </a:extLst>
          </p:cNvPr>
          <p:cNvSpPr/>
          <p:nvPr/>
        </p:nvSpPr>
        <p:spPr>
          <a:xfrm>
            <a:off x="5875867" y="2374900"/>
            <a:ext cx="2853266"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99.5 percent over 30 days; p95 under 2 s</a:t>
            </a:r>
          </a:p>
        </p:txBody>
      </p:sp>
      <p:sp>
        <p:nvSpPr>
          <p:cNvPr id="20" name="Rectangle: Rounded Corners 19">
            <a:extLst>
              <a:ext uri="{FF2B5EF4-FFF2-40B4-BE49-F238E27FC236}">
                <a16:creationId xmlns:a16="http://schemas.microsoft.com/office/drawing/2014/main" id="{834610B0-2661-3394-774D-75F248FE56BB}"/>
              </a:ext>
            </a:extLst>
          </p:cNvPr>
          <p:cNvSpPr/>
          <p:nvPr/>
        </p:nvSpPr>
        <p:spPr>
          <a:xfrm>
            <a:off x="8729133" y="2374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application records with a correlation ID</a:t>
            </a:r>
          </a:p>
        </p:txBody>
      </p:sp>
      <p:sp>
        <p:nvSpPr>
          <p:cNvPr id="21" name="Rectangle: Rounded Corners 20">
            <a:extLst>
              <a:ext uri="{FF2B5EF4-FFF2-40B4-BE49-F238E27FC236}">
                <a16:creationId xmlns:a16="http://schemas.microsoft.com/office/drawing/2014/main" id="{591D663F-3DAC-9C16-B09D-5A03274264E9}"/>
              </a:ext>
            </a:extLst>
          </p:cNvPr>
          <p:cNvSpPr/>
          <p:nvPr/>
        </p:nvSpPr>
        <p:spPr>
          <a:xfrm>
            <a:off x="609600" y="28829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The platform is visible</a:t>
            </a:r>
          </a:p>
        </p:txBody>
      </p:sp>
      <p:sp>
        <p:nvSpPr>
          <p:cNvPr id="22" name="Rectangle: Rounded Corners 21">
            <a:extLst>
              <a:ext uri="{FF2B5EF4-FFF2-40B4-BE49-F238E27FC236}">
                <a16:creationId xmlns:a16="http://schemas.microsoft.com/office/drawing/2014/main" id="{D8327E9F-A8B2-FA73-B03F-AFCCB4A9B171}"/>
              </a:ext>
            </a:extLst>
          </p:cNvPr>
          <p:cNvSpPr/>
          <p:nvPr/>
        </p:nvSpPr>
        <p:spPr>
          <a:xfrm>
            <a:off x="3022600" y="2882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machines reporting within the expected cadence</a:t>
            </a:r>
          </a:p>
        </p:txBody>
      </p:sp>
      <p:sp>
        <p:nvSpPr>
          <p:cNvPr id="23" name="Rectangle: Rounded Corners 22">
            <a:extLst>
              <a:ext uri="{FF2B5EF4-FFF2-40B4-BE49-F238E27FC236}">
                <a16:creationId xmlns:a16="http://schemas.microsoft.com/office/drawing/2014/main" id="{31C92FA8-A469-9BD2-6C7D-D47EA9B29FE0}"/>
              </a:ext>
            </a:extLst>
          </p:cNvPr>
          <p:cNvSpPr/>
          <p:nvPr/>
        </p:nvSpPr>
        <p:spPr>
          <a:xfrm>
            <a:off x="5875867" y="2882900"/>
            <a:ext cx="2853266"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100 percent of in-scope machines within 15 minutes</a:t>
            </a:r>
          </a:p>
        </p:txBody>
      </p:sp>
      <p:sp>
        <p:nvSpPr>
          <p:cNvPr id="24" name="Rectangle: Rounded Corners 23">
            <a:extLst>
              <a:ext uri="{FF2B5EF4-FFF2-40B4-BE49-F238E27FC236}">
                <a16:creationId xmlns:a16="http://schemas.microsoft.com/office/drawing/2014/main" id="{65B15FDF-E8FC-498A-5A86-C32DECD84C71}"/>
              </a:ext>
            </a:extLst>
          </p:cNvPr>
          <p:cNvSpPr/>
          <p:nvPr/>
        </p:nvSpPr>
        <p:spPr>
          <a:xfrm>
            <a:off x="8729133" y="2882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Heartbeat, agent health</a:t>
            </a:r>
          </a:p>
        </p:txBody>
      </p:sp>
      <p:sp>
        <p:nvSpPr>
          <p:cNvPr id="25" name="Rectangle: Rounded Corners 24">
            <a:extLst>
              <a:ext uri="{FF2B5EF4-FFF2-40B4-BE49-F238E27FC236}">
                <a16:creationId xmlns:a16="http://schemas.microsoft.com/office/drawing/2014/main" id="{FC2DB892-0FE7-6DDA-3396-A1251E0DB2D1}"/>
              </a:ext>
            </a:extLst>
          </p:cNvPr>
          <p:cNvSpPr/>
          <p:nvPr/>
        </p:nvSpPr>
        <p:spPr>
          <a:xfrm>
            <a:off x="609600" y="33909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Batch finishes on time</a:t>
            </a:r>
          </a:p>
        </p:txBody>
      </p:sp>
      <p:sp>
        <p:nvSpPr>
          <p:cNvPr id="26" name="Rectangle: Rounded Corners 25">
            <a:extLst>
              <a:ext uri="{FF2B5EF4-FFF2-40B4-BE49-F238E27FC236}">
                <a16:creationId xmlns:a16="http://schemas.microsoft.com/office/drawing/2014/main" id="{D6107ABD-8824-0D6D-C456-77C1BE8285CA}"/>
              </a:ext>
            </a:extLst>
          </p:cNvPr>
          <p:cNvSpPr/>
          <p:nvPr/>
        </p:nvSpPr>
        <p:spPr>
          <a:xfrm>
            <a:off x="3022600" y="3390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jobs finished before the deadline over scheduled</a:t>
            </a:r>
          </a:p>
        </p:txBody>
      </p:sp>
      <p:sp>
        <p:nvSpPr>
          <p:cNvPr id="27" name="Rectangle: Rounded Corners 26">
            <a:extLst>
              <a:ext uri="{FF2B5EF4-FFF2-40B4-BE49-F238E27FC236}">
                <a16:creationId xmlns:a16="http://schemas.microsoft.com/office/drawing/2014/main" id="{584F1E41-A0CB-A66E-93AE-338D745A0CA8}"/>
              </a:ext>
            </a:extLst>
          </p:cNvPr>
          <p:cNvSpPr/>
          <p:nvPr/>
        </p:nvSpPr>
        <p:spPr>
          <a:xfrm>
            <a:off x="5875867" y="3390900"/>
            <a:ext cx="2853266"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99 percent per month</a:t>
            </a:r>
          </a:p>
        </p:txBody>
      </p:sp>
      <p:sp>
        <p:nvSpPr>
          <p:cNvPr id="28" name="Rectangle: Rounded Corners 27">
            <a:extLst>
              <a:ext uri="{FF2B5EF4-FFF2-40B4-BE49-F238E27FC236}">
                <a16:creationId xmlns:a16="http://schemas.microsoft.com/office/drawing/2014/main" id="{6E2CBD3C-8C0C-2B77-FFD5-7E5D672886CF}"/>
              </a:ext>
            </a:extLst>
          </p:cNvPr>
          <p:cNvSpPr/>
          <p:nvPr/>
        </p:nvSpPr>
        <p:spPr>
          <a:xfrm>
            <a:off x="8729133" y="3390900"/>
            <a:ext cx="2853267"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job records via the ingestion API</a:t>
            </a:r>
          </a:p>
        </p:txBody>
      </p:sp>
      <p:sp>
        <p:nvSpPr>
          <p:cNvPr id="29" name="Rectangle: Rounded Corners 28">
            <a:extLst>
              <a:ext uri="{FF2B5EF4-FFF2-40B4-BE49-F238E27FC236}">
                <a16:creationId xmlns:a16="http://schemas.microsoft.com/office/drawing/2014/main" id="{99EF8E53-0E83-C689-825D-286D2458C04C}"/>
              </a:ext>
            </a:extLst>
          </p:cNvPr>
          <p:cNvSpPr/>
          <p:nvPr/>
        </p:nvSpPr>
        <p:spPr>
          <a:xfrm>
            <a:off x="609600" y="38989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Data is fresh</a:t>
            </a:r>
          </a:p>
        </p:txBody>
      </p:sp>
      <p:sp>
        <p:nvSpPr>
          <p:cNvPr id="30" name="Rectangle: Rounded Corners 29">
            <a:extLst>
              <a:ext uri="{FF2B5EF4-FFF2-40B4-BE49-F238E27FC236}">
                <a16:creationId xmlns:a16="http://schemas.microsoft.com/office/drawing/2014/main" id="{FE9DAAEF-C06F-0C1E-0798-02073E4BCFB3}"/>
              </a:ext>
            </a:extLst>
          </p:cNvPr>
          <p:cNvSpPr/>
          <p:nvPr/>
        </p:nvSpPr>
        <p:spPr>
          <a:xfrm>
            <a:off x="3022600" y="3898900"/>
            <a:ext cx="2853267"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age of the latest record per source</a:t>
            </a:r>
          </a:p>
        </p:txBody>
      </p:sp>
      <p:sp>
        <p:nvSpPr>
          <p:cNvPr id="31" name="Rectangle: Rounded Corners 30">
            <a:extLst>
              <a:ext uri="{FF2B5EF4-FFF2-40B4-BE49-F238E27FC236}">
                <a16:creationId xmlns:a16="http://schemas.microsoft.com/office/drawing/2014/main" id="{A1F0A676-2BA9-AB77-8997-58F7AD2E0062}"/>
              </a:ext>
            </a:extLst>
          </p:cNvPr>
          <p:cNvSpPr/>
          <p:nvPr/>
        </p:nvSpPr>
        <p:spPr>
          <a:xfrm>
            <a:off x="5875867" y="3898900"/>
            <a:ext cx="2853266"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under 10 minutes</a:t>
            </a:r>
          </a:p>
        </p:txBody>
      </p:sp>
      <p:sp>
        <p:nvSpPr>
          <p:cNvPr id="32" name="Rectangle: Rounded Corners 31">
            <a:extLst>
              <a:ext uri="{FF2B5EF4-FFF2-40B4-BE49-F238E27FC236}">
                <a16:creationId xmlns:a16="http://schemas.microsoft.com/office/drawing/2014/main" id="{F7E93318-217D-B1F0-DC0E-1991CDD9E851}"/>
              </a:ext>
            </a:extLst>
          </p:cNvPr>
          <p:cNvSpPr/>
          <p:nvPr/>
        </p:nvSpPr>
        <p:spPr>
          <a:xfrm>
            <a:off x="8729133" y="3898900"/>
            <a:ext cx="2853267"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per-source freshness query</a:t>
            </a:r>
          </a:p>
        </p:txBody>
      </p:sp>
    </p:spTree>
    <p:extLst>
      <p:ext uri="{BB962C8B-B14F-4D97-AF65-F5344CB8AC3E}">
        <p14:creationId xmlns:p14="http://schemas.microsoft.com/office/powerpoint/2010/main" val="32777747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7473CBD1-5897-CAB0-7BBB-758DC2354F51}"/>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6B5075F2-E3A0-1A16-ADAC-79D0E1303F93}"/>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2C84E4E-4186-C00C-8E36-6B2072B73CF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E613512-C292-7F10-8BDF-5C89741D1B00}"/>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signal catalogue</a:t>
            </a:r>
          </a:p>
        </p:txBody>
      </p:sp>
      <p:sp>
        <p:nvSpPr>
          <p:cNvPr id="6" name="ChapterTag">
            <a:extLst>
              <a:ext uri="{FF2B5EF4-FFF2-40B4-BE49-F238E27FC236}">
                <a16:creationId xmlns:a16="http://schemas.microsoft.com/office/drawing/2014/main" id="{1A81A679-A42D-5663-D465-4D0786A68B65}"/>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AC1DC064-C95E-7201-417D-D945D9EEC5EE}"/>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9F839B1-BBF2-4D9C-D41D-856DC8C163FD}"/>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53</a:t>
            </a:r>
          </a:p>
        </p:txBody>
      </p:sp>
      <p:sp>
        <p:nvSpPr>
          <p:cNvPr id="9" name="Rectangle: Rounded Corners 8">
            <a:extLst>
              <a:ext uri="{FF2B5EF4-FFF2-40B4-BE49-F238E27FC236}">
                <a16:creationId xmlns:a16="http://schemas.microsoft.com/office/drawing/2014/main" id="{31445C55-5E8A-38E3-5AE1-5DF9250FA763}"/>
              </a:ext>
            </a:extLst>
          </p:cNvPr>
          <p:cNvSpPr/>
          <p:nvPr/>
        </p:nvSpPr>
        <p:spPr>
          <a:xfrm>
            <a:off x="609600" y="1549400"/>
            <a:ext cx="2413000" cy="3048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Layer</a:t>
            </a:r>
          </a:p>
        </p:txBody>
      </p:sp>
      <p:sp>
        <p:nvSpPr>
          <p:cNvPr id="10" name="Rectangle: Rounded Corners 9">
            <a:extLst>
              <a:ext uri="{FF2B5EF4-FFF2-40B4-BE49-F238E27FC236}">
                <a16:creationId xmlns:a16="http://schemas.microsoft.com/office/drawing/2014/main" id="{FFDDFC28-83F7-3C39-FDCD-8F1CF97D390D}"/>
              </a:ext>
            </a:extLst>
          </p:cNvPr>
          <p:cNvSpPr/>
          <p:nvPr/>
        </p:nvSpPr>
        <p:spPr>
          <a:xfrm>
            <a:off x="3022600" y="1549400"/>
            <a:ext cx="2853267" cy="3048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Signals</a:t>
            </a:r>
          </a:p>
        </p:txBody>
      </p:sp>
      <p:sp>
        <p:nvSpPr>
          <p:cNvPr id="11" name="Rectangle: Rounded Corners 10">
            <a:extLst>
              <a:ext uri="{FF2B5EF4-FFF2-40B4-BE49-F238E27FC236}">
                <a16:creationId xmlns:a16="http://schemas.microsoft.com/office/drawing/2014/main" id="{541A1B4B-FD03-4E1A-8968-783951E09A4F}"/>
              </a:ext>
            </a:extLst>
          </p:cNvPr>
          <p:cNvSpPr/>
          <p:nvPr/>
        </p:nvSpPr>
        <p:spPr>
          <a:xfrm>
            <a:off x="5875867" y="1549400"/>
            <a:ext cx="2853266" cy="3048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Where from</a:t>
            </a:r>
          </a:p>
        </p:txBody>
      </p:sp>
      <p:sp>
        <p:nvSpPr>
          <p:cNvPr id="12" name="Rectangle: Rounded Corners 11">
            <a:extLst>
              <a:ext uri="{FF2B5EF4-FFF2-40B4-BE49-F238E27FC236}">
                <a16:creationId xmlns:a16="http://schemas.microsoft.com/office/drawing/2014/main" id="{A792591D-AE96-EBB5-4427-057F16032198}"/>
              </a:ext>
            </a:extLst>
          </p:cNvPr>
          <p:cNvSpPr/>
          <p:nvPr/>
        </p:nvSpPr>
        <p:spPr>
          <a:xfrm>
            <a:off x="8729133" y="1549400"/>
            <a:ext cx="2853267" cy="3048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Store and plan</a:t>
            </a:r>
          </a:p>
        </p:txBody>
      </p:sp>
      <p:sp>
        <p:nvSpPr>
          <p:cNvPr id="13" name="Rectangle: Rounded Corners 12">
            <a:extLst>
              <a:ext uri="{FF2B5EF4-FFF2-40B4-BE49-F238E27FC236}">
                <a16:creationId xmlns:a16="http://schemas.microsoft.com/office/drawing/2014/main" id="{1EE980E1-C73A-FBF4-6901-0B2F36572C7E}"/>
              </a:ext>
            </a:extLst>
          </p:cNvPr>
          <p:cNvSpPr/>
          <p:nvPr/>
        </p:nvSpPr>
        <p:spPr>
          <a:xfrm>
            <a:off x="609600" y="18542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Infrastructure</a:t>
            </a:r>
          </a:p>
        </p:txBody>
      </p:sp>
      <p:sp>
        <p:nvSpPr>
          <p:cNvPr id="14" name="Rectangle: Rounded Corners 13">
            <a:extLst>
              <a:ext uri="{FF2B5EF4-FFF2-40B4-BE49-F238E27FC236}">
                <a16:creationId xmlns:a16="http://schemas.microsoft.com/office/drawing/2014/main" id="{FF0EBCDD-BFDE-AE6D-785E-2A4688894A8D}"/>
              </a:ext>
            </a:extLst>
          </p:cNvPr>
          <p:cNvSpPr/>
          <p:nvPr/>
        </p:nvSpPr>
        <p:spPr>
          <a:xfrm>
            <a:off x="3022600" y="18542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heartbeat, CPU, memory, disk, network, process map</a:t>
            </a:r>
          </a:p>
        </p:txBody>
      </p:sp>
      <p:sp>
        <p:nvSpPr>
          <p:cNvPr id="15" name="Rectangle: Rounded Corners 14">
            <a:extLst>
              <a:ext uri="{FF2B5EF4-FFF2-40B4-BE49-F238E27FC236}">
                <a16:creationId xmlns:a16="http://schemas.microsoft.com/office/drawing/2014/main" id="{BF7AB057-C99B-429A-B9D6-E001C0F6BCF1}"/>
              </a:ext>
            </a:extLst>
          </p:cNvPr>
          <p:cNvSpPr/>
          <p:nvPr/>
        </p:nvSpPr>
        <p:spPr>
          <a:xfrm>
            <a:off x="5875867" y="18542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Azure Monitor Agent, VM insights</a:t>
            </a:r>
          </a:p>
        </p:txBody>
      </p:sp>
      <p:sp>
        <p:nvSpPr>
          <p:cNvPr id="16" name="Rectangle: Rounded Corners 15">
            <a:extLst>
              <a:ext uri="{FF2B5EF4-FFF2-40B4-BE49-F238E27FC236}">
                <a16:creationId xmlns:a16="http://schemas.microsoft.com/office/drawing/2014/main" id="{AAB38074-956D-5B83-1B79-11E6F69A92AB}"/>
              </a:ext>
            </a:extLst>
          </p:cNvPr>
          <p:cNvSpPr/>
          <p:nvPr/>
        </p:nvSpPr>
        <p:spPr>
          <a:xfrm>
            <a:off x="8729133" y="18542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Log Analytics, Analytics</a:t>
            </a:r>
          </a:p>
        </p:txBody>
      </p:sp>
      <p:sp>
        <p:nvSpPr>
          <p:cNvPr id="17" name="Rectangle: Rounded Corners 16">
            <a:extLst>
              <a:ext uri="{FF2B5EF4-FFF2-40B4-BE49-F238E27FC236}">
                <a16:creationId xmlns:a16="http://schemas.microsoft.com/office/drawing/2014/main" id="{854C2F80-4FFB-3C66-0C61-48BF3B9E4CC7}"/>
              </a:ext>
            </a:extLst>
          </p:cNvPr>
          <p:cNvSpPr/>
          <p:nvPr/>
        </p:nvSpPr>
        <p:spPr>
          <a:xfrm>
            <a:off x="609600" y="23495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Platform</a:t>
            </a:r>
          </a:p>
        </p:txBody>
      </p:sp>
      <p:sp>
        <p:nvSpPr>
          <p:cNvPr id="18" name="Rectangle: Rounded Corners 17">
            <a:extLst>
              <a:ext uri="{FF2B5EF4-FFF2-40B4-BE49-F238E27FC236}">
                <a16:creationId xmlns:a16="http://schemas.microsoft.com/office/drawing/2014/main" id="{B9AE23CD-DC45-5C02-F7C4-8AD2128D4279}"/>
              </a:ext>
            </a:extLst>
          </p:cNvPr>
          <p:cNvSpPr/>
          <p:nvPr/>
        </p:nvSpPr>
        <p:spPr>
          <a:xfrm>
            <a:off x="3022600" y="23495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resource logs, activity and audit logs, change tracking</a:t>
            </a:r>
          </a:p>
        </p:txBody>
      </p:sp>
      <p:sp>
        <p:nvSpPr>
          <p:cNvPr id="19" name="Rectangle: Rounded Corners 18">
            <a:extLst>
              <a:ext uri="{FF2B5EF4-FFF2-40B4-BE49-F238E27FC236}">
                <a16:creationId xmlns:a16="http://schemas.microsoft.com/office/drawing/2014/main" id="{92430935-0E16-B73E-EA4D-C3846360490F}"/>
              </a:ext>
            </a:extLst>
          </p:cNvPr>
          <p:cNvSpPr/>
          <p:nvPr/>
        </p:nvSpPr>
        <p:spPr>
          <a:xfrm>
            <a:off x="5875867" y="23495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diagnostic settings, Change Tracking DCR, connectors</a:t>
            </a:r>
          </a:p>
        </p:txBody>
      </p:sp>
      <p:sp>
        <p:nvSpPr>
          <p:cNvPr id="20" name="Rectangle: Rounded Corners 19">
            <a:extLst>
              <a:ext uri="{FF2B5EF4-FFF2-40B4-BE49-F238E27FC236}">
                <a16:creationId xmlns:a16="http://schemas.microsoft.com/office/drawing/2014/main" id="{C1394DE3-7208-C71A-2FBB-397980D06934}"/>
              </a:ext>
            </a:extLst>
          </p:cNvPr>
          <p:cNvSpPr/>
          <p:nvPr/>
        </p:nvSpPr>
        <p:spPr>
          <a:xfrm>
            <a:off x="8729133" y="23495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Log Analytics, Analytics for alerts, Basic or Auxiliary for audit</a:t>
            </a:r>
          </a:p>
        </p:txBody>
      </p:sp>
      <p:sp>
        <p:nvSpPr>
          <p:cNvPr id="21" name="Rectangle: Rounded Corners 20">
            <a:extLst>
              <a:ext uri="{FF2B5EF4-FFF2-40B4-BE49-F238E27FC236}">
                <a16:creationId xmlns:a16="http://schemas.microsoft.com/office/drawing/2014/main" id="{0350BC07-CD71-9198-3C53-A55E6D4C721F}"/>
              </a:ext>
            </a:extLst>
          </p:cNvPr>
          <p:cNvSpPr/>
          <p:nvPr/>
        </p:nvSpPr>
        <p:spPr>
          <a:xfrm>
            <a:off x="609600" y="28448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Kubernetes</a:t>
            </a:r>
          </a:p>
        </p:txBody>
      </p:sp>
      <p:sp>
        <p:nvSpPr>
          <p:cNvPr id="22" name="Rectangle: Rounded Corners 21">
            <a:extLst>
              <a:ext uri="{FF2B5EF4-FFF2-40B4-BE49-F238E27FC236}">
                <a16:creationId xmlns:a16="http://schemas.microsoft.com/office/drawing/2014/main" id="{E2DC0228-A023-F6C7-66E3-B41824C76A16}"/>
              </a:ext>
            </a:extLst>
          </p:cNvPr>
          <p:cNvSpPr/>
          <p:nvPr/>
        </p:nvSpPr>
        <p:spPr>
          <a:xfrm>
            <a:off x="3022600" y="28448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node and pod metrics, container logs, events</a:t>
            </a:r>
          </a:p>
        </p:txBody>
      </p:sp>
      <p:sp>
        <p:nvSpPr>
          <p:cNvPr id="23" name="Rectangle: Rounded Corners 22">
            <a:extLst>
              <a:ext uri="{FF2B5EF4-FFF2-40B4-BE49-F238E27FC236}">
                <a16:creationId xmlns:a16="http://schemas.microsoft.com/office/drawing/2014/main" id="{D74CBCBC-135B-53B1-A695-1A6289455DDC}"/>
              </a:ext>
            </a:extLst>
          </p:cNvPr>
          <p:cNvSpPr/>
          <p:nvPr/>
        </p:nvSpPr>
        <p:spPr>
          <a:xfrm>
            <a:off x="5875867" y="28448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Container insights, Managed Prometheus</a:t>
            </a:r>
          </a:p>
        </p:txBody>
      </p:sp>
      <p:sp>
        <p:nvSpPr>
          <p:cNvPr id="24" name="Rectangle: Rounded Corners 23">
            <a:extLst>
              <a:ext uri="{FF2B5EF4-FFF2-40B4-BE49-F238E27FC236}">
                <a16:creationId xmlns:a16="http://schemas.microsoft.com/office/drawing/2014/main" id="{F4FDB2FE-8705-10D9-B159-3D4C08F4672F}"/>
              </a:ext>
            </a:extLst>
          </p:cNvPr>
          <p:cNvSpPr/>
          <p:nvPr/>
        </p:nvSpPr>
        <p:spPr>
          <a:xfrm>
            <a:off x="8729133" y="28448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Azure Monitor workspace for metrics; Log Analytics for logs</a:t>
            </a:r>
          </a:p>
        </p:txBody>
      </p:sp>
      <p:sp>
        <p:nvSpPr>
          <p:cNvPr id="25" name="Rectangle: Rounded Corners 24">
            <a:extLst>
              <a:ext uri="{FF2B5EF4-FFF2-40B4-BE49-F238E27FC236}">
                <a16:creationId xmlns:a16="http://schemas.microsoft.com/office/drawing/2014/main" id="{B8ABBCAE-177E-381A-5C5A-AB0D71863A14}"/>
              </a:ext>
            </a:extLst>
          </p:cNvPr>
          <p:cNvSpPr/>
          <p:nvPr/>
        </p:nvSpPr>
        <p:spPr>
          <a:xfrm>
            <a:off x="609600" y="33401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Application</a:t>
            </a:r>
          </a:p>
        </p:txBody>
      </p:sp>
      <p:sp>
        <p:nvSpPr>
          <p:cNvPr id="26" name="Rectangle: Rounded Corners 25">
            <a:extLst>
              <a:ext uri="{FF2B5EF4-FFF2-40B4-BE49-F238E27FC236}">
                <a16:creationId xmlns:a16="http://schemas.microsoft.com/office/drawing/2014/main" id="{0B0313EC-7C12-A627-A6A9-B307AED95E4F}"/>
              </a:ext>
            </a:extLst>
          </p:cNvPr>
          <p:cNvSpPr/>
          <p:nvPr/>
        </p:nvSpPr>
        <p:spPr>
          <a:xfrm>
            <a:off x="3022600" y="33401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requests, dependencies, exceptions, traces, custom records</a:t>
            </a:r>
          </a:p>
        </p:txBody>
      </p:sp>
      <p:sp>
        <p:nvSpPr>
          <p:cNvPr id="27" name="Rectangle: Rounded Corners 26">
            <a:extLst>
              <a:ext uri="{FF2B5EF4-FFF2-40B4-BE49-F238E27FC236}">
                <a16:creationId xmlns:a16="http://schemas.microsoft.com/office/drawing/2014/main" id="{6F85A5B2-1532-B566-DF1C-67533A4E09B0}"/>
              </a:ext>
            </a:extLst>
          </p:cNvPr>
          <p:cNvSpPr/>
          <p:nvPr/>
        </p:nvSpPr>
        <p:spPr>
          <a:xfrm>
            <a:off x="5875867" y="33401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OpenTelemetry Distro or OTLP, ingestion API</a:t>
            </a:r>
          </a:p>
        </p:txBody>
      </p:sp>
      <p:sp>
        <p:nvSpPr>
          <p:cNvPr id="28" name="Rectangle: Rounded Corners 27">
            <a:extLst>
              <a:ext uri="{FF2B5EF4-FFF2-40B4-BE49-F238E27FC236}">
                <a16:creationId xmlns:a16="http://schemas.microsoft.com/office/drawing/2014/main" id="{BFF324A7-E6E8-C0D0-530B-74CCBF4FA8C4}"/>
              </a:ext>
            </a:extLst>
          </p:cNvPr>
          <p:cNvSpPr/>
          <p:nvPr/>
        </p:nvSpPr>
        <p:spPr>
          <a:xfrm>
            <a:off x="8729133" y="33401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Application Insights tables, custom tables</a:t>
            </a:r>
          </a:p>
        </p:txBody>
      </p:sp>
      <p:sp>
        <p:nvSpPr>
          <p:cNvPr id="29" name="Rectangle: Rounded Corners 28">
            <a:extLst>
              <a:ext uri="{FF2B5EF4-FFF2-40B4-BE49-F238E27FC236}">
                <a16:creationId xmlns:a16="http://schemas.microsoft.com/office/drawing/2014/main" id="{71BFFC6D-DC5A-EB30-1C85-C39EFC49785B}"/>
              </a:ext>
            </a:extLst>
          </p:cNvPr>
          <p:cNvSpPr/>
          <p:nvPr/>
        </p:nvSpPr>
        <p:spPr>
          <a:xfrm>
            <a:off x="609600" y="38354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Experience</a:t>
            </a:r>
          </a:p>
        </p:txBody>
      </p:sp>
      <p:sp>
        <p:nvSpPr>
          <p:cNvPr id="30" name="Rectangle: Rounded Corners 29">
            <a:extLst>
              <a:ext uri="{FF2B5EF4-FFF2-40B4-BE49-F238E27FC236}">
                <a16:creationId xmlns:a16="http://schemas.microsoft.com/office/drawing/2014/main" id="{F3EC81B7-3A48-B098-AD78-2C196272FBCD}"/>
              </a:ext>
            </a:extLst>
          </p:cNvPr>
          <p:cNvSpPr/>
          <p:nvPr/>
        </p:nvSpPr>
        <p:spPr>
          <a:xfrm>
            <a:off x="3022600" y="38354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synthetic transactions, availability tests, real-user metrics</a:t>
            </a:r>
          </a:p>
        </p:txBody>
      </p:sp>
      <p:sp>
        <p:nvSpPr>
          <p:cNvPr id="31" name="Rectangle: Rounded Corners 30">
            <a:extLst>
              <a:ext uri="{FF2B5EF4-FFF2-40B4-BE49-F238E27FC236}">
                <a16:creationId xmlns:a16="http://schemas.microsoft.com/office/drawing/2014/main" id="{D84468FB-3652-4D46-ACF4-99970C412C51}"/>
              </a:ext>
            </a:extLst>
          </p:cNvPr>
          <p:cNvSpPr/>
          <p:nvPr/>
        </p:nvSpPr>
        <p:spPr>
          <a:xfrm>
            <a:off x="5875867" y="38354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availability tests, OpenTelemetry browser SDK, your probes via the API</a:t>
            </a:r>
          </a:p>
        </p:txBody>
      </p:sp>
      <p:sp>
        <p:nvSpPr>
          <p:cNvPr id="32" name="Rectangle: Rounded Corners 31">
            <a:extLst>
              <a:ext uri="{FF2B5EF4-FFF2-40B4-BE49-F238E27FC236}">
                <a16:creationId xmlns:a16="http://schemas.microsoft.com/office/drawing/2014/main" id="{7B1F6CF5-DC9C-DC73-F72B-1C3D1AA9F0EC}"/>
              </a:ext>
            </a:extLst>
          </p:cNvPr>
          <p:cNvSpPr/>
          <p:nvPr/>
        </p:nvSpPr>
        <p:spPr>
          <a:xfrm>
            <a:off x="8729133" y="38354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Application Insights</a:t>
            </a:r>
          </a:p>
        </p:txBody>
      </p:sp>
      <p:sp>
        <p:nvSpPr>
          <p:cNvPr id="33" name="Rectangle: Rounded Corners 32">
            <a:extLst>
              <a:ext uri="{FF2B5EF4-FFF2-40B4-BE49-F238E27FC236}">
                <a16:creationId xmlns:a16="http://schemas.microsoft.com/office/drawing/2014/main" id="{686BFAA3-5885-F3A8-2F8C-E2FD23B852CF}"/>
              </a:ext>
            </a:extLst>
          </p:cNvPr>
          <p:cNvSpPr/>
          <p:nvPr/>
        </p:nvSpPr>
        <p:spPr>
          <a:xfrm>
            <a:off x="609600" y="43307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Security</a:t>
            </a:r>
          </a:p>
        </p:txBody>
      </p:sp>
      <p:sp>
        <p:nvSpPr>
          <p:cNvPr id="34" name="Rectangle: Rounded Corners 33">
            <a:extLst>
              <a:ext uri="{FF2B5EF4-FFF2-40B4-BE49-F238E27FC236}">
                <a16:creationId xmlns:a16="http://schemas.microsoft.com/office/drawing/2014/main" id="{8C634709-D11D-763A-D1C6-C4B396D7A801}"/>
              </a:ext>
            </a:extLst>
          </p:cNvPr>
          <p:cNvSpPr/>
          <p:nvPr/>
        </p:nvSpPr>
        <p:spPr>
          <a:xfrm>
            <a:off x="3022600" y="43307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sign-ins, privileged actions, posture, threats</a:t>
            </a:r>
          </a:p>
        </p:txBody>
      </p:sp>
      <p:sp>
        <p:nvSpPr>
          <p:cNvPr id="35" name="Rectangle: Rounded Corners 34">
            <a:extLst>
              <a:ext uri="{FF2B5EF4-FFF2-40B4-BE49-F238E27FC236}">
                <a16:creationId xmlns:a16="http://schemas.microsoft.com/office/drawing/2014/main" id="{C55ECEEF-8C57-87F3-12EE-0EA5A03D1A72}"/>
              </a:ext>
            </a:extLst>
          </p:cNvPr>
          <p:cNvSpPr/>
          <p:nvPr/>
        </p:nvSpPr>
        <p:spPr>
          <a:xfrm>
            <a:off x="5875867" y="43307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Entra logs, Defender for Cloud, Sentinel connectors</a:t>
            </a:r>
          </a:p>
        </p:txBody>
      </p:sp>
      <p:sp>
        <p:nvSpPr>
          <p:cNvPr id="36" name="Rectangle: Rounded Corners 35">
            <a:extLst>
              <a:ext uri="{FF2B5EF4-FFF2-40B4-BE49-F238E27FC236}">
                <a16:creationId xmlns:a16="http://schemas.microsoft.com/office/drawing/2014/main" id="{5B194008-ECF3-A751-5FEF-D3A0007BC4B4}"/>
              </a:ext>
            </a:extLst>
          </p:cNvPr>
          <p:cNvSpPr/>
          <p:nvPr/>
        </p:nvSpPr>
        <p:spPr>
          <a:xfrm>
            <a:off x="8729133" y="43307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Sentinel-enabled workspace tables</a:t>
            </a:r>
          </a:p>
        </p:txBody>
      </p:sp>
      <p:sp>
        <p:nvSpPr>
          <p:cNvPr id="37" name="Rectangle: Rounded Corners 36">
            <a:extLst>
              <a:ext uri="{FF2B5EF4-FFF2-40B4-BE49-F238E27FC236}">
                <a16:creationId xmlns:a16="http://schemas.microsoft.com/office/drawing/2014/main" id="{A2B6315F-9137-0467-D1EB-FEDBE26AC8D6}"/>
              </a:ext>
            </a:extLst>
          </p:cNvPr>
          <p:cNvSpPr/>
          <p:nvPr/>
        </p:nvSpPr>
        <p:spPr>
          <a:xfrm>
            <a:off x="609600" y="48260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Network</a:t>
            </a:r>
          </a:p>
        </p:txBody>
      </p:sp>
      <p:sp>
        <p:nvSpPr>
          <p:cNvPr id="38" name="Rectangle: Rounded Corners 37">
            <a:extLst>
              <a:ext uri="{FF2B5EF4-FFF2-40B4-BE49-F238E27FC236}">
                <a16:creationId xmlns:a16="http://schemas.microsoft.com/office/drawing/2014/main" id="{843F2CB0-77B9-F5E5-F7EF-BFFF5127E6DA}"/>
              </a:ext>
            </a:extLst>
          </p:cNvPr>
          <p:cNvSpPr/>
          <p:nvPr/>
        </p:nvSpPr>
        <p:spPr>
          <a:xfrm>
            <a:off x="3022600" y="48260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site link health, DNS, certificate expiry, flows</a:t>
            </a:r>
          </a:p>
        </p:txBody>
      </p:sp>
      <p:sp>
        <p:nvSpPr>
          <p:cNvPr id="39" name="Rectangle: Rounded Corners 38">
            <a:extLst>
              <a:ext uri="{FF2B5EF4-FFF2-40B4-BE49-F238E27FC236}">
                <a16:creationId xmlns:a16="http://schemas.microsoft.com/office/drawing/2014/main" id="{ED772BC7-FD77-CE0F-F182-F0D8EE091C38}"/>
              </a:ext>
            </a:extLst>
          </p:cNvPr>
          <p:cNvSpPr/>
          <p:nvPr/>
        </p:nvSpPr>
        <p:spPr>
          <a:xfrm>
            <a:off x="5875867" y="4826000"/>
            <a:ext cx="2853266"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Connection Monitor, NSG flow logs, network tooling via Syslog or API</a:t>
            </a:r>
          </a:p>
        </p:txBody>
      </p:sp>
      <p:sp>
        <p:nvSpPr>
          <p:cNvPr id="40" name="Rectangle: Rounded Corners 39">
            <a:extLst>
              <a:ext uri="{FF2B5EF4-FFF2-40B4-BE49-F238E27FC236}">
                <a16:creationId xmlns:a16="http://schemas.microsoft.com/office/drawing/2014/main" id="{AA834EC8-7613-8663-3D18-5DE5A216CFC1}"/>
              </a:ext>
            </a:extLst>
          </p:cNvPr>
          <p:cNvSpPr/>
          <p:nvPr/>
        </p:nvSpPr>
        <p:spPr>
          <a:xfrm>
            <a:off x="8729133" y="4826000"/>
            <a:ext cx="2853267"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Log Analytics</a:t>
            </a:r>
          </a:p>
        </p:txBody>
      </p:sp>
    </p:spTree>
    <p:extLst>
      <p:ext uri="{BB962C8B-B14F-4D97-AF65-F5344CB8AC3E}">
        <p14:creationId xmlns:p14="http://schemas.microsoft.com/office/powerpoint/2010/main" val="7010019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1DA0E6AB-C283-5B1C-28E1-649F783A7096}"/>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D9EE96A3-9575-C3B2-D9B0-8478F0B4275B}"/>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A4E4292-D504-B749-0CC3-DA2A6D29A652}"/>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42AFF1-00BE-BFFF-7A6E-FF8D2A28F113}"/>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Correlation context: the design rule</a:t>
            </a:r>
          </a:p>
        </p:txBody>
      </p:sp>
      <p:sp>
        <p:nvSpPr>
          <p:cNvPr id="6" name="ChapterTag">
            <a:extLst>
              <a:ext uri="{FF2B5EF4-FFF2-40B4-BE49-F238E27FC236}">
                <a16:creationId xmlns:a16="http://schemas.microsoft.com/office/drawing/2014/main" id="{EE915406-5651-6BE8-7C95-9FDBFA2BE204}"/>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FC2C9C4F-F177-053A-ACBF-05CB209E4869}"/>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DEFBF247-8509-0443-3129-89284D8CB2EA}"/>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54</a:t>
            </a:r>
          </a:p>
        </p:txBody>
      </p:sp>
      <p:sp>
        <p:nvSpPr>
          <p:cNvPr id="9" name="Oval 8">
            <a:extLst>
              <a:ext uri="{FF2B5EF4-FFF2-40B4-BE49-F238E27FC236}">
                <a16:creationId xmlns:a16="http://schemas.microsoft.com/office/drawing/2014/main" id="{59AA259A-C88E-F89C-1628-1671E3A54AD5}"/>
              </a:ext>
            </a:extLst>
          </p:cNvPr>
          <p:cNvSpPr/>
          <p:nvPr/>
        </p:nvSpPr>
        <p:spPr>
          <a:xfrm>
            <a:off x="660400" y="1680210"/>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C67D3F1-E9C1-C78B-3D4A-438E453616BB}"/>
              </a:ext>
            </a:extLst>
          </p:cNvPr>
          <p:cNvSpPr txBox="1"/>
          <p:nvPr/>
        </p:nvSpPr>
        <p:spPr>
          <a:xfrm>
            <a:off x="889000" y="160020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Every record carries: a resource ID (which machine or cluster), a timestamp, the service and environment tags, and where it is about a transaction, a correlation ID</a:t>
            </a:r>
          </a:p>
        </p:txBody>
      </p:sp>
      <p:sp>
        <p:nvSpPr>
          <p:cNvPr id="11" name="Oval 10">
            <a:extLst>
              <a:ext uri="{FF2B5EF4-FFF2-40B4-BE49-F238E27FC236}">
                <a16:creationId xmlns:a16="http://schemas.microsoft.com/office/drawing/2014/main" id="{593ABFA1-2F15-D7A2-A066-B7DB9DA5264E}"/>
              </a:ext>
            </a:extLst>
          </p:cNvPr>
          <p:cNvSpPr/>
          <p:nvPr/>
        </p:nvSpPr>
        <p:spPr>
          <a:xfrm>
            <a:off x="660400" y="2313178"/>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AABC138-44AF-8A3F-5481-3D53ACB517C3}"/>
              </a:ext>
            </a:extLst>
          </p:cNvPr>
          <p:cNvSpPr txBox="1"/>
          <p:nvPr/>
        </p:nvSpPr>
        <p:spPr>
          <a:xfrm>
            <a:off x="889000" y="2233168"/>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Correlation ID: generated at the entry point, propagated in headers (W3C traceparent) and written into every stage record and log line</a:t>
            </a:r>
          </a:p>
        </p:txBody>
      </p:sp>
      <p:sp>
        <p:nvSpPr>
          <p:cNvPr id="13" name="Oval 12">
            <a:extLst>
              <a:ext uri="{FF2B5EF4-FFF2-40B4-BE49-F238E27FC236}">
                <a16:creationId xmlns:a16="http://schemas.microsoft.com/office/drawing/2014/main" id="{7E6B9ED0-FDCE-434F-1049-AD99669263EB}"/>
              </a:ext>
            </a:extLst>
          </p:cNvPr>
          <p:cNvSpPr/>
          <p:nvPr/>
        </p:nvSpPr>
        <p:spPr>
          <a:xfrm>
            <a:off x="660400" y="2946146"/>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CAD4DF0-F810-9DC2-137E-7DA795895A22}"/>
              </a:ext>
            </a:extLst>
          </p:cNvPr>
          <p:cNvSpPr txBox="1"/>
          <p:nvPr/>
        </p:nvSpPr>
        <p:spPr>
          <a:xfrm>
            <a:off x="889000" y="2866136"/>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Use the same tag names in Azure, AWS, GCP and vCenter; the connector carries AWS and GCP tags into Azure so Resource Graph can join them</a:t>
            </a:r>
          </a:p>
        </p:txBody>
      </p:sp>
      <p:sp>
        <p:nvSpPr>
          <p:cNvPr id="15" name="Oval 14">
            <a:extLst>
              <a:ext uri="{FF2B5EF4-FFF2-40B4-BE49-F238E27FC236}">
                <a16:creationId xmlns:a16="http://schemas.microsoft.com/office/drawing/2014/main" id="{9A54DC99-3D4E-4D03-24D8-35E026380F79}"/>
              </a:ext>
            </a:extLst>
          </p:cNvPr>
          <p:cNvSpPr/>
          <p:nvPr/>
        </p:nvSpPr>
        <p:spPr>
          <a:xfrm>
            <a:off x="660400" y="3579114"/>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9E629AB-5C3F-B416-ADC8-517BED765B5F}"/>
              </a:ext>
            </a:extLst>
          </p:cNvPr>
          <p:cNvSpPr txBox="1"/>
          <p:nvPr/>
        </p:nvSpPr>
        <p:spPr>
          <a:xfrm>
            <a:off x="889000" y="349910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OpenTelemetry resource attributes (cloud.provider, cloud.region, service.name, service.namespace) are the application-side equivalent; set them in the SDK or the collector</a:t>
            </a:r>
          </a:p>
        </p:txBody>
      </p:sp>
      <p:sp>
        <p:nvSpPr>
          <p:cNvPr id="17" name="Oval 16">
            <a:extLst>
              <a:ext uri="{FF2B5EF4-FFF2-40B4-BE49-F238E27FC236}">
                <a16:creationId xmlns:a16="http://schemas.microsoft.com/office/drawing/2014/main" id="{62A4D91F-4C86-6A02-80F7-7D1B7C9F5B0E}"/>
              </a:ext>
            </a:extLst>
          </p:cNvPr>
          <p:cNvSpPr/>
          <p:nvPr/>
        </p:nvSpPr>
        <p:spPr>
          <a:xfrm>
            <a:off x="660400" y="4212082"/>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117BB9F-30EF-4C5F-AF9C-335594F3AB00}"/>
              </a:ext>
            </a:extLst>
          </p:cNvPr>
          <p:cNvSpPr txBox="1"/>
          <p:nvPr/>
        </p:nvSpPr>
        <p:spPr>
          <a:xfrm>
            <a:off x="889000" y="413207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Freshness is part of the contract: every source declares its expected cadence so Unknown can be detected</a:t>
            </a:r>
          </a:p>
        </p:txBody>
      </p:sp>
      <p:sp>
        <p:nvSpPr>
          <p:cNvPr id="19" name="Oval 18">
            <a:extLst>
              <a:ext uri="{FF2B5EF4-FFF2-40B4-BE49-F238E27FC236}">
                <a16:creationId xmlns:a16="http://schemas.microsoft.com/office/drawing/2014/main" id="{C458FBEF-24E1-5A8A-D4B7-547DF110F654}"/>
              </a:ext>
            </a:extLst>
          </p:cNvPr>
          <p:cNvSpPr/>
          <p:nvPr/>
        </p:nvSpPr>
        <p:spPr>
          <a:xfrm>
            <a:off x="660400" y="4617466"/>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993C011-E61B-6DE8-6580-C8D609920EDD}"/>
              </a:ext>
            </a:extLst>
          </p:cNvPr>
          <p:cNvSpPr txBox="1"/>
          <p:nvPr/>
        </p:nvSpPr>
        <p:spPr>
          <a:xfrm>
            <a:off x="889000" y="4537456"/>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Without this slide, chapter 7 is impossible: you cannot investigate across clouds without something to join on</a:t>
            </a:r>
          </a:p>
        </p:txBody>
      </p:sp>
    </p:spTree>
    <p:extLst>
      <p:ext uri="{BB962C8B-B14F-4D97-AF65-F5344CB8AC3E}">
        <p14:creationId xmlns:p14="http://schemas.microsoft.com/office/powerpoint/2010/main" val="6492058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261FF58D-24C7-C877-C987-372E11AE69D6}"/>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F4786B6-38C1-C369-B21B-BA41923C63FE}"/>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BF312A-CC5F-CB31-53FE-B72F5421F73E}"/>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6843DF2-84D4-F130-4937-73373CE70495}"/>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Alert design</a:t>
            </a:r>
          </a:p>
        </p:txBody>
      </p:sp>
      <p:sp>
        <p:nvSpPr>
          <p:cNvPr id="6" name="ChapterTag">
            <a:extLst>
              <a:ext uri="{FF2B5EF4-FFF2-40B4-BE49-F238E27FC236}">
                <a16:creationId xmlns:a16="http://schemas.microsoft.com/office/drawing/2014/main" id="{8AB675ED-C456-BF20-D29E-51B18EA53D58}"/>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5838C7F2-CBD6-C42C-1564-1AF3FA189E3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AFCD3F01-FC74-29BE-7554-767B0AF0C2EC}"/>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55</a:t>
            </a:r>
          </a:p>
        </p:txBody>
      </p:sp>
      <p:sp>
        <p:nvSpPr>
          <p:cNvPr id="9" name="Rectangle: Rounded Corners 8">
            <a:extLst>
              <a:ext uri="{FF2B5EF4-FFF2-40B4-BE49-F238E27FC236}">
                <a16:creationId xmlns:a16="http://schemas.microsoft.com/office/drawing/2014/main" id="{1645192D-D869-0B8B-5B7A-ABFC42578220}"/>
              </a:ext>
            </a:extLst>
          </p:cNvPr>
          <p:cNvSpPr/>
          <p:nvPr/>
        </p:nvSpPr>
        <p:spPr>
          <a:xfrm>
            <a:off x="609600" y="1778000"/>
            <a:ext cx="2540000" cy="1143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CONDITION</a:t>
            </a:r>
          </a:p>
          <a:p>
            <a:pPr algn="ctr"/>
            <a:r>
              <a:rPr lang="en-US" sz="1150">
                <a:solidFill>
                  <a:srgbClr val="F4F4F5"/>
                </a:solidFill>
                <a:latin typeface="Calibri" panose="020F0502020204030204" pitchFamily="34" charset="0"/>
              </a:rPr>
              <a:t>metric · log search · Prometheus rule · health state change</a:t>
            </a:r>
          </a:p>
        </p:txBody>
      </p:sp>
      <p:cxnSp>
        <p:nvCxnSpPr>
          <p:cNvPr id="10" name="Straight Connector 9">
            <a:extLst>
              <a:ext uri="{FF2B5EF4-FFF2-40B4-BE49-F238E27FC236}">
                <a16:creationId xmlns:a16="http://schemas.microsoft.com/office/drawing/2014/main" id="{91366342-8D2F-24DE-D562-B0010E1E1644}"/>
              </a:ext>
            </a:extLst>
          </p:cNvPr>
          <p:cNvCxnSpPr/>
          <p:nvPr/>
        </p:nvCxnSpPr>
        <p:spPr>
          <a:xfrm>
            <a:off x="3149600" y="2349500"/>
            <a:ext cx="203200" cy="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7BC99720-8D91-7C60-4CA7-DA5B1B6BB1A1}"/>
              </a:ext>
            </a:extLst>
          </p:cNvPr>
          <p:cNvSpPr/>
          <p:nvPr/>
        </p:nvSpPr>
        <p:spPr>
          <a:xfrm>
            <a:off x="3352800" y="1778000"/>
            <a:ext cx="2540000" cy="1143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CONTEXT</a:t>
            </a:r>
          </a:p>
          <a:p>
            <a:pPr algn="ctr"/>
            <a:r>
              <a:rPr lang="en-US" sz="1150">
                <a:solidFill>
                  <a:srgbClr val="F4F4F5"/>
                </a:solidFill>
                <a:latin typeface="Calibri" panose="020F0502020204030204" pitchFamily="34" charset="0"/>
              </a:rPr>
              <a:t>service · resource ID · evidence query · runbook link</a:t>
            </a:r>
          </a:p>
        </p:txBody>
      </p:sp>
      <p:cxnSp>
        <p:nvCxnSpPr>
          <p:cNvPr id="12" name="Straight Connector 11">
            <a:extLst>
              <a:ext uri="{FF2B5EF4-FFF2-40B4-BE49-F238E27FC236}">
                <a16:creationId xmlns:a16="http://schemas.microsoft.com/office/drawing/2014/main" id="{F907317E-2561-1174-2ED2-691392A87911}"/>
              </a:ext>
            </a:extLst>
          </p:cNvPr>
          <p:cNvCxnSpPr/>
          <p:nvPr/>
        </p:nvCxnSpPr>
        <p:spPr>
          <a:xfrm>
            <a:off x="5892800" y="2349500"/>
            <a:ext cx="203200" cy="0"/>
          </a:xfrm>
          <a:prstGeom prst="line">
            <a:avLst/>
          </a:prstGeom>
          <a:ln w="22225">
            <a:solidFill>
              <a:srgbClr val="7DAAFA"/>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63CBAFC2-77A9-55FC-B058-88A5E3A1DA88}"/>
              </a:ext>
            </a:extLst>
          </p:cNvPr>
          <p:cNvSpPr/>
          <p:nvPr/>
        </p:nvSpPr>
        <p:spPr>
          <a:xfrm>
            <a:off x="6096000" y="1778000"/>
            <a:ext cx="2540000" cy="1143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OWNER</a:t>
            </a:r>
          </a:p>
          <a:p>
            <a:pPr algn="ctr"/>
            <a:r>
              <a:rPr lang="en-US" sz="1150">
                <a:solidFill>
                  <a:srgbClr val="F4F4F5"/>
                </a:solidFill>
                <a:latin typeface="Calibri" panose="020F0502020204030204" pitchFamily="34" charset="0"/>
              </a:rPr>
              <a:t>action group by owner tag and severity</a:t>
            </a:r>
          </a:p>
        </p:txBody>
      </p:sp>
      <p:cxnSp>
        <p:nvCxnSpPr>
          <p:cNvPr id="14" name="Straight Connector 13">
            <a:extLst>
              <a:ext uri="{FF2B5EF4-FFF2-40B4-BE49-F238E27FC236}">
                <a16:creationId xmlns:a16="http://schemas.microsoft.com/office/drawing/2014/main" id="{EEFD40B0-7822-4ED5-5419-18BD1ABD3807}"/>
              </a:ext>
            </a:extLst>
          </p:cNvPr>
          <p:cNvCxnSpPr/>
          <p:nvPr/>
        </p:nvCxnSpPr>
        <p:spPr>
          <a:xfrm>
            <a:off x="8636000" y="2349500"/>
            <a:ext cx="203200" cy="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7B080D3A-16A1-2953-428B-CE3C6E6F7E51}"/>
              </a:ext>
            </a:extLst>
          </p:cNvPr>
          <p:cNvSpPr/>
          <p:nvPr/>
        </p:nvSpPr>
        <p:spPr>
          <a:xfrm>
            <a:off x="8839200" y="1778000"/>
            <a:ext cx="2540000" cy="1143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F4F4F5"/>
                </a:solidFill>
                <a:latin typeface="Calibri" panose="020F0502020204030204" pitchFamily="34" charset="0"/>
              </a:rPr>
              <a:t>OUTCOME</a:t>
            </a:r>
          </a:p>
          <a:p>
            <a:pPr algn="ctr"/>
            <a:r>
              <a:rPr lang="en-US" sz="1150">
                <a:solidFill>
                  <a:srgbClr val="F4F4F5"/>
                </a:solidFill>
                <a:latin typeface="Calibri" panose="020F0502020204030204" pitchFamily="34" charset="0"/>
              </a:rPr>
              <a:t>acknowledge · act · verify · close or escalate</a:t>
            </a:r>
          </a:p>
        </p:txBody>
      </p:sp>
      <p:sp>
        <p:nvSpPr>
          <p:cNvPr id="16" name="TextBox 15">
            <a:extLst>
              <a:ext uri="{FF2B5EF4-FFF2-40B4-BE49-F238E27FC236}">
                <a16:creationId xmlns:a16="http://schemas.microsoft.com/office/drawing/2014/main" id="{B31ABDCA-7619-6419-29A8-DA9C40773867}"/>
              </a:ext>
            </a:extLst>
          </p:cNvPr>
          <p:cNvSpPr txBox="1"/>
          <p:nvPr/>
        </p:nvSpPr>
        <p:spPr>
          <a:xfrm>
            <a:off x="609600" y="3175000"/>
            <a:ext cx="1778000" cy="2286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SEVERITY</a:t>
            </a:r>
          </a:p>
        </p:txBody>
      </p:sp>
      <p:sp>
        <p:nvSpPr>
          <p:cNvPr id="17" name="TextBox 16">
            <a:extLst>
              <a:ext uri="{FF2B5EF4-FFF2-40B4-BE49-F238E27FC236}">
                <a16:creationId xmlns:a16="http://schemas.microsoft.com/office/drawing/2014/main" id="{7DC942BF-42B5-3878-7586-9666CB6A8365}"/>
              </a:ext>
            </a:extLst>
          </p:cNvPr>
          <p:cNvSpPr txBox="1"/>
          <p:nvPr/>
        </p:nvSpPr>
        <p:spPr>
          <a:xfrm>
            <a:off x="2489200" y="3175000"/>
            <a:ext cx="4064000" cy="2286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MEANS</a:t>
            </a:r>
          </a:p>
        </p:txBody>
      </p:sp>
      <p:sp>
        <p:nvSpPr>
          <p:cNvPr id="18" name="TextBox 17">
            <a:extLst>
              <a:ext uri="{FF2B5EF4-FFF2-40B4-BE49-F238E27FC236}">
                <a16:creationId xmlns:a16="http://schemas.microsoft.com/office/drawing/2014/main" id="{14802BA6-6D11-2152-08E3-AE321CD56487}"/>
              </a:ext>
            </a:extLst>
          </p:cNvPr>
          <p:cNvSpPr txBox="1"/>
          <p:nvPr/>
        </p:nvSpPr>
        <p:spPr>
          <a:xfrm>
            <a:off x="6654800" y="3175000"/>
            <a:ext cx="4927600" cy="228600"/>
          </a:xfrm>
          <a:prstGeom prst="rect">
            <a:avLst/>
          </a:prstGeom>
          <a:noFill/>
        </p:spPr>
        <p:txBody>
          <a:bodyPr vert="horz" wrap="square" lIns="25400" tIns="12700" rIns="25400" bIns="12700" rtlCol="0" anchor="t">
            <a:noAutofit/>
          </a:bodyPr>
          <a:lstStyle/>
          <a:p>
            <a:r>
              <a:rPr lang="en-US" sz="1100" b="1">
                <a:solidFill>
                  <a:srgbClr val="B0B0BA"/>
                </a:solidFill>
                <a:latin typeface="Calibri" panose="020F0502020204030204" pitchFamily="34" charset="0"/>
              </a:rPr>
              <a:t>ROUTE AND RESPONSE</a:t>
            </a:r>
          </a:p>
        </p:txBody>
      </p:sp>
      <p:sp>
        <p:nvSpPr>
          <p:cNvPr id="19" name="Rectangle: Rounded Corners 18">
            <a:extLst>
              <a:ext uri="{FF2B5EF4-FFF2-40B4-BE49-F238E27FC236}">
                <a16:creationId xmlns:a16="http://schemas.microsoft.com/office/drawing/2014/main" id="{6C44352E-1A20-73C2-7B05-857C42936D41}"/>
              </a:ext>
            </a:extLst>
          </p:cNvPr>
          <p:cNvSpPr/>
          <p:nvPr/>
        </p:nvSpPr>
        <p:spPr>
          <a:xfrm>
            <a:off x="609600" y="3454400"/>
            <a:ext cx="1778000" cy="457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b="1">
                <a:solidFill>
                  <a:srgbClr val="F4F4F5"/>
                </a:solidFill>
                <a:latin typeface="Calibri" panose="020F0502020204030204" pitchFamily="34" charset="0"/>
              </a:rPr>
              <a:t>Sev 0 and 1</a:t>
            </a:r>
          </a:p>
        </p:txBody>
      </p:sp>
      <p:sp>
        <p:nvSpPr>
          <p:cNvPr id="20" name="Rectangle: Rounded Corners 19">
            <a:extLst>
              <a:ext uri="{FF2B5EF4-FFF2-40B4-BE49-F238E27FC236}">
                <a16:creationId xmlns:a16="http://schemas.microsoft.com/office/drawing/2014/main" id="{ED11FE9C-813E-CB60-C8AE-588F6AE42862}"/>
              </a:ext>
            </a:extLst>
          </p:cNvPr>
          <p:cNvSpPr/>
          <p:nvPr/>
        </p:nvSpPr>
        <p:spPr>
          <a:xfrm>
            <a:off x="2489200" y="3454400"/>
            <a:ext cx="40640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a commitment is Unhealthy for people now</a:t>
            </a:r>
          </a:p>
        </p:txBody>
      </p:sp>
      <p:sp>
        <p:nvSpPr>
          <p:cNvPr id="21" name="Rectangle: Rounded Corners 20">
            <a:extLst>
              <a:ext uri="{FF2B5EF4-FFF2-40B4-BE49-F238E27FC236}">
                <a16:creationId xmlns:a16="http://schemas.microsoft.com/office/drawing/2014/main" id="{F8B57D7B-223E-3B6B-298A-52593BB492A6}"/>
              </a:ext>
            </a:extLst>
          </p:cNvPr>
          <p:cNvSpPr/>
          <p:nvPr/>
        </p:nvSpPr>
        <p:spPr>
          <a:xfrm>
            <a:off x="6654800" y="3454400"/>
            <a:ext cx="49276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page the service owner; 15-minute acknowledgement</a:t>
            </a:r>
          </a:p>
        </p:txBody>
      </p:sp>
      <p:sp>
        <p:nvSpPr>
          <p:cNvPr id="22" name="Rectangle: Rounded Corners 21">
            <a:extLst>
              <a:ext uri="{FF2B5EF4-FFF2-40B4-BE49-F238E27FC236}">
                <a16:creationId xmlns:a16="http://schemas.microsoft.com/office/drawing/2014/main" id="{ECA7AA8E-64B4-B31A-A699-EFB63488D587}"/>
              </a:ext>
            </a:extLst>
          </p:cNvPr>
          <p:cNvSpPr/>
          <p:nvPr/>
        </p:nvSpPr>
        <p:spPr>
          <a:xfrm>
            <a:off x="609600" y="3987800"/>
            <a:ext cx="1778000" cy="457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b="1">
                <a:solidFill>
                  <a:srgbClr val="F4F4F5"/>
                </a:solidFill>
                <a:latin typeface="Calibri" panose="020F0502020204030204" pitchFamily="34" charset="0"/>
              </a:rPr>
              <a:t>Sev 2</a:t>
            </a:r>
          </a:p>
        </p:txBody>
      </p:sp>
      <p:sp>
        <p:nvSpPr>
          <p:cNvPr id="23" name="Rectangle: Rounded Corners 22">
            <a:extLst>
              <a:ext uri="{FF2B5EF4-FFF2-40B4-BE49-F238E27FC236}">
                <a16:creationId xmlns:a16="http://schemas.microsoft.com/office/drawing/2014/main" id="{F4E4A8BF-249E-33C8-7A71-9B103E2BB17A}"/>
              </a:ext>
            </a:extLst>
          </p:cNvPr>
          <p:cNvSpPr/>
          <p:nvPr/>
        </p:nvSpPr>
        <p:spPr>
          <a:xfrm>
            <a:off x="2489200" y="3987800"/>
            <a:ext cx="40640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a commitment is Degraded or a required part is Unhealthy</a:t>
            </a:r>
          </a:p>
        </p:txBody>
      </p:sp>
      <p:sp>
        <p:nvSpPr>
          <p:cNvPr id="24" name="Rectangle: Rounded Corners 23">
            <a:extLst>
              <a:ext uri="{FF2B5EF4-FFF2-40B4-BE49-F238E27FC236}">
                <a16:creationId xmlns:a16="http://schemas.microsoft.com/office/drawing/2014/main" id="{8CA2AD2B-4D8B-20B4-F16A-CA607B8B62B3}"/>
              </a:ext>
            </a:extLst>
          </p:cNvPr>
          <p:cNvSpPr/>
          <p:nvPr/>
        </p:nvSpPr>
        <p:spPr>
          <a:xfrm>
            <a:off x="6654800" y="3987800"/>
            <a:ext cx="49276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notify the component owner; 1-hour acknowledgement</a:t>
            </a:r>
          </a:p>
        </p:txBody>
      </p:sp>
      <p:sp>
        <p:nvSpPr>
          <p:cNvPr id="25" name="Rectangle: Rounded Corners 24">
            <a:extLst>
              <a:ext uri="{FF2B5EF4-FFF2-40B4-BE49-F238E27FC236}">
                <a16:creationId xmlns:a16="http://schemas.microsoft.com/office/drawing/2014/main" id="{2DE21045-E81B-1B9E-D884-92986E22C7B2}"/>
              </a:ext>
            </a:extLst>
          </p:cNvPr>
          <p:cNvSpPr/>
          <p:nvPr/>
        </p:nvSpPr>
        <p:spPr>
          <a:xfrm>
            <a:off x="609600" y="4521200"/>
            <a:ext cx="1778000" cy="457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b="1">
                <a:solidFill>
                  <a:srgbClr val="F4F4F5"/>
                </a:solidFill>
                <a:latin typeface="Calibri" panose="020F0502020204030204" pitchFamily="34" charset="0"/>
              </a:rPr>
              <a:t>Sev 3</a:t>
            </a:r>
          </a:p>
        </p:txBody>
      </p:sp>
      <p:sp>
        <p:nvSpPr>
          <p:cNvPr id="26" name="Rectangle: Rounded Corners 25">
            <a:extLst>
              <a:ext uri="{FF2B5EF4-FFF2-40B4-BE49-F238E27FC236}">
                <a16:creationId xmlns:a16="http://schemas.microsoft.com/office/drawing/2014/main" id="{AE7F18E8-C779-619A-C274-54827CE54E77}"/>
              </a:ext>
            </a:extLst>
          </p:cNvPr>
          <p:cNvSpPr/>
          <p:nvPr/>
        </p:nvSpPr>
        <p:spPr>
          <a:xfrm>
            <a:off x="2489200" y="4521200"/>
            <a:ext cx="40640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capacity, freshness or drift that will matter</a:t>
            </a:r>
          </a:p>
        </p:txBody>
      </p:sp>
      <p:sp>
        <p:nvSpPr>
          <p:cNvPr id="27" name="Rectangle: Rounded Corners 26">
            <a:extLst>
              <a:ext uri="{FF2B5EF4-FFF2-40B4-BE49-F238E27FC236}">
                <a16:creationId xmlns:a16="http://schemas.microsoft.com/office/drawing/2014/main" id="{C069EF3F-6346-861A-F118-C3F24B45C895}"/>
              </a:ext>
            </a:extLst>
          </p:cNvPr>
          <p:cNvSpPr/>
          <p:nvPr/>
        </p:nvSpPr>
        <p:spPr>
          <a:xfrm>
            <a:off x="6654800" y="4521200"/>
            <a:ext cx="49276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ticket to the owner; next business day</a:t>
            </a:r>
          </a:p>
        </p:txBody>
      </p:sp>
      <p:sp>
        <p:nvSpPr>
          <p:cNvPr id="28" name="Rectangle: Rounded Corners 27">
            <a:extLst>
              <a:ext uri="{FF2B5EF4-FFF2-40B4-BE49-F238E27FC236}">
                <a16:creationId xmlns:a16="http://schemas.microsoft.com/office/drawing/2014/main" id="{C9AC3108-4C89-82C9-94D3-D4DA7ED81526}"/>
              </a:ext>
            </a:extLst>
          </p:cNvPr>
          <p:cNvSpPr/>
          <p:nvPr/>
        </p:nvSpPr>
        <p:spPr>
          <a:xfrm>
            <a:off x="609600" y="5054600"/>
            <a:ext cx="1778000" cy="457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b="1">
                <a:solidFill>
                  <a:srgbClr val="F4F4F5"/>
                </a:solidFill>
                <a:latin typeface="Calibri" panose="020F0502020204030204" pitchFamily="34" charset="0"/>
              </a:rPr>
              <a:t>Sev 4</a:t>
            </a:r>
          </a:p>
        </p:txBody>
      </p:sp>
      <p:sp>
        <p:nvSpPr>
          <p:cNvPr id="29" name="Rectangle: Rounded Corners 28">
            <a:extLst>
              <a:ext uri="{FF2B5EF4-FFF2-40B4-BE49-F238E27FC236}">
                <a16:creationId xmlns:a16="http://schemas.microsoft.com/office/drawing/2014/main" id="{9ACC4A16-8DEE-4E5E-2720-DD680C95247F}"/>
              </a:ext>
            </a:extLst>
          </p:cNvPr>
          <p:cNvSpPr/>
          <p:nvPr/>
        </p:nvSpPr>
        <p:spPr>
          <a:xfrm>
            <a:off x="2489200" y="5054600"/>
            <a:ext cx="40640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informational, trend, review material</a:t>
            </a:r>
          </a:p>
        </p:txBody>
      </p:sp>
      <p:sp>
        <p:nvSpPr>
          <p:cNvPr id="30" name="Rectangle: Rounded Corners 29">
            <a:extLst>
              <a:ext uri="{FF2B5EF4-FFF2-40B4-BE49-F238E27FC236}">
                <a16:creationId xmlns:a16="http://schemas.microsoft.com/office/drawing/2014/main" id="{88256398-F12C-6E3F-69BC-E54DDBAA1090}"/>
              </a:ext>
            </a:extLst>
          </p:cNvPr>
          <p:cNvSpPr/>
          <p:nvPr/>
        </p:nvSpPr>
        <p:spPr>
          <a:xfrm>
            <a:off x="6654800" y="5054600"/>
            <a:ext cx="4927600" cy="457200"/>
          </a:xfrm>
          <a:prstGeom prst="roundRect">
            <a:avLst>
              <a:gd name="adj" fmla="val 800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150">
                <a:solidFill>
                  <a:srgbClr val="F4F4F5"/>
                </a:solidFill>
                <a:latin typeface="Calibri" panose="020F0502020204030204" pitchFamily="34" charset="0"/>
              </a:rPr>
              <a:t>dashboard only; no notification</a:t>
            </a:r>
          </a:p>
        </p:txBody>
      </p:sp>
      <p:sp>
        <p:nvSpPr>
          <p:cNvPr id="31" name="TextBox 30">
            <a:extLst>
              <a:ext uri="{FF2B5EF4-FFF2-40B4-BE49-F238E27FC236}">
                <a16:creationId xmlns:a16="http://schemas.microsoft.com/office/drawing/2014/main" id="{9C7140D4-EFBF-A108-7379-B4445718D16F}"/>
              </a:ext>
            </a:extLst>
          </p:cNvPr>
          <p:cNvSpPr txBox="1"/>
          <p:nvPr/>
        </p:nvSpPr>
        <p:spPr>
          <a:xfrm>
            <a:off x="609600" y="5664200"/>
            <a:ext cx="10972800" cy="279400"/>
          </a:xfrm>
          <a:prstGeom prst="rect">
            <a:avLst/>
          </a:prstGeom>
          <a:noFill/>
        </p:spPr>
        <p:txBody>
          <a:bodyPr vert="horz" wrap="square" lIns="25400" tIns="12700" rIns="25400" bIns="12700" rtlCol="0" anchor="t">
            <a:noAutofit/>
          </a:bodyPr>
          <a:lstStyle/>
          <a:p>
            <a:r>
              <a:rPr lang="en-US" sz="1150">
                <a:solidFill>
                  <a:srgbClr val="B0B0BA"/>
                </a:solidFill>
                <a:latin typeface="Calibri" panose="020F0502020204030204" pitchFamily="34" charset="0"/>
              </a:rPr>
              <a:t>Processing rules suppress during maintenance. A configured rule is not proof of delivery: test every action group on a schedule.</a:t>
            </a:r>
          </a:p>
        </p:txBody>
      </p:sp>
      <p:sp>
        <p:nvSpPr>
          <p:cNvPr id="32" name="Rectangle 31">
            <a:extLst>
              <a:ext uri="{FF2B5EF4-FFF2-40B4-BE49-F238E27FC236}">
                <a16:creationId xmlns:a16="http://schemas.microsoft.com/office/drawing/2014/main" id="{6F433CF1-3A50-56B8-278B-6E70CBD53CBF}"/>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94707DEB-0E39-D6AE-F0BA-407873442899}"/>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Severity maps to response time, not to how alarming the metric sounds.</a:t>
            </a:r>
          </a:p>
        </p:txBody>
      </p:sp>
    </p:spTree>
    <p:extLst>
      <p:ext uri="{BB962C8B-B14F-4D97-AF65-F5344CB8AC3E}">
        <p14:creationId xmlns:p14="http://schemas.microsoft.com/office/powerpoint/2010/main" val="4092255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350AA4C-96BC-C393-B89B-FE6B0CE59E3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4D876114-0E54-9BB0-C979-DFA0D75634B0}"/>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49EB4E3-A9A8-5D7F-21E3-5A3BA6B6200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CD5BFB0-B188-A930-DD90-B28FDAB5535B}"/>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Dashboards and views</a:t>
            </a:r>
          </a:p>
        </p:txBody>
      </p:sp>
      <p:sp>
        <p:nvSpPr>
          <p:cNvPr id="6" name="ChapterTag">
            <a:extLst>
              <a:ext uri="{FF2B5EF4-FFF2-40B4-BE49-F238E27FC236}">
                <a16:creationId xmlns:a16="http://schemas.microsoft.com/office/drawing/2014/main" id="{AF66270E-C7C8-CCBD-BD15-34FDF4371CCD}"/>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0E7B0B07-344A-B355-0482-3B10174E5A56}"/>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AC1B2F43-2B30-6904-B6C5-EA104F26B6BE}"/>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56</a:t>
            </a:r>
          </a:p>
        </p:txBody>
      </p:sp>
      <p:sp>
        <p:nvSpPr>
          <p:cNvPr id="9" name="Rectangle: Rounded Corners 8">
            <a:extLst>
              <a:ext uri="{FF2B5EF4-FFF2-40B4-BE49-F238E27FC236}">
                <a16:creationId xmlns:a16="http://schemas.microsoft.com/office/drawing/2014/main" id="{73F3443B-8AB6-F82D-AF35-27453E9CF712}"/>
              </a:ext>
            </a:extLst>
          </p:cNvPr>
          <p:cNvSpPr/>
          <p:nvPr/>
        </p:nvSpPr>
        <p:spPr>
          <a:xfrm>
            <a:off x="609600" y="1600200"/>
            <a:ext cx="3522133" cy="4699000"/>
          </a:xfrm>
          <a:prstGeom prst="roundRect">
            <a:avLst>
              <a:gd name="adj" fmla="val 4000"/>
            </a:avLst>
          </a:prstGeom>
          <a:noFill/>
          <a:ln w="15875" cap="flat" cmpd="sng" algn="ctr">
            <a:solidFill>
              <a:srgbClr val="A3E635"/>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2E523BD-5775-BA6F-3C9F-26C3132BDB86}"/>
              </a:ext>
            </a:extLst>
          </p:cNvPr>
          <p:cNvSpPr txBox="1"/>
          <p:nvPr/>
        </p:nvSpPr>
        <p:spPr>
          <a:xfrm>
            <a:off x="762000" y="1701800"/>
            <a:ext cx="3217333" cy="279400"/>
          </a:xfrm>
          <a:prstGeom prst="rect">
            <a:avLst/>
          </a:prstGeom>
          <a:noFill/>
        </p:spPr>
        <p:txBody>
          <a:bodyPr vert="horz" wrap="square" lIns="25400" tIns="12700" rIns="25400" bIns="12700" rtlCol="0" anchor="t">
            <a:noAutofit/>
          </a:bodyPr>
          <a:lstStyle/>
          <a:p>
            <a:r>
              <a:rPr lang="en-US" sz="1250" b="1">
                <a:solidFill>
                  <a:srgbClr val="A3E635"/>
                </a:solidFill>
                <a:latin typeface="Calibri" panose="020F0502020204030204" pitchFamily="34" charset="0"/>
              </a:rPr>
              <a:t>SERVICE VIEWS (first)</a:t>
            </a:r>
          </a:p>
        </p:txBody>
      </p:sp>
      <p:sp>
        <p:nvSpPr>
          <p:cNvPr id="11" name="Oval 10">
            <a:extLst>
              <a:ext uri="{FF2B5EF4-FFF2-40B4-BE49-F238E27FC236}">
                <a16:creationId xmlns:a16="http://schemas.microsoft.com/office/drawing/2014/main" id="{F153CA4A-F82B-F5B6-E4E5-B914667383E2}"/>
              </a:ext>
            </a:extLst>
          </p:cNvPr>
          <p:cNvSpPr/>
          <p:nvPr/>
        </p:nvSpPr>
        <p:spPr>
          <a:xfrm>
            <a:off x="787400" y="2137410"/>
            <a:ext cx="88900" cy="889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22DACFF-2B4B-A9DF-5DD1-F5DDF23CDB34}"/>
              </a:ext>
            </a:extLst>
          </p:cNvPr>
          <p:cNvSpPr txBox="1"/>
          <p:nvPr/>
        </p:nvSpPr>
        <p:spPr>
          <a:xfrm>
            <a:off x="965200" y="2057400"/>
            <a:ext cx="2988733" cy="758952"/>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one per service boundary: commitment state, dependencies, freshness, last good transaction</a:t>
            </a:r>
          </a:p>
        </p:txBody>
      </p:sp>
      <p:sp>
        <p:nvSpPr>
          <p:cNvPr id="13" name="Oval 12">
            <a:extLst>
              <a:ext uri="{FF2B5EF4-FFF2-40B4-BE49-F238E27FC236}">
                <a16:creationId xmlns:a16="http://schemas.microsoft.com/office/drawing/2014/main" id="{CC33A6E9-F1BF-BBFB-21FA-BCE024C38ED0}"/>
              </a:ext>
            </a:extLst>
          </p:cNvPr>
          <p:cNvSpPr/>
          <p:nvPr/>
        </p:nvSpPr>
        <p:spPr>
          <a:xfrm>
            <a:off x="787400" y="2947162"/>
            <a:ext cx="88900" cy="889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C8B5E04-AA03-C140-1398-93804C475B54}"/>
              </a:ext>
            </a:extLst>
          </p:cNvPr>
          <p:cNvSpPr txBox="1"/>
          <p:nvPr/>
        </p:nvSpPr>
        <p:spPr>
          <a:xfrm>
            <a:off x="965200" y="2867152"/>
            <a:ext cx="2988733" cy="531368"/>
          </a:xfrm>
          <a:prstGeom prst="rect">
            <a:avLst/>
          </a:prstGeom>
          <a:noFill/>
        </p:spPr>
        <p:txBody>
          <a:bodyPr vert="horz" wrap="square" lIns="25400" tIns="12700" rIns="25400" bIns="12700" rtlCol="0" anchor="t">
            <a:noAutofit/>
          </a:bodyPr>
          <a:lstStyle/>
          <a:p>
            <a:r>
              <a:rPr lang="en-US" sz="1350">
                <a:solidFill>
                  <a:srgbClr val="F4F4F5"/>
                </a:solidFill>
                <a:latin typeface="Calibri" panose="020F0502020204030204" pitchFamily="34" charset="0"/>
              </a:rPr>
              <a:t>workbooks on Log Analytics, or Managed Grafana on Prometheus plus logs</a:t>
            </a:r>
          </a:p>
        </p:txBody>
      </p:sp>
      <p:sp>
        <p:nvSpPr>
          <p:cNvPr id="15" name="Oval 14">
            <a:extLst>
              <a:ext uri="{FF2B5EF4-FFF2-40B4-BE49-F238E27FC236}">
                <a16:creationId xmlns:a16="http://schemas.microsoft.com/office/drawing/2014/main" id="{4BAB63FA-2C4D-A60E-3A88-BD89215C1D84}"/>
              </a:ext>
            </a:extLst>
          </p:cNvPr>
          <p:cNvSpPr/>
          <p:nvPr/>
        </p:nvSpPr>
        <p:spPr>
          <a:xfrm>
            <a:off x="787400" y="3529330"/>
            <a:ext cx="88900" cy="889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8DD9BF0-E2F7-4377-A0D3-0A9494F92F35}"/>
              </a:ext>
            </a:extLst>
          </p:cNvPr>
          <p:cNvSpPr txBox="1"/>
          <p:nvPr/>
        </p:nvSpPr>
        <p:spPr>
          <a:xfrm>
            <a:off x="965200" y="3449320"/>
            <a:ext cx="2988733"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read top to bottom in a fixed order; drill to evidence</a:t>
            </a:r>
          </a:p>
        </p:txBody>
      </p:sp>
      <p:sp>
        <p:nvSpPr>
          <p:cNvPr id="17" name="Rectangle: Rounded Corners 16">
            <a:extLst>
              <a:ext uri="{FF2B5EF4-FFF2-40B4-BE49-F238E27FC236}">
                <a16:creationId xmlns:a16="http://schemas.microsoft.com/office/drawing/2014/main" id="{C91723B1-05B5-E5E3-B0B5-8AD8156C7199}"/>
              </a:ext>
            </a:extLst>
          </p:cNvPr>
          <p:cNvSpPr/>
          <p:nvPr/>
        </p:nvSpPr>
        <p:spPr>
          <a:xfrm>
            <a:off x="4334933" y="1600200"/>
            <a:ext cx="3522134" cy="4699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6420531-4685-F518-F84E-B48A60D7D295}"/>
              </a:ext>
            </a:extLst>
          </p:cNvPr>
          <p:cNvSpPr txBox="1"/>
          <p:nvPr/>
        </p:nvSpPr>
        <p:spPr>
          <a:xfrm>
            <a:off x="4487333" y="1701800"/>
            <a:ext cx="3217333" cy="279400"/>
          </a:xfrm>
          <a:prstGeom prst="rect">
            <a:avLst/>
          </a:prstGeom>
          <a:noFill/>
        </p:spPr>
        <p:txBody>
          <a:bodyPr vert="horz" wrap="square" lIns="25400" tIns="12700" rIns="25400" bIns="12700" rtlCol="0" anchor="t">
            <a:noAutofit/>
          </a:bodyPr>
          <a:lstStyle/>
          <a:p>
            <a:r>
              <a:rPr lang="en-US" sz="1250" b="1">
                <a:solidFill>
                  <a:srgbClr val="2DD4BF"/>
                </a:solidFill>
                <a:latin typeface="Calibri" panose="020F0502020204030204" pitchFamily="34" charset="0"/>
              </a:rPr>
              <a:t>RESOURCE VIEWS (second)</a:t>
            </a:r>
          </a:p>
        </p:txBody>
      </p:sp>
      <p:sp>
        <p:nvSpPr>
          <p:cNvPr id="19" name="Oval 18">
            <a:extLst>
              <a:ext uri="{FF2B5EF4-FFF2-40B4-BE49-F238E27FC236}">
                <a16:creationId xmlns:a16="http://schemas.microsoft.com/office/drawing/2014/main" id="{161E0E3C-7827-8DA2-FFD7-4D5160C93EB0}"/>
              </a:ext>
            </a:extLst>
          </p:cNvPr>
          <p:cNvSpPr/>
          <p:nvPr/>
        </p:nvSpPr>
        <p:spPr>
          <a:xfrm>
            <a:off x="4512733" y="2137410"/>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ED7187-1389-606A-CBD0-3C31288AF2C9}"/>
              </a:ext>
            </a:extLst>
          </p:cNvPr>
          <p:cNvSpPr txBox="1"/>
          <p:nvPr/>
        </p:nvSpPr>
        <p:spPr>
          <a:xfrm>
            <a:off x="4690533" y="2057400"/>
            <a:ext cx="2988733"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VM insights, Container insights, Application Insights blades</a:t>
            </a:r>
          </a:p>
        </p:txBody>
      </p:sp>
      <p:sp>
        <p:nvSpPr>
          <p:cNvPr id="21" name="Oval 20">
            <a:extLst>
              <a:ext uri="{FF2B5EF4-FFF2-40B4-BE49-F238E27FC236}">
                <a16:creationId xmlns:a16="http://schemas.microsoft.com/office/drawing/2014/main" id="{F9AEAB60-5B4B-4B1D-D535-C19E2D1EDF5A}"/>
              </a:ext>
            </a:extLst>
          </p:cNvPr>
          <p:cNvSpPr/>
          <p:nvPr/>
        </p:nvSpPr>
        <p:spPr>
          <a:xfrm>
            <a:off x="4512733" y="2719578"/>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9DC9009-0C50-D4D6-F9F9-388D5F654C26}"/>
              </a:ext>
            </a:extLst>
          </p:cNvPr>
          <p:cNvSpPr txBox="1"/>
          <p:nvPr/>
        </p:nvSpPr>
        <p:spPr>
          <a:xfrm>
            <a:off x="4690533" y="2639568"/>
            <a:ext cx="2988733"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per-team dashboards for capacity and tuning</a:t>
            </a:r>
          </a:p>
        </p:txBody>
      </p:sp>
      <p:sp>
        <p:nvSpPr>
          <p:cNvPr id="23" name="Oval 22">
            <a:extLst>
              <a:ext uri="{FF2B5EF4-FFF2-40B4-BE49-F238E27FC236}">
                <a16:creationId xmlns:a16="http://schemas.microsoft.com/office/drawing/2014/main" id="{65661226-93B2-38C9-B5B9-67ECEE7BE6D7}"/>
              </a:ext>
            </a:extLst>
          </p:cNvPr>
          <p:cNvSpPr/>
          <p:nvPr/>
        </p:nvSpPr>
        <p:spPr>
          <a:xfrm>
            <a:off x="4512733" y="3301746"/>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E281B2E-C1F1-D217-C55E-5E55DC7B9543}"/>
              </a:ext>
            </a:extLst>
          </p:cNvPr>
          <p:cNvSpPr txBox="1"/>
          <p:nvPr/>
        </p:nvSpPr>
        <p:spPr>
          <a:xfrm>
            <a:off x="4690533" y="3221736"/>
            <a:ext cx="2988733"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never the first thing an on-call engineer opens</a:t>
            </a:r>
          </a:p>
        </p:txBody>
      </p:sp>
      <p:sp>
        <p:nvSpPr>
          <p:cNvPr id="25" name="Rectangle: Rounded Corners 24">
            <a:extLst>
              <a:ext uri="{FF2B5EF4-FFF2-40B4-BE49-F238E27FC236}">
                <a16:creationId xmlns:a16="http://schemas.microsoft.com/office/drawing/2014/main" id="{DE6B05DE-1D24-9D80-CE9D-3850E3E16DA1}"/>
              </a:ext>
            </a:extLst>
          </p:cNvPr>
          <p:cNvSpPr/>
          <p:nvPr/>
        </p:nvSpPr>
        <p:spPr>
          <a:xfrm>
            <a:off x="8060267" y="1600200"/>
            <a:ext cx="3522133" cy="4699000"/>
          </a:xfrm>
          <a:prstGeom prst="roundRect">
            <a:avLst>
              <a:gd name="adj" fmla="val 4000"/>
            </a:avLst>
          </a:prstGeom>
          <a:noFill/>
          <a:ln w="15875" cap="flat" cmpd="sng" algn="ctr">
            <a:solidFill>
              <a:srgbClr val="C4A0FA"/>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1F05CF6F-0314-999A-55ED-2411EF0DC36C}"/>
              </a:ext>
            </a:extLst>
          </p:cNvPr>
          <p:cNvSpPr txBox="1"/>
          <p:nvPr/>
        </p:nvSpPr>
        <p:spPr>
          <a:xfrm>
            <a:off x="8212667" y="1701800"/>
            <a:ext cx="3217333" cy="279400"/>
          </a:xfrm>
          <a:prstGeom prst="rect">
            <a:avLst/>
          </a:prstGeom>
          <a:noFill/>
        </p:spPr>
        <p:txBody>
          <a:bodyPr vert="horz" wrap="square" lIns="25400" tIns="12700" rIns="25400" bIns="12700" rtlCol="0" anchor="t">
            <a:noAutofit/>
          </a:bodyPr>
          <a:lstStyle/>
          <a:p>
            <a:r>
              <a:rPr lang="en-US" sz="1250" b="1">
                <a:solidFill>
                  <a:srgbClr val="C4A0FA"/>
                </a:solidFill>
                <a:latin typeface="Calibri" panose="020F0502020204030204" pitchFamily="34" charset="0"/>
              </a:rPr>
              <a:t>EXECUTIVE AND GOVERNANCE</a:t>
            </a:r>
          </a:p>
        </p:txBody>
      </p:sp>
      <p:sp>
        <p:nvSpPr>
          <p:cNvPr id="27" name="Oval 26">
            <a:extLst>
              <a:ext uri="{FF2B5EF4-FFF2-40B4-BE49-F238E27FC236}">
                <a16:creationId xmlns:a16="http://schemas.microsoft.com/office/drawing/2014/main" id="{8EC8F95B-C7E7-31E1-479E-B9E5B6F9543F}"/>
              </a:ext>
            </a:extLst>
          </p:cNvPr>
          <p:cNvSpPr/>
          <p:nvPr/>
        </p:nvSpPr>
        <p:spPr>
          <a:xfrm>
            <a:off x="8238067" y="2137410"/>
            <a:ext cx="88900" cy="889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8D037ED-A767-8A79-B37A-B96DD64BC03F}"/>
              </a:ext>
            </a:extLst>
          </p:cNvPr>
          <p:cNvSpPr txBox="1"/>
          <p:nvPr/>
        </p:nvSpPr>
        <p:spPr>
          <a:xfrm>
            <a:off x="8415867" y="2057400"/>
            <a:ext cx="2988733"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SLO attainment, incident counts, cost by table and by service</a:t>
            </a:r>
          </a:p>
        </p:txBody>
      </p:sp>
      <p:sp>
        <p:nvSpPr>
          <p:cNvPr id="29" name="Oval 28">
            <a:extLst>
              <a:ext uri="{FF2B5EF4-FFF2-40B4-BE49-F238E27FC236}">
                <a16:creationId xmlns:a16="http://schemas.microsoft.com/office/drawing/2014/main" id="{A8418BBF-F7E9-6A6A-363B-1278AC296B94}"/>
              </a:ext>
            </a:extLst>
          </p:cNvPr>
          <p:cNvSpPr/>
          <p:nvPr/>
        </p:nvSpPr>
        <p:spPr>
          <a:xfrm>
            <a:off x="8238067" y="2719578"/>
            <a:ext cx="88900" cy="889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D273BBD-8F0B-4A11-4374-FA265F9C4B78}"/>
              </a:ext>
            </a:extLst>
          </p:cNvPr>
          <p:cNvSpPr txBox="1"/>
          <p:nvPr/>
        </p:nvSpPr>
        <p:spPr>
          <a:xfrm>
            <a:off x="8415867" y="2639568"/>
            <a:ext cx="2988733"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Azure Monitor dashboards or Grafana, monthly</a:t>
            </a:r>
          </a:p>
        </p:txBody>
      </p:sp>
      <p:sp>
        <p:nvSpPr>
          <p:cNvPr id="31" name="Oval 30">
            <a:extLst>
              <a:ext uri="{FF2B5EF4-FFF2-40B4-BE49-F238E27FC236}">
                <a16:creationId xmlns:a16="http://schemas.microsoft.com/office/drawing/2014/main" id="{45F24CCC-8354-4AF7-6157-28A8295381E1}"/>
              </a:ext>
            </a:extLst>
          </p:cNvPr>
          <p:cNvSpPr/>
          <p:nvPr/>
        </p:nvSpPr>
        <p:spPr>
          <a:xfrm>
            <a:off x="8238067" y="3301746"/>
            <a:ext cx="88900" cy="889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BC1FE17-7794-924B-0935-3C1CF5763E21}"/>
              </a:ext>
            </a:extLst>
          </p:cNvPr>
          <p:cNvSpPr txBox="1"/>
          <p:nvPr/>
        </p:nvSpPr>
        <p:spPr>
          <a:xfrm>
            <a:off x="8415867" y="3221736"/>
            <a:ext cx="2988733" cy="5313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answers "is it worth it" and "who owns the gaps"</a:t>
            </a:r>
          </a:p>
        </p:txBody>
      </p:sp>
    </p:spTree>
    <p:extLst>
      <p:ext uri="{BB962C8B-B14F-4D97-AF65-F5344CB8AC3E}">
        <p14:creationId xmlns:p14="http://schemas.microsoft.com/office/powerpoint/2010/main" val="14037443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1A3205B7-FC1A-19B4-F07D-7152D236870C}"/>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C8AC015-A670-3C60-755A-4A4596C5DF9E}"/>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3663C63-8EAF-CB58-9F86-BD7F6D155BE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CFF21DF-D879-F82F-33B9-42A256F9426E}"/>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Health models: service health as a resource</a:t>
            </a:r>
          </a:p>
        </p:txBody>
      </p:sp>
      <p:sp>
        <p:nvSpPr>
          <p:cNvPr id="6" name="ChapterTag">
            <a:extLst>
              <a:ext uri="{FF2B5EF4-FFF2-40B4-BE49-F238E27FC236}">
                <a16:creationId xmlns:a16="http://schemas.microsoft.com/office/drawing/2014/main" id="{80DC06C8-3969-D571-730B-4E8B3AC1ACE1}"/>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8F9A0CFC-D6A3-2301-35FC-FB4C88516807}"/>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745149E-87FD-4BDC-FBA6-38CA0F6469FB}"/>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57</a:t>
            </a:r>
          </a:p>
        </p:txBody>
      </p:sp>
      <p:sp>
        <p:nvSpPr>
          <p:cNvPr id="9" name="Rectangle: Rounded Corners 8">
            <a:extLst>
              <a:ext uri="{FF2B5EF4-FFF2-40B4-BE49-F238E27FC236}">
                <a16:creationId xmlns:a16="http://schemas.microsoft.com/office/drawing/2014/main" id="{145737C9-BCB3-A0A3-F1FE-8012982CC8DE}"/>
              </a:ext>
            </a:extLst>
          </p:cNvPr>
          <p:cNvSpPr/>
          <p:nvPr/>
        </p:nvSpPr>
        <p:spPr>
          <a:xfrm>
            <a:off x="4191000" y="1600200"/>
            <a:ext cx="3810000" cy="6096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50" b="1">
                <a:solidFill>
                  <a:srgbClr val="FBBF24"/>
                </a:solidFill>
                <a:latin typeface="Calibri" panose="020F0502020204030204" pitchFamily="34" charset="0"/>
              </a:rPr>
              <a:t>ROOT · the service</a:t>
            </a:r>
          </a:p>
          <a:p>
            <a:pPr algn="ctr"/>
            <a:r>
              <a:rPr lang="en-US" sz="1250" b="1">
                <a:solidFill>
                  <a:srgbClr val="FBBF24"/>
                </a:solidFill>
                <a:latin typeface="Calibri" panose="020F0502020204030204" pitchFamily="34" charset="0"/>
              </a:rPr>
              <a:t>health objective: 99.5 percent</a:t>
            </a:r>
          </a:p>
        </p:txBody>
      </p:sp>
      <p:sp>
        <p:nvSpPr>
          <p:cNvPr id="10" name="Rectangle: Rounded Corners 9">
            <a:extLst>
              <a:ext uri="{FF2B5EF4-FFF2-40B4-BE49-F238E27FC236}">
                <a16:creationId xmlns:a16="http://schemas.microsoft.com/office/drawing/2014/main" id="{EA384167-B6B9-E755-20FA-DDC173B5BF0E}"/>
              </a:ext>
            </a:extLst>
          </p:cNvPr>
          <p:cNvSpPr/>
          <p:nvPr/>
        </p:nvSpPr>
        <p:spPr>
          <a:xfrm>
            <a:off x="609600" y="2489200"/>
            <a:ext cx="3302000" cy="5588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4F4F5"/>
                </a:solidFill>
                <a:latin typeface="Calibri" panose="020F0502020204030204" pitchFamily="34" charset="0"/>
              </a:rPr>
              <a:t>Commitment · users can sign in</a:t>
            </a:r>
          </a:p>
        </p:txBody>
      </p:sp>
      <p:sp>
        <p:nvSpPr>
          <p:cNvPr id="11" name="Rectangle: Rounded Corners 10">
            <a:extLst>
              <a:ext uri="{FF2B5EF4-FFF2-40B4-BE49-F238E27FC236}">
                <a16:creationId xmlns:a16="http://schemas.microsoft.com/office/drawing/2014/main" id="{4E8EB7A5-070F-06D2-2991-16A5C413D0B0}"/>
              </a:ext>
            </a:extLst>
          </p:cNvPr>
          <p:cNvSpPr/>
          <p:nvPr/>
        </p:nvSpPr>
        <p:spPr>
          <a:xfrm>
            <a:off x="4445000" y="2489200"/>
            <a:ext cx="3302000" cy="5588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4F4F5"/>
                </a:solidFill>
                <a:latin typeface="Calibri" panose="020F0502020204030204" pitchFamily="34" charset="0"/>
              </a:rPr>
              <a:t>Commitment · users can complete a transaction</a:t>
            </a:r>
          </a:p>
        </p:txBody>
      </p:sp>
      <p:sp>
        <p:nvSpPr>
          <p:cNvPr id="12" name="Rectangle: Rounded Corners 11">
            <a:extLst>
              <a:ext uri="{FF2B5EF4-FFF2-40B4-BE49-F238E27FC236}">
                <a16:creationId xmlns:a16="http://schemas.microsoft.com/office/drawing/2014/main" id="{72B7C8ED-B5A1-C2FA-CFB0-29ECC13120BD}"/>
              </a:ext>
            </a:extLst>
          </p:cNvPr>
          <p:cNvSpPr/>
          <p:nvPr/>
        </p:nvSpPr>
        <p:spPr>
          <a:xfrm>
            <a:off x="8280400" y="2489200"/>
            <a:ext cx="3302000" cy="5588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4F4F5"/>
                </a:solidFill>
                <a:latin typeface="Calibri" panose="020F0502020204030204" pitchFamily="34" charset="0"/>
              </a:rPr>
              <a:t>Commitment · the platform is visible</a:t>
            </a:r>
          </a:p>
        </p:txBody>
      </p:sp>
      <p:cxnSp>
        <p:nvCxnSpPr>
          <p:cNvPr id="13" name="Straight Connector 12">
            <a:extLst>
              <a:ext uri="{FF2B5EF4-FFF2-40B4-BE49-F238E27FC236}">
                <a16:creationId xmlns:a16="http://schemas.microsoft.com/office/drawing/2014/main" id="{5793C60B-2602-1F36-BD62-47D1735DB90C}"/>
              </a:ext>
            </a:extLst>
          </p:cNvPr>
          <p:cNvCxnSpPr/>
          <p:nvPr/>
        </p:nvCxnSpPr>
        <p:spPr>
          <a:xfrm flipH="1">
            <a:off x="2260600" y="2209800"/>
            <a:ext cx="3073400" cy="279400"/>
          </a:xfrm>
          <a:prstGeom prst="line">
            <a:avLst/>
          </a:prstGeom>
          <a:ln w="22225">
            <a:solidFill>
              <a:srgbClr val="7DAAFA"/>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A59EFE36-B94F-40F9-B764-4AB609466321}"/>
              </a:ext>
            </a:extLst>
          </p:cNvPr>
          <p:cNvCxnSpPr/>
          <p:nvPr/>
        </p:nvCxnSpPr>
        <p:spPr>
          <a:xfrm>
            <a:off x="6096000" y="2209800"/>
            <a:ext cx="0" cy="279400"/>
          </a:xfrm>
          <a:prstGeom prst="line">
            <a:avLst/>
          </a:prstGeom>
          <a:ln w="22225">
            <a:solidFill>
              <a:srgbClr val="A3E635"/>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13A12B47-4644-A5D0-23FA-44B9665E07C9}"/>
              </a:ext>
            </a:extLst>
          </p:cNvPr>
          <p:cNvCxnSpPr/>
          <p:nvPr/>
        </p:nvCxnSpPr>
        <p:spPr>
          <a:xfrm>
            <a:off x="6858000" y="2209800"/>
            <a:ext cx="3073400" cy="279400"/>
          </a:xfrm>
          <a:prstGeom prst="line">
            <a:avLst/>
          </a:prstGeom>
          <a:ln w="22225">
            <a:solidFill>
              <a:srgbClr val="FBBF24"/>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83CBE474-D308-D241-1F04-1F0BE5083852}"/>
              </a:ext>
            </a:extLst>
          </p:cNvPr>
          <p:cNvSpPr/>
          <p:nvPr/>
        </p:nvSpPr>
        <p:spPr>
          <a:xfrm>
            <a:off x="762000" y="3276600"/>
            <a:ext cx="2997200" cy="4572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Gateway (Azure resource) · REQUIRED</a:t>
            </a:r>
          </a:p>
        </p:txBody>
      </p:sp>
      <p:sp>
        <p:nvSpPr>
          <p:cNvPr id="17" name="Rectangle: Rounded Corners 16">
            <a:extLst>
              <a:ext uri="{FF2B5EF4-FFF2-40B4-BE49-F238E27FC236}">
                <a16:creationId xmlns:a16="http://schemas.microsoft.com/office/drawing/2014/main" id="{66C45285-6CE5-3B6D-5CE9-1CB732ECE84C}"/>
              </a:ext>
            </a:extLst>
          </p:cNvPr>
          <p:cNvSpPr/>
          <p:nvPr/>
        </p:nvSpPr>
        <p:spPr>
          <a:xfrm>
            <a:off x="762000" y="3835400"/>
            <a:ext cx="2997200" cy="4572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Identity provider (external signal) · REQUIRED</a:t>
            </a:r>
          </a:p>
        </p:txBody>
      </p:sp>
      <p:sp>
        <p:nvSpPr>
          <p:cNvPr id="18" name="Rectangle: Rounded Corners 17">
            <a:extLst>
              <a:ext uri="{FF2B5EF4-FFF2-40B4-BE49-F238E27FC236}">
                <a16:creationId xmlns:a16="http://schemas.microsoft.com/office/drawing/2014/main" id="{A07D467C-E69E-D28A-5915-AB1C7031A74C}"/>
              </a:ext>
            </a:extLst>
          </p:cNvPr>
          <p:cNvSpPr/>
          <p:nvPr/>
        </p:nvSpPr>
        <p:spPr>
          <a:xfrm>
            <a:off x="4597400" y="3276600"/>
            <a:ext cx="2997200" cy="4572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Coordinator (Azure) · REQUIRED</a:t>
            </a:r>
          </a:p>
        </p:txBody>
      </p:sp>
      <p:sp>
        <p:nvSpPr>
          <p:cNvPr id="19" name="Rectangle: Rounded Corners 18">
            <a:extLst>
              <a:ext uri="{FF2B5EF4-FFF2-40B4-BE49-F238E27FC236}">
                <a16:creationId xmlns:a16="http://schemas.microsoft.com/office/drawing/2014/main" id="{03B47BBF-3539-DC0F-7599-0B21C25A588F}"/>
              </a:ext>
            </a:extLst>
          </p:cNvPr>
          <p:cNvSpPr/>
          <p:nvPr/>
        </p:nvSpPr>
        <p:spPr>
          <a:xfrm>
            <a:off x="4597400" y="3835400"/>
            <a:ext cx="2997200" cy="4572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Worker A (Arc server, datacenter) · REQUIRED</a:t>
            </a:r>
          </a:p>
        </p:txBody>
      </p:sp>
      <p:sp>
        <p:nvSpPr>
          <p:cNvPr id="20" name="Rectangle: Rounded Corners 19">
            <a:extLst>
              <a:ext uri="{FF2B5EF4-FFF2-40B4-BE49-F238E27FC236}">
                <a16:creationId xmlns:a16="http://schemas.microsoft.com/office/drawing/2014/main" id="{490672C0-CA2D-79BC-88AF-C83A38318D2D}"/>
              </a:ext>
            </a:extLst>
          </p:cNvPr>
          <p:cNvSpPr/>
          <p:nvPr/>
        </p:nvSpPr>
        <p:spPr>
          <a:xfrm>
            <a:off x="4597400" y="4394200"/>
            <a:ext cx="2997200" cy="457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Worker B (Arc server, AWS) · REQUIRED</a:t>
            </a:r>
          </a:p>
        </p:txBody>
      </p:sp>
      <p:sp>
        <p:nvSpPr>
          <p:cNvPr id="21" name="Rectangle: Rounded Corners 20">
            <a:extLst>
              <a:ext uri="{FF2B5EF4-FFF2-40B4-BE49-F238E27FC236}">
                <a16:creationId xmlns:a16="http://schemas.microsoft.com/office/drawing/2014/main" id="{44F65EC3-BBB9-08CD-1487-D14A98D6C923}"/>
              </a:ext>
            </a:extLst>
          </p:cNvPr>
          <p:cNvSpPr/>
          <p:nvPr/>
        </p:nvSpPr>
        <p:spPr>
          <a:xfrm>
            <a:off x="4597400" y="4953000"/>
            <a:ext cx="2997200" cy="4572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Portal origins (two, Arc K8s) · REDUNDANT</a:t>
            </a:r>
          </a:p>
        </p:txBody>
      </p:sp>
      <p:sp>
        <p:nvSpPr>
          <p:cNvPr id="22" name="Rectangle: Rounded Corners 21">
            <a:extLst>
              <a:ext uri="{FF2B5EF4-FFF2-40B4-BE49-F238E27FC236}">
                <a16:creationId xmlns:a16="http://schemas.microsoft.com/office/drawing/2014/main" id="{24B464F6-917F-E1D4-DC8F-3B2946358D7E}"/>
              </a:ext>
            </a:extLst>
          </p:cNvPr>
          <p:cNvSpPr/>
          <p:nvPr/>
        </p:nvSpPr>
        <p:spPr>
          <a:xfrm>
            <a:off x="8432800" y="3276600"/>
            <a:ext cx="2997200" cy="457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Freshness per source (log signal) · stale = UNKNOWN</a:t>
            </a:r>
          </a:p>
        </p:txBody>
      </p:sp>
      <p:sp>
        <p:nvSpPr>
          <p:cNvPr id="23" name="Rectangle: Rounded Corners 22">
            <a:extLst>
              <a:ext uri="{FF2B5EF4-FFF2-40B4-BE49-F238E27FC236}">
                <a16:creationId xmlns:a16="http://schemas.microsoft.com/office/drawing/2014/main" id="{7CFFC224-CAA1-D161-573B-9026C27E9E03}"/>
              </a:ext>
            </a:extLst>
          </p:cNvPr>
          <p:cNvSpPr/>
          <p:nvPr/>
        </p:nvSpPr>
        <p:spPr>
          <a:xfrm>
            <a:off x="8432800" y="3835400"/>
            <a:ext cx="2997200" cy="457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00">
                <a:solidFill>
                  <a:srgbClr val="F4F4F5"/>
                </a:solidFill>
                <a:latin typeface="Calibri" panose="020F0502020204030204" pitchFamily="34" charset="0"/>
              </a:rPr>
              <a:t>Agent health (Resource Health signal)</a:t>
            </a:r>
          </a:p>
        </p:txBody>
      </p:sp>
      <p:sp>
        <p:nvSpPr>
          <p:cNvPr id="24" name="TextBox 23">
            <a:extLst>
              <a:ext uri="{FF2B5EF4-FFF2-40B4-BE49-F238E27FC236}">
                <a16:creationId xmlns:a16="http://schemas.microsoft.com/office/drawing/2014/main" id="{7E723610-C369-3518-2CBB-B921F6981809}"/>
              </a:ext>
            </a:extLst>
          </p:cNvPr>
          <p:cNvSpPr txBox="1"/>
          <p:nvPr/>
        </p:nvSpPr>
        <p:spPr>
          <a:xfrm>
            <a:off x="609600" y="5537200"/>
            <a:ext cx="10972800" cy="508000"/>
          </a:xfrm>
          <a:prstGeom prst="rect">
            <a:avLst/>
          </a:prstGeom>
          <a:noFill/>
        </p:spPr>
        <p:txBody>
          <a:bodyPr vert="horz" wrap="square" lIns="25400" tIns="12700" rIns="25400" bIns="12700" rtlCol="0" anchor="t">
            <a:noAutofit/>
          </a:bodyPr>
          <a:lstStyle/>
          <a:p>
            <a:r>
              <a:rPr lang="en-US" sz="1150">
                <a:solidFill>
                  <a:srgbClr val="F4F4F5"/>
                </a:solidFill>
                <a:latin typeface="Calibri" panose="020F0502020204030204" pitchFamily="34" charset="0"/>
              </a:rPr>
              <a:t>Signals: metric · log query (KQL) · PromQL · Resource Health · external. States: Healthy · Degraded · Unhealthy · Unknown. Impact per child: Standard, Limited, Suppressed. Discovery from Resource Graph keeps it current. Nested models roll services into a portfolio.</a:t>
            </a:r>
          </a:p>
        </p:txBody>
      </p:sp>
      <p:sp>
        <p:nvSpPr>
          <p:cNvPr id="25" name="Rectangle 24">
            <a:extLst>
              <a:ext uri="{FF2B5EF4-FFF2-40B4-BE49-F238E27FC236}">
                <a16:creationId xmlns:a16="http://schemas.microsoft.com/office/drawing/2014/main" id="{8745B423-E25F-A209-A4B9-74191AF78C73}"/>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72D48D9-E3BC-3351-F095-3831F5F8B428}"/>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The service boundary as a resource: entities, relationships, signals, one alert per state change (PREVIEW).</a:t>
            </a:r>
          </a:p>
        </p:txBody>
      </p:sp>
    </p:spTree>
    <p:extLst>
      <p:ext uri="{BB962C8B-B14F-4D97-AF65-F5344CB8AC3E}">
        <p14:creationId xmlns:p14="http://schemas.microsoft.com/office/powerpoint/2010/main" val="37669727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B4985914-3893-105A-FDA1-5E1D29105C7D}"/>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1688A62C-0FF3-8FF1-B444-223096D6DA09}"/>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036A70B-160F-C61D-D73C-84B7D50E7E54}"/>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ED20239-CE27-7D7E-E008-5E0E0830897E}"/>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Access, retention and residency</a:t>
            </a:r>
          </a:p>
        </p:txBody>
      </p:sp>
      <p:sp>
        <p:nvSpPr>
          <p:cNvPr id="6" name="ChapterTag">
            <a:extLst>
              <a:ext uri="{FF2B5EF4-FFF2-40B4-BE49-F238E27FC236}">
                <a16:creationId xmlns:a16="http://schemas.microsoft.com/office/drawing/2014/main" id="{A7C7C607-6605-313A-5D10-8E7AD892DA39}"/>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606DAE93-AA25-F4D7-EECE-9B97428583B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0BF3E148-204D-6221-AE08-0C7114449216}"/>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58</a:t>
            </a:r>
          </a:p>
        </p:txBody>
      </p:sp>
      <p:sp>
        <p:nvSpPr>
          <p:cNvPr id="9" name="Oval 8">
            <a:extLst>
              <a:ext uri="{FF2B5EF4-FFF2-40B4-BE49-F238E27FC236}">
                <a16:creationId xmlns:a16="http://schemas.microsoft.com/office/drawing/2014/main" id="{332C3BEB-7916-3410-665B-312D128E45A0}"/>
              </a:ext>
            </a:extLst>
          </p:cNvPr>
          <p:cNvSpPr/>
          <p:nvPr/>
        </p:nvSpPr>
        <p:spPr>
          <a:xfrm>
            <a:off x="660400" y="1680210"/>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073C108-1A23-3A5C-6A11-C2F484678ABF}"/>
              </a:ext>
            </a:extLst>
          </p:cNvPr>
          <p:cNvSpPr txBox="1"/>
          <p:nvPr/>
        </p:nvSpPr>
        <p:spPr>
          <a:xfrm>
            <a:off x="889000" y="1600200"/>
            <a:ext cx="10693400" cy="784352"/>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RBAC on the plane: Azure Connected Machine Onboarding for whoever connects; Azure Connected Machine Resource Administrator for whoever manages agents and extensions; Monitoring Contributor for rules and alerts; Log Analytics Reader or resource-context access for whoever reads</a:t>
            </a:r>
          </a:p>
        </p:txBody>
      </p:sp>
      <p:sp>
        <p:nvSpPr>
          <p:cNvPr id="11" name="Oval 10">
            <a:extLst>
              <a:ext uri="{FF2B5EF4-FFF2-40B4-BE49-F238E27FC236}">
                <a16:creationId xmlns:a16="http://schemas.microsoft.com/office/drawing/2014/main" id="{49603734-543D-E780-D835-3F498E46328C}"/>
              </a:ext>
            </a:extLst>
          </p:cNvPr>
          <p:cNvSpPr/>
          <p:nvPr/>
        </p:nvSpPr>
        <p:spPr>
          <a:xfrm>
            <a:off x="660400" y="2540762"/>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75D892B-8643-4C36-FBAD-26BB6B5DB880}"/>
              </a:ext>
            </a:extLst>
          </p:cNvPr>
          <p:cNvSpPr txBox="1"/>
          <p:nvPr/>
        </p:nvSpPr>
        <p:spPr>
          <a:xfrm>
            <a:off x="889000" y="24607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Ingestion identities get Monitoring Metrics Publisher on the specific rule, never on the workspace</a:t>
            </a:r>
          </a:p>
        </p:txBody>
      </p:sp>
      <p:sp>
        <p:nvSpPr>
          <p:cNvPr id="13" name="Oval 12">
            <a:extLst>
              <a:ext uri="{FF2B5EF4-FFF2-40B4-BE49-F238E27FC236}">
                <a16:creationId xmlns:a16="http://schemas.microsoft.com/office/drawing/2014/main" id="{C61A9D49-3BD6-22B2-D1DA-F00325DB0E5D}"/>
              </a:ext>
            </a:extLst>
          </p:cNvPr>
          <p:cNvSpPr/>
          <p:nvPr/>
        </p:nvSpPr>
        <p:spPr>
          <a:xfrm>
            <a:off x="660400" y="2946146"/>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5509958-B4BF-3F2B-C961-D20E86AC50A0}"/>
              </a:ext>
            </a:extLst>
          </p:cNvPr>
          <p:cNvSpPr txBox="1"/>
          <p:nvPr/>
        </p:nvSpPr>
        <p:spPr>
          <a:xfrm>
            <a:off x="889000" y="2866136"/>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Resource-context access: a team sees logs for resources it has read access to, inside the shared workspace</a:t>
            </a:r>
          </a:p>
        </p:txBody>
      </p:sp>
      <p:sp>
        <p:nvSpPr>
          <p:cNvPr id="15" name="Oval 14">
            <a:extLst>
              <a:ext uri="{FF2B5EF4-FFF2-40B4-BE49-F238E27FC236}">
                <a16:creationId xmlns:a16="http://schemas.microsoft.com/office/drawing/2014/main" id="{AD7886B3-3EDE-D025-90A9-65F94ABFC585}"/>
              </a:ext>
            </a:extLst>
          </p:cNvPr>
          <p:cNvSpPr/>
          <p:nvPr/>
        </p:nvSpPr>
        <p:spPr>
          <a:xfrm>
            <a:off x="660400" y="3351530"/>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93DF07-EF0B-2FE6-F353-2CADEEFDC28F}"/>
              </a:ext>
            </a:extLst>
          </p:cNvPr>
          <p:cNvSpPr txBox="1"/>
          <p:nvPr/>
        </p:nvSpPr>
        <p:spPr>
          <a:xfrm>
            <a:off x="889000" y="327152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Retention per table: Analytics retention for what you query, long-term retention for what you must keep; Sentinel tables default to 90 days</a:t>
            </a:r>
          </a:p>
        </p:txBody>
      </p:sp>
      <p:sp>
        <p:nvSpPr>
          <p:cNvPr id="17" name="Oval 16">
            <a:extLst>
              <a:ext uri="{FF2B5EF4-FFF2-40B4-BE49-F238E27FC236}">
                <a16:creationId xmlns:a16="http://schemas.microsoft.com/office/drawing/2014/main" id="{5BEF40A9-0C45-BC15-CD52-478CDB764984}"/>
              </a:ext>
            </a:extLst>
          </p:cNvPr>
          <p:cNvSpPr/>
          <p:nvPr/>
        </p:nvSpPr>
        <p:spPr>
          <a:xfrm>
            <a:off x="660400" y="3984498"/>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C869EE9-932F-9C37-2AAF-AFD4F6171B9D}"/>
              </a:ext>
            </a:extLst>
          </p:cNvPr>
          <p:cNvSpPr txBox="1"/>
          <p:nvPr/>
        </p:nvSpPr>
        <p:spPr>
          <a:xfrm>
            <a:off x="889000" y="3904488"/>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Residency: workspaces live in a region; if a legal boundary demands it, that is the one reason to add a workspace; Private Link and the Arc Private Link Scope keep the path on your network where required</a:t>
            </a:r>
          </a:p>
        </p:txBody>
      </p:sp>
      <p:sp>
        <p:nvSpPr>
          <p:cNvPr id="19" name="Oval 18">
            <a:extLst>
              <a:ext uri="{FF2B5EF4-FFF2-40B4-BE49-F238E27FC236}">
                <a16:creationId xmlns:a16="http://schemas.microsoft.com/office/drawing/2014/main" id="{53128A94-8366-33DD-B2BC-F77F5530892D}"/>
              </a:ext>
            </a:extLst>
          </p:cNvPr>
          <p:cNvSpPr/>
          <p:nvPr/>
        </p:nvSpPr>
        <p:spPr>
          <a:xfrm>
            <a:off x="660400" y="4617466"/>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F235A2D-400E-9D76-6FCA-7E3B0C4EC341}"/>
              </a:ext>
            </a:extLst>
          </p:cNvPr>
          <p:cNvSpPr txBox="1"/>
          <p:nvPr/>
        </p:nvSpPr>
        <p:spPr>
          <a:xfrm>
            <a:off x="889000" y="4537456"/>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Record it as a matrix: role, who, scope, review date</a:t>
            </a:r>
          </a:p>
        </p:txBody>
      </p:sp>
    </p:spTree>
    <p:extLst>
      <p:ext uri="{BB962C8B-B14F-4D97-AF65-F5344CB8AC3E}">
        <p14:creationId xmlns:p14="http://schemas.microsoft.com/office/powerpoint/2010/main" val="35216350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265442D9-1A4F-A680-213F-2D545319B02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52392B3-DBCF-22C9-89C4-6E5F73B7E67B}"/>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C09288E-E925-089E-9AE4-C19B9D5B6EEC}"/>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EE7AE2-25AC-3485-2640-97E03CDE359B}"/>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Cost model and budget</a:t>
            </a:r>
          </a:p>
        </p:txBody>
      </p:sp>
      <p:sp>
        <p:nvSpPr>
          <p:cNvPr id="6" name="ChapterTag">
            <a:extLst>
              <a:ext uri="{FF2B5EF4-FFF2-40B4-BE49-F238E27FC236}">
                <a16:creationId xmlns:a16="http://schemas.microsoft.com/office/drawing/2014/main" id="{A6604BA7-204A-545F-78FC-526394DBA7B0}"/>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3F39A4DE-0C5E-52CA-64F0-118031BFE13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97B00F29-49AB-9A80-E652-878859DAD2E6}"/>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59</a:t>
            </a:r>
          </a:p>
        </p:txBody>
      </p:sp>
      <p:sp>
        <p:nvSpPr>
          <p:cNvPr id="9" name="Rectangle: Rounded Corners 8">
            <a:extLst>
              <a:ext uri="{FF2B5EF4-FFF2-40B4-BE49-F238E27FC236}">
                <a16:creationId xmlns:a16="http://schemas.microsoft.com/office/drawing/2014/main" id="{1EFB2757-A667-379A-2259-9D6E6A6DB618}"/>
              </a:ext>
            </a:extLst>
          </p:cNvPr>
          <p:cNvSpPr/>
          <p:nvPr/>
        </p:nvSpPr>
        <p:spPr>
          <a:xfrm>
            <a:off x="609600" y="1549400"/>
            <a:ext cx="2413000" cy="3048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Meter</a:t>
            </a:r>
          </a:p>
        </p:txBody>
      </p:sp>
      <p:sp>
        <p:nvSpPr>
          <p:cNvPr id="10" name="Rectangle: Rounded Corners 9">
            <a:extLst>
              <a:ext uri="{FF2B5EF4-FFF2-40B4-BE49-F238E27FC236}">
                <a16:creationId xmlns:a16="http://schemas.microsoft.com/office/drawing/2014/main" id="{F3E4EA07-D464-631E-6EE5-E56BEF4CA5C2}"/>
              </a:ext>
            </a:extLst>
          </p:cNvPr>
          <p:cNvSpPr/>
          <p:nvPr/>
        </p:nvSpPr>
        <p:spPr>
          <a:xfrm>
            <a:off x="3022600" y="1549400"/>
            <a:ext cx="4279900" cy="3048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Driven by</a:t>
            </a:r>
          </a:p>
        </p:txBody>
      </p:sp>
      <p:sp>
        <p:nvSpPr>
          <p:cNvPr id="11" name="Rectangle: Rounded Corners 10">
            <a:extLst>
              <a:ext uri="{FF2B5EF4-FFF2-40B4-BE49-F238E27FC236}">
                <a16:creationId xmlns:a16="http://schemas.microsoft.com/office/drawing/2014/main" id="{6EB6AF08-C721-0BCD-1928-D1BDD1FA0828}"/>
              </a:ext>
            </a:extLst>
          </p:cNvPr>
          <p:cNvSpPr/>
          <p:nvPr/>
        </p:nvSpPr>
        <p:spPr>
          <a:xfrm>
            <a:off x="7302500" y="1549400"/>
            <a:ext cx="4279900" cy="304800"/>
          </a:xfrm>
          <a:prstGeom prst="roundRect">
            <a:avLst>
              <a:gd name="adj" fmla="val 0"/>
            </a:avLst>
          </a:prstGeom>
          <a:solidFill>
            <a:srgbClr val="A3E635"/>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Lever</a:t>
            </a:r>
          </a:p>
        </p:txBody>
      </p:sp>
      <p:sp>
        <p:nvSpPr>
          <p:cNvPr id="12" name="Rectangle: Rounded Corners 11">
            <a:extLst>
              <a:ext uri="{FF2B5EF4-FFF2-40B4-BE49-F238E27FC236}">
                <a16:creationId xmlns:a16="http://schemas.microsoft.com/office/drawing/2014/main" id="{2A41A864-6DBA-18DE-A44D-BD603B1D2052}"/>
              </a:ext>
            </a:extLst>
          </p:cNvPr>
          <p:cNvSpPr/>
          <p:nvPr/>
        </p:nvSpPr>
        <p:spPr>
          <a:xfrm>
            <a:off x="609600" y="18542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Log Analytics ingestion (Analytics, Basic, Auxiliary)</a:t>
            </a:r>
          </a:p>
        </p:txBody>
      </p:sp>
      <p:sp>
        <p:nvSpPr>
          <p:cNvPr id="13" name="Rectangle: Rounded Corners 12">
            <a:extLst>
              <a:ext uri="{FF2B5EF4-FFF2-40B4-BE49-F238E27FC236}">
                <a16:creationId xmlns:a16="http://schemas.microsoft.com/office/drawing/2014/main" id="{7A551B37-FA9E-9ED3-397D-A30CFBA73CB5}"/>
              </a:ext>
            </a:extLst>
          </p:cNvPr>
          <p:cNvSpPr/>
          <p:nvPr/>
        </p:nvSpPr>
        <p:spPr>
          <a:xfrm>
            <a:off x="3022600" y="18542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GB per day per table</a:t>
            </a:r>
          </a:p>
        </p:txBody>
      </p:sp>
      <p:sp>
        <p:nvSpPr>
          <p:cNvPr id="14" name="Rectangle: Rounded Corners 13">
            <a:extLst>
              <a:ext uri="{FF2B5EF4-FFF2-40B4-BE49-F238E27FC236}">
                <a16:creationId xmlns:a16="http://schemas.microsoft.com/office/drawing/2014/main" id="{1E8D52F7-E532-FC6D-9CF5-BBF422E1DA0E}"/>
              </a:ext>
            </a:extLst>
          </p:cNvPr>
          <p:cNvSpPr/>
          <p:nvPr/>
        </p:nvSpPr>
        <p:spPr>
          <a:xfrm>
            <a:off x="7302500" y="18542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transformations, counter lists, event levels, table plans, commitment tiers</a:t>
            </a:r>
          </a:p>
        </p:txBody>
      </p:sp>
      <p:sp>
        <p:nvSpPr>
          <p:cNvPr id="15" name="Rectangle: Rounded Corners 14">
            <a:extLst>
              <a:ext uri="{FF2B5EF4-FFF2-40B4-BE49-F238E27FC236}">
                <a16:creationId xmlns:a16="http://schemas.microsoft.com/office/drawing/2014/main" id="{6F7DB08E-5F54-1167-B387-FD6B99789281}"/>
              </a:ext>
            </a:extLst>
          </p:cNvPr>
          <p:cNvSpPr/>
          <p:nvPr/>
        </p:nvSpPr>
        <p:spPr>
          <a:xfrm>
            <a:off x="609600" y="23495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Log retention</a:t>
            </a:r>
          </a:p>
        </p:txBody>
      </p:sp>
      <p:sp>
        <p:nvSpPr>
          <p:cNvPr id="16" name="Rectangle: Rounded Corners 15">
            <a:extLst>
              <a:ext uri="{FF2B5EF4-FFF2-40B4-BE49-F238E27FC236}">
                <a16:creationId xmlns:a16="http://schemas.microsoft.com/office/drawing/2014/main" id="{144FF27F-11E4-16F6-0D03-BB09C78A5526}"/>
              </a:ext>
            </a:extLst>
          </p:cNvPr>
          <p:cNvSpPr/>
          <p:nvPr/>
        </p:nvSpPr>
        <p:spPr>
          <a:xfrm>
            <a:off x="3022600" y="23495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GB retained beyond included period</a:t>
            </a:r>
          </a:p>
        </p:txBody>
      </p:sp>
      <p:sp>
        <p:nvSpPr>
          <p:cNvPr id="17" name="Rectangle: Rounded Corners 16">
            <a:extLst>
              <a:ext uri="{FF2B5EF4-FFF2-40B4-BE49-F238E27FC236}">
                <a16:creationId xmlns:a16="http://schemas.microsoft.com/office/drawing/2014/main" id="{2048847E-8FD9-8F3F-DF64-30605BFD9684}"/>
              </a:ext>
            </a:extLst>
          </p:cNvPr>
          <p:cNvSpPr/>
          <p:nvPr/>
        </p:nvSpPr>
        <p:spPr>
          <a:xfrm>
            <a:off x="7302500" y="23495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per-table retention, long-term retention, summary rules</a:t>
            </a:r>
          </a:p>
        </p:txBody>
      </p:sp>
      <p:sp>
        <p:nvSpPr>
          <p:cNvPr id="18" name="Rectangle: Rounded Corners 17">
            <a:extLst>
              <a:ext uri="{FF2B5EF4-FFF2-40B4-BE49-F238E27FC236}">
                <a16:creationId xmlns:a16="http://schemas.microsoft.com/office/drawing/2014/main" id="{330C70DB-7AEB-26D8-D25C-5D386387D5D8}"/>
              </a:ext>
            </a:extLst>
          </p:cNvPr>
          <p:cNvSpPr/>
          <p:nvPr/>
        </p:nvSpPr>
        <p:spPr>
          <a:xfrm>
            <a:off x="609600" y="26543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Azure Monitor workspace (Prometheus)</a:t>
            </a:r>
          </a:p>
        </p:txBody>
      </p:sp>
      <p:sp>
        <p:nvSpPr>
          <p:cNvPr id="19" name="Rectangle: Rounded Corners 18">
            <a:extLst>
              <a:ext uri="{FF2B5EF4-FFF2-40B4-BE49-F238E27FC236}">
                <a16:creationId xmlns:a16="http://schemas.microsoft.com/office/drawing/2014/main" id="{604EE4A6-C899-BED1-7870-BE76EAFF7459}"/>
              </a:ext>
            </a:extLst>
          </p:cNvPr>
          <p:cNvSpPr/>
          <p:nvPr/>
        </p:nvSpPr>
        <p:spPr>
          <a:xfrm>
            <a:off x="3022600" y="26543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samples ingested and queried</a:t>
            </a:r>
          </a:p>
        </p:txBody>
      </p:sp>
      <p:sp>
        <p:nvSpPr>
          <p:cNvPr id="20" name="Rectangle: Rounded Corners 19">
            <a:extLst>
              <a:ext uri="{FF2B5EF4-FFF2-40B4-BE49-F238E27FC236}">
                <a16:creationId xmlns:a16="http://schemas.microsoft.com/office/drawing/2014/main" id="{879D78B9-4562-EAE8-70F3-79F5AD31D519}"/>
              </a:ext>
            </a:extLst>
          </p:cNvPr>
          <p:cNvSpPr/>
          <p:nvPr/>
        </p:nvSpPr>
        <p:spPr>
          <a:xfrm>
            <a:off x="7302500" y="26543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scrape configuration, recording rules</a:t>
            </a:r>
          </a:p>
        </p:txBody>
      </p:sp>
      <p:sp>
        <p:nvSpPr>
          <p:cNvPr id="21" name="Rectangle: Rounded Corners 20">
            <a:extLst>
              <a:ext uri="{FF2B5EF4-FFF2-40B4-BE49-F238E27FC236}">
                <a16:creationId xmlns:a16="http://schemas.microsoft.com/office/drawing/2014/main" id="{7372F129-777A-B45E-DC88-F561172AD3D8}"/>
              </a:ext>
            </a:extLst>
          </p:cNvPr>
          <p:cNvSpPr/>
          <p:nvPr/>
        </p:nvSpPr>
        <p:spPr>
          <a:xfrm>
            <a:off x="609600" y="31496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Application Insights</a:t>
            </a:r>
          </a:p>
        </p:txBody>
      </p:sp>
      <p:sp>
        <p:nvSpPr>
          <p:cNvPr id="22" name="Rectangle: Rounded Corners 21">
            <a:extLst>
              <a:ext uri="{FF2B5EF4-FFF2-40B4-BE49-F238E27FC236}">
                <a16:creationId xmlns:a16="http://schemas.microsoft.com/office/drawing/2014/main" id="{6D68DEB9-C181-B9C2-0CA0-3119B360E1B2}"/>
              </a:ext>
            </a:extLst>
          </p:cNvPr>
          <p:cNvSpPr/>
          <p:nvPr/>
        </p:nvSpPr>
        <p:spPr>
          <a:xfrm>
            <a:off x="3022600" y="31496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GB ingested (on the workspace)</a:t>
            </a:r>
          </a:p>
        </p:txBody>
      </p:sp>
      <p:sp>
        <p:nvSpPr>
          <p:cNvPr id="23" name="Rectangle: Rounded Corners 22">
            <a:extLst>
              <a:ext uri="{FF2B5EF4-FFF2-40B4-BE49-F238E27FC236}">
                <a16:creationId xmlns:a16="http://schemas.microsoft.com/office/drawing/2014/main" id="{A20B6229-03B1-5800-39BF-0CAFC174F5C3}"/>
              </a:ext>
            </a:extLst>
          </p:cNvPr>
          <p:cNvSpPr/>
          <p:nvPr/>
        </p:nvSpPr>
        <p:spPr>
          <a:xfrm>
            <a:off x="7302500" y="31496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sampling, log level, trace-based log sampling</a:t>
            </a:r>
          </a:p>
        </p:txBody>
      </p:sp>
      <p:sp>
        <p:nvSpPr>
          <p:cNvPr id="24" name="Rectangle: Rounded Corners 23">
            <a:extLst>
              <a:ext uri="{FF2B5EF4-FFF2-40B4-BE49-F238E27FC236}">
                <a16:creationId xmlns:a16="http://schemas.microsoft.com/office/drawing/2014/main" id="{94B7AE86-4F01-8273-019E-B7EAEC7CE87F}"/>
              </a:ext>
            </a:extLst>
          </p:cNvPr>
          <p:cNvSpPr/>
          <p:nvPr/>
        </p:nvSpPr>
        <p:spPr>
          <a:xfrm>
            <a:off x="609600" y="34544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Alerts</a:t>
            </a:r>
          </a:p>
        </p:txBody>
      </p:sp>
      <p:sp>
        <p:nvSpPr>
          <p:cNvPr id="25" name="Rectangle: Rounded Corners 24">
            <a:extLst>
              <a:ext uri="{FF2B5EF4-FFF2-40B4-BE49-F238E27FC236}">
                <a16:creationId xmlns:a16="http://schemas.microsoft.com/office/drawing/2014/main" id="{D070EFB4-0410-8A49-90FB-FE85221B1B67}"/>
              </a:ext>
            </a:extLst>
          </p:cNvPr>
          <p:cNvSpPr/>
          <p:nvPr/>
        </p:nvSpPr>
        <p:spPr>
          <a:xfrm>
            <a:off x="3022600" y="34544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rules and time series monitored; log alert frequency</a:t>
            </a:r>
          </a:p>
        </p:txBody>
      </p:sp>
      <p:sp>
        <p:nvSpPr>
          <p:cNvPr id="26" name="Rectangle: Rounded Corners 25">
            <a:extLst>
              <a:ext uri="{FF2B5EF4-FFF2-40B4-BE49-F238E27FC236}">
                <a16:creationId xmlns:a16="http://schemas.microsoft.com/office/drawing/2014/main" id="{761C1A18-585C-F09D-C438-E167122E7E1E}"/>
              </a:ext>
            </a:extLst>
          </p:cNvPr>
          <p:cNvSpPr/>
          <p:nvPr/>
        </p:nvSpPr>
        <p:spPr>
          <a:xfrm>
            <a:off x="7302500" y="34544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fewer, better rules; health-model alerts instead of per-resource rules</a:t>
            </a:r>
          </a:p>
        </p:txBody>
      </p:sp>
      <p:sp>
        <p:nvSpPr>
          <p:cNvPr id="27" name="Rectangle: Rounded Corners 26">
            <a:extLst>
              <a:ext uri="{FF2B5EF4-FFF2-40B4-BE49-F238E27FC236}">
                <a16:creationId xmlns:a16="http://schemas.microsoft.com/office/drawing/2014/main" id="{F3B96FCD-6E84-34D1-8DCC-0B12E8E5096C}"/>
              </a:ext>
            </a:extLst>
          </p:cNvPr>
          <p:cNvSpPr/>
          <p:nvPr/>
        </p:nvSpPr>
        <p:spPr>
          <a:xfrm>
            <a:off x="609600" y="39497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Managed Grafana</a:t>
            </a:r>
          </a:p>
        </p:txBody>
      </p:sp>
      <p:sp>
        <p:nvSpPr>
          <p:cNvPr id="28" name="Rectangle: Rounded Corners 27">
            <a:extLst>
              <a:ext uri="{FF2B5EF4-FFF2-40B4-BE49-F238E27FC236}">
                <a16:creationId xmlns:a16="http://schemas.microsoft.com/office/drawing/2014/main" id="{25E85CC9-558E-4C59-511F-A9C421D08C43}"/>
              </a:ext>
            </a:extLst>
          </p:cNvPr>
          <p:cNvSpPr/>
          <p:nvPr/>
        </p:nvSpPr>
        <p:spPr>
          <a:xfrm>
            <a:off x="3022600" y="39497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instance and users</a:t>
            </a:r>
          </a:p>
        </p:txBody>
      </p:sp>
      <p:sp>
        <p:nvSpPr>
          <p:cNvPr id="29" name="Rectangle: Rounded Corners 28">
            <a:extLst>
              <a:ext uri="{FF2B5EF4-FFF2-40B4-BE49-F238E27FC236}">
                <a16:creationId xmlns:a16="http://schemas.microsoft.com/office/drawing/2014/main" id="{30BA2D69-03A7-8A3B-6DFD-F21F7FCA331B}"/>
              </a:ext>
            </a:extLst>
          </p:cNvPr>
          <p:cNvSpPr/>
          <p:nvPr/>
        </p:nvSpPr>
        <p:spPr>
          <a:xfrm>
            <a:off x="7302500" y="39497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share one instance</a:t>
            </a:r>
          </a:p>
        </p:txBody>
      </p:sp>
      <p:sp>
        <p:nvSpPr>
          <p:cNvPr id="30" name="Rectangle: Rounded Corners 29">
            <a:extLst>
              <a:ext uri="{FF2B5EF4-FFF2-40B4-BE49-F238E27FC236}">
                <a16:creationId xmlns:a16="http://schemas.microsoft.com/office/drawing/2014/main" id="{FC393D0F-C602-E61F-7CA6-6B01FDC1F202}"/>
              </a:ext>
            </a:extLst>
          </p:cNvPr>
          <p:cNvSpPr/>
          <p:nvPr/>
        </p:nvSpPr>
        <p:spPr>
          <a:xfrm>
            <a:off x="609600" y="42545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Arc</a:t>
            </a:r>
          </a:p>
        </p:txBody>
      </p:sp>
      <p:sp>
        <p:nvSpPr>
          <p:cNvPr id="31" name="Rectangle: Rounded Corners 30">
            <a:extLst>
              <a:ext uri="{FF2B5EF4-FFF2-40B4-BE49-F238E27FC236}">
                <a16:creationId xmlns:a16="http://schemas.microsoft.com/office/drawing/2014/main" id="{E5112288-102E-024A-62D3-01DF0D23B5D3}"/>
              </a:ext>
            </a:extLst>
          </p:cNvPr>
          <p:cNvSpPr/>
          <p:nvPr/>
        </p:nvSpPr>
        <p:spPr>
          <a:xfrm>
            <a:off x="3022600" y="42545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no charge for the control plane; extensions and services priced separately; ESU and some features paid</a:t>
            </a:r>
          </a:p>
        </p:txBody>
      </p:sp>
      <p:sp>
        <p:nvSpPr>
          <p:cNvPr id="32" name="Rectangle: Rounded Corners 31">
            <a:extLst>
              <a:ext uri="{FF2B5EF4-FFF2-40B4-BE49-F238E27FC236}">
                <a16:creationId xmlns:a16="http://schemas.microsoft.com/office/drawing/2014/main" id="{A9169AF9-4F18-A154-33B7-5DC1B9821E92}"/>
              </a:ext>
            </a:extLst>
          </p:cNvPr>
          <p:cNvSpPr/>
          <p:nvPr/>
        </p:nvSpPr>
        <p:spPr>
          <a:xfrm>
            <a:off x="7302500" y="42545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scope what you enable</a:t>
            </a:r>
          </a:p>
        </p:txBody>
      </p:sp>
      <p:sp>
        <p:nvSpPr>
          <p:cNvPr id="33" name="Rectangle: Rounded Corners 32">
            <a:extLst>
              <a:ext uri="{FF2B5EF4-FFF2-40B4-BE49-F238E27FC236}">
                <a16:creationId xmlns:a16="http://schemas.microsoft.com/office/drawing/2014/main" id="{E2B0E114-1AA5-A244-6AB1-3AE41D2D8A84}"/>
              </a:ext>
            </a:extLst>
          </p:cNvPr>
          <p:cNvSpPr/>
          <p:nvPr/>
        </p:nvSpPr>
        <p:spPr>
          <a:xfrm>
            <a:off x="609600" y="47498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Other clouds</a:t>
            </a:r>
          </a:p>
        </p:txBody>
      </p:sp>
      <p:sp>
        <p:nvSpPr>
          <p:cNvPr id="34" name="Rectangle: Rounded Corners 33">
            <a:extLst>
              <a:ext uri="{FF2B5EF4-FFF2-40B4-BE49-F238E27FC236}">
                <a16:creationId xmlns:a16="http://schemas.microsoft.com/office/drawing/2014/main" id="{A4B58B81-0A23-3633-CAD3-75FF4EAB6A17}"/>
              </a:ext>
            </a:extLst>
          </p:cNvPr>
          <p:cNvSpPr/>
          <p:nvPr/>
        </p:nvSpPr>
        <p:spPr>
          <a:xfrm>
            <a:off x="3022600" y="47498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egress for forwarded logs; SSM and Lambda for the connector</a:t>
            </a:r>
          </a:p>
        </p:txBody>
      </p:sp>
      <p:sp>
        <p:nvSpPr>
          <p:cNvPr id="35" name="Rectangle: Rounded Corners 34">
            <a:extLst>
              <a:ext uri="{FF2B5EF4-FFF2-40B4-BE49-F238E27FC236}">
                <a16:creationId xmlns:a16="http://schemas.microsoft.com/office/drawing/2014/main" id="{19758D0A-30B1-8A16-A068-CB9D6D9EC685}"/>
              </a:ext>
            </a:extLst>
          </p:cNvPr>
          <p:cNvSpPr/>
          <p:nvPr/>
        </p:nvSpPr>
        <p:spPr>
          <a:xfrm>
            <a:off x="7302500" y="47498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forward only cross-cloud questions</a:t>
            </a:r>
          </a:p>
        </p:txBody>
      </p:sp>
    </p:spTree>
    <p:extLst>
      <p:ext uri="{BB962C8B-B14F-4D97-AF65-F5344CB8AC3E}">
        <p14:creationId xmlns:p14="http://schemas.microsoft.com/office/powerpoint/2010/main" val="41767487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FBB35ED1-2A6B-C41B-C801-228339A4C1B2}"/>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D1EB60BE-B9DA-57B7-9A1C-0CF61EC09F41}"/>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57836F9-581A-0A22-D4AA-16533BD7BC3D}"/>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9409B4-59E9-CE6B-E68D-68492D478C27}"/>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Phasing the rollout</a:t>
            </a:r>
          </a:p>
        </p:txBody>
      </p:sp>
      <p:sp>
        <p:nvSpPr>
          <p:cNvPr id="6" name="ChapterTag">
            <a:extLst>
              <a:ext uri="{FF2B5EF4-FFF2-40B4-BE49-F238E27FC236}">
                <a16:creationId xmlns:a16="http://schemas.microsoft.com/office/drawing/2014/main" id="{7917146D-C2CD-E74D-3C7E-D6F64F89D05F}"/>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D0E61117-6A0A-388F-6032-07F89EAD8CAE}"/>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2D61C5C-7D7D-B0C4-ED03-B0FC0649551F}"/>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60</a:t>
            </a:r>
          </a:p>
        </p:txBody>
      </p:sp>
      <p:cxnSp>
        <p:nvCxnSpPr>
          <p:cNvPr id="9" name="Straight Connector 8">
            <a:extLst>
              <a:ext uri="{FF2B5EF4-FFF2-40B4-BE49-F238E27FC236}">
                <a16:creationId xmlns:a16="http://schemas.microsoft.com/office/drawing/2014/main" id="{A27A2946-7518-7A0F-62C3-36CB5F3A24CD}"/>
              </a:ext>
            </a:extLst>
          </p:cNvPr>
          <p:cNvCxnSpPr/>
          <p:nvPr/>
        </p:nvCxnSpPr>
        <p:spPr>
          <a:xfrm>
            <a:off x="609600" y="2413000"/>
            <a:ext cx="10972800" cy="0"/>
          </a:xfrm>
          <a:prstGeom prst="line">
            <a:avLst/>
          </a:prstGeom>
          <a:ln w="22225">
            <a:solidFill>
              <a:srgbClr val="70707C"/>
            </a:solidFill>
            <a:tailEnd type="triangle"/>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F14829D1-801F-E30A-E655-BBBA9F16C852}"/>
              </a:ext>
            </a:extLst>
          </p:cNvPr>
          <p:cNvSpPr/>
          <p:nvPr/>
        </p:nvSpPr>
        <p:spPr>
          <a:xfrm>
            <a:off x="1295400" y="2222500"/>
            <a:ext cx="381000" cy="381000"/>
          </a:xfrm>
          <a:prstGeom prst="ellipse">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0</a:t>
            </a:r>
          </a:p>
        </p:txBody>
      </p:sp>
      <p:sp>
        <p:nvSpPr>
          <p:cNvPr id="11" name="Rectangle: Rounded Corners 10">
            <a:extLst>
              <a:ext uri="{FF2B5EF4-FFF2-40B4-BE49-F238E27FC236}">
                <a16:creationId xmlns:a16="http://schemas.microsoft.com/office/drawing/2014/main" id="{DBD7BB25-13C5-9415-07A4-9A52F7DC5430}"/>
              </a:ext>
            </a:extLst>
          </p:cNvPr>
          <p:cNvSpPr/>
          <p:nvPr/>
        </p:nvSpPr>
        <p:spPr>
          <a:xfrm>
            <a:off x="609600" y="2768600"/>
            <a:ext cx="1701800" cy="4572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BF24"/>
                </a:solidFill>
                <a:latin typeface="Calibri" panose="020F0502020204030204" pitchFamily="34" charset="0"/>
              </a:rPr>
              <a:t>Foundation in Azure</a:t>
            </a:r>
          </a:p>
        </p:txBody>
      </p:sp>
      <p:sp>
        <p:nvSpPr>
          <p:cNvPr id="12" name="Rectangle: Rounded Corners 11">
            <a:extLst>
              <a:ext uri="{FF2B5EF4-FFF2-40B4-BE49-F238E27FC236}">
                <a16:creationId xmlns:a16="http://schemas.microsoft.com/office/drawing/2014/main" id="{FA8DF049-FBB1-6AA9-5162-B8DEF27619CF}"/>
              </a:ext>
            </a:extLst>
          </p:cNvPr>
          <p:cNvSpPr/>
          <p:nvPr/>
        </p:nvSpPr>
        <p:spPr>
          <a:xfrm>
            <a:off x="609600" y="3302000"/>
            <a:ext cx="1701800" cy="10922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100">
                <a:solidFill>
                  <a:srgbClr val="F4F4F5"/>
                </a:solidFill>
                <a:latin typeface="Calibri" panose="020F0502020204030204" pitchFamily="34" charset="0"/>
              </a:rPr>
              <a:t>workspaces · endpoints · rules · policy · action groups · Grafana</a:t>
            </a:r>
          </a:p>
        </p:txBody>
      </p:sp>
      <p:sp>
        <p:nvSpPr>
          <p:cNvPr id="13" name="Oval 12">
            <a:extLst>
              <a:ext uri="{FF2B5EF4-FFF2-40B4-BE49-F238E27FC236}">
                <a16:creationId xmlns:a16="http://schemas.microsoft.com/office/drawing/2014/main" id="{38B354CC-9840-2CE2-C422-D83C355AC635}"/>
              </a:ext>
            </a:extLst>
          </p:cNvPr>
          <p:cNvSpPr/>
          <p:nvPr/>
        </p:nvSpPr>
        <p:spPr>
          <a:xfrm>
            <a:off x="3149600" y="222250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4" name="Rectangle: Rounded Corners 13">
            <a:extLst>
              <a:ext uri="{FF2B5EF4-FFF2-40B4-BE49-F238E27FC236}">
                <a16:creationId xmlns:a16="http://schemas.microsoft.com/office/drawing/2014/main" id="{990DF760-7C57-2E09-3C9D-73434F015C51}"/>
              </a:ext>
            </a:extLst>
          </p:cNvPr>
          <p:cNvSpPr/>
          <p:nvPr/>
        </p:nvSpPr>
        <p:spPr>
          <a:xfrm>
            <a:off x="2463800" y="2768600"/>
            <a:ext cx="1701800" cy="457200"/>
          </a:xfrm>
          <a:prstGeom prst="roundRect">
            <a:avLst>
              <a:gd name="adj" fmla="val 8000"/>
            </a:avLst>
          </a:prstGeom>
          <a:solidFill>
            <a:srgbClr val="27272C"/>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A3E635"/>
                </a:solidFill>
                <a:latin typeface="Calibri" panose="020F0502020204030204" pitchFamily="34" charset="0"/>
              </a:rPr>
              <a:t>Datacenters</a:t>
            </a:r>
          </a:p>
        </p:txBody>
      </p:sp>
      <p:sp>
        <p:nvSpPr>
          <p:cNvPr id="15" name="Rectangle: Rounded Corners 14">
            <a:extLst>
              <a:ext uri="{FF2B5EF4-FFF2-40B4-BE49-F238E27FC236}">
                <a16:creationId xmlns:a16="http://schemas.microsoft.com/office/drawing/2014/main" id="{B7F29A68-1F15-7937-4628-19096E2594C0}"/>
              </a:ext>
            </a:extLst>
          </p:cNvPr>
          <p:cNvSpPr/>
          <p:nvPr/>
        </p:nvSpPr>
        <p:spPr>
          <a:xfrm>
            <a:off x="2463800" y="3302000"/>
            <a:ext cx="1701800" cy="10922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100">
                <a:solidFill>
                  <a:srgbClr val="F4F4F5"/>
                </a:solidFill>
                <a:latin typeface="Calibri" panose="020F0502020204030204" pitchFamily="34" charset="0"/>
              </a:rPr>
              <a:t>servers · resource bridge · on-premises Kubernetes</a:t>
            </a:r>
          </a:p>
        </p:txBody>
      </p:sp>
      <p:sp>
        <p:nvSpPr>
          <p:cNvPr id="16" name="Oval 15">
            <a:extLst>
              <a:ext uri="{FF2B5EF4-FFF2-40B4-BE49-F238E27FC236}">
                <a16:creationId xmlns:a16="http://schemas.microsoft.com/office/drawing/2014/main" id="{CED72254-94E0-4162-86CF-184867970458}"/>
              </a:ext>
            </a:extLst>
          </p:cNvPr>
          <p:cNvSpPr/>
          <p:nvPr/>
        </p:nvSpPr>
        <p:spPr>
          <a:xfrm>
            <a:off x="5003800" y="22225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7" name="Rectangle: Rounded Corners 16">
            <a:extLst>
              <a:ext uri="{FF2B5EF4-FFF2-40B4-BE49-F238E27FC236}">
                <a16:creationId xmlns:a16="http://schemas.microsoft.com/office/drawing/2014/main" id="{7BD50288-FA8E-4844-F632-7F61D03C1F68}"/>
              </a:ext>
            </a:extLst>
          </p:cNvPr>
          <p:cNvSpPr/>
          <p:nvPr/>
        </p:nvSpPr>
        <p:spPr>
          <a:xfrm>
            <a:off x="4318000" y="2768600"/>
            <a:ext cx="1701800" cy="457200"/>
          </a:xfrm>
          <a:prstGeom prst="roundRect">
            <a:avLst>
              <a:gd name="adj" fmla="val 8000"/>
            </a:avLst>
          </a:prstGeom>
          <a:solidFill>
            <a:srgbClr val="27272C"/>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FB923C"/>
                </a:solidFill>
                <a:latin typeface="Calibri" panose="020F0502020204030204" pitchFamily="34" charset="0"/>
              </a:rPr>
              <a:t>AWS</a:t>
            </a:r>
          </a:p>
        </p:txBody>
      </p:sp>
      <p:sp>
        <p:nvSpPr>
          <p:cNvPr id="18" name="Rectangle: Rounded Corners 17">
            <a:extLst>
              <a:ext uri="{FF2B5EF4-FFF2-40B4-BE49-F238E27FC236}">
                <a16:creationId xmlns:a16="http://schemas.microsoft.com/office/drawing/2014/main" id="{A8AD912D-E2C4-4E4F-8F32-19244EDB582F}"/>
              </a:ext>
            </a:extLst>
          </p:cNvPr>
          <p:cNvSpPr/>
          <p:nvPr/>
        </p:nvSpPr>
        <p:spPr>
          <a:xfrm>
            <a:off x="4318000" y="3302000"/>
            <a:ext cx="1701800" cy="1092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100">
                <a:solidFill>
                  <a:srgbClr val="F4F4F5"/>
                </a:solidFill>
                <a:latin typeface="Calibri" panose="020F0502020204030204" pitchFamily="34" charset="0"/>
              </a:rPr>
              <a:t>connector or agent · EKS · CloudTrail subset</a:t>
            </a:r>
          </a:p>
        </p:txBody>
      </p:sp>
      <p:sp>
        <p:nvSpPr>
          <p:cNvPr id="19" name="Oval 18">
            <a:extLst>
              <a:ext uri="{FF2B5EF4-FFF2-40B4-BE49-F238E27FC236}">
                <a16:creationId xmlns:a16="http://schemas.microsoft.com/office/drawing/2014/main" id="{A4BF57C9-85E4-EAB2-5902-43BEC685C705}"/>
              </a:ext>
            </a:extLst>
          </p:cNvPr>
          <p:cNvSpPr/>
          <p:nvPr/>
        </p:nvSpPr>
        <p:spPr>
          <a:xfrm>
            <a:off x="6858000" y="2222500"/>
            <a:ext cx="381000" cy="3810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20" name="Rectangle: Rounded Corners 19">
            <a:extLst>
              <a:ext uri="{FF2B5EF4-FFF2-40B4-BE49-F238E27FC236}">
                <a16:creationId xmlns:a16="http://schemas.microsoft.com/office/drawing/2014/main" id="{5B7887E2-111A-BA81-84C3-2FFC3D97B8E9}"/>
              </a:ext>
            </a:extLst>
          </p:cNvPr>
          <p:cNvSpPr/>
          <p:nvPr/>
        </p:nvSpPr>
        <p:spPr>
          <a:xfrm>
            <a:off x="6172200" y="2768600"/>
            <a:ext cx="1701800" cy="457200"/>
          </a:xfrm>
          <a:prstGeom prst="roundRect">
            <a:avLst>
              <a:gd name="adj" fmla="val 8000"/>
            </a:avLst>
          </a:prstGeom>
          <a:solidFill>
            <a:srgbClr val="27272C"/>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2DD4BF"/>
                </a:solidFill>
                <a:latin typeface="Calibri" panose="020F0502020204030204" pitchFamily="34" charset="0"/>
              </a:rPr>
              <a:t>GCP</a:t>
            </a:r>
          </a:p>
        </p:txBody>
      </p:sp>
      <p:sp>
        <p:nvSpPr>
          <p:cNvPr id="21" name="Rectangle: Rounded Corners 20">
            <a:extLst>
              <a:ext uri="{FF2B5EF4-FFF2-40B4-BE49-F238E27FC236}">
                <a16:creationId xmlns:a16="http://schemas.microsoft.com/office/drawing/2014/main" id="{8FE12318-A209-FDE1-34A6-239C3C445D48}"/>
              </a:ext>
            </a:extLst>
          </p:cNvPr>
          <p:cNvSpPr/>
          <p:nvPr/>
        </p:nvSpPr>
        <p:spPr>
          <a:xfrm>
            <a:off x="6172200" y="3302000"/>
            <a:ext cx="1701800" cy="10922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100">
                <a:solidFill>
                  <a:srgbClr val="F4F4F5"/>
                </a:solidFill>
                <a:latin typeface="Calibri" panose="020F0502020204030204" pitchFamily="34" charset="0"/>
              </a:rPr>
              <a:t>agent · connectedk8s · connector (PREVIEW)</a:t>
            </a:r>
          </a:p>
        </p:txBody>
      </p:sp>
      <p:sp>
        <p:nvSpPr>
          <p:cNvPr id="22" name="Oval 21">
            <a:extLst>
              <a:ext uri="{FF2B5EF4-FFF2-40B4-BE49-F238E27FC236}">
                <a16:creationId xmlns:a16="http://schemas.microsoft.com/office/drawing/2014/main" id="{6D381106-EFB6-6175-AA01-25793EBD6E73}"/>
              </a:ext>
            </a:extLst>
          </p:cNvPr>
          <p:cNvSpPr/>
          <p:nvPr/>
        </p:nvSpPr>
        <p:spPr>
          <a:xfrm>
            <a:off x="8712200" y="2222500"/>
            <a:ext cx="381000" cy="3810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23" name="Rectangle: Rounded Corners 22">
            <a:extLst>
              <a:ext uri="{FF2B5EF4-FFF2-40B4-BE49-F238E27FC236}">
                <a16:creationId xmlns:a16="http://schemas.microsoft.com/office/drawing/2014/main" id="{7EB1E77F-BE80-A365-EFB2-4ECB8A5CBDCF}"/>
              </a:ext>
            </a:extLst>
          </p:cNvPr>
          <p:cNvSpPr/>
          <p:nvPr/>
        </p:nvSpPr>
        <p:spPr>
          <a:xfrm>
            <a:off x="8026400" y="2768600"/>
            <a:ext cx="1701800" cy="457200"/>
          </a:xfrm>
          <a:prstGeom prst="roundRect">
            <a:avLst>
              <a:gd name="adj" fmla="val 8000"/>
            </a:avLst>
          </a:prstGeom>
          <a:solidFill>
            <a:srgbClr val="27272C"/>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A3E635"/>
                </a:solidFill>
                <a:latin typeface="Calibri" panose="020F0502020204030204" pitchFamily="34" charset="0"/>
              </a:rPr>
              <a:t>Applications</a:t>
            </a:r>
          </a:p>
        </p:txBody>
      </p:sp>
      <p:sp>
        <p:nvSpPr>
          <p:cNvPr id="24" name="Rectangle: Rounded Corners 23">
            <a:extLst>
              <a:ext uri="{FF2B5EF4-FFF2-40B4-BE49-F238E27FC236}">
                <a16:creationId xmlns:a16="http://schemas.microsoft.com/office/drawing/2014/main" id="{55F3539F-5771-D4AE-E83C-C7BC2EFE9740}"/>
              </a:ext>
            </a:extLst>
          </p:cNvPr>
          <p:cNvSpPr/>
          <p:nvPr/>
        </p:nvSpPr>
        <p:spPr>
          <a:xfrm>
            <a:off x="8026400" y="3302000"/>
            <a:ext cx="1701800" cy="10922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100">
                <a:solidFill>
                  <a:srgbClr val="F4F4F5"/>
                </a:solidFill>
                <a:latin typeface="Calibri" panose="020F0502020204030204" pitchFamily="34" charset="0"/>
              </a:rPr>
              <a:t>OpenTelemetry · service records · synthetics</a:t>
            </a:r>
          </a:p>
        </p:txBody>
      </p:sp>
      <p:sp>
        <p:nvSpPr>
          <p:cNvPr id="25" name="Oval 24">
            <a:extLst>
              <a:ext uri="{FF2B5EF4-FFF2-40B4-BE49-F238E27FC236}">
                <a16:creationId xmlns:a16="http://schemas.microsoft.com/office/drawing/2014/main" id="{46E7E54D-CC94-7280-35A0-4A3A39969DDC}"/>
              </a:ext>
            </a:extLst>
          </p:cNvPr>
          <p:cNvSpPr/>
          <p:nvPr/>
        </p:nvSpPr>
        <p:spPr>
          <a:xfrm>
            <a:off x="10566400" y="2222500"/>
            <a:ext cx="381000" cy="381000"/>
          </a:xfrm>
          <a:prstGeom prst="ellipse">
            <a:avLst/>
          </a:prstGeom>
          <a:solidFill>
            <a:srgbClr val="C4A0F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26" name="Rectangle: Rounded Corners 25">
            <a:extLst>
              <a:ext uri="{FF2B5EF4-FFF2-40B4-BE49-F238E27FC236}">
                <a16:creationId xmlns:a16="http://schemas.microsoft.com/office/drawing/2014/main" id="{5B0D9A4C-E689-5F2E-4644-C829DF6DC50C}"/>
              </a:ext>
            </a:extLst>
          </p:cNvPr>
          <p:cNvSpPr/>
          <p:nvPr/>
        </p:nvSpPr>
        <p:spPr>
          <a:xfrm>
            <a:off x="9880600" y="2768600"/>
            <a:ext cx="1701800" cy="457200"/>
          </a:xfrm>
          <a:prstGeom prst="roundRect">
            <a:avLst>
              <a:gd name="adj" fmla="val 8000"/>
            </a:avLst>
          </a:prstGeom>
          <a:solidFill>
            <a:srgbClr val="27272C"/>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00" b="1">
                <a:solidFill>
                  <a:srgbClr val="C4A0FA"/>
                </a:solidFill>
                <a:latin typeface="Calibri" panose="020F0502020204030204" pitchFamily="34" charset="0"/>
              </a:rPr>
              <a:t>Service health</a:t>
            </a:r>
          </a:p>
        </p:txBody>
      </p:sp>
      <p:sp>
        <p:nvSpPr>
          <p:cNvPr id="27" name="Rectangle: Rounded Corners 26">
            <a:extLst>
              <a:ext uri="{FF2B5EF4-FFF2-40B4-BE49-F238E27FC236}">
                <a16:creationId xmlns:a16="http://schemas.microsoft.com/office/drawing/2014/main" id="{3B339171-6A36-EBD3-67FA-688D73BFF3D9}"/>
              </a:ext>
            </a:extLst>
          </p:cNvPr>
          <p:cNvSpPr/>
          <p:nvPr/>
        </p:nvSpPr>
        <p:spPr>
          <a:xfrm>
            <a:off x="9880600" y="3302000"/>
            <a:ext cx="1701800" cy="10922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100">
                <a:solidFill>
                  <a:srgbClr val="F4F4F5"/>
                </a:solidFill>
                <a:latin typeface="Calibri" panose="020F0502020204030204" pitchFamily="34" charset="0"/>
              </a:rPr>
              <a:t>health models · owned alerts · the cycle</a:t>
            </a:r>
          </a:p>
        </p:txBody>
      </p:sp>
      <p:sp>
        <p:nvSpPr>
          <p:cNvPr id="28" name="Rectangle: Rounded Corners 27">
            <a:extLst>
              <a:ext uri="{FF2B5EF4-FFF2-40B4-BE49-F238E27FC236}">
                <a16:creationId xmlns:a16="http://schemas.microsoft.com/office/drawing/2014/main" id="{66C374AE-4324-0ADB-55D2-90FF16DDE9DE}"/>
              </a:ext>
            </a:extLst>
          </p:cNvPr>
          <p:cNvSpPr/>
          <p:nvPr/>
        </p:nvSpPr>
        <p:spPr>
          <a:xfrm>
            <a:off x="609600" y="4826000"/>
            <a:ext cx="10972800" cy="635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250" b="1">
                <a:solidFill>
                  <a:srgbClr val="F4F4F5"/>
                </a:solidFill>
                <a:latin typeface="Calibri" panose="020F0502020204030204" pitchFamily="34" charset="0"/>
              </a:rPr>
              <a:t>Same exit check for every phase: evidence arriving from every in-scope source, within cadence, with tags and owners, at the planned cost</a:t>
            </a:r>
          </a:p>
        </p:txBody>
      </p:sp>
      <p:sp>
        <p:nvSpPr>
          <p:cNvPr id="29" name="Rectangle 28">
            <a:extLst>
              <a:ext uri="{FF2B5EF4-FFF2-40B4-BE49-F238E27FC236}">
                <a16:creationId xmlns:a16="http://schemas.microsoft.com/office/drawing/2014/main" id="{AEB4C9DD-A723-9538-5F89-D53D90D3FCA6}"/>
              </a:ext>
            </a:extLst>
          </p:cNvPr>
          <p:cNvSpPr/>
          <p:nvPr/>
        </p:nvSpPr>
        <p:spPr>
          <a:xfrm>
            <a:off x="558800" y="6146800"/>
            <a:ext cx="63500" cy="3302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39CE716-FC89-5BA9-3D5A-B81CDA65D63F}"/>
              </a:ext>
            </a:extLst>
          </p:cNvPr>
          <p:cNvSpPr txBox="1"/>
          <p:nvPr/>
        </p:nvSpPr>
        <p:spPr>
          <a:xfrm>
            <a:off x="762000" y="6121400"/>
            <a:ext cx="10795000" cy="381000"/>
          </a:xfrm>
          <a:prstGeom prst="rect">
            <a:avLst/>
          </a:prstGeom>
          <a:noFill/>
        </p:spPr>
        <p:txBody>
          <a:bodyPr vert="horz" wrap="square" lIns="25400" tIns="12700" rIns="25400" bIns="12700" rtlCol="0" anchor="t">
            <a:noAutofit/>
          </a:bodyPr>
          <a:lstStyle/>
          <a:p>
            <a:r>
              <a:rPr lang="en-US" sz="1500" b="1">
                <a:solidFill>
                  <a:srgbClr val="FBBF24"/>
                </a:solidFill>
                <a:latin typeface="Calibri" panose="020F0502020204030204" pitchFamily="34" charset="0"/>
              </a:rPr>
              <a:t>Build the home first, then bring each estate in, then the applications, then service health.</a:t>
            </a:r>
          </a:p>
        </p:txBody>
      </p:sp>
    </p:spTree>
    <p:extLst>
      <p:ext uri="{BB962C8B-B14F-4D97-AF65-F5344CB8AC3E}">
        <p14:creationId xmlns:p14="http://schemas.microsoft.com/office/powerpoint/2010/main" val="35087183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0EF8D10-E10B-E4B8-8697-94820E064E2A}"/>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F878969F-9372-C405-B914-020DCBB35487}"/>
              </a:ext>
            </a:extLst>
          </p:cNvPr>
          <p:cNvSpPr/>
          <p:nvPr/>
        </p:nvSpPr>
        <p:spPr>
          <a:xfrm>
            <a:off x="0" y="1295400"/>
            <a:ext cx="12192000" cy="38100"/>
          </a:xfrm>
          <a:prstGeom prst="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0457FFC-700B-104E-67FF-D2AF50DD6C93}"/>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8F0CDE8-7682-ECD4-F411-E779739CA316}"/>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Exit criteria for every phase</a:t>
            </a:r>
          </a:p>
        </p:txBody>
      </p:sp>
      <p:sp>
        <p:nvSpPr>
          <p:cNvPr id="6" name="ChapterTag">
            <a:extLst>
              <a:ext uri="{FF2B5EF4-FFF2-40B4-BE49-F238E27FC236}">
                <a16:creationId xmlns:a16="http://schemas.microsoft.com/office/drawing/2014/main" id="{2B3E9B71-91CF-3FC0-7FAF-EB3BAFC42796}"/>
              </a:ext>
            </a:extLst>
          </p:cNvPr>
          <p:cNvSpPr/>
          <p:nvPr/>
        </p:nvSpPr>
        <p:spPr>
          <a:xfrm>
            <a:off x="9245600" y="381000"/>
            <a:ext cx="2336800" cy="330200"/>
          </a:xfrm>
          <a:prstGeom prst="roundRect">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5 · PLAN</a:t>
            </a:r>
          </a:p>
        </p:txBody>
      </p:sp>
      <p:sp>
        <p:nvSpPr>
          <p:cNvPr id="7" name="TextBox 6">
            <a:extLst>
              <a:ext uri="{FF2B5EF4-FFF2-40B4-BE49-F238E27FC236}">
                <a16:creationId xmlns:a16="http://schemas.microsoft.com/office/drawing/2014/main" id="{EAA80373-169F-E024-B67C-D56BF5031BEC}"/>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36D6A6F-4E72-52F9-40AD-70A77664A6A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61</a:t>
            </a:r>
          </a:p>
        </p:txBody>
      </p:sp>
      <p:sp>
        <p:nvSpPr>
          <p:cNvPr id="9" name="Oval 8">
            <a:extLst>
              <a:ext uri="{FF2B5EF4-FFF2-40B4-BE49-F238E27FC236}">
                <a16:creationId xmlns:a16="http://schemas.microsoft.com/office/drawing/2014/main" id="{F68D7020-23FF-8C8D-64F2-096BB7D6441E}"/>
              </a:ext>
            </a:extLst>
          </p:cNvPr>
          <p:cNvSpPr/>
          <p:nvPr/>
        </p:nvSpPr>
        <p:spPr>
          <a:xfrm>
            <a:off x="660400" y="1674495"/>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6E2FF10-A32D-4969-4AFF-88A5F7A11922}"/>
              </a:ext>
            </a:extLst>
          </p:cNvPr>
          <p:cNvSpPr txBox="1"/>
          <p:nvPr/>
        </p:nvSpPr>
        <p:spPr>
          <a:xfrm>
            <a:off x="889000" y="1600200"/>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Every in-scope machine or cluster is an Arc resource with the six tags and an owner</a:t>
            </a:r>
          </a:p>
        </p:txBody>
      </p:sp>
      <p:sp>
        <p:nvSpPr>
          <p:cNvPr id="11" name="Oval 10">
            <a:extLst>
              <a:ext uri="{FF2B5EF4-FFF2-40B4-BE49-F238E27FC236}">
                <a16:creationId xmlns:a16="http://schemas.microsoft.com/office/drawing/2014/main" id="{B0BD6885-9A4E-8A62-2DBD-8C9E8F6E67EF}"/>
              </a:ext>
            </a:extLst>
          </p:cNvPr>
          <p:cNvSpPr/>
          <p:nvPr/>
        </p:nvSpPr>
        <p:spPr>
          <a:xfrm>
            <a:off x="660400" y="2063623"/>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9C78B52-9971-68CC-0761-7A62CE85C1BD}"/>
              </a:ext>
            </a:extLst>
          </p:cNvPr>
          <p:cNvSpPr txBox="1"/>
          <p:nvPr/>
        </p:nvSpPr>
        <p:spPr>
          <a:xfrm>
            <a:off x="889000" y="1989328"/>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The agent or extension is installed by Policy, not by hand, and compliance is green</a:t>
            </a:r>
          </a:p>
        </p:txBody>
      </p:sp>
      <p:sp>
        <p:nvSpPr>
          <p:cNvPr id="13" name="Oval 12">
            <a:extLst>
              <a:ext uri="{FF2B5EF4-FFF2-40B4-BE49-F238E27FC236}">
                <a16:creationId xmlns:a16="http://schemas.microsoft.com/office/drawing/2014/main" id="{E734C5D3-E07F-ECE4-0F3D-60ADFF14F4B3}"/>
              </a:ext>
            </a:extLst>
          </p:cNvPr>
          <p:cNvSpPr/>
          <p:nvPr/>
        </p:nvSpPr>
        <p:spPr>
          <a:xfrm>
            <a:off x="660400" y="2452751"/>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AA1D9E1-5F24-F6DF-D7B8-290509F879C9}"/>
              </a:ext>
            </a:extLst>
          </p:cNvPr>
          <p:cNvSpPr txBox="1"/>
          <p:nvPr/>
        </p:nvSpPr>
        <p:spPr>
          <a:xfrm>
            <a:off x="889000" y="2378456"/>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Heartbeat or cluster metrics arrive within the expected cadence for 100 percent of in-scope sources, verified by query</a:t>
            </a:r>
          </a:p>
        </p:txBody>
      </p:sp>
      <p:sp>
        <p:nvSpPr>
          <p:cNvPr id="15" name="Oval 14">
            <a:extLst>
              <a:ext uri="{FF2B5EF4-FFF2-40B4-BE49-F238E27FC236}">
                <a16:creationId xmlns:a16="http://schemas.microsoft.com/office/drawing/2014/main" id="{D1F06D02-F932-BFE5-536B-D9FE0972A68F}"/>
              </a:ext>
            </a:extLst>
          </p:cNvPr>
          <p:cNvSpPr/>
          <p:nvPr/>
        </p:nvSpPr>
        <p:spPr>
          <a:xfrm>
            <a:off x="660400" y="2841879"/>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F4B2700-8EDE-0E88-EC46-12AC2ABEA639}"/>
              </a:ext>
            </a:extLst>
          </p:cNvPr>
          <p:cNvSpPr txBox="1"/>
          <p:nvPr/>
        </p:nvSpPr>
        <p:spPr>
          <a:xfrm>
            <a:off x="889000" y="2767584"/>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The planned signals for that estate exist in the planned tables with the planned plans</a:t>
            </a:r>
          </a:p>
        </p:txBody>
      </p:sp>
      <p:sp>
        <p:nvSpPr>
          <p:cNvPr id="17" name="Oval 16">
            <a:extLst>
              <a:ext uri="{FF2B5EF4-FFF2-40B4-BE49-F238E27FC236}">
                <a16:creationId xmlns:a16="http://schemas.microsoft.com/office/drawing/2014/main" id="{1F1D3A9A-5117-054D-DE5E-70D1E064C812}"/>
              </a:ext>
            </a:extLst>
          </p:cNvPr>
          <p:cNvSpPr/>
          <p:nvPr/>
        </p:nvSpPr>
        <p:spPr>
          <a:xfrm>
            <a:off x="660400" y="3231007"/>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CB4F103-289B-0E9E-5891-32AABE3F721B}"/>
              </a:ext>
            </a:extLst>
          </p:cNvPr>
          <p:cNvSpPr txBox="1"/>
          <p:nvPr/>
        </p:nvSpPr>
        <p:spPr>
          <a:xfrm>
            <a:off x="889000" y="3156712"/>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One service view shows the estate's services with real state</a:t>
            </a:r>
          </a:p>
        </p:txBody>
      </p:sp>
      <p:sp>
        <p:nvSpPr>
          <p:cNvPr id="19" name="Oval 18">
            <a:extLst>
              <a:ext uri="{FF2B5EF4-FFF2-40B4-BE49-F238E27FC236}">
                <a16:creationId xmlns:a16="http://schemas.microsoft.com/office/drawing/2014/main" id="{81BF1393-7B60-F588-A86F-17510AE640C5}"/>
              </a:ext>
            </a:extLst>
          </p:cNvPr>
          <p:cNvSpPr/>
          <p:nvPr/>
        </p:nvSpPr>
        <p:spPr>
          <a:xfrm>
            <a:off x="660400" y="3620135"/>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9406CB57-09CC-0D44-541C-164BCB24A7CF}"/>
              </a:ext>
            </a:extLst>
          </p:cNvPr>
          <p:cNvSpPr txBox="1"/>
          <p:nvPr/>
        </p:nvSpPr>
        <p:spPr>
          <a:xfrm>
            <a:off x="889000" y="3545840"/>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Alerts for that estate have owners, action groups and a tested delivery</a:t>
            </a:r>
          </a:p>
        </p:txBody>
      </p:sp>
      <p:sp>
        <p:nvSpPr>
          <p:cNvPr id="21" name="Oval 20">
            <a:extLst>
              <a:ext uri="{FF2B5EF4-FFF2-40B4-BE49-F238E27FC236}">
                <a16:creationId xmlns:a16="http://schemas.microsoft.com/office/drawing/2014/main" id="{4F70701A-E96C-E755-AD24-3841F20E24AB}"/>
              </a:ext>
            </a:extLst>
          </p:cNvPr>
          <p:cNvSpPr/>
          <p:nvPr/>
        </p:nvSpPr>
        <p:spPr>
          <a:xfrm>
            <a:off x="660400" y="4009263"/>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5A63A79-43C3-0E01-F7A2-1878CD9F6F0A}"/>
              </a:ext>
            </a:extLst>
          </p:cNvPr>
          <p:cNvSpPr txBox="1"/>
          <p:nvPr/>
        </p:nvSpPr>
        <p:spPr>
          <a:xfrm>
            <a:off x="889000" y="3934968"/>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Cost for the month is within the estimate from the signal catalogue</a:t>
            </a:r>
          </a:p>
        </p:txBody>
      </p:sp>
      <p:sp>
        <p:nvSpPr>
          <p:cNvPr id="23" name="Oval 22">
            <a:extLst>
              <a:ext uri="{FF2B5EF4-FFF2-40B4-BE49-F238E27FC236}">
                <a16:creationId xmlns:a16="http://schemas.microsoft.com/office/drawing/2014/main" id="{A66F1FC5-E85E-3E47-42CF-C53E18CA05E8}"/>
              </a:ext>
            </a:extLst>
          </p:cNvPr>
          <p:cNvSpPr/>
          <p:nvPr/>
        </p:nvSpPr>
        <p:spPr>
          <a:xfrm>
            <a:off x="660400" y="4398391"/>
            <a:ext cx="101600" cy="101600"/>
          </a:xfrm>
          <a:prstGeom prst="ellipse">
            <a:avLst/>
          </a:prstGeom>
          <a:solidFill>
            <a:srgbClr val="A3E6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6150E45-B4BF-06D9-F495-2A7DD45E38C0}"/>
              </a:ext>
            </a:extLst>
          </p:cNvPr>
          <p:cNvSpPr txBox="1"/>
          <p:nvPr/>
        </p:nvSpPr>
        <p:spPr>
          <a:xfrm>
            <a:off x="889000" y="4324096"/>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The runbook for onboarding one more machine or cluster is written and used by someone other than its author</a:t>
            </a:r>
          </a:p>
        </p:txBody>
      </p:sp>
    </p:spTree>
    <p:extLst>
      <p:ext uri="{BB962C8B-B14F-4D97-AF65-F5344CB8AC3E}">
        <p14:creationId xmlns:p14="http://schemas.microsoft.com/office/powerpoint/2010/main" val="11037112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53EBDA0A-0D4C-F1B3-3A12-D74BFFF350CE}"/>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223B4317-9512-8ED2-0B40-5C036CE7C0B3}"/>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7C7837B-7322-A587-FC69-DD112D22B31C}"/>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4D54C04-D4AB-5D93-24ED-B642CF6909C0}"/>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6 · Implement it</a:t>
            </a:r>
          </a:p>
        </p:txBody>
      </p:sp>
      <p:sp>
        <p:nvSpPr>
          <p:cNvPr id="6" name="ChapterTag">
            <a:extLst>
              <a:ext uri="{FF2B5EF4-FFF2-40B4-BE49-F238E27FC236}">
                <a16:creationId xmlns:a16="http://schemas.microsoft.com/office/drawing/2014/main" id="{5B10E9BA-EC3F-96DF-7001-A6D5764D25ED}"/>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313BAEF8-8240-400A-CD58-22E6F47FBCFC}"/>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9B100CF-E094-3545-B28C-E5B5EEB09A1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62</a:t>
            </a:r>
          </a:p>
        </p:txBody>
      </p:sp>
      <p:sp>
        <p:nvSpPr>
          <p:cNvPr id="9" name="TextBox 8">
            <a:extLst>
              <a:ext uri="{FF2B5EF4-FFF2-40B4-BE49-F238E27FC236}">
                <a16:creationId xmlns:a16="http://schemas.microsoft.com/office/drawing/2014/main" id="{04B162DF-ABC3-045F-638E-0E4B87B177CA}"/>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FB923C"/>
                </a:solidFill>
                <a:latin typeface="Calibri" panose="020F0502020204030204" pitchFamily="34" charset="0"/>
              </a:rPr>
              <a:t>6</a:t>
            </a:r>
          </a:p>
        </p:txBody>
      </p:sp>
      <p:sp>
        <p:nvSpPr>
          <p:cNvPr id="10" name="TextBox 9">
            <a:extLst>
              <a:ext uri="{FF2B5EF4-FFF2-40B4-BE49-F238E27FC236}">
                <a16:creationId xmlns:a16="http://schemas.microsoft.com/office/drawing/2014/main" id="{AEF5F7A3-CA00-A616-810D-1131180B5590}"/>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F434A9F3-91DC-CBE7-3794-F8E0786557B5}"/>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In what order do we build it, and what does each step actually look like?</a:t>
            </a:r>
          </a:p>
        </p:txBody>
      </p:sp>
      <p:sp>
        <p:nvSpPr>
          <p:cNvPr id="12" name="TextBox 11">
            <a:extLst>
              <a:ext uri="{FF2B5EF4-FFF2-40B4-BE49-F238E27FC236}">
                <a16:creationId xmlns:a16="http://schemas.microsoft.com/office/drawing/2014/main" id="{4C1A2DF6-A55B-535B-EDE1-D43EC8C9C2C5}"/>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FB923C"/>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32EFD1AE-9C41-2956-4977-D0AEED035395}"/>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Foundation · datacenters · AWS · GCP · Kubernetes · applications · service health · verification</a:t>
            </a:r>
          </a:p>
        </p:txBody>
      </p:sp>
      <p:sp>
        <p:nvSpPr>
          <p:cNvPr id="14" name="Rectangle: Rounded Corners 13">
            <a:extLst>
              <a:ext uri="{FF2B5EF4-FFF2-40B4-BE49-F238E27FC236}">
                <a16:creationId xmlns:a16="http://schemas.microsoft.com/office/drawing/2014/main" id="{34EF1A7E-4770-0191-C060-18C121F1ADCE}"/>
              </a:ext>
            </a:extLst>
          </p:cNvPr>
          <p:cNvSpPr/>
          <p:nvPr/>
        </p:nvSpPr>
        <p:spPr>
          <a:xfrm>
            <a:off x="609600" y="5588000"/>
            <a:ext cx="1282700" cy="508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E075277D-19CA-1DB1-0BB5-E3BF1AF1D64F}"/>
              </a:ext>
            </a:extLst>
          </p:cNvPr>
          <p:cNvSpPr/>
          <p:nvPr/>
        </p:nvSpPr>
        <p:spPr>
          <a:xfrm>
            <a:off x="1993900" y="5588000"/>
            <a:ext cx="1282700" cy="508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DDAC348E-89E8-77CC-C8D8-AFC519ED48F6}"/>
              </a:ext>
            </a:extLst>
          </p:cNvPr>
          <p:cNvSpPr/>
          <p:nvPr/>
        </p:nvSpPr>
        <p:spPr>
          <a:xfrm>
            <a:off x="3378200" y="5588000"/>
            <a:ext cx="12827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2484650D-4C6C-4D8D-DA71-B67DE1637A81}"/>
              </a:ext>
            </a:extLst>
          </p:cNvPr>
          <p:cNvSpPr/>
          <p:nvPr/>
        </p:nvSpPr>
        <p:spPr>
          <a:xfrm>
            <a:off x="4762500" y="5588000"/>
            <a:ext cx="1282700" cy="508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E9DB8E1F-9CB6-FFBD-F423-59A4FDE28BAA}"/>
              </a:ext>
            </a:extLst>
          </p:cNvPr>
          <p:cNvSpPr/>
          <p:nvPr/>
        </p:nvSpPr>
        <p:spPr>
          <a:xfrm>
            <a:off x="6146800" y="5588000"/>
            <a:ext cx="1282700" cy="508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A70C8C79-8824-2736-F95C-91253CF0AF85}"/>
              </a:ext>
            </a:extLst>
          </p:cNvPr>
          <p:cNvSpPr/>
          <p:nvPr/>
        </p:nvSpPr>
        <p:spPr>
          <a:xfrm>
            <a:off x="7531100" y="5588000"/>
            <a:ext cx="1282700" cy="508000"/>
          </a:xfrm>
          <a:prstGeom prst="roundRect">
            <a:avLst>
              <a:gd name="adj" fmla="val 8000"/>
            </a:avLst>
          </a:prstGeom>
          <a:solidFill>
            <a:srgbClr val="FB923C"/>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D346F066-9AEB-9208-85D8-FB996A3D23DF}"/>
              </a:ext>
            </a:extLst>
          </p:cNvPr>
          <p:cNvSpPr/>
          <p:nvPr/>
        </p:nvSpPr>
        <p:spPr>
          <a:xfrm>
            <a:off x="8915400" y="5588000"/>
            <a:ext cx="1282700" cy="5080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EDB1825F-F587-6955-9623-97CCBE9D5C6E}"/>
              </a:ext>
            </a:extLst>
          </p:cNvPr>
          <p:cNvSpPr/>
          <p:nvPr/>
        </p:nvSpPr>
        <p:spPr>
          <a:xfrm>
            <a:off x="10299700" y="5588000"/>
            <a:ext cx="1282700" cy="5080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Reference</a:t>
            </a:r>
          </a:p>
        </p:txBody>
      </p:sp>
    </p:spTree>
    <p:extLst>
      <p:ext uri="{BB962C8B-B14F-4D97-AF65-F5344CB8AC3E}">
        <p14:creationId xmlns:p14="http://schemas.microsoft.com/office/powerpoint/2010/main" val="18892176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4A7DD75-940E-4D25-0600-F0BC09BE6708}"/>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20D49A17-FC13-BE57-DD12-03A1BD843A3E}"/>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5704B28-83DF-76A3-E828-5CA6260EAC28}"/>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54203DF-D8E8-0467-F43A-A84B4B149CA7}"/>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0: the foundation in Azure</a:t>
            </a:r>
          </a:p>
        </p:txBody>
      </p:sp>
      <p:sp>
        <p:nvSpPr>
          <p:cNvPr id="6" name="ChapterTag">
            <a:extLst>
              <a:ext uri="{FF2B5EF4-FFF2-40B4-BE49-F238E27FC236}">
                <a16:creationId xmlns:a16="http://schemas.microsoft.com/office/drawing/2014/main" id="{31CAC4D0-FDEA-E16C-062A-691109E6DCD9}"/>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5EAB4B64-F946-E0CC-43F0-A978C92E6A2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5679080-E403-D261-BF9C-61CA7AE824B1}"/>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63</a:t>
            </a:r>
          </a:p>
        </p:txBody>
      </p:sp>
      <p:sp>
        <p:nvSpPr>
          <p:cNvPr id="9" name="Oval 8">
            <a:extLst>
              <a:ext uri="{FF2B5EF4-FFF2-40B4-BE49-F238E27FC236}">
                <a16:creationId xmlns:a16="http://schemas.microsoft.com/office/drawing/2014/main" id="{8AD40C50-A184-CAB8-E905-3EDAF4A79C37}"/>
              </a:ext>
            </a:extLst>
          </p:cNvPr>
          <p:cNvSpPr/>
          <p:nvPr/>
        </p:nvSpPr>
        <p:spPr>
          <a:xfrm>
            <a:off x="660400" y="1680210"/>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1A1CA8C-B160-C8FD-F4D4-96111FA8D0E0}"/>
              </a:ext>
            </a:extLst>
          </p:cNvPr>
          <p:cNvSpPr txBox="1"/>
          <p:nvPr/>
        </p:nvSpPr>
        <p:spPr>
          <a:xfrm>
            <a:off x="889000" y="160020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Management group and subscription for the platform; resource groups per function: rg-arc-&lt;env&gt;, rg-monitoring, rg-arc-k8s</a:t>
            </a:r>
          </a:p>
        </p:txBody>
      </p:sp>
      <p:sp>
        <p:nvSpPr>
          <p:cNvPr id="11" name="Oval 10">
            <a:extLst>
              <a:ext uri="{FF2B5EF4-FFF2-40B4-BE49-F238E27FC236}">
                <a16:creationId xmlns:a16="http://schemas.microsoft.com/office/drawing/2014/main" id="{B284CC36-2919-F19C-D764-70687A3B35DD}"/>
              </a:ext>
            </a:extLst>
          </p:cNvPr>
          <p:cNvSpPr/>
          <p:nvPr/>
        </p:nvSpPr>
        <p:spPr>
          <a:xfrm>
            <a:off x="660400" y="2085594"/>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D653FE0-21FB-A39E-4EF0-DFDC3DCB676F}"/>
              </a:ext>
            </a:extLst>
          </p:cNvPr>
          <p:cNvSpPr txBox="1"/>
          <p:nvPr/>
        </p:nvSpPr>
        <p:spPr>
          <a:xfrm>
            <a:off x="889000" y="2005584"/>
            <a:ext cx="10693400" cy="784352"/>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Register providers: Microsoft.HybridCompute, Microsoft.HybridConnectivity, Microsoft.GuestConfiguration, Microsoft.Kubernetes, Microsoft.KubernetesConfiguration, Microsoft.ExtendedLocation, Microsoft.AwsConnector, Microsoft.Insights, Microsoft.OperationalInsights, Microsoft.Monitor</a:t>
            </a:r>
          </a:p>
        </p:txBody>
      </p:sp>
      <p:sp>
        <p:nvSpPr>
          <p:cNvPr id="13" name="Oval 12">
            <a:extLst>
              <a:ext uri="{FF2B5EF4-FFF2-40B4-BE49-F238E27FC236}">
                <a16:creationId xmlns:a16="http://schemas.microsoft.com/office/drawing/2014/main" id="{FBB274B7-721D-9EF8-9EBC-1B70E598D3D6}"/>
              </a:ext>
            </a:extLst>
          </p:cNvPr>
          <p:cNvSpPr/>
          <p:nvPr/>
        </p:nvSpPr>
        <p:spPr>
          <a:xfrm>
            <a:off x="660400" y="2946146"/>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8D8D6EF-1D13-F4C6-B1B1-1042C965CA2D}"/>
              </a:ext>
            </a:extLst>
          </p:cNvPr>
          <p:cNvSpPr txBox="1"/>
          <p:nvPr/>
        </p:nvSpPr>
        <p:spPr>
          <a:xfrm>
            <a:off x="889000" y="2866136"/>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Log Analytics workspace (law-platform) and Azure Monitor workspace (amw-platform) in the home region; Application Insights on the workspace per application</a:t>
            </a:r>
          </a:p>
        </p:txBody>
      </p:sp>
      <p:sp>
        <p:nvSpPr>
          <p:cNvPr id="15" name="Oval 14">
            <a:extLst>
              <a:ext uri="{FF2B5EF4-FFF2-40B4-BE49-F238E27FC236}">
                <a16:creationId xmlns:a16="http://schemas.microsoft.com/office/drawing/2014/main" id="{A2A3B9B0-DCE2-5E68-34D2-DED69AFD4C57}"/>
              </a:ext>
            </a:extLst>
          </p:cNvPr>
          <p:cNvSpPr/>
          <p:nvPr/>
        </p:nvSpPr>
        <p:spPr>
          <a:xfrm>
            <a:off x="660400" y="3579114"/>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B3573D4-5FD2-1D36-E9B1-4ADBB3497018}"/>
              </a:ext>
            </a:extLst>
          </p:cNvPr>
          <p:cNvSpPr txBox="1"/>
          <p:nvPr/>
        </p:nvSpPr>
        <p:spPr>
          <a:xfrm>
            <a:off x="889000" y="349910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Data collection endpoint, the baseline data collection rules (Linux, Windows, Change Tracking, VM insights) and the custom tables from the catalogue</a:t>
            </a:r>
          </a:p>
        </p:txBody>
      </p:sp>
      <p:sp>
        <p:nvSpPr>
          <p:cNvPr id="17" name="Oval 16">
            <a:extLst>
              <a:ext uri="{FF2B5EF4-FFF2-40B4-BE49-F238E27FC236}">
                <a16:creationId xmlns:a16="http://schemas.microsoft.com/office/drawing/2014/main" id="{3E8535C4-09F6-0FC7-A342-D16E6616A25C}"/>
              </a:ext>
            </a:extLst>
          </p:cNvPr>
          <p:cNvSpPr/>
          <p:nvPr/>
        </p:nvSpPr>
        <p:spPr>
          <a:xfrm>
            <a:off x="660400" y="4212082"/>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098488D-9096-7039-38AD-98D26A175B40}"/>
              </a:ext>
            </a:extLst>
          </p:cNvPr>
          <p:cNvSpPr txBox="1"/>
          <p:nvPr/>
        </p:nvSpPr>
        <p:spPr>
          <a:xfrm>
            <a:off x="889000" y="4132072"/>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Policy initiatives assigned at the management group: AMA for Arc Linux and Windows with the rule IDs, tag enforcement, diagnostic settings</a:t>
            </a:r>
          </a:p>
        </p:txBody>
      </p:sp>
      <p:sp>
        <p:nvSpPr>
          <p:cNvPr id="19" name="Oval 18">
            <a:extLst>
              <a:ext uri="{FF2B5EF4-FFF2-40B4-BE49-F238E27FC236}">
                <a16:creationId xmlns:a16="http://schemas.microsoft.com/office/drawing/2014/main" id="{2A727A12-0C3C-6043-1BD7-882679C99072}"/>
              </a:ext>
            </a:extLst>
          </p:cNvPr>
          <p:cNvSpPr/>
          <p:nvPr/>
        </p:nvSpPr>
        <p:spPr>
          <a:xfrm>
            <a:off x="660400" y="4845050"/>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A7F5936-FC61-3077-B7CF-4C2A0F23B509}"/>
              </a:ext>
            </a:extLst>
          </p:cNvPr>
          <p:cNvSpPr txBox="1"/>
          <p:nvPr/>
        </p:nvSpPr>
        <p:spPr>
          <a:xfrm>
            <a:off x="889000" y="476504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Action groups per owning team; Managed Grafana; a service principal with the onboarding role; the Arc gateway or Private Link Scope if a site needs it</a:t>
            </a:r>
          </a:p>
        </p:txBody>
      </p:sp>
    </p:spTree>
    <p:extLst>
      <p:ext uri="{BB962C8B-B14F-4D97-AF65-F5344CB8AC3E}">
        <p14:creationId xmlns:p14="http://schemas.microsoft.com/office/powerpoint/2010/main" val="24640629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4687FC1E-43AA-A344-D78F-BADA086A20A0}"/>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DD2C4CA-FB8B-6230-31B0-13ACEB8F6D3B}"/>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AAD95AD-F795-FA90-FD78-980028153BC8}"/>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0B1EAA-E4BE-E220-FCB0-8848AE00B3C8}"/>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0 as code</a:t>
            </a:r>
          </a:p>
        </p:txBody>
      </p:sp>
      <p:sp>
        <p:nvSpPr>
          <p:cNvPr id="6" name="ChapterTag">
            <a:extLst>
              <a:ext uri="{FF2B5EF4-FFF2-40B4-BE49-F238E27FC236}">
                <a16:creationId xmlns:a16="http://schemas.microsoft.com/office/drawing/2014/main" id="{D4C63546-0528-250F-CE68-3B531D77A453}"/>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EEDBE441-D1C4-F4B4-AB4D-604EF510E8F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4F57839-1383-304C-D0A5-C679C4F4830D}"/>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64</a:t>
            </a:r>
          </a:p>
        </p:txBody>
      </p:sp>
      <p:sp>
        <p:nvSpPr>
          <p:cNvPr id="9" name="Rectangle 8">
            <a:extLst>
              <a:ext uri="{FF2B5EF4-FFF2-40B4-BE49-F238E27FC236}">
                <a16:creationId xmlns:a16="http://schemas.microsoft.com/office/drawing/2014/main" id="{AD5DF64F-C9D8-51B1-F27C-6BCD33FF7916}"/>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Bicep, abbreviated: the platform foundation</a:t>
            </a:r>
          </a:p>
          <a:p>
            <a:r>
              <a:rPr lang="en-US" sz="1150">
                <a:solidFill>
                  <a:srgbClr val="F4F4F5"/>
                </a:solidFill>
                <a:latin typeface="Consolas" panose="020B0609020204030204" pitchFamily="49" charset="0"/>
              </a:rPr>
              <a:t>resource law 'Microsoft.OperationalInsights/workspaces@2023-09-01' = { name: 'law-platform', location: location, properties: { retentionInDays: 30, sku: { name: 'PerGB2018' }, features: { enableLogAccessUsingOnlyResourcePermissions: true } } }</a:t>
            </a:r>
          </a:p>
          <a:p>
            <a:r>
              <a:rPr lang="en-US" sz="1150">
                <a:solidFill>
                  <a:srgbClr val="F4F4F5"/>
                </a:solidFill>
                <a:latin typeface="Consolas" panose="020B0609020204030204" pitchFamily="49" charset="0"/>
              </a:rPr>
              <a:t>resource amw 'Microsoft.Monitor/accounts@2023-04-03' = { name: 'amw-platform', location: location }</a:t>
            </a:r>
          </a:p>
          <a:p>
            <a:r>
              <a:rPr lang="en-US" sz="1150">
                <a:solidFill>
                  <a:srgbClr val="F4F4F5"/>
                </a:solidFill>
                <a:latin typeface="Consolas" panose="020B0609020204030204" pitchFamily="49" charset="0"/>
              </a:rPr>
              <a:t>resource dce 'Microsoft.Insights/dataCollectionEndpoints@2023-03-11' = { name: 'dce-platform', location: location, properties: { networkAcls: { publicNetworkAccess: 'Enabled' } } }</a:t>
            </a:r>
          </a:p>
          <a:p>
            <a:r>
              <a:rPr lang="en-US" sz="1150">
                <a:solidFill>
                  <a:srgbClr val="F4F4F5"/>
                </a:solidFill>
                <a:latin typeface="Consolas" panose="020B0609020204030204" pitchFamily="49" charset="0"/>
              </a:rPr>
              <a:t>resource dcrLinux 'Microsoft.Insights/dataCollectionRules@2023-03-11' = { name: 'dcr-linux-baseline', location: location, properties: { dataCollectionEndpointId: dce.id, dataSources: { performanceCounters: [ ... ], syslog: [ ... ] }, destinations: { logAnalytics: [ { name: 'law', workspaceResourceId: law.id } ] }, dataFlows: [ ... ] } }</a:t>
            </a:r>
          </a:p>
          <a:p>
            <a:r>
              <a:rPr lang="en-US" sz="1150">
                <a:solidFill>
                  <a:srgbClr val="F4F4F5"/>
                </a:solidFill>
                <a:latin typeface="Consolas" panose="020B0609020204030204" pitchFamily="49" charset="0"/>
              </a:rPr>
              <a:t>resource ag 'Microsoft.Insights/actionGroups@2023-01-01' = { name: 'ag-platform-oncall', location: 'global', properties: { groupShortName: 'platform', enabled: true, emailReceivers: [ ... ], armRoleReceivers: [ ... ] } }</a:t>
            </a:r>
          </a:p>
          <a:p>
            <a:r>
              <a:rPr lang="en-US" sz="1150">
                <a:solidFill>
                  <a:srgbClr val="A3E635"/>
                </a:solidFill>
                <a:latin typeface="Consolas" panose="020B0609020204030204" pitchFamily="49" charset="0"/>
              </a:rPr>
              <a:t>// plus: policy assignments for the AMA initiatives with dcrLinux.id, Managed Grafana, custom tables, Application Insights</a:t>
            </a:r>
          </a:p>
        </p:txBody>
      </p:sp>
    </p:spTree>
    <p:extLst>
      <p:ext uri="{BB962C8B-B14F-4D97-AF65-F5344CB8AC3E}">
        <p14:creationId xmlns:p14="http://schemas.microsoft.com/office/powerpoint/2010/main" val="31459807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AEF11E6F-C2E0-BD42-7CE1-B6920427888D}"/>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F84EF7BA-B176-013D-DE73-2C1AC68122C0}"/>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0068473-C20F-E544-1A5E-045D4C7BB58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06680C8-D94D-24B9-CE32-0B9323A372E0}"/>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1: the datacenters</a:t>
            </a:r>
          </a:p>
        </p:txBody>
      </p:sp>
      <p:sp>
        <p:nvSpPr>
          <p:cNvPr id="6" name="ChapterTag">
            <a:extLst>
              <a:ext uri="{FF2B5EF4-FFF2-40B4-BE49-F238E27FC236}">
                <a16:creationId xmlns:a16="http://schemas.microsoft.com/office/drawing/2014/main" id="{733FC3D6-7C4E-DB3E-B574-5ABF3B1A2D15}"/>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0F4E4C8A-3A5A-8358-2EF2-999B59A517BE}"/>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BE0843B6-820E-0F09-2057-894438BCD9C3}"/>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65</a:t>
            </a:r>
          </a:p>
        </p:txBody>
      </p:sp>
      <p:sp>
        <p:nvSpPr>
          <p:cNvPr id="9" name="Oval 8">
            <a:extLst>
              <a:ext uri="{FF2B5EF4-FFF2-40B4-BE49-F238E27FC236}">
                <a16:creationId xmlns:a16="http://schemas.microsoft.com/office/drawing/2014/main" id="{AF1FE3B3-A64B-4A92-4C88-8ABA1F1E53B1}"/>
              </a:ext>
            </a:extLst>
          </p:cNvPr>
          <p:cNvSpPr/>
          <p:nvPr/>
        </p:nvSpPr>
        <p:spPr>
          <a:xfrm>
            <a:off x="660400" y="1778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B9733F04-3F55-916E-B050-3271394C24D5}"/>
              </a:ext>
            </a:extLst>
          </p:cNvPr>
          <p:cNvSpPr/>
          <p:nvPr/>
        </p:nvSpPr>
        <p:spPr>
          <a:xfrm>
            <a:off x="1219200" y="16002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Pilot 10 servers per datacenter with azcmagent connect and the full tag set</a:t>
            </a:r>
          </a:p>
        </p:txBody>
      </p:sp>
      <p:sp>
        <p:nvSpPr>
          <p:cNvPr id="11" name="Oval 10">
            <a:extLst>
              <a:ext uri="{FF2B5EF4-FFF2-40B4-BE49-F238E27FC236}">
                <a16:creationId xmlns:a16="http://schemas.microsoft.com/office/drawing/2014/main" id="{E8B7DBD1-3BB4-AAAA-57FA-4F3C462A6294}"/>
              </a:ext>
            </a:extLst>
          </p:cNvPr>
          <p:cNvSpPr/>
          <p:nvPr/>
        </p:nvSpPr>
        <p:spPr>
          <a:xfrm>
            <a:off x="660400" y="25654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2" name="Rectangle: Rounded Corners 11">
            <a:extLst>
              <a:ext uri="{FF2B5EF4-FFF2-40B4-BE49-F238E27FC236}">
                <a16:creationId xmlns:a16="http://schemas.microsoft.com/office/drawing/2014/main" id="{7E2E86F2-C157-9429-B1B1-847A2BD59F61}"/>
              </a:ext>
            </a:extLst>
          </p:cNvPr>
          <p:cNvSpPr/>
          <p:nvPr/>
        </p:nvSpPr>
        <p:spPr>
          <a:xfrm>
            <a:off x="1219200" y="23876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Confirm Heartbeat, Perf and Syslog or Event arrive; confirm Policy installed the agent</a:t>
            </a:r>
          </a:p>
        </p:txBody>
      </p:sp>
      <p:sp>
        <p:nvSpPr>
          <p:cNvPr id="13" name="Oval 12">
            <a:extLst>
              <a:ext uri="{FF2B5EF4-FFF2-40B4-BE49-F238E27FC236}">
                <a16:creationId xmlns:a16="http://schemas.microsoft.com/office/drawing/2014/main" id="{0AEB1323-CBEE-2BF8-7BB4-AE5EF8DD46C8}"/>
              </a:ext>
            </a:extLst>
          </p:cNvPr>
          <p:cNvSpPr/>
          <p:nvPr/>
        </p:nvSpPr>
        <p:spPr>
          <a:xfrm>
            <a:off x="660400" y="33528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4" name="Rectangle: Rounded Corners 13">
            <a:extLst>
              <a:ext uri="{FF2B5EF4-FFF2-40B4-BE49-F238E27FC236}">
                <a16:creationId xmlns:a16="http://schemas.microsoft.com/office/drawing/2014/main" id="{358AE26C-D5CB-A14B-4D42-5B99065CE730}"/>
              </a:ext>
            </a:extLst>
          </p:cNvPr>
          <p:cNvSpPr/>
          <p:nvPr/>
        </p:nvSpPr>
        <p:spPr>
          <a:xfrm>
            <a:off x="1219200" y="31750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Deploy the resource bridge per vCenter or SCVMM; enable guest management in bulk from Azure</a:t>
            </a:r>
          </a:p>
        </p:txBody>
      </p:sp>
      <p:sp>
        <p:nvSpPr>
          <p:cNvPr id="15" name="Oval 14">
            <a:extLst>
              <a:ext uri="{FF2B5EF4-FFF2-40B4-BE49-F238E27FC236}">
                <a16:creationId xmlns:a16="http://schemas.microsoft.com/office/drawing/2014/main" id="{3008C551-4854-22BC-2BC2-8F4C97F44559}"/>
              </a:ext>
            </a:extLst>
          </p:cNvPr>
          <p:cNvSpPr/>
          <p:nvPr/>
        </p:nvSpPr>
        <p:spPr>
          <a:xfrm>
            <a:off x="660400" y="41402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6" name="Rectangle: Rounded Corners 15">
            <a:extLst>
              <a:ext uri="{FF2B5EF4-FFF2-40B4-BE49-F238E27FC236}">
                <a16:creationId xmlns:a16="http://schemas.microsoft.com/office/drawing/2014/main" id="{657BCC3B-FE52-81FA-7ABC-C8D40A94A935}"/>
              </a:ext>
            </a:extLst>
          </p:cNvPr>
          <p:cNvSpPr/>
          <p:nvPr/>
        </p:nvSpPr>
        <p:spPr>
          <a:xfrm>
            <a:off x="1219200" y="39624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Onboard the rest with the service principal and your push tooling, by site, by wave</a:t>
            </a:r>
          </a:p>
        </p:txBody>
      </p:sp>
      <p:sp>
        <p:nvSpPr>
          <p:cNvPr id="17" name="Oval 16">
            <a:extLst>
              <a:ext uri="{FF2B5EF4-FFF2-40B4-BE49-F238E27FC236}">
                <a16:creationId xmlns:a16="http://schemas.microsoft.com/office/drawing/2014/main" id="{CE86F33D-EC1D-325E-372D-3CCCA3D53AE4}"/>
              </a:ext>
            </a:extLst>
          </p:cNvPr>
          <p:cNvSpPr/>
          <p:nvPr/>
        </p:nvSpPr>
        <p:spPr>
          <a:xfrm>
            <a:off x="660400" y="49276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18" name="Rectangle: Rounded Corners 17">
            <a:extLst>
              <a:ext uri="{FF2B5EF4-FFF2-40B4-BE49-F238E27FC236}">
                <a16:creationId xmlns:a16="http://schemas.microsoft.com/office/drawing/2014/main" id="{8A257A38-5B64-C7DD-99C5-B8BD6430B81D}"/>
              </a:ext>
            </a:extLst>
          </p:cNvPr>
          <p:cNvSpPr/>
          <p:nvPr/>
        </p:nvSpPr>
        <p:spPr>
          <a:xfrm>
            <a:off x="1219200" y="47498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Connect on-premises Kubernetes with az connectedk8s connect; add the two monitoring extensions</a:t>
            </a:r>
          </a:p>
        </p:txBody>
      </p:sp>
      <p:sp>
        <p:nvSpPr>
          <p:cNvPr id="19" name="Oval 18">
            <a:extLst>
              <a:ext uri="{FF2B5EF4-FFF2-40B4-BE49-F238E27FC236}">
                <a16:creationId xmlns:a16="http://schemas.microsoft.com/office/drawing/2014/main" id="{2602C77A-59AA-8889-1F1F-10C47882D3C5}"/>
              </a:ext>
            </a:extLst>
          </p:cNvPr>
          <p:cNvSpPr/>
          <p:nvPr/>
        </p:nvSpPr>
        <p:spPr>
          <a:xfrm>
            <a:off x="660400" y="571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6</a:t>
            </a:r>
          </a:p>
        </p:txBody>
      </p:sp>
      <p:sp>
        <p:nvSpPr>
          <p:cNvPr id="20" name="Rectangle: Rounded Corners 19">
            <a:extLst>
              <a:ext uri="{FF2B5EF4-FFF2-40B4-BE49-F238E27FC236}">
                <a16:creationId xmlns:a16="http://schemas.microsoft.com/office/drawing/2014/main" id="{402472F4-D2B3-5E73-E332-EA3FD26BDC6D}"/>
              </a:ext>
            </a:extLst>
          </p:cNvPr>
          <p:cNvSpPr/>
          <p:nvPr/>
        </p:nvSpPr>
        <p:spPr>
          <a:xfrm>
            <a:off x="1219200" y="55372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Run the exit criteria; publish the first datacenter service view</a:t>
            </a:r>
          </a:p>
        </p:txBody>
      </p:sp>
    </p:spTree>
    <p:extLst>
      <p:ext uri="{BB962C8B-B14F-4D97-AF65-F5344CB8AC3E}">
        <p14:creationId xmlns:p14="http://schemas.microsoft.com/office/powerpoint/2010/main" val="42138199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DD2D6F76-EE99-3228-3CC7-298F7B9820AF}"/>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268E93DE-E3D6-E7FF-C8E6-841B94066B0C}"/>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2C69A35-9AA9-F26B-D3DF-82BE70861F1B}"/>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60F14A-905E-20AB-A65D-BF24E114CBC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Datacenter network checklist</a:t>
            </a:r>
          </a:p>
        </p:txBody>
      </p:sp>
      <p:sp>
        <p:nvSpPr>
          <p:cNvPr id="6" name="ChapterTag">
            <a:extLst>
              <a:ext uri="{FF2B5EF4-FFF2-40B4-BE49-F238E27FC236}">
                <a16:creationId xmlns:a16="http://schemas.microsoft.com/office/drawing/2014/main" id="{E64B75AC-3A17-E958-4545-4991451E8F2D}"/>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E3F04595-3114-362C-68F1-98490E379A6E}"/>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939B6932-CAC1-6B23-1907-F277CDA2EB73}"/>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66</a:t>
            </a:r>
          </a:p>
        </p:txBody>
      </p:sp>
      <p:sp>
        <p:nvSpPr>
          <p:cNvPr id="9" name="Oval 8">
            <a:extLst>
              <a:ext uri="{FF2B5EF4-FFF2-40B4-BE49-F238E27FC236}">
                <a16:creationId xmlns:a16="http://schemas.microsoft.com/office/drawing/2014/main" id="{BE7CB949-1926-7854-473A-C8B6F77280ED}"/>
              </a:ext>
            </a:extLst>
          </p:cNvPr>
          <p:cNvSpPr/>
          <p:nvPr/>
        </p:nvSpPr>
        <p:spPr>
          <a:xfrm>
            <a:off x="660400" y="1680210"/>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27AF12C-49F2-9A5B-61F2-377EE61C5921}"/>
              </a:ext>
            </a:extLst>
          </p:cNvPr>
          <p:cNvSpPr txBox="1"/>
          <p:nvPr/>
        </p:nvSpPr>
        <p:spPr>
          <a:xfrm>
            <a:off x="889000" y="160020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Decide per site: direct, proxy, Arc gateway or Private Link Scope; document which endpoints remain public under each</a:t>
            </a:r>
          </a:p>
        </p:txBody>
      </p:sp>
      <p:sp>
        <p:nvSpPr>
          <p:cNvPr id="11" name="Oval 10">
            <a:extLst>
              <a:ext uri="{FF2B5EF4-FFF2-40B4-BE49-F238E27FC236}">
                <a16:creationId xmlns:a16="http://schemas.microsoft.com/office/drawing/2014/main" id="{35A9D949-910E-A43F-3A24-9BEF63808AA6}"/>
              </a:ext>
            </a:extLst>
          </p:cNvPr>
          <p:cNvSpPr/>
          <p:nvPr/>
        </p:nvSpPr>
        <p:spPr>
          <a:xfrm>
            <a:off x="660400" y="2085594"/>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D955442-85C2-0F4A-3937-7DB19530A01D}"/>
              </a:ext>
            </a:extLst>
          </p:cNvPr>
          <p:cNvSpPr txBox="1"/>
          <p:nvPr/>
        </p:nvSpPr>
        <p:spPr>
          <a:xfrm>
            <a:off x="889000" y="200558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Allow the agent endpoints and the Azure Monitor Agent ingestion endpoints (*.ods.opinsights.azure.com, *.oms.opinsights.azure.com, *.monitoring.azure.com, the data collection endpoint); regional Entra endpoints, not only global</a:t>
            </a:r>
          </a:p>
        </p:txBody>
      </p:sp>
      <p:sp>
        <p:nvSpPr>
          <p:cNvPr id="13" name="Oval 12">
            <a:extLst>
              <a:ext uri="{FF2B5EF4-FFF2-40B4-BE49-F238E27FC236}">
                <a16:creationId xmlns:a16="http://schemas.microsoft.com/office/drawing/2014/main" id="{D068B2A2-E2F4-09CF-0E23-9FB697E7445F}"/>
              </a:ext>
            </a:extLst>
          </p:cNvPr>
          <p:cNvSpPr/>
          <p:nvPr/>
        </p:nvSpPr>
        <p:spPr>
          <a:xfrm>
            <a:off x="660400" y="2718562"/>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2A004F6-6E2D-38A0-9E25-88F69AEDCDBD}"/>
              </a:ext>
            </a:extLst>
          </p:cNvPr>
          <p:cNvSpPr txBox="1"/>
          <p:nvPr/>
        </p:nvSpPr>
        <p:spPr>
          <a:xfrm>
            <a:off x="889000" y="26385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TLS inspection: fine for the Connected Machine agent; check each extension, some pin certificates</a:t>
            </a:r>
          </a:p>
        </p:txBody>
      </p:sp>
      <p:sp>
        <p:nvSpPr>
          <p:cNvPr id="15" name="Oval 14">
            <a:extLst>
              <a:ext uri="{FF2B5EF4-FFF2-40B4-BE49-F238E27FC236}">
                <a16:creationId xmlns:a16="http://schemas.microsoft.com/office/drawing/2014/main" id="{8B485AA3-7139-301C-D0FF-5AA533C4565D}"/>
              </a:ext>
            </a:extLst>
          </p:cNvPr>
          <p:cNvSpPr/>
          <p:nvPr/>
        </p:nvSpPr>
        <p:spPr>
          <a:xfrm>
            <a:off x="660400" y="3123946"/>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BD7239E-AA19-9DF9-C264-CDA31A33DE99}"/>
              </a:ext>
            </a:extLst>
          </p:cNvPr>
          <p:cNvSpPr txBox="1"/>
          <p:nvPr/>
        </p:nvSpPr>
        <p:spPr>
          <a:xfrm>
            <a:off x="889000" y="3043936"/>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Proxy: azcmagent config set proxy.url and proxy.bypass; the Log Analytics gateway is not a proxy for the Connected Machine agent, only for the Azure Monitor Agent</a:t>
            </a:r>
          </a:p>
        </p:txBody>
      </p:sp>
      <p:sp>
        <p:nvSpPr>
          <p:cNvPr id="17" name="Oval 16">
            <a:extLst>
              <a:ext uri="{FF2B5EF4-FFF2-40B4-BE49-F238E27FC236}">
                <a16:creationId xmlns:a16="http://schemas.microsoft.com/office/drawing/2014/main" id="{5A36769F-CA92-C549-7648-FA63BEF5FD4F}"/>
              </a:ext>
            </a:extLst>
          </p:cNvPr>
          <p:cNvSpPr/>
          <p:nvPr/>
        </p:nvSpPr>
        <p:spPr>
          <a:xfrm>
            <a:off x="660400" y="3756914"/>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04182AE-3483-B9A0-59BF-88D31FACB19D}"/>
              </a:ext>
            </a:extLst>
          </p:cNvPr>
          <p:cNvSpPr txBox="1"/>
          <p:nvPr/>
        </p:nvSpPr>
        <p:spPr>
          <a:xfrm>
            <a:off x="889000" y="367690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Private Link Scope: all Arc clients under one DNS scope must use it; split-brain DNS between private and public is not supported</a:t>
            </a:r>
          </a:p>
        </p:txBody>
      </p:sp>
      <p:sp>
        <p:nvSpPr>
          <p:cNvPr id="19" name="Oval 18">
            <a:extLst>
              <a:ext uri="{FF2B5EF4-FFF2-40B4-BE49-F238E27FC236}">
                <a16:creationId xmlns:a16="http://schemas.microsoft.com/office/drawing/2014/main" id="{33706823-41E7-6FFE-9F2C-09623743BD65}"/>
              </a:ext>
            </a:extLst>
          </p:cNvPr>
          <p:cNvSpPr/>
          <p:nvPr/>
        </p:nvSpPr>
        <p:spPr>
          <a:xfrm>
            <a:off x="660400" y="4389882"/>
            <a:ext cx="101600" cy="1016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15024A6-56E8-E8ED-1490-2B8B86982813}"/>
              </a:ext>
            </a:extLst>
          </p:cNvPr>
          <p:cNvSpPr txBox="1"/>
          <p:nvPr/>
        </p:nvSpPr>
        <p:spPr>
          <a:xfrm>
            <a:off x="889000" y="430987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Edge sites with poor links: the Azure Monitor pipeline extension for local buffering and delayed sync</a:t>
            </a:r>
          </a:p>
        </p:txBody>
      </p:sp>
    </p:spTree>
    <p:extLst>
      <p:ext uri="{BB962C8B-B14F-4D97-AF65-F5344CB8AC3E}">
        <p14:creationId xmlns:p14="http://schemas.microsoft.com/office/powerpoint/2010/main" val="15190552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35FC8A99-518D-8083-E76B-6CEFD771735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42C57883-E470-DE1C-AAB8-E578AFBDA66E}"/>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6711FEC-FC8E-2B2C-DA41-FA3C17EDA701}"/>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FFE054B-8E42-DDB7-319C-1582E45A71A0}"/>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2: AWS</a:t>
            </a:r>
          </a:p>
        </p:txBody>
      </p:sp>
      <p:sp>
        <p:nvSpPr>
          <p:cNvPr id="6" name="ChapterTag">
            <a:extLst>
              <a:ext uri="{FF2B5EF4-FFF2-40B4-BE49-F238E27FC236}">
                <a16:creationId xmlns:a16="http://schemas.microsoft.com/office/drawing/2014/main" id="{855C9228-3F81-A515-11A4-5EA5AA128E0D}"/>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8ACE5125-4D4E-2E63-B322-DCA65573148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DEC81E88-000D-B6C8-79F8-5111F0A3386C}"/>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67</a:t>
            </a:r>
          </a:p>
        </p:txBody>
      </p:sp>
      <p:sp>
        <p:nvSpPr>
          <p:cNvPr id="9" name="Oval 8">
            <a:extLst>
              <a:ext uri="{FF2B5EF4-FFF2-40B4-BE49-F238E27FC236}">
                <a16:creationId xmlns:a16="http://schemas.microsoft.com/office/drawing/2014/main" id="{E7DF9611-6357-BCCF-70F8-D644BC76909E}"/>
              </a:ext>
            </a:extLst>
          </p:cNvPr>
          <p:cNvSpPr/>
          <p:nvPr/>
        </p:nvSpPr>
        <p:spPr>
          <a:xfrm>
            <a:off x="660400" y="172085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EAB7E5FF-9661-9B2D-5B97-CA80C436E439}"/>
              </a:ext>
            </a:extLst>
          </p:cNvPr>
          <p:cNvSpPr/>
          <p:nvPr/>
        </p:nvSpPr>
        <p:spPr>
          <a:xfrm>
            <a:off x="1219200" y="1600200"/>
            <a:ext cx="10363200" cy="5969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Register Microsoft.AwsConnector; create the multicloud connector in Azure and deploy its CloudFormation template in each account (or at the organization)</a:t>
            </a:r>
          </a:p>
        </p:txBody>
      </p:sp>
      <p:sp>
        <p:nvSpPr>
          <p:cNvPr id="11" name="Oval 10">
            <a:extLst>
              <a:ext uri="{FF2B5EF4-FFF2-40B4-BE49-F238E27FC236}">
                <a16:creationId xmlns:a16="http://schemas.microsoft.com/office/drawing/2014/main" id="{9C09052F-9CB7-4188-88BD-3C754902C21C}"/>
              </a:ext>
            </a:extLst>
          </p:cNvPr>
          <p:cNvSpPr/>
          <p:nvPr/>
        </p:nvSpPr>
        <p:spPr>
          <a:xfrm>
            <a:off x="660400" y="239395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2" name="Rectangle: Rounded Corners 11">
            <a:extLst>
              <a:ext uri="{FF2B5EF4-FFF2-40B4-BE49-F238E27FC236}">
                <a16:creationId xmlns:a16="http://schemas.microsoft.com/office/drawing/2014/main" id="{45C1F4FE-0CCB-7EEF-45E4-4668F5A08CC9}"/>
              </a:ext>
            </a:extLst>
          </p:cNvPr>
          <p:cNvSpPr/>
          <p:nvPr/>
        </p:nvSpPr>
        <p:spPr>
          <a:xfrm>
            <a:off x="1219200" y="2273300"/>
            <a:ext cx="10363200" cy="5969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Enable Inventory (global read or least privilege) and Arc onboarding, filtered by region and tag</a:t>
            </a:r>
          </a:p>
        </p:txBody>
      </p:sp>
      <p:sp>
        <p:nvSpPr>
          <p:cNvPr id="13" name="Oval 12">
            <a:extLst>
              <a:ext uri="{FF2B5EF4-FFF2-40B4-BE49-F238E27FC236}">
                <a16:creationId xmlns:a16="http://schemas.microsoft.com/office/drawing/2014/main" id="{9086843A-20E2-3A27-491C-C4BA6BBB7360}"/>
              </a:ext>
            </a:extLst>
          </p:cNvPr>
          <p:cNvSpPr/>
          <p:nvPr/>
        </p:nvSpPr>
        <p:spPr>
          <a:xfrm>
            <a:off x="660400" y="306705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4" name="Rectangle: Rounded Corners 13">
            <a:extLst>
              <a:ext uri="{FF2B5EF4-FFF2-40B4-BE49-F238E27FC236}">
                <a16:creationId xmlns:a16="http://schemas.microsoft.com/office/drawing/2014/main" id="{AD7154E8-954C-D273-B856-7F65C86F6FF7}"/>
              </a:ext>
            </a:extLst>
          </p:cNvPr>
          <p:cNvSpPr/>
          <p:nvPr/>
        </p:nvSpPr>
        <p:spPr>
          <a:xfrm>
            <a:off x="1219200" y="2946400"/>
            <a:ext cx="10363200" cy="5969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Confirm EC2 prerequisites: SSM agent running, the ArcForServerSSMRole assigned (the connector's Lambda does this daily by default)</a:t>
            </a:r>
          </a:p>
        </p:txBody>
      </p:sp>
      <p:sp>
        <p:nvSpPr>
          <p:cNvPr id="15" name="Oval 14">
            <a:extLst>
              <a:ext uri="{FF2B5EF4-FFF2-40B4-BE49-F238E27FC236}">
                <a16:creationId xmlns:a16="http://schemas.microsoft.com/office/drawing/2014/main" id="{89B41F24-1200-F7C2-02C0-D84AF0DD51A8}"/>
              </a:ext>
            </a:extLst>
          </p:cNvPr>
          <p:cNvSpPr/>
          <p:nvPr/>
        </p:nvSpPr>
        <p:spPr>
          <a:xfrm>
            <a:off x="660400" y="374015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6" name="Rectangle: Rounded Corners 15">
            <a:extLst>
              <a:ext uri="{FF2B5EF4-FFF2-40B4-BE49-F238E27FC236}">
                <a16:creationId xmlns:a16="http://schemas.microsoft.com/office/drawing/2014/main" id="{5C37B0E5-8B4F-716E-C66A-92C14DA9FBDD}"/>
              </a:ext>
            </a:extLst>
          </p:cNvPr>
          <p:cNvSpPr/>
          <p:nvPr/>
        </p:nvSpPr>
        <p:spPr>
          <a:xfrm>
            <a:off x="1219200" y="3619500"/>
            <a:ext cx="10363200" cy="5969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Watch machines appear in AWS_&lt;account&gt; as Microsoft.HybridCompute/machines; Policy installs the agent and the rule</a:t>
            </a:r>
          </a:p>
        </p:txBody>
      </p:sp>
      <p:sp>
        <p:nvSpPr>
          <p:cNvPr id="17" name="Oval 16">
            <a:extLst>
              <a:ext uri="{FF2B5EF4-FFF2-40B4-BE49-F238E27FC236}">
                <a16:creationId xmlns:a16="http://schemas.microsoft.com/office/drawing/2014/main" id="{B2543B67-2FFC-46A4-10CD-2BC462D66381}"/>
              </a:ext>
            </a:extLst>
          </p:cNvPr>
          <p:cNvSpPr/>
          <p:nvPr/>
        </p:nvSpPr>
        <p:spPr>
          <a:xfrm>
            <a:off x="660400" y="441325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18" name="Rectangle: Rounded Corners 17">
            <a:extLst>
              <a:ext uri="{FF2B5EF4-FFF2-40B4-BE49-F238E27FC236}">
                <a16:creationId xmlns:a16="http://schemas.microsoft.com/office/drawing/2014/main" id="{4BE030B5-24BC-BBA7-3C3F-A5BFA22DFC38}"/>
              </a:ext>
            </a:extLst>
          </p:cNvPr>
          <p:cNvSpPr/>
          <p:nvPr/>
        </p:nvSpPr>
        <p:spPr>
          <a:xfrm>
            <a:off x="1219200" y="4292600"/>
            <a:ext cx="10363200" cy="5969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Connect EKS clusters with az connectedk8s connect (or the connector's EKS onboarding, PREVIEW); add the two extensions</a:t>
            </a:r>
          </a:p>
        </p:txBody>
      </p:sp>
      <p:sp>
        <p:nvSpPr>
          <p:cNvPr id="19" name="Oval 18">
            <a:extLst>
              <a:ext uri="{FF2B5EF4-FFF2-40B4-BE49-F238E27FC236}">
                <a16:creationId xmlns:a16="http://schemas.microsoft.com/office/drawing/2014/main" id="{89688F8B-545E-8C41-58F9-106A270F08AE}"/>
              </a:ext>
            </a:extLst>
          </p:cNvPr>
          <p:cNvSpPr/>
          <p:nvPr/>
        </p:nvSpPr>
        <p:spPr>
          <a:xfrm>
            <a:off x="660400" y="508635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6</a:t>
            </a:r>
          </a:p>
        </p:txBody>
      </p:sp>
      <p:sp>
        <p:nvSpPr>
          <p:cNvPr id="20" name="Rectangle: Rounded Corners 19">
            <a:extLst>
              <a:ext uri="{FF2B5EF4-FFF2-40B4-BE49-F238E27FC236}">
                <a16:creationId xmlns:a16="http://schemas.microsoft.com/office/drawing/2014/main" id="{86212622-4A7C-D061-02A7-D4263B89FB48}"/>
              </a:ext>
            </a:extLst>
          </p:cNvPr>
          <p:cNvSpPr/>
          <p:nvPr/>
        </p:nvSpPr>
        <p:spPr>
          <a:xfrm>
            <a:off x="1219200" y="4965700"/>
            <a:ext cx="10363200" cy="5969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Forward the AWS platform logs the cross-cloud questions need (CloudTrail at least) into the workspace; leave the rest in CloudWatch</a:t>
            </a:r>
          </a:p>
        </p:txBody>
      </p:sp>
      <p:sp>
        <p:nvSpPr>
          <p:cNvPr id="21" name="Oval 20">
            <a:extLst>
              <a:ext uri="{FF2B5EF4-FFF2-40B4-BE49-F238E27FC236}">
                <a16:creationId xmlns:a16="http://schemas.microsoft.com/office/drawing/2014/main" id="{A3935EAD-FD2B-8BA9-5D71-06E7A3E29B6C}"/>
              </a:ext>
            </a:extLst>
          </p:cNvPr>
          <p:cNvSpPr/>
          <p:nvPr/>
        </p:nvSpPr>
        <p:spPr>
          <a:xfrm>
            <a:off x="660400" y="575945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7</a:t>
            </a:r>
          </a:p>
        </p:txBody>
      </p:sp>
      <p:sp>
        <p:nvSpPr>
          <p:cNvPr id="22" name="Rectangle: Rounded Corners 21">
            <a:extLst>
              <a:ext uri="{FF2B5EF4-FFF2-40B4-BE49-F238E27FC236}">
                <a16:creationId xmlns:a16="http://schemas.microsoft.com/office/drawing/2014/main" id="{863B9320-BDF2-896C-6CA6-44FD111F376F}"/>
              </a:ext>
            </a:extLst>
          </p:cNvPr>
          <p:cNvSpPr/>
          <p:nvPr/>
        </p:nvSpPr>
        <p:spPr>
          <a:xfrm>
            <a:off x="1219200" y="5638800"/>
            <a:ext cx="10363200" cy="5969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Run the exit criteria; the service view now shows AWS parts next to datacenter parts</a:t>
            </a:r>
          </a:p>
        </p:txBody>
      </p:sp>
    </p:spTree>
    <p:extLst>
      <p:ext uri="{BB962C8B-B14F-4D97-AF65-F5344CB8AC3E}">
        <p14:creationId xmlns:p14="http://schemas.microsoft.com/office/powerpoint/2010/main" val="41243149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2C9591F9-4F1B-2A73-C041-6794F6B8A04A}"/>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D2163AF0-27AC-47BE-502D-91A145835E75}"/>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ECCBF11-FF77-B6E6-24CD-EC1C3E411CA9}"/>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32F0528-03A1-69E5-8618-BD0FE0244DD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3: GCP</a:t>
            </a:r>
          </a:p>
        </p:txBody>
      </p:sp>
      <p:sp>
        <p:nvSpPr>
          <p:cNvPr id="6" name="ChapterTag">
            <a:extLst>
              <a:ext uri="{FF2B5EF4-FFF2-40B4-BE49-F238E27FC236}">
                <a16:creationId xmlns:a16="http://schemas.microsoft.com/office/drawing/2014/main" id="{C1B5EF0A-15BD-FDEB-25C7-966DB91631AE}"/>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2F87BB56-C5C2-DC5F-C6FB-FC3D04939A8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A685CA5-AE2D-6410-9545-823F2F9024A2}"/>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68</a:t>
            </a:r>
          </a:p>
        </p:txBody>
      </p:sp>
      <p:sp>
        <p:nvSpPr>
          <p:cNvPr id="9" name="Oval 8">
            <a:extLst>
              <a:ext uri="{FF2B5EF4-FFF2-40B4-BE49-F238E27FC236}">
                <a16:creationId xmlns:a16="http://schemas.microsoft.com/office/drawing/2014/main" id="{40204DE3-17A5-F068-ABFF-2E25FA0BDB93}"/>
              </a:ext>
            </a:extLst>
          </p:cNvPr>
          <p:cNvSpPr/>
          <p:nvPr/>
        </p:nvSpPr>
        <p:spPr>
          <a:xfrm>
            <a:off x="142494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A3A945A1-6C75-C99D-4838-C99E266B2E5F}"/>
              </a:ext>
            </a:extLst>
          </p:cNvPr>
          <p:cNvSpPr/>
          <p:nvPr/>
        </p:nvSpPr>
        <p:spPr>
          <a:xfrm>
            <a:off x="60960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Register the providers; create the GCP connector (PREVIEW) and apply its Terraform template per project; or skip the connector and push the agent</a:t>
            </a:r>
          </a:p>
        </p:txBody>
      </p:sp>
      <p:cxnSp>
        <p:nvCxnSpPr>
          <p:cNvPr id="11" name="Straight Connector 10">
            <a:extLst>
              <a:ext uri="{FF2B5EF4-FFF2-40B4-BE49-F238E27FC236}">
                <a16:creationId xmlns:a16="http://schemas.microsoft.com/office/drawing/2014/main" id="{09CAB92B-7E9E-C833-BAD4-330966F97F9B}"/>
              </a:ext>
            </a:extLst>
          </p:cNvPr>
          <p:cNvCxnSpPr/>
          <p:nvPr/>
        </p:nvCxnSpPr>
        <p:spPr>
          <a:xfrm>
            <a:off x="262128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BB37B58A-FCA4-0BDD-D0DB-0FB3662AD660}"/>
              </a:ext>
            </a:extLst>
          </p:cNvPr>
          <p:cNvSpPr/>
          <p:nvPr/>
        </p:nvSpPr>
        <p:spPr>
          <a:xfrm>
            <a:off x="366522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3" name="Rectangle: Rounded Corners 12">
            <a:extLst>
              <a:ext uri="{FF2B5EF4-FFF2-40B4-BE49-F238E27FC236}">
                <a16:creationId xmlns:a16="http://schemas.microsoft.com/office/drawing/2014/main" id="{4E90EA72-4F5B-A21E-E9B4-6CE151E1D817}"/>
              </a:ext>
            </a:extLst>
          </p:cNvPr>
          <p:cNvSpPr/>
          <p:nvPr/>
        </p:nvSpPr>
        <p:spPr>
          <a:xfrm>
            <a:off x="284988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Enable Inventory for Compute, GKE, Storage, Cloud SQL, BigQuery, Cloud Functions; enable Arc onboarding via OS Policy, filtered by region and label</a:t>
            </a:r>
          </a:p>
        </p:txBody>
      </p:sp>
      <p:cxnSp>
        <p:nvCxnSpPr>
          <p:cNvPr id="14" name="Straight Connector 13">
            <a:extLst>
              <a:ext uri="{FF2B5EF4-FFF2-40B4-BE49-F238E27FC236}">
                <a16:creationId xmlns:a16="http://schemas.microsoft.com/office/drawing/2014/main" id="{BC7FCE0F-0FBD-0513-E00F-907B9A3A14AC}"/>
              </a:ext>
            </a:extLst>
          </p:cNvPr>
          <p:cNvCxnSpPr/>
          <p:nvPr/>
        </p:nvCxnSpPr>
        <p:spPr>
          <a:xfrm>
            <a:off x="486156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5D93A71B-0477-097D-C245-3C9B716733EE}"/>
              </a:ext>
            </a:extLst>
          </p:cNvPr>
          <p:cNvSpPr/>
          <p:nvPr/>
        </p:nvSpPr>
        <p:spPr>
          <a:xfrm>
            <a:off x="590550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6" name="Rectangle: Rounded Corners 15">
            <a:extLst>
              <a:ext uri="{FF2B5EF4-FFF2-40B4-BE49-F238E27FC236}">
                <a16:creationId xmlns:a16="http://schemas.microsoft.com/office/drawing/2014/main" id="{80205511-BEBE-2579-AFB0-510AE05AFEB5}"/>
              </a:ext>
            </a:extLst>
          </p:cNvPr>
          <p:cNvSpPr/>
          <p:nvPr/>
        </p:nvSpPr>
        <p:spPr>
          <a:xfrm>
            <a:off x="5090160" y="2489200"/>
            <a:ext cx="2011679"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Connect GKE clusters with az connectedk8s connect; add the two monitoring extensions</a:t>
            </a:r>
          </a:p>
        </p:txBody>
      </p:sp>
      <p:cxnSp>
        <p:nvCxnSpPr>
          <p:cNvPr id="17" name="Straight Connector 16">
            <a:extLst>
              <a:ext uri="{FF2B5EF4-FFF2-40B4-BE49-F238E27FC236}">
                <a16:creationId xmlns:a16="http://schemas.microsoft.com/office/drawing/2014/main" id="{8BB9E170-D78C-2672-E336-E5C865D971C8}"/>
              </a:ext>
            </a:extLst>
          </p:cNvPr>
          <p:cNvCxnSpPr/>
          <p:nvPr/>
        </p:nvCxnSpPr>
        <p:spPr>
          <a:xfrm>
            <a:off x="710184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9371E69F-9926-11D5-E6B2-B88BDF88753C}"/>
              </a:ext>
            </a:extLst>
          </p:cNvPr>
          <p:cNvSpPr/>
          <p:nvPr/>
        </p:nvSpPr>
        <p:spPr>
          <a:xfrm>
            <a:off x="814578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9" name="Rectangle: Rounded Corners 18">
            <a:extLst>
              <a:ext uri="{FF2B5EF4-FFF2-40B4-BE49-F238E27FC236}">
                <a16:creationId xmlns:a16="http://schemas.microsoft.com/office/drawing/2014/main" id="{27432689-4D79-453D-8945-D9846019B27D}"/>
              </a:ext>
            </a:extLst>
          </p:cNvPr>
          <p:cNvSpPr/>
          <p:nvPr/>
        </p:nvSpPr>
        <p:spPr>
          <a:xfrm>
            <a:off x="733044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Forward Cloud Audit Logs for the cross-cloud questions; leave Cloud Logging as the home for GCP-managed services</a:t>
            </a:r>
          </a:p>
        </p:txBody>
      </p:sp>
      <p:cxnSp>
        <p:nvCxnSpPr>
          <p:cNvPr id="20" name="Straight Connector 19">
            <a:extLst>
              <a:ext uri="{FF2B5EF4-FFF2-40B4-BE49-F238E27FC236}">
                <a16:creationId xmlns:a16="http://schemas.microsoft.com/office/drawing/2014/main" id="{26287026-55C7-54A7-AE52-8AC48758E714}"/>
              </a:ext>
            </a:extLst>
          </p:cNvPr>
          <p:cNvCxnSpPr/>
          <p:nvPr/>
        </p:nvCxnSpPr>
        <p:spPr>
          <a:xfrm>
            <a:off x="934212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D1026B50-005A-FC42-504E-86CC5C5B692C}"/>
              </a:ext>
            </a:extLst>
          </p:cNvPr>
          <p:cNvSpPr/>
          <p:nvPr/>
        </p:nvSpPr>
        <p:spPr>
          <a:xfrm>
            <a:off x="1038606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22" name="Rectangle: Rounded Corners 21">
            <a:extLst>
              <a:ext uri="{FF2B5EF4-FFF2-40B4-BE49-F238E27FC236}">
                <a16:creationId xmlns:a16="http://schemas.microsoft.com/office/drawing/2014/main" id="{E3DA83F5-8795-0E07-0540-B4BBC55EE847}"/>
              </a:ext>
            </a:extLst>
          </p:cNvPr>
          <p:cNvSpPr/>
          <p:nvPr/>
        </p:nvSpPr>
        <p:spPr>
          <a:xfrm>
            <a:off x="957072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Run the exit criteria</a:t>
            </a:r>
          </a:p>
        </p:txBody>
      </p:sp>
    </p:spTree>
    <p:extLst>
      <p:ext uri="{BB962C8B-B14F-4D97-AF65-F5344CB8AC3E}">
        <p14:creationId xmlns:p14="http://schemas.microsoft.com/office/powerpoint/2010/main" val="33193532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A42E01B1-01CC-FE24-37D4-3A400E01296A}"/>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9E31AB74-BE2F-2DAB-76EE-261651993620}"/>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7FEFC31-18B6-C33F-E319-B44F66E2307E}"/>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2FA3219-3D37-053C-4042-18E742675D05}"/>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4: applications</a:t>
            </a:r>
          </a:p>
        </p:txBody>
      </p:sp>
      <p:sp>
        <p:nvSpPr>
          <p:cNvPr id="6" name="ChapterTag">
            <a:extLst>
              <a:ext uri="{FF2B5EF4-FFF2-40B4-BE49-F238E27FC236}">
                <a16:creationId xmlns:a16="http://schemas.microsoft.com/office/drawing/2014/main" id="{E657787B-C85C-7AE3-6498-432A61FF3554}"/>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2A647AB2-76E7-BED6-97E8-2EC09B2F91F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9AD779E0-4C28-AFEA-57DB-FAF8B9B75F2E}"/>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69</a:t>
            </a:r>
          </a:p>
        </p:txBody>
      </p:sp>
      <p:sp>
        <p:nvSpPr>
          <p:cNvPr id="9" name="Oval 8">
            <a:extLst>
              <a:ext uri="{FF2B5EF4-FFF2-40B4-BE49-F238E27FC236}">
                <a16:creationId xmlns:a16="http://schemas.microsoft.com/office/drawing/2014/main" id="{2A9711AF-A16B-3701-8AF4-AFF85746DC01}"/>
              </a:ext>
            </a:extLst>
          </p:cNvPr>
          <p:cNvSpPr/>
          <p:nvPr/>
        </p:nvSpPr>
        <p:spPr>
          <a:xfrm>
            <a:off x="142494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D74CC166-30BC-915E-1F7A-D51218A30137}"/>
              </a:ext>
            </a:extLst>
          </p:cNvPr>
          <p:cNvSpPr/>
          <p:nvPr/>
        </p:nvSpPr>
        <p:spPr>
          <a:xfrm>
            <a:off x="60960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Pick the two or three services from the boundaries slide; agree the correlation ID and the OpenTelemetry resource attributes</a:t>
            </a:r>
          </a:p>
        </p:txBody>
      </p:sp>
      <p:cxnSp>
        <p:nvCxnSpPr>
          <p:cNvPr id="11" name="Straight Connector 10">
            <a:extLst>
              <a:ext uri="{FF2B5EF4-FFF2-40B4-BE49-F238E27FC236}">
                <a16:creationId xmlns:a16="http://schemas.microsoft.com/office/drawing/2014/main" id="{D8762DF2-9D9C-9CEC-E3D1-19CACFB250C0}"/>
              </a:ext>
            </a:extLst>
          </p:cNvPr>
          <p:cNvCxnSpPr/>
          <p:nvPr/>
        </p:nvCxnSpPr>
        <p:spPr>
          <a:xfrm>
            <a:off x="262128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12" name="Oval 11">
            <a:extLst>
              <a:ext uri="{FF2B5EF4-FFF2-40B4-BE49-F238E27FC236}">
                <a16:creationId xmlns:a16="http://schemas.microsoft.com/office/drawing/2014/main" id="{C173C72A-5ED0-19BE-B57A-D1F0A25FDE3D}"/>
              </a:ext>
            </a:extLst>
          </p:cNvPr>
          <p:cNvSpPr/>
          <p:nvPr/>
        </p:nvSpPr>
        <p:spPr>
          <a:xfrm>
            <a:off x="366522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3" name="Rectangle: Rounded Corners 12">
            <a:extLst>
              <a:ext uri="{FF2B5EF4-FFF2-40B4-BE49-F238E27FC236}">
                <a16:creationId xmlns:a16="http://schemas.microsoft.com/office/drawing/2014/main" id="{B5FF6564-37D9-5246-017A-C8055A5DF2D9}"/>
              </a:ext>
            </a:extLst>
          </p:cNvPr>
          <p:cNvSpPr/>
          <p:nvPr/>
        </p:nvSpPr>
        <p:spPr>
          <a:xfrm>
            <a:off x="284988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Instrument with the Azure Monitor OpenTelemetry Distro where the language allows; otherwise OTLP through a collector or the Azure Monitor Agent on Arc servers</a:t>
            </a:r>
          </a:p>
        </p:txBody>
      </p:sp>
      <p:cxnSp>
        <p:nvCxnSpPr>
          <p:cNvPr id="14" name="Straight Connector 13">
            <a:extLst>
              <a:ext uri="{FF2B5EF4-FFF2-40B4-BE49-F238E27FC236}">
                <a16:creationId xmlns:a16="http://schemas.microsoft.com/office/drawing/2014/main" id="{6E3C9AA9-9927-F224-97BA-45437983CC2A}"/>
              </a:ext>
            </a:extLst>
          </p:cNvPr>
          <p:cNvCxnSpPr/>
          <p:nvPr/>
        </p:nvCxnSpPr>
        <p:spPr>
          <a:xfrm>
            <a:off x="486156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CF749BC0-BA64-B5DB-7A49-919666A4500A}"/>
              </a:ext>
            </a:extLst>
          </p:cNvPr>
          <p:cNvSpPr/>
          <p:nvPr/>
        </p:nvSpPr>
        <p:spPr>
          <a:xfrm>
            <a:off x="590550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6" name="Rectangle: Rounded Corners 15">
            <a:extLst>
              <a:ext uri="{FF2B5EF4-FFF2-40B4-BE49-F238E27FC236}">
                <a16:creationId xmlns:a16="http://schemas.microsoft.com/office/drawing/2014/main" id="{76BA9987-99D5-D4DC-152D-A912370F83FB}"/>
              </a:ext>
            </a:extLst>
          </p:cNvPr>
          <p:cNvSpPr/>
          <p:nvPr/>
        </p:nvSpPr>
        <p:spPr>
          <a:xfrm>
            <a:off x="5090160" y="2489200"/>
            <a:ext cx="2011679"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Emit one record per meaningful stage of the core transaction (who, which stage, result, duration) to a custom table through the ingestion API, using the machine's managed identity</a:t>
            </a:r>
          </a:p>
        </p:txBody>
      </p:sp>
      <p:cxnSp>
        <p:nvCxnSpPr>
          <p:cNvPr id="17" name="Straight Connector 16">
            <a:extLst>
              <a:ext uri="{FF2B5EF4-FFF2-40B4-BE49-F238E27FC236}">
                <a16:creationId xmlns:a16="http://schemas.microsoft.com/office/drawing/2014/main" id="{C7323D9A-4F92-AE1B-C234-C52642CFD005}"/>
              </a:ext>
            </a:extLst>
          </p:cNvPr>
          <p:cNvCxnSpPr/>
          <p:nvPr/>
        </p:nvCxnSpPr>
        <p:spPr>
          <a:xfrm>
            <a:off x="710184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18" name="Oval 17">
            <a:extLst>
              <a:ext uri="{FF2B5EF4-FFF2-40B4-BE49-F238E27FC236}">
                <a16:creationId xmlns:a16="http://schemas.microsoft.com/office/drawing/2014/main" id="{544A9894-D2A8-FCFA-9E0D-58E1C3560567}"/>
              </a:ext>
            </a:extLst>
          </p:cNvPr>
          <p:cNvSpPr/>
          <p:nvPr/>
        </p:nvSpPr>
        <p:spPr>
          <a:xfrm>
            <a:off x="814578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9" name="Rectangle: Rounded Corners 18">
            <a:extLst>
              <a:ext uri="{FF2B5EF4-FFF2-40B4-BE49-F238E27FC236}">
                <a16:creationId xmlns:a16="http://schemas.microsoft.com/office/drawing/2014/main" id="{00043FCA-6B36-14A0-58F7-426F57492C33}"/>
              </a:ext>
            </a:extLst>
          </p:cNvPr>
          <p:cNvSpPr/>
          <p:nvPr/>
        </p:nvSpPr>
        <p:spPr>
          <a:xfrm>
            <a:off x="733044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Add availability tests or synthetic probes for each commitment, from more than one place</a:t>
            </a:r>
          </a:p>
        </p:txBody>
      </p:sp>
      <p:cxnSp>
        <p:nvCxnSpPr>
          <p:cNvPr id="20" name="Straight Connector 19">
            <a:extLst>
              <a:ext uri="{FF2B5EF4-FFF2-40B4-BE49-F238E27FC236}">
                <a16:creationId xmlns:a16="http://schemas.microsoft.com/office/drawing/2014/main" id="{E2CC5B22-B234-A7A9-AA1F-D8DB642F2A27}"/>
              </a:ext>
            </a:extLst>
          </p:cNvPr>
          <p:cNvCxnSpPr/>
          <p:nvPr/>
        </p:nvCxnSpPr>
        <p:spPr>
          <a:xfrm>
            <a:off x="9342120" y="3441700"/>
            <a:ext cx="228600" cy="0"/>
          </a:xfrm>
          <a:prstGeom prst="line">
            <a:avLst/>
          </a:prstGeom>
          <a:ln w="22225">
            <a:solidFill>
              <a:srgbClr val="FB923C"/>
            </a:solidFill>
            <a:tailEnd type="triangle"/>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1B13AFBC-22F8-E764-A29B-56B3F4E4A22E}"/>
              </a:ext>
            </a:extLst>
          </p:cNvPr>
          <p:cNvSpPr/>
          <p:nvPr/>
        </p:nvSpPr>
        <p:spPr>
          <a:xfrm>
            <a:off x="10386060" y="190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22" name="Rectangle: Rounded Corners 21">
            <a:extLst>
              <a:ext uri="{FF2B5EF4-FFF2-40B4-BE49-F238E27FC236}">
                <a16:creationId xmlns:a16="http://schemas.microsoft.com/office/drawing/2014/main" id="{B9473963-1BCF-9742-BCF5-729310B99AAE}"/>
              </a:ext>
            </a:extLst>
          </p:cNvPr>
          <p:cNvSpPr/>
          <p:nvPr/>
        </p:nvSpPr>
        <p:spPr>
          <a:xfrm>
            <a:off x="9570720" y="2489200"/>
            <a:ext cx="2011680" cy="1905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t">
            <a:noAutofit/>
          </a:bodyPr>
          <a:lstStyle/>
          <a:p>
            <a:pPr algn="ctr"/>
            <a:r>
              <a:rPr lang="en-US" sz="1300">
                <a:solidFill>
                  <a:srgbClr val="F4F4F5"/>
                </a:solidFill>
                <a:latin typeface="Calibri" panose="020F0502020204030204" pitchFamily="34" charset="0"/>
              </a:rPr>
              <a:t>Verify: one KQL query joins app traces, stage records and machine heartbeat for one transaction across clouds</a:t>
            </a:r>
          </a:p>
        </p:txBody>
      </p:sp>
    </p:spTree>
    <p:extLst>
      <p:ext uri="{BB962C8B-B14F-4D97-AF65-F5344CB8AC3E}">
        <p14:creationId xmlns:p14="http://schemas.microsoft.com/office/powerpoint/2010/main" val="169123451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E247F4F1-D67C-B80E-EFA8-95C39E467080}"/>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D23F7DE-FF6B-9A54-2C9B-F17F0B30E695}"/>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BC03A9-73B6-422A-50DB-A6A73D7AD90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6F68162-A813-0134-52CD-8BE55BF6290A}"/>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4: the join that proves it</a:t>
            </a:r>
          </a:p>
        </p:txBody>
      </p:sp>
      <p:sp>
        <p:nvSpPr>
          <p:cNvPr id="6" name="ChapterTag">
            <a:extLst>
              <a:ext uri="{FF2B5EF4-FFF2-40B4-BE49-F238E27FC236}">
                <a16:creationId xmlns:a16="http://schemas.microsoft.com/office/drawing/2014/main" id="{396982E6-69F5-0C1B-8FB3-E171712A884C}"/>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607AD728-80B9-48DD-182B-8A6F3D59F52B}"/>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D090F581-ED22-CD00-6A3C-3A7B19870EE6}"/>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70</a:t>
            </a:r>
          </a:p>
        </p:txBody>
      </p:sp>
      <p:sp>
        <p:nvSpPr>
          <p:cNvPr id="9" name="Rectangle 8">
            <a:extLst>
              <a:ext uri="{FF2B5EF4-FFF2-40B4-BE49-F238E27FC236}">
                <a16:creationId xmlns:a16="http://schemas.microsoft.com/office/drawing/2014/main" id="{2A3CB040-B163-D660-72C2-F8A82E5F05A9}"/>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F4F4F5"/>
                </a:solidFill>
                <a:latin typeface="Consolas" panose="020B0609020204030204" pitchFamily="49" charset="0"/>
              </a:rPr>
              <a:t>let tx = "7d0c4242-1a42-4c42-9a42-000000000042"</a:t>
            </a:r>
          </a:p>
          <a:p>
            <a:r>
              <a:rPr lang="en-US" sz="1150">
                <a:solidFill>
                  <a:srgbClr val="F4F4F5"/>
                </a:solidFill>
                <a:latin typeface="Consolas" panose="020B0609020204030204" pitchFamily="49" charset="0"/>
              </a:rPr>
              <a:t>;ServiceStage_CL</a:t>
            </a:r>
          </a:p>
          <a:p>
            <a:r>
              <a:rPr lang="en-US" sz="1150">
                <a:solidFill>
                  <a:srgbClr val="F4F4F5"/>
                </a:solidFill>
                <a:latin typeface="Consolas" panose="020B0609020204030204" pitchFamily="49" charset="0"/>
              </a:rPr>
              <a:t>| where CorrelationId == tx</a:t>
            </a:r>
          </a:p>
          <a:p>
            <a:r>
              <a:rPr lang="en-US" sz="1150">
                <a:solidFill>
                  <a:srgbClr val="F4F4F5"/>
                </a:solidFill>
                <a:latin typeface="Consolas" panose="020B0609020204030204" pitchFamily="49" charset="0"/>
              </a:rPr>
              <a:t>| project TimeGenerated, Cloud, Component, Stage, Success, DurationMs</a:t>
            </a:r>
          </a:p>
          <a:p>
            <a:r>
              <a:rPr lang="en-US" sz="1150">
                <a:solidFill>
                  <a:srgbClr val="F4F4F5"/>
                </a:solidFill>
                <a:latin typeface="Consolas" panose="020B0609020204030204" pitchFamily="49" charset="0"/>
              </a:rPr>
              <a:t>| union (</a:t>
            </a:r>
          </a:p>
          <a:p>
            <a:r>
              <a:rPr lang="en-US" sz="1150">
                <a:solidFill>
                  <a:srgbClr val="F4F4F5"/>
                </a:solidFill>
                <a:latin typeface="Consolas" panose="020B0609020204030204" pitchFamily="49" charset="0"/>
              </a:rPr>
              <a:t>    AppDependencies</a:t>
            </a:r>
          </a:p>
          <a:p>
            <a:r>
              <a:rPr lang="en-US" sz="1150">
                <a:solidFill>
                  <a:srgbClr val="F4F4F5"/>
                </a:solidFill>
                <a:latin typeface="Consolas" panose="020B0609020204030204" pitchFamily="49" charset="0"/>
              </a:rPr>
              <a:t>    | where OperationId == tx</a:t>
            </a:r>
          </a:p>
          <a:p>
            <a:r>
              <a:rPr lang="en-US" sz="1150">
                <a:solidFill>
                  <a:srgbClr val="F4F4F5"/>
                </a:solidFill>
                <a:latin typeface="Consolas" panose="020B0609020204030204" pitchFamily="49" charset="0"/>
              </a:rPr>
              <a:t>    | project TimeGenerated, Cloud = tostring(Properties.cloud_provider), Component = AppRoleName, Stage = Name, Success, DurationMs)</a:t>
            </a:r>
          </a:p>
          <a:p>
            <a:r>
              <a:rPr lang="en-US" sz="1150">
                <a:solidFill>
                  <a:srgbClr val="F4F4F5"/>
                </a:solidFill>
                <a:latin typeface="Consolas" panose="020B0609020204030204" pitchFamily="49" charset="0"/>
              </a:rPr>
              <a:t>| join kind=leftouter (</a:t>
            </a:r>
          </a:p>
          <a:p>
            <a:r>
              <a:rPr lang="en-US" sz="1150">
                <a:solidFill>
                  <a:srgbClr val="F4F4F5"/>
                </a:solidFill>
                <a:latin typeface="Consolas" panose="020B0609020204030204" pitchFamily="49" charset="0"/>
              </a:rPr>
              <a:t>    Heartbeat</a:t>
            </a:r>
          </a:p>
          <a:p>
            <a:r>
              <a:rPr lang="en-US" sz="1150">
                <a:solidFill>
                  <a:srgbClr val="F4F4F5"/>
                </a:solidFill>
                <a:latin typeface="Consolas" panose="020B0609020204030204" pitchFamily="49" charset="0"/>
              </a:rPr>
              <a:t>    | summarize LastHeartbeat = max(TimeGenerated) by Computer, ResourceId</a:t>
            </a:r>
          </a:p>
          <a:p>
            <a:r>
              <a:rPr lang="en-US" sz="1150">
                <a:solidFill>
                  <a:srgbClr val="F4F4F5"/>
                </a:solidFill>
                <a:latin typeface="Consolas" panose="020B0609020204030204" pitchFamily="49" charset="0"/>
              </a:rPr>
              <a:t>  ) on $left.Component == $right.Computer</a:t>
            </a:r>
          </a:p>
          <a:p>
            <a:r>
              <a:rPr lang="en-US" sz="1150">
                <a:solidFill>
                  <a:srgbClr val="F4F4F5"/>
                </a:solidFill>
                <a:latin typeface="Consolas" panose="020B0609020204030204" pitchFamily="49" charset="0"/>
              </a:rPr>
              <a:t>| order by TimeGenerated asc</a:t>
            </a:r>
          </a:p>
        </p:txBody>
      </p:sp>
    </p:spTree>
    <p:extLst>
      <p:ext uri="{BB962C8B-B14F-4D97-AF65-F5344CB8AC3E}">
        <p14:creationId xmlns:p14="http://schemas.microsoft.com/office/powerpoint/2010/main" val="11755545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354E196-7E62-09EB-F43B-DB8B66FDE57F}"/>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C47E01A-680D-AF33-8440-D0E2AD325934}"/>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6B68C20-FCCB-867E-06B4-4CEFBB8AAA6B}"/>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5C54229-368C-5B98-0B1D-A576E775C4B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Phase 5: service health and owned alerts</a:t>
            </a:r>
          </a:p>
        </p:txBody>
      </p:sp>
      <p:sp>
        <p:nvSpPr>
          <p:cNvPr id="6" name="ChapterTag">
            <a:extLst>
              <a:ext uri="{FF2B5EF4-FFF2-40B4-BE49-F238E27FC236}">
                <a16:creationId xmlns:a16="http://schemas.microsoft.com/office/drawing/2014/main" id="{532BDE1D-BADC-930C-5650-68C46F8A86DB}"/>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140B96DE-A73E-1FD1-83B1-005B0347F14F}"/>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61F3C6EE-588E-281E-CE7A-F704C70C5369}"/>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71</a:t>
            </a:r>
          </a:p>
        </p:txBody>
      </p:sp>
      <p:sp>
        <p:nvSpPr>
          <p:cNvPr id="9" name="Oval 8">
            <a:extLst>
              <a:ext uri="{FF2B5EF4-FFF2-40B4-BE49-F238E27FC236}">
                <a16:creationId xmlns:a16="http://schemas.microsoft.com/office/drawing/2014/main" id="{A50D75BE-3B15-3BF0-9F1E-D8D055A4874D}"/>
              </a:ext>
            </a:extLst>
          </p:cNvPr>
          <p:cNvSpPr/>
          <p:nvPr/>
        </p:nvSpPr>
        <p:spPr>
          <a:xfrm>
            <a:off x="660400" y="1778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2B7DC504-8C26-BA0F-9E5C-BD137CC56DEC}"/>
              </a:ext>
            </a:extLst>
          </p:cNvPr>
          <p:cNvSpPr/>
          <p:nvPr/>
        </p:nvSpPr>
        <p:spPr>
          <a:xfrm>
            <a:off x="1219200" y="16002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Build one health model per service boundary: root, commitments as generic entities, components as Arc resources and clusters; required versus redundant on each relationship</a:t>
            </a:r>
          </a:p>
        </p:txBody>
      </p:sp>
      <p:sp>
        <p:nvSpPr>
          <p:cNvPr id="11" name="Oval 10">
            <a:extLst>
              <a:ext uri="{FF2B5EF4-FFF2-40B4-BE49-F238E27FC236}">
                <a16:creationId xmlns:a16="http://schemas.microsoft.com/office/drawing/2014/main" id="{BD9AB6F6-47D6-830B-0C88-C96312948647}"/>
              </a:ext>
            </a:extLst>
          </p:cNvPr>
          <p:cNvSpPr/>
          <p:nvPr/>
        </p:nvSpPr>
        <p:spPr>
          <a:xfrm>
            <a:off x="660400" y="25654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2" name="Rectangle: Rounded Corners 11">
            <a:extLst>
              <a:ext uri="{FF2B5EF4-FFF2-40B4-BE49-F238E27FC236}">
                <a16:creationId xmlns:a16="http://schemas.microsoft.com/office/drawing/2014/main" id="{DDE47E8E-3339-794F-B426-0C458A6CB5CB}"/>
              </a:ext>
            </a:extLst>
          </p:cNvPr>
          <p:cNvSpPr/>
          <p:nvPr/>
        </p:nvSpPr>
        <p:spPr>
          <a:xfrm>
            <a:off x="1219200" y="23876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Signals from the catalogue: log query signals for stage records and freshness, metric or PromQL signals for platform and cluster evidence; Unknown when evidence is stale</a:t>
            </a:r>
          </a:p>
        </p:txBody>
      </p:sp>
      <p:sp>
        <p:nvSpPr>
          <p:cNvPr id="13" name="Oval 12">
            <a:extLst>
              <a:ext uri="{FF2B5EF4-FFF2-40B4-BE49-F238E27FC236}">
                <a16:creationId xmlns:a16="http://schemas.microsoft.com/office/drawing/2014/main" id="{C6B811CA-42A5-BE20-27B2-AD5EFF7D7C4A}"/>
              </a:ext>
            </a:extLst>
          </p:cNvPr>
          <p:cNvSpPr/>
          <p:nvPr/>
        </p:nvSpPr>
        <p:spPr>
          <a:xfrm>
            <a:off x="660400" y="33528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4" name="Rectangle: Rounded Corners 13">
            <a:extLst>
              <a:ext uri="{FF2B5EF4-FFF2-40B4-BE49-F238E27FC236}">
                <a16:creationId xmlns:a16="http://schemas.microsoft.com/office/drawing/2014/main" id="{53277795-87E0-BECD-1D96-8E541D8A6C44}"/>
              </a:ext>
            </a:extLst>
          </p:cNvPr>
          <p:cNvSpPr/>
          <p:nvPr/>
        </p:nvSpPr>
        <p:spPr>
          <a:xfrm>
            <a:off x="1219200" y="31750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Alerts on commitment entities only, routed by owner tag to action groups; retire the per-resource rules they replace once proven</a:t>
            </a:r>
          </a:p>
        </p:txBody>
      </p:sp>
      <p:sp>
        <p:nvSpPr>
          <p:cNvPr id="15" name="Oval 14">
            <a:extLst>
              <a:ext uri="{FF2B5EF4-FFF2-40B4-BE49-F238E27FC236}">
                <a16:creationId xmlns:a16="http://schemas.microsoft.com/office/drawing/2014/main" id="{4FC39CA6-404E-51F6-AFD6-DEE1F07FABE9}"/>
              </a:ext>
            </a:extLst>
          </p:cNvPr>
          <p:cNvSpPr/>
          <p:nvPr/>
        </p:nvSpPr>
        <p:spPr>
          <a:xfrm>
            <a:off x="660400" y="41402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6" name="Rectangle: Rounded Corners 15">
            <a:extLst>
              <a:ext uri="{FF2B5EF4-FFF2-40B4-BE49-F238E27FC236}">
                <a16:creationId xmlns:a16="http://schemas.microsoft.com/office/drawing/2014/main" id="{FCE142E6-49C4-EC05-459A-A266FED74BF9}"/>
              </a:ext>
            </a:extLst>
          </p:cNvPr>
          <p:cNvSpPr/>
          <p:nvPr/>
        </p:nvSpPr>
        <p:spPr>
          <a:xfrm>
            <a:off x="1219200" y="39624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Service view per boundary in workbooks or Grafana; the health model graph for explanation; evidence queries linked from both</a:t>
            </a:r>
          </a:p>
        </p:txBody>
      </p:sp>
      <p:sp>
        <p:nvSpPr>
          <p:cNvPr id="17" name="Oval 16">
            <a:extLst>
              <a:ext uri="{FF2B5EF4-FFF2-40B4-BE49-F238E27FC236}">
                <a16:creationId xmlns:a16="http://schemas.microsoft.com/office/drawing/2014/main" id="{C0B65097-4263-F5F1-0917-AB43DB1AACFA}"/>
              </a:ext>
            </a:extLst>
          </p:cNvPr>
          <p:cNvSpPr/>
          <p:nvPr/>
        </p:nvSpPr>
        <p:spPr>
          <a:xfrm>
            <a:off x="660400" y="49276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18" name="Rectangle: Rounded Corners 17">
            <a:extLst>
              <a:ext uri="{FF2B5EF4-FFF2-40B4-BE49-F238E27FC236}">
                <a16:creationId xmlns:a16="http://schemas.microsoft.com/office/drawing/2014/main" id="{86025397-64CA-F6D2-CD92-304ECAFCC330}"/>
              </a:ext>
            </a:extLst>
          </p:cNvPr>
          <p:cNvSpPr/>
          <p:nvPr/>
        </p:nvSpPr>
        <p:spPr>
          <a:xfrm>
            <a:off x="1219200" y="47498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Runbooks per alert; a recovery procedure that ends with fresh transactions, not a closed ticket</a:t>
            </a:r>
          </a:p>
        </p:txBody>
      </p:sp>
      <p:sp>
        <p:nvSpPr>
          <p:cNvPr id="19" name="Oval 18">
            <a:extLst>
              <a:ext uri="{FF2B5EF4-FFF2-40B4-BE49-F238E27FC236}">
                <a16:creationId xmlns:a16="http://schemas.microsoft.com/office/drawing/2014/main" id="{3BA4EED1-29DC-BC09-24F6-6E2CD25980AF}"/>
              </a:ext>
            </a:extLst>
          </p:cNvPr>
          <p:cNvSpPr/>
          <p:nvPr/>
        </p:nvSpPr>
        <p:spPr>
          <a:xfrm>
            <a:off x="660400" y="5715000"/>
            <a:ext cx="381000" cy="3810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6</a:t>
            </a:r>
          </a:p>
        </p:txBody>
      </p:sp>
      <p:sp>
        <p:nvSpPr>
          <p:cNvPr id="20" name="Rectangle: Rounded Corners 19">
            <a:extLst>
              <a:ext uri="{FF2B5EF4-FFF2-40B4-BE49-F238E27FC236}">
                <a16:creationId xmlns:a16="http://schemas.microsoft.com/office/drawing/2014/main" id="{5DC7A584-FE55-53E6-0AC8-DFA4F64AF662}"/>
              </a:ext>
            </a:extLst>
          </p:cNvPr>
          <p:cNvSpPr/>
          <p:nvPr/>
        </p:nvSpPr>
        <p:spPr>
          <a:xfrm>
            <a:off x="1219200" y="5537200"/>
            <a:ext cx="10363200" cy="7112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Nested health model for the portfolio view; health objective on each root for SLO attainment</a:t>
            </a:r>
          </a:p>
        </p:txBody>
      </p:sp>
    </p:spTree>
    <p:extLst>
      <p:ext uri="{BB962C8B-B14F-4D97-AF65-F5344CB8AC3E}">
        <p14:creationId xmlns:p14="http://schemas.microsoft.com/office/powerpoint/2010/main" val="20868457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DD49DD09-3784-DC47-E98D-5988D4592E80}"/>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8297118-FF8F-0406-ECEF-93A7D2937785}"/>
              </a:ext>
            </a:extLst>
          </p:cNvPr>
          <p:cNvSpPr/>
          <p:nvPr/>
        </p:nvSpPr>
        <p:spPr>
          <a:xfrm>
            <a:off x="0" y="1295400"/>
            <a:ext cx="12192000" cy="38100"/>
          </a:xfrm>
          <a:prstGeom prst="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BF6D675-1F13-08F8-81AD-B59D515FA19D}"/>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3843C5B-7A21-B394-EC31-CFB7DC13E65C}"/>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Verification: proving evidence arrives</a:t>
            </a:r>
          </a:p>
        </p:txBody>
      </p:sp>
      <p:sp>
        <p:nvSpPr>
          <p:cNvPr id="6" name="ChapterTag">
            <a:extLst>
              <a:ext uri="{FF2B5EF4-FFF2-40B4-BE49-F238E27FC236}">
                <a16:creationId xmlns:a16="http://schemas.microsoft.com/office/drawing/2014/main" id="{42D325E9-698A-BAF7-A0CA-64596085E78E}"/>
              </a:ext>
            </a:extLst>
          </p:cNvPr>
          <p:cNvSpPr/>
          <p:nvPr/>
        </p:nvSpPr>
        <p:spPr>
          <a:xfrm>
            <a:off x="9245600" y="381000"/>
            <a:ext cx="23368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6 · IMPLEMENT</a:t>
            </a:r>
          </a:p>
        </p:txBody>
      </p:sp>
      <p:sp>
        <p:nvSpPr>
          <p:cNvPr id="7" name="TextBox 6">
            <a:extLst>
              <a:ext uri="{FF2B5EF4-FFF2-40B4-BE49-F238E27FC236}">
                <a16:creationId xmlns:a16="http://schemas.microsoft.com/office/drawing/2014/main" id="{D55A1065-4C2A-71C1-8B1C-4D31F79A022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F54972E-A88B-EB83-5051-B930FB32EFD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72</a:t>
            </a:r>
          </a:p>
        </p:txBody>
      </p:sp>
      <p:sp>
        <p:nvSpPr>
          <p:cNvPr id="9" name="Rectangle 8">
            <a:extLst>
              <a:ext uri="{FF2B5EF4-FFF2-40B4-BE49-F238E27FC236}">
                <a16:creationId xmlns:a16="http://schemas.microsoft.com/office/drawing/2014/main" id="{853403F4-3F5E-4234-3CD8-D778634BFC86}"/>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Every in-scope Arc machine, with its last heartbeat, flagged if silent for 15 minutes</a:t>
            </a:r>
          </a:p>
          <a:p>
            <a:r>
              <a:rPr lang="en-US" sz="1150">
                <a:solidFill>
                  <a:srgbClr val="F4F4F5"/>
                </a:solidFill>
                <a:latin typeface="Consolas" panose="020B0609020204030204" pitchFamily="49" charset="0"/>
              </a:rPr>
              <a:t>arg("").resources</a:t>
            </a:r>
          </a:p>
          <a:p>
            <a:r>
              <a:rPr lang="en-US" sz="1150">
                <a:solidFill>
                  <a:srgbClr val="F4F4F5"/>
                </a:solidFill>
                <a:latin typeface="Consolas" panose="020B0609020204030204" pitchFamily="49" charset="0"/>
              </a:rPr>
              <a:t>| where type =~ "microsoft.hybridcompute/machines"</a:t>
            </a:r>
          </a:p>
          <a:p>
            <a:r>
              <a:rPr lang="en-US" sz="1150">
                <a:solidFill>
                  <a:srgbClr val="F4F4F5"/>
                </a:solidFill>
                <a:latin typeface="Consolas" panose="020B0609020204030204" pitchFamily="49" charset="0"/>
              </a:rPr>
              <a:t>| project ResourceId = tolower(id), name, site = tostring(tags.site), owner = tostring(tags.owner)</a:t>
            </a:r>
          </a:p>
          <a:p>
            <a:r>
              <a:rPr lang="en-US" sz="1150">
                <a:solidFill>
                  <a:srgbClr val="F4F4F5"/>
                </a:solidFill>
                <a:latin typeface="Consolas" panose="020B0609020204030204" pitchFamily="49" charset="0"/>
              </a:rPr>
              <a:t>| join kind=leftouter (</a:t>
            </a:r>
          </a:p>
          <a:p>
            <a:r>
              <a:rPr lang="en-US" sz="1150">
                <a:solidFill>
                  <a:srgbClr val="F4F4F5"/>
                </a:solidFill>
                <a:latin typeface="Consolas" panose="020B0609020204030204" pitchFamily="49" charset="0"/>
              </a:rPr>
              <a:t>    Heartbeat | summarize LastHeartbeat = max(TimeGenerated) by ResourceId = tolower(_ResourceId)</a:t>
            </a:r>
          </a:p>
          <a:p>
            <a:r>
              <a:rPr lang="en-US" sz="1150">
                <a:solidFill>
                  <a:srgbClr val="F4F4F5"/>
                </a:solidFill>
                <a:latin typeface="Consolas" panose="020B0609020204030204" pitchFamily="49" charset="0"/>
              </a:rPr>
              <a:t>  ) on ResourceId</a:t>
            </a:r>
          </a:p>
          <a:p>
            <a:r>
              <a:rPr lang="en-US" sz="1150">
                <a:solidFill>
                  <a:srgbClr val="F4F4F5"/>
                </a:solidFill>
                <a:latin typeface="Consolas" panose="020B0609020204030204" pitchFamily="49" charset="0"/>
              </a:rPr>
              <a:t>| extend MinutesSilent = datetime_diff("minute", now(), LastHeartbeat)</a:t>
            </a:r>
          </a:p>
          <a:p>
            <a:r>
              <a:rPr lang="en-US" sz="1150">
                <a:solidFill>
                  <a:srgbClr val="F4F4F5"/>
                </a:solidFill>
                <a:latin typeface="Consolas" panose="020B0609020204030204" pitchFamily="49" charset="0"/>
              </a:rPr>
              <a:t>| extend Status = case(isnull(LastHeartbeat), "never reported", MinutesSilent &gt; 15, "stale", "fresh")</a:t>
            </a:r>
          </a:p>
          <a:p>
            <a:r>
              <a:rPr lang="en-US" sz="1150">
                <a:solidFill>
                  <a:srgbClr val="F4F4F5"/>
                </a:solidFill>
                <a:latin typeface="Consolas" panose="020B0609020204030204" pitchFamily="49" charset="0"/>
              </a:rPr>
              <a:t>| summarize count() by site, owner, Status</a:t>
            </a:r>
          </a:p>
          <a:p>
            <a:endParaRPr lang="en-US" sz="1150">
              <a:solidFill>
                <a:srgbClr val="F4F4F5"/>
              </a:solidFill>
              <a:latin typeface="Consolas" panose="020B0609020204030204" pitchFamily="49" charset="0"/>
            </a:endParaRPr>
          </a:p>
          <a:p>
            <a:r>
              <a:rPr lang="en-US" sz="1150">
                <a:solidFill>
                  <a:srgbClr val="A3E635"/>
                </a:solidFill>
                <a:latin typeface="Consolas" panose="020B0609020204030204" pitchFamily="49" charset="0"/>
              </a:rPr>
              <a:t>// Volume by table for the last day, to compare with the catalogue estimate</a:t>
            </a:r>
          </a:p>
          <a:p>
            <a:r>
              <a:rPr lang="en-US" sz="1150">
                <a:solidFill>
                  <a:srgbClr val="F4F4F5"/>
                </a:solidFill>
                <a:latin typeface="Consolas" panose="020B0609020204030204" pitchFamily="49" charset="0"/>
              </a:rPr>
              <a:t>Usage | where TimeGenerated &gt; ago(1d) and IsBillable | summarize GB = sum(Quantity) / 1024 by DataType | order by GB desc</a:t>
            </a:r>
          </a:p>
        </p:txBody>
      </p:sp>
    </p:spTree>
    <p:extLst>
      <p:ext uri="{BB962C8B-B14F-4D97-AF65-F5344CB8AC3E}">
        <p14:creationId xmlns:p14="http://schemas.microsoft.com/office/powerpoint/2010/main" val="7686605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CDB307BC-8B05-9ADB-BAD5-604D1B619996}"/>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0058826-748C-E308-0DDF-64B87600F79D}"/>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56D4943-537A-AF6C-E5B9-7CEBE8930E97}"/>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9DD638-D9CF-81D2-7EF7-699029A75132}"/>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7 · Operate and govern it</a:t>
            </a:r>
          </a:p>
        </p:txBody>
      </p:sp>
      <p:sp>
        <p:nvSpPr>
          <p:cNvPr id="6" name="ChapterTag">
            <a:extLst>
              <a:ext uri="{FF2B5EF4-FFF2-40B4-BE49-F238E27FC236}">
                <a16:creationId xmlns:a16="http://schemas.microsoft.com/office/drawing/2014/main" id="{684D4671-857C-CF74-AEC6-EB76B04C72A1}"/>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C1AE7771-3C6A-33AF-8D14-B333FB0233D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371F547B-FCBE-7CDD-6A51-C0DCB9502354}"/>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73</a:t>
            </a:r>
          </a:p>
        </p:txBody>
      </p:sp>
      <p:sp>
        <p:nvSpPr>
          <p:cNvPr id="9" name="TextBox 8">
            <a:extLst>
              <a:ext uri="{FF2B5EF4-FFF2-40B4-BE49-F238E27FC236}">
                <a16:creationId xmlns:a16="http://schemas.microsoft.com/office/drawing/2014/main" id="{7C1B9C78-E42F-CAF1-9215-B697DD7BFAE5}"/>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FA8282"/>
                </a:solidFill>
                <a:latin typeface="Calibri" panose="020F0502020204030204" pitchFamily="34" charset="0"/>
              </a:rPr>
              <a:t>7</a:t>
            </a:r>
          </a:p>
        </p:txBody>
      </p:sp>
      <p:sp>
        <p:nvSpPr>
          <p:cNvPr id="10" name="TextBox 9">
            <a:extLst>
              <a:ext uri="{FF2B5EF4-FFF2-40B4-BE49-F238E27FC236}">
                <a16:creationId xmlns:a16="http://schemas.microsoft.com/office/drawing/2014/main" id="{07416CB7-FC02-42CF-91F7-F77972903BDF}"/>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6F3325C6-D2E5-F45D-FE53-F965AB107181}"/>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How do we run it so it stays true, affordable and owned?</a:t>
            </a:r>
          </a:p>
        </p:txBody>
      </p:sp>
      <p:sp>
        <p:nvSpPr>
          <p:cNvPr id="12" name="TextBox 11">
            <a:extLst>
              <a:ext uri="{FF2B5EF4-FFF2-40B4-BE49-F238E27FC236}">
                <a16:creationId xmlns:a16="http://schemas.microsoft.com/office/drawing/2014/main" id="{A6EA1683-3AE7-8EB9-BFED-5BCB72FA913C}"/>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FA8282"/>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EFE63E95-282C-0DA6-1B12-76FFD0650C45}"/>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Incidents · alert quality · change correlation · cost and retention reviews · drift · access · platform health · the cycle</a:t>
            </a:r>
          </a:p>
        </p:txBody>
      </p:sp>
      <p:sp>
        <p:nvSpPr>
          <p:cNvPr id="14" name="Rectangle: Rounded Corners 13">
            <a:extLst>
              <a:ext uri="{FF2B5EF4-FFF2-40B4-BE49-F238E27FC236}">
                <a16:creationId xmlns:a16="http://schemas.microsoft.com/office/drawing/2014/main" id="{E235D009-16AB-D398-9830-C869332789E8}"/>
              </a:ext>
            </a:extLst>
          </p:cNvPr>
          <p:cNvSpPr/>
          <p:nvPr/>
        </p:nvSpPr>
        <p:spPr>
          <a:xfrm>
            <a:off x="609600" y="5588000"/>
            <a:ext cx="1282700" cy="508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2CE65003-235C-5565-2C56-E4E9CE78ACD9}"/>
              </a:ext>
            </a:extLst>
          </p:cNvPr>
          <p:cNvSpPr/>
          <p:nvPr/>
        </p:nvSpPr>
        <p:spPr>
          <a:xfrm>
            <a:off x="1993900" y="5588000"/>
            <a:ext cx="1282700" cy="508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6696551E-3A3F-A285-3A51-78DD9AE034D6}"/>
              </a:ext>
            </a:extLst>
          </p:cNvPr>
          <p:cNvSpPr/>
          <p:nvPr/>
        </p:nvSpPr>
        <p:spPr>
          <a:xfrm>
            <a:off x="3378200" y="5588000"/>
            <a:ext cx="12827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18995E3D-2170-93A1-57A2-400A970D98F8}"/>
              </a:ext>
            </a:extLst>
          </p:cNvPr>
          <p:cNvSpPr/>
          <p:nvPr/>
        </p:nvSpPr>
        <p:spPr>
          <a:xfrm>
            <a:off x="4762500" y="5588000"/>
            <a:ext cx="1282700" cy="508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543E5166-EBBD-3368-2A48-2D0E61360EC0}"/>
              </a:ext>
            </a:extLst>
          </p:cNvPr>
          <p:cNvSpPr/>
          <p:nvPr/>
        </p:nvSpPr>
        <p:spPr>
          <a:xfrm>
            <a:off x="6146800" y="5588000"/>
            <a:ext cx="1282700" cy="508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D2501EAC-A1C7-50EC-ADDB-C1E630F6C6ED}"/>
              </a:ext>
            </a:extLst>
          </p:cNvPr>
          <p:cNvSpPr/>
          <p:nvPr/>
        </p:nvSpPr>
        <p:spPr>
          <a:xfrm>
            <a:off x="7531100" y="5588000"/>
            <a:ext cx="1282700" cy="508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3AF69F57-6C27-5C7C-B761-879B95C3B593}"/>
              </a:ext>
            </a:extLst>
          </p:cNvPr>
          <p:cNvSpPr/>
          <p:nvPr/>
        </p:nvSpPr>
        <p:spPr>
          <a:xfrm>
            <a:off x="8915400" y="5588000"/>
            <a:ext cx="1282700" cy="508000"/>
          </a:xfrm>
          <a:prstGeom prst="roundRect">
            <a:avLst>
              <a:gd name="adj" fmla="val 8000"/>
            </a:avLst>
          </a:prstGeom>
          <a:solidFill>
            <a:srgbClr val="FA8282"/>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A6398898-DE56-5950-A960-32CC754348B3}"/>
              </a:ext>
            </a:extLst>
          </p:cNvPr>
          <p:cNvSpPr/>
          <p:nvPr/>
        </p:nvSpPr>
        <p:spPr>
          <a:xfrm>
            <a:off x="10299700" y="5588000"/>
            <a:ext cx="1282700" cy="508000"/>
          </a:xfrm>
          <a:prstGeom prst="roundRect">
            <a:avLst>
              <a:gd name="adj" fmla="val 8000"/>
            </a:avLst>
          </a:prstGeom>
          <a:solidFill>
            <a:srgbClr val="34343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Reference</a:t>
            </a:r>
          </a:p>
        </p:txBody>
      </p:sp>
    </p:spTree>
    <p:extLst>
      <p:ext uri="{BB962C8B-B14F-4D97-AF65-F5344CB8AC3E}">
        <p14:creationId xmlns:p14="http://schemas.microsoft.com/office/powerpoint/2010/main" val="5477354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EEDD5CC-A62A-6B44-352B-5991E911D18F}"/>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423956A8-9BCA-13AA-AD97-237E91E0FEFA}"/>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4BBEE63-6D70-7C1B-2960-FEBF7AE39BF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F52E59E-17E9-305E-4127-9CDB9054ADA3}"/>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incident loop</a:t>
            </a:r>
          </a:p>
        </p:txBody>
      </p:sp>
      <p:sp>
        <p:nvSpPr>
          <p:cNvPr id="6" name="ChapterTag">
            <a:extLst>
              <a:ext uri="{FF2B5EF4-FFF2-40B4-BE49-F238E27FC236}">
                <a16:creationId xmlns:a16="http://schemas.microsoft.com/office/drawing/2014/main" id="{8EEAA106-F85F-0088-CBE1-BA1E23E97FA0}"/>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636EE530-FC97-AC99-3D2F-4F636A0606F2}"/>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22726295-DD0B-090C-B30F-71EC416337FB}"/>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74</a:t>
            </a:r>
          </a:p>
        </p:txBody>
      </p:sp>
      <p:sp>
        <p:nvSpPr>
          <p:cNvPr id="9" name="Oval 8">
            <a:extLst>
              <a:ext uri="{FF2B5EF4-FFF2-40B4-BE49-F238E27FC236}">
                <a16:creationId xmlns:a16="http://schemas.microsoft.com/office/drawing/2014/main" id="{E319A2D4-F082-4E32-1D26-D0599E4C60E4}"/>
              </a:ext>
            </a:extLst>
          </p:cNvPr>
          <p:cNvSpPr/>
          <p:nvPr/>
        </p:nvSpPr>
        <p:spPr>
          <a:xfrm>
            <a:off x="660400" y="17780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648ED8AB-14B6-A786-CDB9-AE015905B0E2}"/>
              </a:ext>
            </a:extLst>
          </p:cNvPr>
          <p:cNvSpPr/>
          <p:nvPr/>
        </p:nvSpPr>
        <p:spPr>
          <a:xfrm>
            <a:off x="1219200" y="16002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See it: a service view or health model shows a commitment Degraded or Unhealthy</a:t>
            </a:r>
          </a:p>
        </p:txBody>
      </p:sp>
      <p:sp>
        <p:nvSpPr>
          <p:cNvPr id="11" name="Oval 10">
            <a:extLst>
              <a:ext uri="{FF2B5EF4-FFF2-40B4-BE49-F238E27FC236}">
                <a16:creationId xmlns:a16="http://schemas.microsoft.com/office/drawing/2014/main" id="{59464491-192E-872F-1720-A4F02D0A7AC7}"/>
              </a:ext>
            </a:extLst>
          </p:cNvPr>
          <p:cNvSpPr/>
          <p:nvPr/>
        </p:nvSpPr>
        <p:spPr>
          <a:xfrm>
            <a:off x="660400" y="25654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2" name="Rectangle: Rounded Corners 11">
            <a:extLst>
              <a:ext uri="{FF2B5EF4-FFF2-40B4-BE49-F238E27FC236}">
                <a16:creationId xmlns:a16="http://schemas.microsoft.com/office/drawing/2014/main" id="{0383F7BB-4F11-549A-6CF5-49AA8CA1CD59}"/>
              </a:ext>
            </a:extLst>
          </p:cNvPr>
          <p:cNvSpPr/>
          <p:nvPr/>
        </p:nvSpPr>
        <p:spPr>
          <a:xfrm>
            <a:off x="1219200" y="23876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Explain it: the model names the entity and signal; the evidence query shows the records</a:t>
            </a:r>
          </a:p>
        </p:txBody>
      </p:sp>
      <p:sp>
        <p:nvSpPr>
          <p:cNvPr id="13" name="Oval 12">
            <a:extLst>
              <a:ext uri="{FF2B5EF4-FFF2-40B4-BE49-F238E27FC236}">
                <a16:creationId xmlns:a16="http://schemas.microsoft.com/office/drawing/2014/main" id="{6348C7AD-5BC4-0949-D3E0-29FAC57F139C}"/>
              </a:ext>
            </a:extLst>
          </p:cNvPr>
          <p:cNvSpPr/>
          <p:nvPr/>
        </p:nvSpPr>
        <p:spPr>
          <a:xfrm>
            <a:off x="660400" y="33528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4" name="Rectangle: Rounded Corners 13">
            <a:extLst>
              <a:ext uri="{FF2B5EF4-FFF2-40B4-BE49-F238E27FC236}">
                <a16:creationId xmlns:a16="http://schemas.microsoft.com/office/drawing/2014/main" id="{FFA96967-0EF2-11B8-1D4E-AE7DEAA47DEB}"/>
              </a:ext>
            </a:extLst>
          </p:cNvPr>
          <p:cNvSpPr/>
          <p:nvPr/>
        </p:nvSpPr>
        <p:spPr>
          <a:xfrm>
            <a:off x="1219200" y="31750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Scope it: who is affected, since when, in which place</a:t>
            </a:r>
          </a:p>
        </p:txBody>
      </p:sp>
      <p:sp>
        <p:nvSpPr>
          <p:cNvPr id="15" name="Oval 14">
            <a:extLst>
              <a:ext uri="{FF2B5EF4-FFF2-40B4-BE49-F238E27FC236}">
                <a16:creationId xmlns:a16="http://schemas.microsoft.com/office/drawing/2014/main" id="{A9C33A55-633F-9F22-C953-8593319A5268}"/>
              </a:ext>
            </a:extLst>
          </p:cNvPr>
          <p:cNvSpPr/>
          <p:nvPr/>
        </p:nvSpPr>
        <p:spPr>
          <a:xfrm>
            <a:off x="660400" y="41402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6" name="Rectangle: Rounded Corners 15">
            <a:extLst>
              <a:ext uri="{FF2B5EF4-FFF2-40B4-BE49-F238E27FC236}">
                <a16:creationId xmlns:a16="http://schemas.microsoft.com/office/drawing/2014/main" id="{AD886CB2-A49F-FD8B-39D6-012A3B6076D4}"/>
              </a:ext>
            </a:extLst>
          </p:cNvPr>
          <p:cNvSpPr/>
          <p:nvPr/>
        </p:nvSpPr>
        <p:spPr>
          <a:xfrm>
            <a:off x="1219200" y="39624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Act: a bounded change by the component owner, scoped and reversible</a:t>
            </a:r>
          </a:p>
        </p:txBody>
      </p:sp>
      <p:sp>
        <p:nvSpPr>
          <p:cNvPr id="17" name="Oval 16">
            <a:extLst>
              <a:ext uri="{FF2B5EF4-FFF2-40B4-BE49-F238E27FC236}">
                <a16:creationId xmlns:a16="http://schemas.microsoft.com/office/drawing/2014/main" id="{49785A2B-F795-3A7E-9601-3DB8EC17DFD8}"/>
              </a:ext>
            </a:extLst>
          </p:cNvPr>
          <p:cNvSpPr/>
          <p:nvPr/>
        </p:nvSpPr>
        <p:spPr>
          <a:xfrm>
            <a:off x="660400" y="49276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18" name="Rectangle: Rounded Corners 17">
            <a:extLst>
              <a:ext uri="{FF2B5EF4-FFF2-40B4-BE49-F238E27FC236}">
                <a16:creationId xmlns:a16="http://schemas.microsoft.com/office/drawing/2014/main" id="{1F99E435-71F1-632C-276D-20B61C6EF65C}"/>
              </a:ext>
            </a:extLst>
          </p:cNvPr>
          <p:cNvSpPr/>
          <p:nvPr/>
        </p:nvSpPr>
        <p:spPr>
          <a:xfrm>
            <a:off x="1219200" y="47498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Prove it: fresh transactions complete; the model and alert recover on their own clocks</a:t>
            </a:r>
          </a:p>
        </p:txBody>
      </p:sp>
      <p:sp>
        <p:nvSpPr>
          <p:cNvPr id="19" name="Oval 18">
            <a:extLst>
              <a:ext uri="{FF2B5EF4-FFF2-40B4-BE49-F238E27FC236}">
                <a16:creationId xmlns:a16="http://schemas.microsoft.com/office/drawing/2014/main" id="{B16DD681-8D6D-BA37-36AA-0DE30410C62B}"/>
              </a:ext>
            </a:extLst>
          </p:cNvPr>
          <p:cNvSpPr/>
          <p:nvPr/>
        </p:nvSpPr>
        <p:spPr>
          <a:xfrm>
            <a:off x="660400" y="57150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6</a:t>
            </a:r>
          </a:p>
        </p:txBody>
      </p:sp>
      <p:sp>
        <p:nvSpPr>
          <p:cNvPr id="20" name="Rectangle: Rounded Corners 19">
            <a:extLst>
              <a:ext uri="{FF2B5EF4-FFF2-40B4-BE49-F238E27FC236}">
                <a16:creationId xmlns:a16="http://schemas.microsoft.com/office/drawing/2014/main" id="{95F38B15-6745-2A22-34B1-62AEC7AC22F2}"/>
              </a:ext>
            </a:extLst>
          </p:cNvPr>
          <p:cNvSpPr/>
          <p:nvPr/>
        </p:nvSpPr>
        <p:spPr>
          <a:xfrm>
            <a:off x="1219200" y="55372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Record it: timeline, change correlation, what evidence was missing</a:t>
            </a:r>
          </a:p>
        </p:txBody>
      </p:sp>
    </p:spTree>
    <p:extLst>
      <p:ext uri="{BB962C8B-B14F-4D97-AF65-F5344CB8AC3E}">
        <p14:creationId xmlns:p14="http://schemas.microsoft.com/office/powerpoint/2010/main" val="408089385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BA3306CA-74CF-8748-EF0E-DC383F4C77DF}"/>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542DFFB-E3B6-F1E3-FD3B-BC9ED875A88C}"/>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06E546-B653-17E7-210E-D4E6874B2812}"/>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6EE91A7-0420-0F42-1F67-7C328E7C3C1F}"/>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Change correlation</a:t>
            </a:r>
          </a:p>
        </p:txBody>
      </p:sp>
      <p:sp>
        <p:nvSpPr>
          <p:cNvPr id="6" name="ChapterTag">
            <a:extLst>
              <a:ext uri="{FF2B5EF4-FFF2-40B4-BE49-F238E27FC236}">
                <a16:creationId xmlns:a16="http://schemas.microsoft.com/office/drawing/2014/main" id="{2F844B05-3773-3A17-6913-90C706115BD1}"/>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D113D9A0-D787-F618-B5BB-68BEFCA93625}"/>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4762294A-DEF1-84B2-F332-9CE8418E7824}"/>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75</a:t>
            </a:r>
          </a:p>
        </p:txBody>
      </p:sp>
      <p:sp>
        <p:nvSpPr>
          <p:cNvPr id="9" name="Oval 8">
            <a:extLst>
              <a:ext uri="{FF2B5EF4-FFF2-40B4-BE49-F238E27FC236}">
                <a16:creationId xmlns:a16="http://schemas.microsoft.com/office/drawing/2014/main" id="{6FF70BC1-A21B-E447-2F40-E5F161E0D9B3}"/>
              </a:ext>
            </a:extLst>
          </p:cNvPr>
          <p:cNvSpPr/>
          <p:nvPr/>
        </p:nvSpPr>
        <p:spPr>
          <a:xfrm>
            <a:off x="660400" y="1680210"/>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288F295-1F1C-86CA-AB22-3B3EA27123D0}"/>
              </a:ext>
            </a:extLst>
          </p:cNvPr>
          <p:cNvSpPr txBox="1"/>
          <p:nvPr/>
        </p:nvSpPr>
        <p:spPr>
          <a:xfrm>
            <a:off x="889000" y="160020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Most incidents follow a change; make changes queryable next to the evidence</a:t>
            </a:r>
          </a:p>
        </p:txBody>
      </p:sp>
      <p:sp>
        <p:nvSpPr>
          <p:cNvPr id="11" name="Oval 10">
            <a:extLst>
              <a:ext uri="{FF2B5EF4-FFF2-40B4-BE49-F238E27FC236}">
                <a16:creationId xmlns:a16="http://schemas.microsoft.com/office/drawing/2014/main" id="{7771FB5F-04A1-11FE-5A69-58A2DD979E6A}"/>
              </a:ext>
            </a:extLst>
          </p:cNvPr>
          <p:cNvSpPr/>
          <p:nvPr/>
        </p:nvSpPr>
        <p:spPr>
          <a:xfrm>
            <a:off x="660400" y="2085594"/>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A900FEF-BC53-AB04-4FAE-85F88FF08274}"/>
              </a:ext>
            </a:extLst>
          </p:cNvPr>
          <p:cNvSpPr txBox="1"/>
          <p:nvPr/>
        </p:nvSpPr>
        <p:spPr>
          <a:xfrm>
            <a:off x="889000" y="200558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Azure: Activity log and Change Analysis for resources; Change Tracking and Inventory for files, registry, software and services on Arc machines</a:t>
            </a:r>
          </a:p>
        </p:txBody>
      </p:sp>
      <p:sp>
        <p:nvSpPr>
          <p:cNvPr id="13" name="Oval 12">
            <a:extLst>
              <a:ext uri="{FF2B5EF4-FFF2-40B4-BE49-F238E27FC236}">
                <a16:creationId xmlns:a16="http://schemas.microsoft.com/office/drawing/2014/main" id="{A92DAEC8-10F3-2405-05B9-B0DEC735E69B}"/>
              </a:ext>
            </a:extLst>
          </p:cNvPr>
          <p:cNvSpPr/>
          <p:nvPr/>
        </p:nvSpPr>
        <p:spPr>
          <a:xfrm>
            <a:off x="660400" y="2718562"/>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E7722E4-EF79-32F1-9822-63F1323EEBF0}"/>
              </a:ext>
            </a:extLst>
          </p:cNvPr>
          <p:cNvSpPr txBox="1"/>
          <p:nvPr/>
        </p:nvSpPr>
        <p:spPr>
          <a:xfrm>
            <a:off x="889000" y="26385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AWS and GCP: CloudTrail and Cloud Audit Logs for the subset forwarded; the connector inventory shows what exists now</a:t>
            </a:r>
          </a:p>
        </p:txBody>
      </p:sp>
      <p:sp>
        <p:nvSpPr>
          <p:cNvPr id="15" name="Oval 14">
            <a:extLst>
              <a:ext uri="{FF2B5EF4-FFF2-40B4-BE49-F238E27FC236}">
                <a16:creationId xmlns:a16="http://schemas.microsoft.com/office/drawing/2014/main" id="{AD914DE8-0C5E-5CCF-8C92-F4E8799056F8}"/>
              </a:ext>
            </a:extLst>
          </p:cNvPr>
          <p:cNvSpPr/>
          <p:nvPr/>
        </p:nvSpPr>
        <p:spPr>
          <a:xfrm>
            <a:off x="660400" y="3123946"/>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E695B84-F535-1DC6-2605-ED92421FFDBC}"/>
              </a:ext>
            </a:extLst>
          </p:cNvPr>
          <p:cNvSpPr txBox="1"/>
          <p:nvPr/>
        </p:nvSpPr>
        <p:spPr>
          <a:xfrm>
            <a:off x="889000" y="3043936"/>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Deployments: have pipelines write a deployment event (service, version, time, who) to a custom table through the ingestion API</a:t>
            </a:r>
          </a:p>
        </p:txBody>
      </p:sp>
      <p:sp>
        <p:nvSpPr>
          <p:cNvPr id="17" name="Oval 16">
            <a:extLst>
              <a:ext uri="{FF2B5EF4-FFF2-40B4-BE49-F238E27FC236}">
                <a16:creationId xmlns:a16="http://schemas.microsoft.com/office/drawing/2014/main" id="{5A735812-798D-CF39-A0EC-C0BFF8E5F8D4}"/>
              </a:ext>
            </a:extLst>
          </p:cNvPr>
          <p:cNvSpPr/>
          <p:nvPr/>
        </p:nvSpPr>
        <p:spPr>
          <a:xfrm>
            <a:off x="660400" y="3756914"/>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4AC63AD-8654-A5E0-7388-08606313E139}"/>
              </a:ext>
            </a:extLst>
          </p:cNvPr>
          <p:cNvSpPr txBox="1"/>
          <p:nvPr/>
        </p:nvSpPr>
        <p:spPr>
          <a:xfrm>
            <a:off x="889000" y="3676904"/>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Health model timeline and workbooks overlay those events on state changes</a:t>
            </a:r>
          </a:p>
        </p:txBody>
      </p:sp>
      <p:sp>
        <p:nvSpPr>
          <p:cNvPr id="19" name="Oval 18">
            <a:extLst>
              <a:ext uri="{FF2B5EF4-FFF2-40B4-BE49-F238E27FC236}">
                <a16:creationId xmlns:a16="http://schemas.microsoft.com/office/drawing/2014/main" id="{497F0CA8-18F1-96B5-4358-F9B1745A8CB5}"/>
              </a:ext>
            </a:extLst>
          </p:cNvPr>
          <p:cNvSpPr/>
          <p:nvPr/>
        </p:nvSpPr>
        <p:spPr>
          <a:xfrm>
            <a:off x="660400" y="4162298"/>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4078CAC-B1C3-98CA-3352-7A25D2A277E8}"/>
              </a:ext>
            </a:extLst>
          </p:cNvPr>
          <p:cNvSpPr txBox="1"/>
          <p:nvPr/>
        </p:nvSpPr>
        <p:spPr>
          <a:xfrm>
            <a:off x="889000" y="408228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Investigation habit: what changed in the 60 minutes before the first Degraded state, across every place the service touches</a:t>
            </a:r>
          </a:p>
        </p:txBody>
      </p:sp>
    </p:spTree>
    <p:extLst>
      <p:ext uri="{BB962C8B-B14F-4D97-AF65-F5344CB8AC3E}">
        <p14:creationId xmlns:p14="http://schemas.microsoft.com/office/powerpoint/2010/main" val="27498043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1A350242-9281-6AD1-BA6F-9F892F939F09}"/>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87A30BA3-A9AF-8271-070C-CBFDF913B5A5}"/>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26AFF97-9303-C23E-605A-E9A1F7E0D4FE}"/>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F5BF6FA-003A-35D4-B46C-CC49F50732CC}"/>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Alert quality</a:t>
            </a:r>
          </a:p>
        </p:txBody>
      </p:sp>
      <p:sp>
        <p:nvSpPr>
          <p:cNvPr id="6" name="ChapterTag">
            <a:extLst>
              <a:ext uri="{FF2B5EF4-FFF2-40B4-BE49-F238E27FC236}">
                <a16:creationId xmlns:a16="http://schemas.microsoft.com/office/drawing/2014/main" id="{4BEB6016-8F06-70DB-5A64-182A828BFA19}"/>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860621C2-7C35-DE17-FC90-18A4A90E904D}"/>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EAAC35DF-A4C0-6D53-CC0F-34C465D90650}"/>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76</a:t>
            </a:r>
          </a:p>
        </p:txBody>
      </p:sp>
      <p:sp>
        <p:nvSpPr>
          <p:cNvPr id="9" name="Rectangle: Rounded Corners 8">
            <a:extLst>
              <a:ext uri="{FF2B5EF4-FFF2-40B4-BE49-F238E27FC236}">
                <a16:creationId xmlns:a16="http://schemas.microsoft.com/office/drawing/2014/main" id="{D1EAB66B-D1FA-4EE4-C06C-F279F87CE9FE}"/>
              </a:ext>
            </a:extLst>
          </p:cNvPr>
          <p:cNvSpPr/>
          <p:nvPr/>
        </p:nvSpPr>
        <p:spPr>
          <a:xfrm>
            <a:off x="609600" y="1549400"/>
            <a:ext cx="2413000" cy="317500"/>
          </a:xfrm>
          <a:prstGeom prst="roundRect">
            <a:avLst>
              <a:gd name="adj" fmla="val 0"/>
            </a:avLst>
          </a:prstGeom>
          <a:solidFill>
            <a:srgbClr val="FA8282"/>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Measure</a:t>
            </a:r>
          </a:p>
        </p:txBody>
      </p:sp>
      <p:sp>
        <p:nvSpPr>
          <p:cNvPr id="10" name="Rectangle: Rounded Corners 9">
            <a:extLst>
              <a:ext uri="{FF2B5EF4-FFF2-40B4-BE49-F238E27FC236}">
                <a16:creationId xmlns:a16="http://schemas.microsoft.com/office/drawing/2014/main" id="{B476EEAB-0F10-3369-FC85-E3A3B18F122C}"/>
              </a:ext>
            </a:extLst>
          </p:cNvPr>
          <p:cNvSpPr/>
          <p:nvPr/>
        </p:nvSpPr>
        <p:spPr>
          <a:xfrm>
            <a:off x="3022600" y="1549400"/>
            <a:ext cx="4279900" cy="317500"/>
          </a:xfrm>
          <a:prstGeom prst="roundRect">
            <a:avLst>
              <a:gd name="adj" fmla="val 0"/>
            </a:avLst>
          </a:prstGeom>
          <a:solidFill>
            <a:srgbClr val="FA8282"/>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Target</a:t>
            </a:r>
          </a:p>
        </p:txBody>
      </p:sp>
      <p:sp>
        <p:nvSpPr>
          <p:cNvPr id="11" name="Rectangle: Rounded Corners 10">
            <a:extLst>
              <a:ext uri="{FF2B5EF4-FFF2-40B4-BE49-F238E27FC236}">
                <a16:creationId xmlns:a16="http://schemas.microsoft.com/office/drawing/2014/main" id="{3571EA00-DE86-CBC3-FE1D-FE49F1A83E8E}"/>
              </a:ext>
            </a:extLst>
          </p:cNvPr>
          <p:cNvSpPr/>
          <p:nvPr/>
        </p:nvSpPr>
        <p:spPr>
          <a:xfrm>
            <a:off x="7302500" y="1549400"/>
            <a:ext cx="4279900" cy="317500"/>
          </a:xfrm>
          <a:prstGeom prst="roundRect">
            <a:avLst>
              <a:gd name="adj" fmla="val 0"/>
            </a:avLst>
          </a:prstGeom>
          <a:solidFill>
            <a:srgbClr val="FA8282"/>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Where to see it</a:t>
            </a:r>
          </a:p>
        </p:txBody>
      </p:sp>
      <p:sp>
        <p:nvSpPr>
          <p:cNvPr id="12" name="Rectangle: Rounded Corners 11">
            <a:extLst>
              <a:ext uri="{FF2B5EF4-FFF2-40B4-BE49-F238E27FC236}">
                <a16:creationId xmlns:a16="http://schemas.microsoft.com/office/drawing/2014/main" id="{94ACC09D-E49D-C085-DD87-E03B9CABC997}"/>
              </a:ext>
            </a:extLst>
          </p:cNvPr>
          <p:cNvSpPr/>
          <p:nvPr/>
        </p:nvSpPr>
        <p:spPr>
          <a:xfrm>
            <a:off x="609600" y="18669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Alerts with a named owner</a:t>
            </a:r>
          </a:p>
        </p:txBody>
      </p:sp>
      <p:sp>
        <p:nvSpPr>
          <p:cNvPr id="13" name="Rectangle: Rounded Corners 12">
            <a:extLst>
              <a:ext uri="{FF2B5EF4-FFF2-40B4-BE49-F238E27FC236}">
                <a16:creationId xmlns:a16="http://schemas.microsoft.com/office/drawing/2014/main" id="{CD5E0010-C6AB-EAA6-B068-9C726F14BAFB}"/>
              </a:ext>
            </a:extLst>
          </p:cNvPr>
          <p:cNvSpPr/>
          <p:nvPr/>
        </p:nvSpPr>
        <p:spPr>
          <a:xfrm>
            <a:off x="3022600" y="1866900"/>
            <a:ext cx="42799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100 percent</a:t>
            </a:r>
          </a:p>
        </p:txBody>
      </p:sp>
      <p:sp>
        <p:nvSpPr>
          <p:cNvPr id="14" name="Rectangle: Rounded Corners 13">
            <a:extLst>
              <a:ext uri="{FF2B5EF4-FFF2-40B4-BE49-F238E27FC236}">
                <a16:creationId xmlns:a16="http://schemas.microsoft.com/office/drawing/2014/main" id="{949CFD52-98B8-FC8A-D769-965836BA6CFA}"/>
              </a:ext>
            </a:extLst>
          </p:cNvPr>
          <p:cNvSpPr/>
          <p:nvPr/>
        </p:nvSpPr>
        <p:spPr>
          <a:xfrm>
            <a:off x="7302500" y="1866900"/>
            <a:ext cx="42799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action group assignment per rule</a:t>
            </a:r>
          </a:p>
        </p:txBody>
      </p:sp>
      <p:sp>
        <p:nvSpPr>
          <p:cNvPr id="15" name="Rectangle: Rounded Corners 14">
            <a:extLst>
              <a:ext uri="{FF2B5EF4-FFF2-40B4-BE49-F238E27FC236}">
                <a16:creationId xmlns:a16="http://schemas.microsoft.com/office/drawing/2014/main" id="{C300299E-0688-A86B-7A4A-B11109F3CB12}"/>
              </a:ext>
            </a:extLst>
          </p:cNvPr>
          <p:cNvSpPr/>
          <p:nvPr/>
        </p:nvSpPr>
        <p:spPr>
          <a:xfrm>
            <a:off x="609600" y="21844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Alerts acknowledged within the severity target</a:t>
            </a:r>
          </a:p>
        </p:txBody>
      </p:sp>
      <p:sp>
        <p:nvSpPr>
          <p:cNvPr id="16" name="Rectangle: Rounded Corners 15">
            <a:extLst>
              <a:ext uri="{FF2B5EF4-FFF2-40B4-BE49-F238E27FC236}">
                <a16:creationId xmlns:a16="http://schemas.microsoft.com/office/drawing/2014/main" id="{66FDC58B-1334-FA41-86BE-572957BD166B}"/>
              </a:ext>
            </a:extLst>
          </p:cNvPr>
          <p:cNvSpPr/>
          <p:nvPr/>
        </p:nvSpPr>
        <p:spPr>
          <a:xfrm>
            <a:off x="3022600" y="21844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Sev1 within 15 minutes</a:t>
            </a:r>
          </a:p>
        </p:txBody>
      </p:sp>
      <p:sp>
        <p:nvSpPr>
          <p:cNvPr id="17" name="Rectangle: Rounded Corners 16">
            <a:extLst>
              <a:ext uri="{FF2B5EF4-FFF2-40B4-BE49-F238E27FC236}">
                <a16:creationId xmlns:a16="http://schemas.microsoft.com/office/drawing/2014/main" id="{8F8FED4A-89B8-375C-D523-FC65AEDC8C12}"/>
              </a:ext>
            </a:extLst>
          </p:cNvPr>
          <p:cNvSpPr/>
          <p:nvPr/>
        </p:nvSpPr>
        <p:spPr>
          <a:xfrm>
            <a:off x="7302500" y="21844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alert history and ITSM</a:t>
            </a:r>
          </a:p>
        </p:txBody>
      </p:sp>
      <p:sp>
        <p:nvSpPr>
          <p:cNvPr id="18" name="Rectangle: Rounded Corners 17">
            <a:extLst>
              <a:ext uri="{FF2B5EF4-FFF2-40B4-BE49-F238E27FC236}">
                <a16:creationId xmlns:a16="http://schemas.microsoft.com/office/drawing/2014/main" id="{122ACA38-17DB-7BD4-C37A-01281C91E125}"/>
              </a:ext>
            </a:extLst>
          </p:cNvPr>
          <p:cNvSpPr/>
          <p:nvPr/>
        </p:nvSpPr>
        <p:spPr>
          <a:xfrm>
            <a:off x="609600" y="26924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Alerts that led to action</a:t>
            </a:r>
          </a:p>
        </p:txBody>
      </p:sp>
      <p:sp>
        <p:nvSpPr>
          <p:cNvPr id="19" name="Rectangle: Rounded Corners 18">
            <a:extLst>
              <a:ext uri="{FF2B5EF4-FFF2-40B4-BE49-F238E27FC236}">
                <a16:creationId xmlns:a16="http://schemas.microsoft.com/office/drawing/2014/main" id="{89028500-0B10-B15F-18A4-185A968A0C4A}"/>
              </a:ext>
            </a:extLst>
          </p:cNvPr>
          <p:cNvSpPr/>
          <p:nvPr/>
        </p:nvSpPr>
        <p:spPr>
          <a:xfrm>
            <a:off x="3022600" y="2692400"/>
            <a:ext cx="42799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above 50 percent</a:t>
            </a:r>
          </a:p>
        </p:txBody>
      </p:sp>
      <p:sp>
        <p:nvSpPr>
          <p:cNvPr id="20" name="Rectangle: Rounded Corners 19">
            <a:extLst>
              <a:ext uri="{FF2B5EF4-FFF2-40B4-BE49-F238E27FC236}">
                <a16:creationId xmlns:a16="http://schemas.microsoft.com/office/drawing/2014/main" id="{86EE721F-44D2-F5B0-0BC9-3226C38C8352}"/>
              </a:ext>
            </a:extLst>
          </p:cNvPr>
          <p:cNvSpPr/>
          <p:nvPr/>
        </p:nvSpPr>
        <p:spPr>
          <a:xfrm>
            <a:off x="7302500" y="2692400"/>
            <a:ext cx="42799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monthly review of fired alerts</a:t>
            </a:r>
          </a:p>
        </p:txBody>
      </p:sp>
      <p:sp>
        <p:nvSpPr>
          <p:cNvPr id="21" name="Rectangle: Rounded Corners 20">
            <a:extLst>
              <a:ext uri="{FF2B5EF4-FFF2-40B4-BE49-F238E27FC236}">
                <a16:creationId xmlns:a16="http://schemas.microsoft.com/office/drawing/2014/main" id="{331D925E-5C2D-9938-AC99-6B9F6657BB24}"/>
              </a:ext>
            </a:extLst>
          </p:cNvPr>
          <p:cNvSpPr/>
          <p:nvPr/>
        </p:nvSpPr>
        <p:spPr>
          <a:xfrm>
            <a:off x="609600" y="30099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Alerts that fired more than 10 times in a week</a:t>
            </a:r>
          </a:p>
        </p:txBody>
      </p:sp>
      <p:sp>
        <p:nvSpPr>
          <p:cNvPr id="22" name="Rectangle: Rounded Corners 21">
            <a:extLst>
              <a:ext uri="{FF2B5EF4-FFF2-40B4-BE49-F238E27FC236}">
                <a16:creationId xmlns:a16="http://schemas.microsoft.com/office/drawing/2014/main" id="{157475A1-E044-6CAD-B72B-6989EB4F3FBA}"/>
              </a:ext>
            </a:extLst>
          </p:cNvPr>
          <p:cNvSpPr/>
          <p:nvPr/>
        </p:nvSpPr>
        <p:spPr>
          <a:xfrm>
            <a:off x="3022600" y="30099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zero without a ticket</a:t>
            </a:r>
          </a:p>
        </p:txBody>
      </p:sp>
      <p:sp>
        <p:nvSpPr>
          <p:cNvPr id="23" name="Rectangle: Rounded Corners 22">
            <a:extLst>
              <a:ext uri="{FF2B5EF4-FFF2-40B4-BE49-F238E27FC236}">
                <a16:creationId xmlns:a16="http://schemas.microsoft.com/office/drawing/2014/main" id="{67861A39-44B7-BDEC-3E26-0C000F8FAD60}"/>
              </a:ext>
            </a:extLst>
          </p:cNvPr>
          <p:cNvSpPr/>
          <p:nvPr/>
        </p:nvSpPr>
        <p:spPr>
          <a:xfrm>
            <a:off x="7302500" y="30099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alert summary by rule</a:t>
            </a:r>
          </a:p>
        </p:txBody>
      </p:sp>
      <p:sp>
        <p:nvSpPr>
          <p:cNvPr id="24" name="Rectangle: Rounded Corners 23">
            <a:extLst>
              <a:ext uri="{FF2B5EF4-FFF2-40B4-BE49-F238E27FC236}">
                <a16:creationId xmlns:a16="http://schemas.microsoft.com/office/drawing/2014/main" id="{EA02164C-6942-ECB8-1B73-4EDD93456055}"/>
              </a:ext>
            </a:extLst>
          </p:cNvPr>
          <p:cNvSpPr/>
          <p:nvPr/>
        </p:nvSpPr>
        <p:spPr>
          <a:xfrm>
            <a:off x="609600" y="35179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Alerts with no runbook link</a:t>
            </a:r>
          </a:p>
        </p:txBody>
      </p:sp>
      <p:sp>
        <p:nvSpPr>
          <p:cNvPr id="25" name="Rectangle: Rounded Corners 24">
            <a:extLst>
              <a:ext uri="{FF2B5EF4-FFF2-40B4-BE49-F238E27FC236}">
                <a16:creationId xmlns:a16="http://schemas.microsoft.com/office/drawing/2014/main" id="{A1602FB2-2C03-7B5B-3BEC-8BE9A4EAE01C}"/>
              </a:ext>
            </a:extLst>
          </p:cNvPr>
          <p:cNvSpPr/>
          <p:nvPr/>
        </p:nvSpPr>
        <p:spPr>
          <a:xfrm>
            <a:off x="3022600" y="3517900"/>
            <a:ext cx="42799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zero</a:t>
            </a:r>
          </a:p>
        </p:txBody>
      </p:sp>
      <p:sp>
        <p:nvSpPr>
          <p:cNvPr id="26" name="Rectangle: Rounded Corners 25">
            <a:extLst>
              <a:ext uri="{FF2B5EF4-FFF2-40B4-BE49-F238E27FC236}">
                <a16:creationId xmlns:a16="http://schemas.microsoft.com/office/drawing/2014/main" id="{7405251B-D41E-42AE-A55E-D63B35DAEF19}"/>
              </a:ext>
            </a:extLst>
          </p:cNvPr>
          <p:cNvSpPr/>
          <p:nvPr/>
        </p:nvSpPr>
        <p:spPr>
          <a:xfrm>
            <a:off x="7302500" y="3517900"/>
            <a:ext cx="42799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rule description audit</a:t>
            </a:r>
          </a:p>
        </p:txBody>
      </p:sp>
      <p:sp>
        <p:nvSpPr>
          <p:cNvPr id="27" name="Rectangle: Rounded Corners 26">
            <a:extLst>
              <a:ext uri="{FF2B5EF4-FFF2-40B4-BE49-F238E27FC236}">
                <a16:creationId xmlns:a16="http://schemas.microsoft.com/office/drawing/2014/main" id="{13673F87-849B-493A-D571-9B9BC998BB02}"/>
              </a:ext>
            </a:extLst>
          </p:cNvPr>
          <p:cNvSpPr/>
          <p:nvPr/>
        </p:nvSpPr>
        <p:spPr>
          <a:xfrm>
            <a:off x="609600" y="38354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Alerts for resources with no service tag</a:t>
            </a:r>
          </a:p>
        </p:txBody>
      </p:sp>
      <p:sp>
        <p:nvSpPr>
          <p:cNvPr id="28" name="Rectangle: Rounded Corners 27">
            <a:extLst>
              <a:ext uri="{FF2B5EF4-FFF2-40B4-BE49-F238E27FC236}">
                <a16:creationId xmlns:a16="http://schemas.microsoft.com/office/drawing/2014/main" id="{FDFF998E-07DE-F7D2-4C2E-F43801BBE4AB}"/>
              </a:ext>
            </a:extLst>
          </p:cNvPr>
          <p:cNvSpPr/>
          <p:nvPr/>
        </p:nvSpPr>
        <p:spPr>
          <a:xfrm>
            <a:off x="3022600" y="38354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zero</a:t>
            </a:r>
          </a:p>
        </p:txBody>
      </p:sp>
      <p:sp>
        <p:nvSpPr>
          <p:cNvPr id="29" name="Rectangle: Rounded Corners 28">
            <a:extLst>
              <a:ext uri="{FF2B5EF4-FFF2-40B4-BE49-F238E27FC236}">
                <a16:creationId xmlns:a16="http://schemas.microsoft.com/office/drawing/2014/main" id="{FF21D6F0-883C-8D03-DF1C-86099B91E089}"/>
              </a:ext>
            </a:extLst>
          </p:cNvPr>
          <p:cNvSpPr/>
          <p:nvPr/>
        </p:nvSpPr>
        <p:spPr>
          <a:xfrm>
            <a:off x="7302500" y="38354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Resource Graph join</a:t>
            </a:r>
          </a:p>
        </p:txBody>
      </p:sp>
      <p:sp>
        <p:nvSpPr>
          <p:cNvPr id="30" name="Rectangle: Rounded Corners 29">
            <a:extLst>
              <a:ext uri="{FF2B5EF4-FFF2-40B4-BE49-F238E27FC236}">
                <a16:creationId xmlns:a16="http://schemas.microsoft.com/office/drawing/2014/main" id="{C9069111-29B8-7761-D752-EDF8C6E7D63C}"/>
              </a:ext>
            </a:extLst>
          </p:cNvPr>
          <p:cNvSpPr/>
          <p:nvPr/>
        </p:nvSpPr>
        <p:spPr>
          <a:xfrm>
            <a:off x="609600" y="43434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Health-model alerts versus per-resource alerts</a:t>
            </a:r>
          </a:p>
        </p:txBody>
      </p:sp>
      <p:sp>
        <p:nvSpPr>
          <p:cNvPr id="31" name="Rectangle: Rounded Corners 30">
            <a:extLst>
              <a:ext uri="{FF2B5EF4-FFF2-40B4-BE49-F238E27FC236}">
                <a16:creationId xmlns:a16="http://schemas.microsoft.com/office/drawing/2014/main" id="{58CE170E-7098-D49C-5CF5-AE2DA9732899}"/>
              </a:ext>
            </a:extLst>
          </p:cNvPr>
          <p:cNvSpPr/>
          <p:nvPr/>
        </p:nvSpPr>
        <p:spPr>
          <a:xfrm>
            <a:off x="3022600" y="43434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rising ratio</a:t>
            </a:r>
          </a:p>
        </p:txBody>
      </p:sp>
      <p:sp>
        <p:nvSpPr>
          <p:cNvPr id="32" name="Rectangle: Rounded Corners 31">
            <a:extLst>
              <a:ext uri="{FF2B5EF4-FFF2-40B4-BE49-F238E27FC236}">
                <a16:creationId xmlns:a16="http://schemas.microsoft.com/office/drawing/2014/main" id="{00B277F8-46CF-C945-EC38-46E22681B49B}"/>
              </a:ext>
            </a:extLst>
          </p:cNvPr>
          <p:cNvSpPr/>
          <p:nvPr/>
        </p:nvSpPr>
        <p:spPr>
          <a:xfrm>
            <a:off x="7302500" y="4343400"/>
            <a:ext cx="42799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alert rules by type</a:t>
            </a:r>
          </a:p>
        </p:txBody>
      </p:sp>
    </p:spTree>
    <p:extLst>
      <p:ext uri="{BB962C8B-B14F-4D97-AF65-F5344CB8AC3E}">
        <p14:creationId xmlns:p14="http://schemas.microsoft.com/office/powerpoint/2010/main" val="20917100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7D95BF33-B202-52CE-E202-3D2F7762525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7DB64282-CBD4-FFB5-3BAB-BFCB613E2930}"/>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AEB55B2-391D-B331-B88D-0FC78806FD2E}"/>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636B599-9A25-336B-98D1-AF7275773D44}"/>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Cost and retention review</a:t>
            </a:r>
          </a:p>
        </p:txBody>
      </p:sp>
      <p:sp>
        <p:nvSpPr>
          <p:cNvPr id="6" name="ChapterTag">
            <a:extLst>
              <a:ext uri="{FF2B5EF4-FFF2-40B4-BE49-F238E27FC236}">
                <a16:creationId xmlns:a16="http://schemas.microsoft.com/office/drawing/2014/main" id="{908356A5-E148-F35B-E815-15CD1CDA76B2}"/>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200BD61E-6DA0-A899-6DA7-D43FE87F76E8}"/>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3A2F2584-42BA-E2DE-6AAE-20728D7F8E56}"/>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77</a:t>
            </a:r>
          </a:p>
        </p:txBody>
      </p:sp>
      <p:sp>
        <p:nvSpPr>
          <p:cNvPr id="9" name="Oval 8">
            <a:extLst>
              <a:ext uri="{FF2B5EF4-FFF2-40B4-BE49-F238E27FC236}">
                <a16:creationId xmlns:a16="http://schemas.microsoft.com/office/drawing/2014/main" id="{6F7338CC-ECC7-3E30-61F1-1D1936672C0E}"/>
              </a:ext>
            </a:extLst>
          </p:cNvPr>
          <p:cNvSpPr/>
          <p:nvPr/>
        </p:nvSpPr>
        <p:spPr>
          <a:xfrm>
            <a:off x="660400" y="1685925"/>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FEB65FB-3690-DF0B-9943-5D2CA875F5A9}"/>
              </a:ext>
            </a:extLst>
          </p:cNvPr>
          <p:cNvSpPr txBox="1"/>
          <p:nvPr/>
        </p:nvSpPr>
        <p:spPr>
          <a:xfrm>
            <a:off x="889000" y="1600200"/>
            <a:ext cx="10693400" cy="58928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Weekly: Usage by table against the catalogue estimate; any table more than 20 percent over gets a transformation or a plan change</a:t>
            </a:r>
          </a:p>
        </p:txBody>
      </p:sp>
      <p:sp>
        <p:nvSpPr>
          <p:cNvPr id="11" name="Oval 10">
            <a:extLst>
              <a:ext uri="{FF2B5EF4-FFF2-40B4-BE49-F238E27FC236}">
                <a16:creationId xmlns:a16="http://schemas.microsoft.com/office/drawing/2014/main" id="{FA83DF1E-99AC-6A9C-E701-E83544FE847B}"/>
              </a:ext>
            </a:extLst>
          </p:cNvPr>
          <p:cNvSpPr/>
          <p:nvPr/>
        </p:nvSpPr>
        <p:spPr>
          <a:xfrm>
            <a:off x="660400" y="2351405"/>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012BAFE-37B3-6EF2-6DFB-527EB404684D}"/>
              </a:ext>
            </a:extLst>
          </p:cNvPr>
          <p:cNvSpPr txBox="1"/>
          <p:nvPr/>
        </p:nvSpPr>
        <p:spPr>
          <a:xfrm>
            <a:off x="889000" y="2265680"/>
            <a:ext cx="10693400" cy="58928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Monthly: top 10 tables by GB and by cost; who owns each; which question it answers; retention per table versus the policy</a:t>
            </a:r>
          </a:p>
        </p:txBody>
      </p:sp>
      <p:sp>
        <p:nvSpPr>
          <p:cNvPr id="13" name="Oval 12">
            <a:extLst>
              <a:ext uri="{FF2B5EF4-FFF2-40B4-BE49-F238E27FC236}">
                <a16:creationId xmlns:a16="http://schemas.microsoft.com/office/drawing/2014/main" id="{CFB3C9EE-1810-2425-AA0B-965CBB2331BE}"/>
              </a:ext>
            </a:extLst>
          </p:cNvPr>
          <p:cNvSpPr/>
          <p:nvPr/>
        </p:nvSpPr>
        <p:spPr>
          <a:xfrm>
            <a:off x="660400" y="3016885"/>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70B5014-E26A-0BE3-ED01-C9FAB15B0AFE}"/>
              </a:ext>
            </a:extLst>
          </p:cNvPr>
          <p:cNvSpPr txBox="1"/>
          <p:nvPr/>
        </p:nvSpPr>
        <p:spPr>
          <a:xfrm>
            <a:off x="889000" y="2931160"/>
            <a:ext cx="10693400" cy="58928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Quarterly: commitment tier check (steadily above 100 GB a day means a tier), Prometheus samples versus dashboards and rules that read them, Application Insights sampling rates</a:t>
            </a:r>
          </a:p>
        </p:txBody>
      </p:sp>
      <p:sp>
        <p:nvSpPr>
          <p:cNvPr id="15" name="Oval 14">
            <a:extLst>
              <a:ext uri="{FF2B5EF4-FFF2-40B4-BE49-F238E27FC236}">
                <a16:creationId xmlns:a16="http://schemas.microsoft.com/office/drawing/2014/main" id="{56954AFF-241B-6496-88AD-949404822435}"/>
              </a:ext>
            </a:extLst>
          </p:cNvPr>
          <p:cNvSpPr/>
          <p:nvPr/>
        </p:nvSpPr>
        <p:spPr>
          <a:xfrm>
            <a:off x="660400" y="3682365"/>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997F773-9CEF-67B6-C9AD-3E8E0366FE84}"/>
              </a:ext>
            </a:extLst>
          </p:cNvPr>
          <p:cNvSpPr txBox="1"/>
          <p:nvPr/>
        </p:nvSpPr>
        <p:spPr>
          <a:xfrm>
            <a:off x="889000" y="359664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Always: duplicate collection check (one source, two rules or two agents), orphaned dashboards, alerts nobody acts on</a:t>
            </a:r>
          </a:p>
        </p:txBody>
      </p:sp>
      <p:sp>
        <p:nvSpPr>
          <p:cNvPr id="17" name="Oval 16">
            <a:extLst>
              <a:ext uri="{FF2B5EF4-FFF2-40B4-BE49-F238E27FC236}">
                <a16:creationId xmlns:a16="http://schemas.microsoft.com/office/drawing/2014/main" id="{C847935E-0AE3-2C19-E826-299E54A004D7}"/>
              </a:ext>
            </a:extLst>
          </p:cNvPr>
          <p:cNvSpPr/>
          <p:nvPr/>
        </p:nvSpPr>
        <p:spPr>
          <a:xfrm>
            <a:off x="660400" y="4104005"/>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DE6E873-ECD3-E972-F333-D67388D5C31B}"/>
              </a:ext>
            </a:extLst>
          </p:cNvPr>
          <p:cNvSpPr txBox="1"/>
          <p:nvPr/>
        </p:nvSpPr>
        <p:spPr>
          <a:xfrm>
            <a:off x="889000" y="4018280"/>
            <a:ext cx="10693400" cy="345440"/>
          </a:xfrm>
          <a:prstGeom prst="rect">
            <a:avLst/>
          </a:prstGeom>
          <a:noFill/>
        </p:spPr>
        <p:txBody>
          <a:bodyPr vert="horz" wrap="square" lIns="25400" tIns="12700" rIns="25400" bIns="12700" rtlCol="0" anchor="t">
            <a:noAutofit/>
          </a:bodyPr>
          <a:lstStyle/>
          <a:p>
            <a:r>
              <a:rPr lang="en-US" sz="1500">
                <a:solidFill>
                  <a:srgbClr val="F4F4F5"/>
                </a:solidFill>
                <a:latin typeface="Calibri" panose="020F0502020204030204" pitchFamily="34" charset="0"/>
              </a:rPr>
              <a:t>Decision record per change: signal, question, owner, grain, retention, meter, accepted blind spot</a:t>
            </a:r>
          </a:p>
        </p:txBody>
      </p:sp>
    </p:spTree>
    <p:extLst>
      <p:ext uri="{BB962C8B-B14F-4D97-AF65-F5344CB8AC3E}">
        <p14:creationId xmlns:p14="http://schemas.microsoft.com/office/powerpoint/2010/main" val="11776722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810AE59A-CB41-CACE-8A35-7EF3A0534504}"/>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5F5C895A-21C7-E7B5-728D-7AC048168913}"/>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E05C3B1-599A-CCF0-8C82-26574ECC29C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79C2DDC-031F-BA2A-17A2-1CB9D2A41935}"/>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Drift, compliance and access reviews</a:t>
            </a:r>
          </a:p>
        </p:txBody>
      </p:sp>
      <p:sp>
        <p:nvSpPr>
          <p:cNvPr id="6" name="ChapterTag">
            <a:extLst>
              <a:ext uri="{FF2B5EF4-FFF2-40B4-BE49-F238E27FC236}">
                <a16:creationId xmlns:a16="http://schemas.microsoft.com/office/drawing/2014/main" id="{99FDC0DE-2CB3-908B-C89C-700008C20574}"/>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9EBA5AFA-293B-4D21-D2C9-3216AEEC060A}"/>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CF634DAD-982C-BB71-3E95-F321890E4DF1}"/>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78</a:t>
            </a:r>
          </a:p>
        </p:txBody>
      </p:sp>
      <p:sp>
        <p:nvSpPr>
          <p:cNvPr id="9" name="Oval 8">
            <a:extLst>
              <a:ext uri="{FF2B5EF4-FFF2-40B4-BE49-F238E27FC236}">
                <a16:creationId xmlns:a16="http://schemas.microsoft.com/office/drawing/2014/main" id="{8F44C1B5-D404-31FA-108D-C163B060B14C}"/>
              </a:ext>
            </a:extLst>
          </p:cNvPr>
          <p:cNvSpPr/>
          <p:nvPr/>
        </p:nvSpPr>
        <p:spPr>
          <a:xfrm>
            <a:off x="660400" y="1680210"/>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A6478D2-592C-6411-5282-B4DDD3AB58BF}"/>
              </a:ext>
            </a:extLst>
          </p:cNvPr>
          <p:cNvSpPr txBox="1"/>
          <p:nvPr/>
        </p:nvSpPr>
        <p:spPr>
          <a:xfrm>
            <a:off x="889000" y="160020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Policy compliance: AMA installed, rules associated, diagnostic settings present, tags present; remediate, do not just report</a:t>
            </a:r>
          </a:p>
        </p:txBody>
      </p:sp>
      <p:sp>
        <p:nvSpPr>
          <p:cNvPr id="11" name="Oval 10">
            <a:extLst>
              <a:ext uri="{FF2B5EF4-FFF2-40B4-BE49-F238E27FC236}">
                <a16:creationId xmlns:a16="http://schemas.microsoft.com/office/drawing/2014/main" id="{157E3883-4121-0EC7-431C-9E07FFBC5A17}"/>
              </a:ext>
            </a:extLst>
          </p:cNvPr>
          <p:cNvSpPr/>
          <p:nvPr/>
        </p:nvSpPr>
        <p:spPr>
          <a:xfrm>
            <a:off x="660400" y="2085594"/>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D507D77-FFDD-7248-D999-8EC501C770FF}"/>
              </a:ext>
            </a:extLst>
          </p:cNvPr>
          <p:cNvSpPr txBox="1"/>
          <p:nvPr/>
        </p:nvSpPr>
        <p:spPr>
          <a:xfrm>
            <a:off x="889000" y="2005584"/>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Agent health: Connected Machine agent version and status, extension versions, automatic upgrade enabled; expired or disconnected machines investigated or removed</a:t>
            </a:r>
          </a:p>
        </p:txBody>
      </p:sp>
      <p:sp>
        <p:nvSpPr>
          <p:cNvPr id="13" name="Oval 12">
            <a:extLst>
              <a:ext uri="{FF2B5EF4-FFF2-40B4-BE49-F238E27FC236}">
                <a16:creationId xmlns:a16="http://schemas.microsoft.com/office/drawing/2014/main" id="{600449FD-9BDB-FFCA-9702-0F3150AAE839}"/>
              </a:ext>
            </a:extLst>
          </p:cNvPr>
          <p:cNvSpPr/>
          <p:nvPr/>
        </p:nvSpPr>
        <p:spPr>
          <a:xfrm>
            <a:off x="660400" y="2718562"/>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787CD30-4877-6117-A77E-B1D8C776D7F8}"/>
              </a:ext>
            </a:extLst>
          </p:cNvPr>
          <p:cNvSpPr txBox="1"/>
          <p:nvPr/>
        </p:nvSpPr>
        <p:spPr>
          <a:xfrm>
            <a:off x="889000" y="26385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Resource bridge: version within six months, credentials valid, appliance healthy</a:t>
            </a:r>
          </a:p>
        </p:txBody>
      </p:sp>
      <p:sp>
        <p:nvSpPr>
          <p:cNvPr id="15" name="Oval 14">
            <a:extLst>
              <a:ext uri="{FF2B5EF4-FFF2-40B4-BE49-F238E27FC236}">
                <a16:creationId xmlns:a16="http://schemas.microsoft.com/office/drawing/2014/main" id="{69C4E39E-1D1D-0037-682E-82F336DA2DE5}"/>
              </a:ext>
            </a:extLst>
          </p:cNvPr>
          <p:cNvSpPr/>
          <p:nvPr/>
        </p:nvSpPr>
        <p:spPr>
          <a:xfrm>
            <a:off x="660400" y="3123946"/>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42298C6E-29ED-68A1-A6C7-2EFF8762BF76}"/>
              </a:ext>
            </a:extLst>
          </p:cNvPr>
          <p:cNvSpPr txBox="1"/>
          <p:nvPr/>
        </p:nvSpPr>
        <p:spPr>
          <a:xfrm>
            <a:off x="889000" y="3043936"/>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Multicloud connector: last scan time, permission test, machines eligible but not onboarded</a:t>
            </a:r>
          </a:p>
        </p:txBody>
      </p:sp>
      <p:sp>
        <p:nvSpPr>
          <p:cNvPr id="17" name="Oval 16">
            <a:extLst>
              <a:ext uri="{FF2B5EF4-FFF2-40B4-BE49-F238E27FC236}">
                <a16:creationId xmlns:a16="http://schemas.microsoft.com/office/drawing/2014/main" id="{DC7A9430-B838-0B83-1CA6-CBE3BF4540A1}"/>
              </a:ext>
            </a:extLst>
          </p:cNvPr>
          <p:cNvSpPr/>
          <p:nvPr/>
        </p:nvSpPr>
        <p:spPr>
          <a:xfrm>
            <a:off x="660400" y="3529330"/>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CB43647-767A-C52B-F815-791AB4AD5D57}"/>
              </a:ext>
            </a:extLst>
          </p:cNvPr>
          <p:cNvSpPr txBox="1"/>
          <p:nvPr/>
        </p:nvSpPr>
        <p:spPr>
          <a:xfrm>
            <a:off x="889000" y="344932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Access: quarterly review of role assignments on the workspace, rules and Arc resources; ingestion identities still least privilege</a:t>
            </a:r>
          </a:p>
        </p:txBody>
      </p:sp>
      <p:sp>
        <p:nvSpPr>
          <p:cNvPr id="19" name="Oval 18">
            <a:extLst>
              <a:ext uri="{FF2B5EF4-FFF2-40B4-BE49-F238E27FC236}">
                <a16:creationId xmlns:a16="http://schemas.microsoft.com/office/drawing/2014/main" id="{704BF473-9C1F-1AA9-5417-22EAC2DBA20A}"/>
              </a:ext>
            </a:extLst>
          </p:cNvPr>
          <p:cNvSpPr/>
          <p:nvPr/>
        </p:nvSpPr>
        <p:spPr>
          <a:xfrm>
            <a:off x="660400" y="4162298"/>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69D807E-D584-2C7A-350F-9A2DCBEC1F21}"/>
              </a:ext>
            </a:extLst>
          </p:cNvPr>
          <p:cNvSpPr txBox="1"/>
          <p:nvPr/>
        </p:nvSpPr>
        <p:spPr>
          <a:xfrm>
            <a:off x="889000" y="408228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Residency: new workspaces or tables that moved region; Private Link scopes still covering the sites that require them</a:t>
            </a:r>
          </a:p>
        </p:txBody>
      </p:sp>
    </p:spTree>
    <p:extLst>
      <p:ext uri="{BB962C8B-B14F-4D97-AF65-F5344CB8AC3E}">
        <p14:creationId xmlns:p14="http://schemas.microsoft.com/office/powerpoint/2010/main" val="2723393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218B1CF2-FB17-2E95-150D-1340B72C6AE2}"/>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DC323D96-72AE-97D2-AF89-F6CA9969DCF9}"/>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5EE02EB-7793-64D2-FDE5-0B744CE7A96B}"/>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88F5196-248D-4CF6-BAC5-C063B094A8F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Observing the observability platform</a:t>
            </a:r>
          </a:p>
        </p:txBody>
      </p:sp>
      <p:sp>
        <p:nvSpPr>
          <p:cNvPr id="6" name="ChapterTag">
            <a:extLst>
              <a:ext uri="{FF2B5EF4-FFF2-40B4-BE49-F238E27FC236}">
                <a16:creationId xmlns:a16="http://schemas.microsoft.com/office/drawing/2014/main" id="{8C853030-EA5C-0DEF-1B3E-AE9216489F3D}"/>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9614A073-6F8A-3F70-F7E4-11A1CFD39F5B}"/>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75CACF42-2C5B-5529-0778-177D11266FB0}"/>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79</a:t>
            </a:r>
          </a:p>
        </p:txBody>
      </p:sp>
      <p:sp>
        <p:nvSpPr>
          <p:cNvPr id="9" name="Oval 8">
            <a:extLst>
              <a:ext uri="{FF2B5EF4-FFF2-40B4-BE49-F238E27FC236}">
                <a16:creationId xmlns:a16="http://schemas.microsoft.com/office/drawing/2014/main" id="{28A092A3-3465-C9A6-EA9E-AC8CB9EA7628}"/>
              </a:ext>
            </a:extLst>
          </p:cNvPr>
          <p:cNvSpPr/>
          <p:nvPr/>
        </p:nvSpPr>
        <p:spPr>
          <a:xfrm>
            <a:off x="660400" y="1680210"/>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81051B4-C080-5232-E4E7-3A75EFA62C7F}"/>
              </a:ext>
            </a:extLst>
          </p:cNvPr>
          <p:cNvSpPr txBox="1"/>
          <p:nvPr/>
        </p:nvSpPr>
        <p:spPr>
          <a:xfrm>
            <a:off x="889000" y="1600200"/>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Heartbeat coverage: the inventory-to-heartbeat query from chapter 6, on a schedule, with an owned alert</a:t>
            </a:r>
          </a:p>
        </p:txBody>
      </p:sp>
      <p:sp>
        <p:nvSpPr>
          <p:cNvPr id="11" name="Oval 10">
            <a:extLst>
              <a:ext uri="{FF2B5EF4-FFF2-40B4-BE49-F238E27FC236}">
                <a16:creationId xmlns:a16="http://schemas.microsoft.com/office/drawing/2014/main" id="{D63BAD30-8AC0-D275-FD65-3A2FF4BE90B6}"/>
              </a:ext>
            </a:extLst>
          </p:cNvPr>
          <p:cNvSpPr/>
          <p:nvPr/>
        </p:nvSpPr>
        <p:spPr>
          <a:xfrm>
            <a:off x="660400" y="2085594"/>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ECB8363-F8D3-DF20-84C0-A02A86B4E24F}"/>
              </a:ext>
            </a:extLst>
          </p:cNvPr>
          <p:cNvSpPr txBox="1"/>
          <p:nvPr/>
        </p:nvSpPr>
        <p:spPr>
          <a:xfrm>
            <a:off x="889000" y="2005584"/>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Ingestion latency and failures: the Operation table, agent troubleshooter output, data collection rule errors</a:t>
            </a:r>
          </a:p>
        </p:txBody>
      </p:sp>
      <p:sp>
        <p:nvSpPr>
          <p:cNvPr id="13" name="Oval 12">
            <a:extLst>
              <a:ext uri="{FF2B5EF4-FFF2-40B4-BE49-F238E27FC236}">
                <a16:creationId xmlns:a16="http://schemas.microsoft.com/office/drawing/2014/main" id="{4B5B63A8-0BC9-7A3E-9D44-191DEEC1D10E}"/>
              </a:ext>
            </a:extLst>
          </p:cNvPr>
          <p:cNvSpPr/>
          <p:nvPr/>
        </p:nvSpPr>
        <p:spPr>
          <a:xfrm>
            <a:off x="660400" y="2490978"/>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386C1E7-CDF2-C189-DD36-9C46808E624B}"/>
              </a:ext>
            </a:extLst>
          </p:cNvPr>
          <p:cNvSpPr txBox="1"/>
          <p:nvPr/>
        </p:nvSpPr>
        <p:spPr>
          <a:xfrm>
            <a:off x="889000" y="2410968"/>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Freshness per source: a per-source last-record age signal in the health model; stale is Unknown, not Healthy</a:t>
            </a:r>
          </a:p>
        </p:txBody>
      </p:sp>
      <p:sp>
        <p:nvSpPr>
          <p:cNvPr id="15" name="Oval 14">
            <a:extLst>
              <a:ext uri="{FF2B5EF4-FFF2-40B4-BE49-F238E27FC236}">
                <a16:creationId xmlns:a16="http://schemas.microsoft.com/office/drawing/2014/main" id="{4146FF4B-071A-9BEE-98A7-697B00C3F6B4}"/>
              </a:ext>
            </a:extLst>
          </p:cNvPr>
          <p:cNvSpPr/>
          <p:nvPr/>
        </p:nvSpPr>
        <p:spPr>
          <a:xfrm>
            <a:off x="660400" y="2896362"/>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37F00D9-403A-815C-BE65-9DDBD3B2F3EC}"/>
              </a:ext>
            </a:extLst>
          </p:cNvPr>
          <p:cNvSpPr txBox="1"/>
          <p:nvPr/>
        </p:nvSpPr>
        <p:spPr>
          <a:xfrm>
            <a:off x="889000" y="2816352"/>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Alert delivery: a synthetic alert per action group on a schedule; a configured rule is not proof of delivery</a:t>
            </a:r>
          </a:p>
        </p:txBody>
      </p:sp>
      <p:sp>
        <p:nvSpPr>
          <p:cNvPr id="17" name="Oval 16">
            <a:extLst>
              <a:ext uri="{FF2B5EF4-FFF2-40B4-BE49-F238E27FC236}">
                <a16:creationId xmlns:a16="http://schemas.microsoft.com/office/drawing/2014/main" id="{0153FD4D-F6CF-99FE-7138-4F4B3ADD5562}"/>
              </a:ext>
            </a:extLst>
          </p:cNvPr>
          <p:cNvSpPr/>
          <p:nvPr/>
        </p:nvSpPr>
        <p:spPr>
          <a:xfrm>
            <a:off x="660400" y="3301746"/>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B4A40D6-3291-B07E-8713-203DFC10D1C4}"/>
              </a:ext>
            </a:extLst>
          </p:cNvPr>
          <p:cNvSpPr txBox="1"/>
          <p:nvPr/>
        </p:nvSpPr>
        <p:spPr>
          <a:xfrm>
            <a:off x="889000" y="3221736"/>
            <a:ext cx="10693400" cy="329184"/>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Workspace limits: daily cap, query throttling, table counts; Azure Monitor workspace sample limits</a:t>
            </a:r>
          </a:p>
        </p:txBody>
      </p:sp>
      <p:sp>
        <p:nvSpPr>
          <p:cNvPr id="19" name="Oval 18">
            <a:extLst>
              <a:ext uri="{FF2B5EF4-FFF2-40B4-BE49-F238E27FC236}">
                <a16:creationId xmlns:a16="http://schemas.microsoft.com/office/drawing/2014/main" id="{0D1F8C39-2659-BA32-A1B7-656F5C1A0905}"/>
              </a:ext>
            </a:extLst>
          </p:cNvPr>
          <p:cNvSpPr/>
          <p:nvPr/>
        </p:nvSpPr>
        <p:spPr>
          <a:xfrm>
            <a:off x="660400" y="3707130"/>
            <a:ext cx="101600" cy="1016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208388F-0C93-5ADD-4E25-B9D901679CD4}"/>
              </a:ext>
            </a:extLst>
          </p:cNvPr>
          <p:cNvSpPr txBox="1"/>
          <p:nvPr/>
        </p:nvSpPr>
        <p:spPr>
          <a:xfrm>
            <a:off x="889000" y="3627120"/>
            <a:ext cx="10693400" cy="556768"/>
          </a:xfrm>
          <a:prstGeom prst="rect">
            <a:avLst/>
          </a:prstGeom>
          <a:noFill/>
        </p:spPr>
        <p:txBody>
          <a:bodyPr vert="horz" wrap="square" lIns="25400" tIns="12700" rIns="25400" bIns="12700" rtlCol="0" anchor="t">
            <a:noAutofit/>
          </a:bodyPr>
          <a:lstStyle/>
          <a:p>
            <a:r>
              <a:rPr lang="en-US" sz="1400">
                <a:solidFill>
                  <a:srgbClr val="F4F4F5"/>
                </a:solidFill>
                <a:latin typeface="Calibri" panose="020F0502020204030204" pitchFamily="34" charset="0"/>
              </a:rPr>
              <a:t>Platform dependencies: Arc gateway, Private Link endpoints, the resource bridge and the connector have their own health to watch</a:t>
            </a:r>
          </a:p>
        </p:txBody>
      </p:sp>
    </p:spTree>
    <p:extLst>
      <p:ext uri="{BB962C8B-B14F-4D97-AF65-F5344CB8AC3E}">
        <p14:creationId xmlns:p14="http://schemas.microsoft.com/office/powerpoint/2010/main" val="20396654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40D7A77F-E208-0C23-108D-EAA8232901FB}"/>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E908B1BB-0D5D-2EEF-A824-DDE1B3334DEA}"/>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2462B08-E82E-8112-D0A3-974F7ACE0AAB}"/>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945EFBF-7EBC-1545-0B65-70BCF53EF572}"/>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The operating cycle</a:t>
            </a:r>
          </a:p>
        </p:txBody>
      </p:sp>
      <p:sp>
        <p:nvSpPr>
          <p:cNvPr id="6" name="ChapterTag">
            <a:extLst>
              <a:ext uri="{FF2B5EF4-FFF2-40B4-BE49-F238E27FC236}">
                <a16:creationId xmlns:a16="http://schemas.microsoft.com/office/drawing/2014/main" id="{BD6DE422-BF35-2E78-8A2C-563F5C2FDA2E}"/>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B99EC722-D26B-4344-9F4E-B6F7D3F4CA8D}"/>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677BB029-2684-ED24-46C9-52306AC91BD1}"/>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80</a:t>
            </a:r>
          </a:p>
        </p:txBody>
      </p:sp>
      <p:sp>
        <p:nvSpPr>
          <p:cNvPr id="9" name="Oval 8">
            <a:extLst>
              <a:ext uri="{FF2B5EF4-FFF2-40B4-BE49-F238E27FC236}">
                <a16:creationId xmlns:a16="http://schemas.microsoft.com/office/drawing/2014/main" id="{7A6FBECD-951E-77DA-3F43-794C7CC3EFA3}"/>
              </a:ext>
            </a:extLst>
          </p:cNvPr>
          <p:cNvSpPr/>
          <p:nvPr/>
        </p:nvSpPr>
        <p:spPr>
          <a:xfrm>
            <a:off x="660400" y="17780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1</a:t>
            </a:r>
          </a:p>
        </p:txBody>
      </p:sp>
      <p:sp>
        <p:nvSpPr>
          <p:cNvPr id="10" name="Rectangle: Rounded Corners 9">
            <a:extLst>
              <a:ext uri="{FF2B5EF4-FFF2-40B4-BE49-F238E27FC236}">
                <a16:creationId xmlns:a16="http://schemas.microsoft.com/office/drawing/2014/main" id="{C39E3C99-B58F-BF03-6F52-4C0ADB82C39F}"/>
              </a:ext>
            </a:extLst>
          </p:cNvPr>
          <p:cNvSpPr/>
          <p:nvPr/>
        </p:nvSpPr>
        <p:spPr>
          <a:xfrm>
            <a:off x="1219200" y="16002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Inventory expected sources</a:t>
            </a:r>
          </a:p>
        </p:txBody>
      </p:sp>
      <p:sp>
        <p:nvSpPr>
          <p:cNvPr id="11" name="Oval 10">
            <a:extLst>
              <a:ext uri="{FF2B5EF4-FFF2-40B4-BE49-F238E27FC236}">
                <a16:creationId xmlns:a16="http://schemas.microsoft.com/office/drawing/2014/main" id="{25A81CEB-6748-AE30-98D6-D87767EE406B}"/>
              </a:ext>
            </a:extLst>
          </p:cNvPr>
          <p:cNvSpPr/>
          <p:nvPr/>
        </p:nvSpPr>
        <p:spPr>
          <a:xfrm>
            <a:off x="660400" y="25654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2</a:t>
            </a:r>
          </a:p>
        </p:txBody>
      </p:sp>
      <p:sp>
        <p:nvSpPr>
          <p:cNvPr id="12" name="Rectangle: Rounded Corners 11">
            <a:extLst>
              <a:ext uri="{FF2B5EF4-FFF2-40B4-BE49-F238E27FC236}">
                <a16:creationId xmlns:a16="http://schemas.microsoft.com/office/drawing/2014/main" id="{660A1BF7-9254-FFFF-8B40-76E6129DB4BF}"/>
              </a:ext>
            </a:extLst>
          </p:cNvPr>
          <p:cNvSpPr/>
          <p:nvPr/>
        </p:nvSpPr>
        <p:spPr>
          <a:xfrm>
            <a:off x="1219200" y="23876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Measure volume and freshness</a:t>
            </a:r>
          </a:p>
        </p:txBody>
      </p:sp>
      <p:sp>
        <p:nvSpPr>
          <p:cNvPr id="13" name="Oval 12">
            <a:extLst>
              <a:ext uri="{FF2B5EF4-FFF2-40B4-BE49-F238E27FC236}">
                <a16:creationId xmlns:a16="http://schemas.microsoft.com/office/drawing/2014/main" id="{4B7DA640-AD30-6C4A-D77B-31BC9C6DF4AA}"/>
              </a:ext>
            </a:extLst>
          </p:cNvPr>
          <p:cNvSpPr/>
          <p:nvPr/>
        </p:nvSpPr>
        <p:spPr>
          <a:xfrm>
            <a:off x="660400" y="33528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3</a:t>
            </a:r>
          </a:p>
        </p:txBody>
      </p:sp>
      <p:sp>
        <p:nvSpPr>
          <p:cNvPr id="14" name="Rectangle: Rounded Corners 13">
            <a:extLst>
              <a:ext uri="{FF2B5EF4-FFF2-40B4-BE49-F238E27FC236}">
                <a16:creationId xmlns:a16="http://schemas.microsoft.com/office/drawing/2014/main" id="{2B6D1A86-8D37-376B-9C73-E5E3E7B38173}"/>
              </a:ext>
            </a:extLst>
          </p:cNvPr>
          <p:cNvSpPr/>
          <p:nvPr/>
        </p:nvSpPr>
        <p:spPr>
          <a:xfrm>
            <a:off x="1219200" y="31750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Tune signals, windows, routes and plans</a:t>
            </a:r>
          </a:p>
        </p:txBody>
      </p:sp>
      <p:sp>
        <p:nvSpPr>
          <p:cNvPr id="15" name="Oval 14">
            <a:extLst>
              <a:ext uri="{FF2B5EF4-FFF2-40B4-BE49-F238E27FC236}">
                <a16:creationId xmlns:a16="http://schemas.microsoft.com/office/drawing/2014/main" id="{6C683445-F10C-D3EF-ACC3-0CC1954FF572}"/>
              </a:ext>
            </a:extLst>
          </p:cNvPr>
          <p:cNvSpPr/>
          <p:nvPr/>
        </p:nvSpPr>
        <p:spPr>
          <a:xfrm>
            <a:off x="660400" y="41402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4</a:t>
            </a:r>
          </a:p>
        </p:txBody>
      </p:sp>
      <p:sp>
        <p:nvSpPr>
          <p:cNvPr id="16" name="Rectangle: Rounded Corners 15">
            <a:extLst>
              <a:ext uri="{FF2B5EF4-FFF2-40B4-BE49-F238E27FC236}">
                <a16:creationId xmlns:a16="http://schemas.microsoft.com/office/drawing/2014/main" id="{1EFE7487-2A76-DD4E-DFBC-960B62D84D7F}"/>
              </a:ext>
            </a:extLst>
          </p:cNvPr>
          <p:cNvSpPr/>
          <p:nvPr/>
        </p:nvSpPr>
        <p:spPr>
          <a:xfrm>
            <a:off x="1219200" y="39624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Review noise and missed impact</a:t>
            </a:r>
          </a:p>
        </p:txBody>
      </p:sp>
      <p:sp>
        <p:nvSpPr>
          <p:cNvPr id="17" name="Oval 16">
            <a:extLst>
              <a:ext uri="{FF2B5EF4-FFF2-40B4-BE49-F238E27FC236}">
                <a16:creationId xmlns:a16="http://schemas.microsoft.com/office/drawing/2014/main" id="{41A60FDC-B59C-6429-235F-DEEF926870A6}"/>
              </a:ext>
            </a:extLst>
          </p:cNvPr>
          <p:cNvSpPr/>
          <p:nvPr/>
        </p:nvSpPr>
        <p:spPr>
          <a:xfrm>
            <a:off x="660400" y="49276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5</a:t>
            </a:r>
          </a:p>
        </p:txBody>
      </p:sp>
      <p:sp>
        <p:nvSpPr>
          <p:cNvPr id="18" name="Rectangle: Rounded Corners 17">
            <a:extLst>
              <a:ext uri="{FF2B5EF4-FFF2-40B4-BE49-F238E27FC236}">
                <a16:creationId xmlns:a16="http://schemas.microsoft.com/office/drawing/2014/main" id="{530DB30C-F40C-2FAE-0180-D511677FFBB9}"/>
              </a:ext>
            </a:extLst>
          </p:cNvPr>
          <p:cNvSpPr/>
          <p:nvPr/>
        </p:nvSpPr>
        <p:spPr>
          <a:xfrm>
            <a:off x="1219200" y="47498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Own runbooks and escalation</a:t>
            </a:r>
          </a:p>
        </p:txBody>
      </p:sp>
      <p:sp>
        <p:nvSpPr>
          <p:cNvPr id="19" name="Oval 18">
            <a:extLst>
              <a:ext uri="{FF2B5EF4-FFF2-40B4-BE49-F238E27FC236}">
                <a16:creationId xmlns:a16="http://schemas.microsoft.com/office/drawing/2014/main" id="{E1F0CA70-DB44-E5CD-1AF4-069D901ACCB4}"/>
              </a:ext>
            </a:extLst>
          </p:cNvPr>
          <p:cNvSpPr/>
          <p:nvPr/>
        </p:nvSpPr>
        <p:spPr>
          <a:xfrm>
            <a:off x="660400" y="5715000"/>
            <a:ext cx="381000" cy="3810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300" b="1">
                <a:solidFill>
                  <a:srgbClr val="18181B"/>
                </a:solidFill>
                <a:latin typeface="Calibri" panose="020F0502020204030204" pitchFamily="34" charset="0"/>
              </a:rPr>
              <a:t>6</a:t>
            </a:r>
          </a:p>
        </p:txBody>
      </p:sp>
      <p:sp>
        <p:nvSpPr>
          <p:cNvPr id="20" name="Rectangle: Rounded Corners 19">
            <a:extLst>
              <a:ext uri="{FF2B5EF4-FFF2-40B4-BE49-F238E27FC236}">
                <a16:creationId xmlns:a16="http://schemas.microsoft.com/office/drawing/2014/main" id="{993E4D77-B2D3-6397-FF43-44D144EFBBB5}"/>
              </a:ext>
            </a:extLst>
          </p:cNvPr>
          <p:cNvSpPr/>
          <p:nvPr/>
        </p:nvSpPr>
        <p:spPr>
          <a:xfrm>
            <a:off x="1219200" y="5537200"/>
            <a:ext cx="10363200" cy="7112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r>
              <a:rPr lang="en-US" sz="1400">
                <a:solidFill>
                  <a:srgbClr val="F4F4F5"/>
                </a:solidFill>
                <a:latin typeface="Calibri" panose="020F0502020204030204" pitchFamily="34" charset="0"/>
              </a:rPr>
              <a:t>Repeat when architecture, owners or expectations change</a:t>
            </a:r>
          </a:p>
        </p:txBody>
      </p:sp>
    </p:spTree>
    <p:extLst>
      <p:ext uri="{BB962C8B-B14F-4D97-AF65-F5344CB8AC3E}">
        <p14:creationId xmlns:p14="http://schemas.microsoft.com/office/powerpoint/2010/main" val="25832145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B39CC036-FF4B-FF2E-1607-DB7F010E0B0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A4827FD1-F523-706D-EF6B-28D0FA0E4E46}"/>
              </a:ext>
            </a:extLst>
          </p:cNvPr>
          <p:cNvSpPr/>
          <p:nvPr/>
        </p:nvSpPr>
        <p:spPr>
          <a:xfrm>
            <a:off x="0" y="1295400"/>
            <a:ext cx="12192000" cy="38100"/>
          </a:xfrm>
          <a:prstGeom prst="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21451FE-B052-5A5A-D506-30694A79394A}"/>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7BE5031-F089-2CD7-D347-4E032A8AD650}"/>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Anti-patterns to name out loud</a:t>
            </a:r>
          </a:p>
        </p:txBody>
      </p:sp>
      <p:sp>
        <p:nvSpPr>
          <p:cNvPr id="6" name="ChapterTag">
            <a:extLst>
              <a:ext uri="{FF2B5EF4-FFF2-40B4-BE49-F238E27FC236}">
                <a16:creationId xmlns:a16="http://schemas.microsoft.com/office/drawing/2014/main" id="{07FE25A2-1EE9-9050-E24A-F63751ADCBD6}"/>
              </a:ext>
            </a:extLst>
          </p:cNvPr>
          <p:cNvSpPr/>
          <p:nvPr/>
        </p:nvSpPr>
        <p:spPr>
          <a:xfrm>
            <a:off x="9245600" y="381000"/>
            <a:ext cx="2336800" cy="330200"/>
          </a:xfrm>
          <a:prstGeom prst="roundRect">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7 · OPERATE</a:t>
            </a:r>
          </a:p>
        </p:txBody>
      </p:sp>
      <p:sp>
        <p:nvSpPr>
          <p:cNvPr id="7" name="TextBox 6">
            <a:extLst>
              <a:ext uri="{FF2B5EF4-FFF2-40B4-BE49-F238E27FC236}">
                <a16:creationId xmlns:a16="http://schemas.microsoft.com/office/drawing/2014/main" id="{AF5AE7D0-28CC-7F52-990D-24A851AF4D33}"/>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DB2427E0-4E39-BC12-C945-C08FD6F87DCE}"/>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81</a:t>
            </a:r>
          </a:p>
        </p:txBody>
      </p:sp>
      <p:sp>
        <p:nvSpPr>
          <p:cNvPr id="9" name="Rectangle: Rounded Corners 8">
            <a:extLst>
              <a:ext uri="{FF2B5EF4-FFF2-40B4-BE49-F238E27FC236}">
                <a16:creationId xmlns:a16="http://schemas.microsoft.com/office/drawing/2014/main" id="{861CC3EF-8F86-02CB-745F-A76754D821E8}"/>
              </a:ext>
            </a:extLst>
          </p:cNvPr>
          <p:cNvSpPr/>
          <p:nvPr/>
        </p:nvSpPr>
        <p:spPr>
          <a:xfrm>
            <a:off x="609600" y="1600200"/>
            <a:ext cx="5384800" cy="4699000"/>
          </a:xfrm>
          <a:prstGeom prst="roundRect">
            <a:avLst>
              <a:gd name="adj" fmla="val 4000"/>
            </a:avLst>
          </a:prstGeom>
          <a:noFill/>
          <a:ln w="15875" cap="flat" cmpd="sng" algn="ctr">
            <a:solidFill>
              <a:srgbClr val="FA8282"/>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E52B913-E827-D0AB-5E9D-FD19324CBAEC}"/>
              </a:ext>
            </a:extLst>
          </p:cNvPr>
          <p:cNvSpPr txBox="1"/>
          <p:nvPr/>
        </p:nvSpPr>
        <p:spPr>
          <a:xfrm>
            <a:off x="762000" y="1701800"/>
            <a:ext cx="5080000" cy="279400"/>
          </a:xfrm>
          <a:prstGeom prst="rect">
            <a:avLst/>
          </a:prstGeom>
          <a:noFill/>
        </p:spPr>
        <p:txBody>
          <a:bodyPr vert="horz" wrap="square" lIns="25400" tIns="12700" rIns="25400" bIns="12700" rtlCol="0" anchor="t">
            <a:noAutofit/>
          </a:bodyPr>
          <a:lstStyle/>
          <a:p>
            <a:r>
              <a:rPr lang="en-US" sz="1250" b="1">
                <a:solidFill>
                  <a:srgbClr val="FA8282"/>
                </a:solidFill>
                <a:latin typeface="Calibri" panose="020F0502020204030204" pitchFamily="34" charset="0"/>
              </a:rPr>
              <a:t>DO NOT</a:t>
            </a:r>
          </a:p>
        </p:txBody>
      </p:sp>
      <p:sp>
        <p:nvSpPr>
          <p:cNvPr id="11" name="Oval 10">
            <a:extLst>
              <a:ext uri="{FF2B5EF4-FFF2-40B4-BE49-F238E27FC236}">
                <a16:creationId xmlns:a16="http://schemas.microsoft.com/office/drawing/2014/main" id="{CB779B3E-4197-663A-FC13-DCAAE3813758}"/>
              </a:ext>
            </a:extLst>
          </p:cNvPr>
          <p:cNvSpPr/>
          <p:nvPr/>
        </p:nvSpPr>
        <p:spPr>
          <a:xfrm>
            <a:off x="787400" y="2131695"/>
            <a:ext cx="88900" cy="889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1AEC12F-3E88-00E6-DA5F-C3D7DFB45D8B}"/>
              </a:ext>
            </a:extLst>
          </p:cNvPr>
          <p:cNvSpPr txBox="1"/>
          <p:nvPr/>
        </p:nvSpPr>
        <p:spPr>
          <a:xfrm>
            <a:off x="965200" y="2057400"/>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install agents before owners and tags</a:t>
            </a:r>
          </a:p>
        </p:txBody>
      </p:sp>
      <p:sp>
        <p:nvSpPr>
          <p:cNvPr id="13" name="Oval 12">
            <a:extLst>
              <a:ext uri="{FF2B5EF4-FFF2-40B4-BE49-F238E27FC236}">
                <a16:creationId xmlns:a16="http://schemas.microsoft.com/office/drawing/2014/main" id="{2FEF4E4B-9EC0-4CFE-FAFE-17DAE6CE0633}"/>
              </a:ext>
            </a:extLst>
          </p:cNvPr>
          <p:cNvSpPr/>
          <p:nvPr/>
        </p:nvSpPr>
        <p:spPr>
          <a:xfrm>
            <a:off x="787400" y="2470023"/>
            <a:ext cx="88900" cy="889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E4B5892-FCC6-DA71-999D-4204065426CF}"/>
              </a:ext>
            </a:extLst>
          </p:cNvPr>
          <p:cNvSpPr txBox="1"/>
          <p:nvPr/>
        </p:nvSpPr>
        <p:spPr>
          <a:xfrm>
            <a:off x="965200" y="2395728"/>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collect everything and decide later</a:t>
            </a:r>
          </a:p>
        </p:txBody>
      </p:sp>
      <p:sp>
        <p:nvSpPr>
          <p:cNvPr id="15" name="Oval 14">
            <a:extLst>
              <a:ext uri="{FF2B5EF4-FFF2-40B4-BE49-F238E27FC236}">
                <a16:creationId xmlns:a16="http://schemas.microsoft.com/office/drawing/2014/main" id="{51C2C0C3-9D5F-9EDE-72FD-0A89F90C453B}"/>
              </a:ext>
            </a:extLst>
          </p:cNvPr>
          <p:cNvSpPr/>
          <p:nvPr/>
        </p:nvSpPr>
        <p:spPr>
          <a:xfrm>
            <a:off x="787400" y="2808351"/>
            <a:ext cx="88900" cy="889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5BA36AD-B306-2219-6D50-370BDFBE901F}"/>
              </a:ext>
            </a:extLst>
          </p:cNvPr>
          <p:cNvSpPr txBox="1"/>
          <p:nvPr/>
        </p:nvSpPr>
        <p:spPr>
          <a:xfrm>
            <a:off x="965200" y="2734056"/>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one workspace per team or per cloud</a:t>
            </a:r>
          </a:p>
        </p:txBody>
      </p:sp>
      <p:sp>
        <p:nvSpPr>
          <p:cNvPr id="17" name="Oval 16">
            <a:extLst>
              <a:ext uri="{FF2B5EF4-FFF2-40B4-BE49-F238E27FC236}">
                <a16:creationId xmlns:a16="http://schemas.microsoft.com/office/drawing/2014/main" id="{271ECA10-9CF2-7E1B-0E34-F8C32F376C21}"/>
              </a:ext>
            </a:extLst>
          </p:cNvPr>
          <p:cNvSpPr/>
          <p:nvPr/>
        </p:nvSpPr>
        <p:spPr>
          <a:xfrm>
            <a:off x="787400" y="3146679"/>
            <a:ext cx="88900" cy="889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18EE0C1-24CE-E65A-31A4-AAA13F7DAB4F}"/>
              </a:ext>
            </a:extLst>
          </p:cNvPr>
          <p:cNvSpPr txBox="1"/>
          <p:nvPr/>
        </p:nvSpPr>
        <p:spPr>
          <a:xfrm>
            <a:off x="965200" y="3072384"/>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alerts per resource with no owner</a:t>
            </a:r>
          </a:p>
        </p:txBody>
      </p:sp>
      <p:sp>
        <p:nvSpPr>
          <p:cNvPr id="19" name="Oval 18">
            <a:extLst>
              <a:ext uri="{FF2B5EF4-FFF2-40B4-BE49-F238E27FC236}">
                <a16:creationId xmlns:a16="http://schemas.microsoft.com/office/drawing/2014/main" id="{D79DDE93-8EC4-3276-6DD4-2C1BDAD0B985}"/>
              </a:ext>
            </a:extLst>
          </p:cNvPr>
          <p:cNvSpPr/>
          <p:nvPr/>
        </p:nvSpPr>
        <p:spPr>
          <a:xfrm>
            <a:off x="787400" y="3485007"/>
            <a:ext cx="88900" cy="889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4F2F079-3523-67AD-FDBD-FA5B0C2E86F0}"/>
              </a:ext>
            </a:extLst>
          </p:cNvPr>
          <p:cNvSpPr txBox="1"/>
          <p:nvPr/>
        </p:nvSpPr>
        <p:spPr>
          <a:xfrm>
            <a:off x="965200" y="3410712"/>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declare recovery from a dashboard</a:t>
            </a:r>
          </a:p>
        </p:txBody>
      </p:sp>
      <p:sp>
        <p:nvSpPr>
          <p:cNvPr id="21" name="Oval 20">
            <a:extLst>
              <a:ext uri="{FF2B5EF4-FFF2-40B4-BE49-F238E27FC236}">
                <a16:creationId xmlns:a16="http://schemas.microsoft.com/office/drawing/2014/main" id="{5D078D37-158C-4BE7-5741-35D90BD97C7B}"/>
              </a:ext>
            </a:extLst>
          </p:cNvPr>
          <p:cNvSpPr/>
          <p:nvPr/>
        </p:nvSpPr>
        <p:spPr>
          <a:xfrm>
            <a:off x="787400" y="3823335"/>
            <a:ext cx="88900" cy="88900"/>
          </a:xfrm>
          <a:prstGeom prst="ellipse">
            <a:avLst/>
          </a:prstGeom>
          <a:solidFill>
            <a:srgbClr val="FA82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E4E559A-DEDF-9BA6-86AF-31FC5FB03A27}"/>
              </a:ext>
            </a:extLst>
          </p:cNvPr>
          <p:cNvSpPr txBox="1"/>
          <p:nvPr/>
        </p:nvSpPr>
        <p:spPr>
          <a:xfrm>
            <a:off x="965200" y="3749040"/>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treat Arc-connected as monitored</a:t>
            </a:r>
          </a:p>
        </p:txBody>
      </p:sp>
      <p:sp>
        <p:nvSpPr>
          <p:cNvPr id="23" name="Rectangle: Rounded Corners 22">
            <a:extLst>
              <a:ext uri="{FF2B5EF4-FFF2-40B4-BE49-F238E27FC236}">
                <a16:creationId xmlns:a16="http://schemas.microsoft.com/office/drawing/2014/main" id="{863D976F-2C63-E145-DA1B-A9AF04BCCB9C}"/>
              </a:ext>
            </a:extLst>
          </p:cNvPr>
          <p:cNvSpPr/>
          <p:nvPr/>
        </p:nvSpPr>
        <p:spPr>
          <a:xfrm>
            <a:off x="6197600" y="1600200"/>
            <a:ext cx="5384800" cy="4699000"/>
          </a:xfrm>
          <a:prstGeom prst="roundRect">
            <a:avLst>
              <a:gd name="adj" fmla="val 4000"/>
            </a:avLst>
          </a:prstGeom>
          <a:noFill/>
          <a:ln w="15875" cap="flat" cmpd="sng" algn="ctr">
            <a:solidFill>
              <a:srgbClr val="2DD4BF"/>
            </a:solidFill>
            <a:prstDash val="dash"/>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90F7386E-8CBD-E67D-AA36-4BB900CCA34F}"/>
              </a:ext>
            </a:extLst>
          </p:cNvPr>
          <p:cNvSpPr txBox="1"/>
          <p:nvPr/>
        </p:nvSpPr>
        <p:spPr>
          <a:xfrm>
            <a:off x="6350000" y="1701800"/>
            <a:ext cx="5080000" cy="279400"/>
          </a:xfrm>
          <a:prstGeom prst="rect">
            <a:avLst/>
          </a:prstGeom>
          <a:noFill/>
        </p:spPr>
        <p:txBody>
          <a:bodyPr vert="horz" wrap="square" lIns="25400" tIns="12700" rIns="25400" bIns="12700" rtlCol="0" anchor="t">
            <a:noAutofit/>
          </a:bodyPr>
          <a:lstStyle/>
          <a:p>
            <a:r>
              <a:rPr lang="en-US" sz="1250" b="1">
                <a:solidFill>
                  <a:srgbClr val="2DD4BF"/>
                </a:solidFill>
                <a:latin typeface="Calibri" panose="020F0502020204030204" pitchFamily="34" charset="0"/>
              </a:rPr>
              <a:t>DO</a:t>
            </a:r>
          </a:p>
        </p:txBody>
      </p:sp>
      <p:sp>
        <p:nvSpPr>
          <p:cNvPr id="25" name="Oval 24">
            <a:extLst>
              <a:ext uri="{FF2B5EF4-FFF2-40B4-BE49-F238E27FC236}">
                <a16:creationId xmlns:a16="http://schemas.microsoft.com/office/drawing/2014/main" id="{22354655-0121-CC3E-9E9F-1452ED001BC1}"/>
              </a:ext>
            </a:extLst>
          </p:cNvPr>
          <p:cNvSpPr/>
          <p:nvPr/>
        </p:nvSpPr>
        <p:spPr>
          <a:xfrm>
            <a:off x="6375400" y="2131695"/>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DA5BFC2-4297-C3A3-9AD0-EAC30A315102}"/>
              </a:ext>
            </a:extLst>
          </p:cNvPr>
          <p:cNvSpPr txBox="1"/>
          <p:nvPr/>
        </p:nvSpPr>
        <p:spPr>
          <a:xfrm>
            <a:off x="6553200" y="2057400"/>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enforce six tags at connect time</a:t>
            </a:r>
          </a:p>
        </p:txBody>
      </p:sp>
      <p:sp>
        <p:nvSpPr>
          <p:cNvPr id="27" name="Oval 26">
            <a:extLst>
              <a:ext uri="{FF2B5EF4-FFF2-40B4-BE49-F238E27FC236}">
                <a16:creationId xmlns:a16="http://schemas.microsoft.com/office/drawing/2014/main" id="{C3D3CCE0-680D-7731-201D-3EC587D32504}"/>
              </a:ext>
            </a:extLst>
          </p:cNvPr>
          <p:cNvSpPr/>
          <p:nvPr/>
        </p:nvSpPr>
        <p:spPr>
          <a:xfrm>
            <a:off x="6375400" y="2470023"/>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0BC0777-EF37-A6CF-0CD3-39E0F9D0F233}"/>
              </a:ext>
            </a:extLst>
          </p:cNvPr>
          <p:cNvSpPr txBox="1"/>
          <p:nvPr/>
        </p:nvSpPr>
        <p:spPr>
          <a:xfrm>
            <a:off x="6553200" y="2395728"/>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collect the signal catalogue, then add on demand</a:t>
            </a:r>
          </a:p>
        </p:txBody>
      </p:sp>
      <p:sp>
        <p:nvSpPr>
          <p:cNvPr id="29" name="Oval 28">
            <a:extLst>
              <a:ext uri="{FF2B5EF4-FFF2-40B4-BE49-F238E27FC236}">
                <a16:creationId xmlns:a16="http://schemas.microsoft.com/office/drawing/2014/main" id="{94869E2B-E870-E3CD-6B42-8F079FBD34BF}"/>
              </a:ext>
            </a:extLst>
          </p:cNvPr>
          <p:cNvSpPr/>
          <p:nvPr/>
        </p:nvSpPr>
        <p:spPr>
          <a:xfrm>
            <a:off x="6375400" y="2808351"/>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80A1761-8D0A-FAC1-0DCF-014C2C473BB3}"/>
              </a:ext>
            </a:extLst>
          </p:cNvPr>
          <p:cNvSpPr txBox="1"/>
          <p:nvPr/>
        </p:nvSpPr>
        <p:spPr>
          <a:xfrm>
            <a:off x="6553200" y="2734056"/>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one workspace, resource-context access</a:t>
            </a:r>
          </a:p>
        </p:txBody>
      </p:sp>
      <p:sp>
        <p:nvSpPr>
          <p:cNvPr id="31" name="Oval 30">
            <a:extLst>
              <a:ext uri="{FF2B5EF4-FFF2-40B4-BE49-F238E27FC236}">
                <a16:creationId xmlns:a16="http://schemas.microsoft.com/office/drawing/2014/main" id="{4D3E3B4E-182D-4354-D43E-CD813775AEC6}"/>
              </a:ext>
            </a:extLst>
          </p:cNvPr>
          <p:cNvSpPr/>
          <p:nvPr/>
        </p:nvSpPr>
        <p:spPr>
          <a:xfrm>
            <a:off x="6375400" y="3146679"/>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48ECA9E2-3FA5-B820-0AFB-AF6D1F33C4A0}"/>
              </a:ext>
            </a:extLst>
          </p:cNvPr>
          <p:cNvSpPr txBox="1"/>
          <p:nvPr/>
        </p:nvSpPr>
        <p:spPr>
          <a:xfrm>
            <a:off x="6553200" y="3072384"/>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alerts on commitments, routed by owner</a:t>
            </a:r>
          </a:p>
        </p:txBody>
      </p:sp>
      <p:sp>
        <p:nvSpPr>
          <p:cNvPr id="33" name="Oval 32">
            <a:extLst>
              <a:ext uri="{FF2B5EF4-FFF2-40B4-BE49-F238E27FC236}">
                <a16:creationId xmlns:a16="http://schemas.microsoft.com/office/drawing/2014/main" id="{013292E4-670E-7498-FE93-9A66CF0CC55E}"/>
              </a:ext>
            </a:extLst>
          </p:cNvPr>
          <p:cNvSpPr/>
          <p:nvPr/>
        </p:nvSpPr>
        <p:spPr>
          <a:xfrm>
            <a:off x="6375400" y="3485007"/>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0C203A1-FC4A-1BB8-538C-3031DC104C5B}"/>
              </a:ext>
            </a:extLst>
          </p:cNvPr>
          <p:cNvSpPr txBox="1"/>
          <p:nvPr/>
        </p:nvSpPr>
        <p:spPr>
          <a:xfrm>
            <a:off x="6553200" y="3410712"/>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prove recovery with fresh transactions</a:t>
            </a:r>
          </a:p>
        </p:txBody>
      </p:sp>
      <p:sp>
        <p:nvSpPr>
          <p:cNvPr id="35" name="Oval 34">
            <a:extLst>
              <a:ext uri="{FF2B5EF4-FFF2-40B4-BE49-F238E27FC236}">
                <a16:creationId xmlns:a16="http://schemas.microsoft.com/office/drawing/2014/main" id="{FEADD768-3343-4246-CA7E-8D8CD6FADC51}"/>
              </a:ext>
            </a:extLst>
          </p:cNvPr>
          <p:cNvSpPr/>
          <p:nvPr/>
        </p:nvSpPr>
        <p:spPr>
          <a:xfrm>
            <a:off x="6375400" y="3823335"/>
            <a:ext cx="88900" cy="88900"/>
          </a:xfrm>
          <a:prstGeom prst="ellipse">
            <a:avLst/>
          </a:prstGeom>
          <a:solidFill>
            <a:srgbClr val="2DD4B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BCF9F16-7F59-C96B-0321-8E3D89E2F63C}"/>
              </a:ext>
            </a:extLst>
          </p:cNvPr>
          <p:cNvSpPr txBox="1"/>
          <p:nvPr/>
        </p:nvSpPr>
        <p:spPr>
          <a:xfrm>
            <a:off x="6553200" y="3749040"/>
            <a:ext cx="4851400" cy="2875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verify evidence arrives from every row, every day</a:t>
            </a:r>
          </a:p>
        </p:txBody>
      </p:sp>
    </p:spTree>
    <p:extLst>
      <p:ext uri="{BB962C8B-B14F-4D97-AF65-F5344CB8AC3E}">
        <p14:creationId xmlns:p14="http://schemas.microsoft.com/office/powerpoint/2010/main" val="132261196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6B1B8653-03D5-13E4-09E0-3C8417572E62}"/>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38672C25-43B3-425B-6C75-33BC2D49E6AB}"/>
              </a:ext>
            </a:extLst>
          </p:cNvPr>
          <p:cNvSpPr/>
          <p:nvPr/>
        </p:nvSpPr>
        <p:spPr>
          <a:xfrm>
            <a:off x="0" y="1295400"/>
            <a:ext cx="12192000" cy="38100"/>
          </a:xfrm>
          <a:prstGeom prst="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E24ADAC-437E-7218-3BB5-1E3D6E6E1E4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45863C9-2E68-4420-BC65-3D01A458AD91}"/>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8 · Reference</a:t>
            </a:r>
          </a:p>
        </p:txBody>
      </p:sp>
      <p:sp>
        <p:nvSpPr>
          <p:cNvPr id="6" name="ChapterTag">
            <a:extLst>
              <a:ext uri="{FF2B5EF4-FFF2-40B4-BE49-F238E27FC236}">
                <a16:creationId xmlns:a16="http://schemas.microsoft.com/office/drawing/2014/main" id="{1F46656C-1E5F-6C97-708C-DAAA0F39CBB5}"/>
              </a:ext>
            </a:extLst>
          </p:cNvPr>
          <p:cNvSpPr/>
          <p:nvPr/>
        </p:nvSpPr>
        <p:spPr>
          <a:xfrm>
            <a:off x="9245600" y="381000"/>
            <a:ext cx="2336800" cy="330200"/>
          </a:xfrm>
          <a:prstGeom prst="round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8 · REFERENCE</a:t>
            </a:r>
          </a:p>
        </p:txBody>
      </p:sp>
      <p:sp>
        <p:nvSpPr>
          <p:cNvPr id="7" name="TextBox 6">
            <a:extLst>
              <a:ext uri="{FF2B5EF4-FFF2-40B4-BE49-F238E27FC236}">
                <a16:creationId xmlns:a16="http://schemas.microsoft.com/office/drawing/2014/main" id="{E3B6F9BE-CB54-3AE8-1363-64592645AD87}"/>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8B68E332-20D3-13E5-A577-7BCBB85A3955}"/>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82</a:t>
            </a:r>
          </a:p>
        </p:txBody>
      </p:sp>
      <p:sp>
        <p:nvSpPr>
          <p:cNvPr id="9" name="TextBox 8">
            <a:extLst>
              <a:ext uri="{FF2B5EF4-FFF2-40B4-BE49-F238E27FC236}">
                <a16:creationId xmlns:a16="http://schemas.microsoft.com/office/drawing/2014/main" id="{88FF9122-CEC3-CEE9-C178-029A67DDC36B}"/>
              </a:ext>
            </a:extLst>
          </p:cNvPr>
          <p:cNvSpPr txBox="1"/>
          <p:nvPr/>
        </p:nvSpPr>
        <p:spPr>
          <a:xfrm>
            <a:off x="609600" y="1625600"/>
            <a:ext cx="1651000" cy="1524000"/>
          </a:xfrm>
          <a:prstGeom prst="rect">
            <a:avLst/>
          </a:prstGeom>
          <a:noFill/>
        </p:spPr>
        <p:txBody>
          <a:bodyPr vert="horz" wrap="square" lIns="25400" tIns="12700" rIns="25400" bIns="12700" rtlCol="0" anchor="t">
            <a:noAutofit/>
          </a:bodyPr>
          <a:lstStyle/>
          <a:p>
            <a:r>
              <a:rPr lang="en-US" sz="9600" b="1">
                <a:solidFill>
                  <a:srgbClr val="B0B0BA"/>
                </a:solidFill>
                <a:latin typeface="Calibri" panose="020F0502020204030204" pitchFamily="34" charset="0"/>
              </a:rPr>
              <a:t>8</a:t>
            </a:r>
          </a:p>
        </p:txBody>
      </p:sp>
      <p:sp>
        <p:nvSpPr>
          <p:cNvPr id="10" name="TextBox 9">
            <a:extLst>
              <a:ext uri="{FF2B5EF4-FFF2-40B4-BE49-F238E27FC236}">
                <a16:creationId xmlns:a16="http://schemas.microsoft.com/office/drawing/2014/main" id="{5D074595-7A15-EA74-D9F6-CF047AF5064B}"/>
              </a:ext>
            </a:extLst>
          </p:cNvPr>
          <p:cNvSpPr txBox="1"/>
          <p:nvPr/>
        </p:nvSpPr>
        <p:spPr>
          <a:xfrm>
            <a:off x="711200" y="3048000"/>
            <a:ext cx="1270000" cy="254000"/>
          </a:xfrm>
          <a:prstGeom prst="rect">
            <a:avLst/>
          </a:prstGeom>
          <a:noFill/>
        </p:spPr>
        <p:txBody>
          <a:bodyPr vert="horz" wrap="square" lIns="25400" tIns="12700" rIns="25400" bIns="12700" rtlCol="0" anchor="t">
            <a:noAutofit/>
          </a:bodyPr>
          <a:lstStyle/>
          <a:p>
            <a:r>
              <a:rPr lang="en-US" sz="1300" b="1">
                <a:solidFill>
                  <a:srgbClr val="B0B0BA"/>
                </a:solidFill>
                <a:latin typeface="Calibri" panose="020F0502020204030204" pitchFamily="34" charset="0"/>
              </a:rPr>
              <a:t>OF 8</a:t>
            </a:r>
          </a:p>
        </p:txBody>
      </p:sp>
      <p:sp>
        <p:nvSpPr>
          <p:cNvPr id="11" name="TextBox 10">
            <a:extLst>
              <a:ext uri="{FF2B5EF4-FFF2-40B4-BE49-F238E27FC236}">
                <a16:creationId xmlns:a16="http://schemas.microsoft.com/office/drawing/2014/main" id="{063F0FFA-8289-02B9-D60C-EDD0D8724F7D}"/>
              </a:ext>
            </a:extLst>
          </p:cNvPr>
          <p:cNvSpPr txBox="1"/>
          <p:nvPr/>
        </p:nvSpPr>
        <p:spPr>
          <a:xfrm>
            <a:off x="2413000" y="1727200"/>
            <a:ext cx="9144000" cy="1143000"/>
          </a:xfrm>
          <a:prstGeom prst="rect">
            <a:avLst/>
          </a:prstGeom>
          <a:noFill/>
        </p:spPr>
        <p:txBody>
          <a:bodyPr vert="horz" wrap="square" lIns="25400" tIns="12700" rIns="25400" bIns="12700" rtlCol="0" anchor="t">
            <a:noAutofit/>
          </a:bodyPr>
          <a:lstStyle/>
          <a:p>
            <a:r>
              <a:rPr lang="en-US" sz="2600" b="1">
                <a:solidFill>
                  <a:srgbClr val="F4F4F5"/>
                </a:solidFill>
                <a:latin typeface="Calibri" panose="020F0502020204030204" pitchFamily="34" charset="0"/>
              </a:rPr>
              <a:t>The lists you will need again: roles, endpoints, limits, commands and links</a:t>
            </a:r>
          </a:p>
        </p:txBody>
      </p:sp>
      <p:sp>
        <p:nvSpPr>
          <p:cNvPr id="12" name="TextBox 11">
            <a:extLst>
              <a:ext uri="{FF2B5EF4-FFF2-40B4-BE49-F238E27FC236}">
                <a16:creationId xmlns:a16="http://schemas.microsoft.com/office/drawing/2014/main" id="{CACA83E5-E5CD-27F8-CDCE-1A3964EB7222}"/>
              </a:ext>
            </a:extLst>
          </p:cNvPr>
          <p:cNvSpPr txBox="1"/>
          <p:nvPr/>
        </p:nvSpPr>
        <p:spPr>
          <a:xfrm>
            <a:off x="2413000" y="3175000"/>
            <a:ext cx="3810000" cy="228600"/>
          </a:xfrm>
          <a:prstGeom prst="rect">
            <a:avLst/>
          </a:prstGeom>
          <a:noFill/>
        </p:spPr>
        <p:txBody>
          <a:bodyPr vert="horz" wrap="square" lIns="25400" tIns="12700" rIns="25400" bIns="12700" rtlCol="0" anchor="t">
            <a:noAutofit/>
          </a:bodyPr>
          <a:lstStyle/>
          <a:p>
            <a:r>
              <a:rPr lang="en-US" sz="1200" b="1">
                <a:solidFill>
                  <a:srgbClr val="B0B0BA"/>
                </a:solidFill>
                <a:latin typeface="Calibri" panose="020F0502020204030204" pitchFamily="34" charset="0"/>
              </a:rPr>
              <a:t>WHAT IT COVERS</a:t>
            </a:r>
          </a:p>
        </p:txBody>
      </p:sp>
      <p:sp>
        <p:nvSpPr>
          <p:cNvPr id="13" name="TextBox 12">
            <a:extLst>
              <a:ext uri="{FF2B5EF4-FFF2-40B4-BE49-F238E27FC236}">
                <a16:creationId xmlns:a16="http://schemas.microsoft.com/office/drawing/2014/main" id="{A4CFAED4-1119-3FBD-BE9E-1E59B3A5260E}"/>
              </a:ext>
            </a:extLst>
          </p:cNvPr>
          <p:cNvSpPr txBox="1"/>
          <p:nvPr/>
        </p:nvSpPr>
        <p:spPr>
          <a:xfrm>
            <a:off x="2413000" y="3429000"/>
            <a:ext cx="9144000" cy="635000"/>
          </a:xfrm>
          <a:prstGeom prst="rect">
            <a:avLst/>
          </a:prstGeom>
          <a:noFill/>
        </p:spPr>
        <p:txBody>
          <a:bodyPr vert="horz" wrap="square" lIns="25400" tIns="12700" rIns="25400" bIns="12700" rtlCol="0" anchor="t">
            <a:noAutofit/>
          </a:bodyPr>
          <a:lstStyle/>
          <a:p>
            <a:endParaRPr lang="en-US" sz="1500">
              <a:solidFill>
                <a:srgbClr val="F4F4F5"/>
              </a:solidFill>
              <a:latin typeface="Calibri" panose="020F0502020204030204" pitchFamily="34" charset="0"/>
            </a:endParaRPr>
          </a:p>
        </p:txBody>
      </p:sp>
      <p:sp>
        <p:nvSpPr>
          <p:cNvPr id="14" name="Rectangle: Rounded Corners 13">
            <a:extLst>
              <a:ext uri="{FF2B5EF4-FFF2-40B4-BE49-F238E27FC236}">
                <a16:creationId xmlns:a16="http://schemas.microsoft.com/office/drawing/2014/main" id="{4476681D-B8C8-5C68-EB10-85F704D425B0}"/>
              </a:ext>
            </a:extLst>
          </p:cNvPr>
          <p:cNvSpPr/>
          <p:nvPr/>
        </p:nvSpPr>
        <p:spPr>
          <a:xfrm>
            <a:off x="609600" y="5588000"/>
            <a:ext cx="1282700" cy="508000"/>
          </a:xfrm>
          <a:prstGeom prst="roundRect">
            <a:avLst>
              <a:gd name="adj" fmla="val 8000"/>
            </a:avLst>
          </a:prstGeom>
          <a:solidFill>
            <a:srgbClr val="34343A"/>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What it is</a:t>
            </a:r>
          </a:p>
        </p:txBody>
      </p:sp>
      <p:sp>
        <p:nvSpPr>
          <p:cNvPr id="15" name="Rectangle: Rounded Corners 14">
            <a:extLst>
              <a:ext uri="{FF2B5EF4-FFF2-40B4-BE49-F238E27FC236}">
                <a16:creationId xmlns:a16="http://schemas.microsoft.com/office/drawing/2014/main" id="{E9A14CCE-5714-FEB7-AE2A-C5E46070922C}"/>
              </a:ext>
            </a:extLst>
          </p:cNvPr>
          <p:cNvSpPr/>
          <p:nvPr/>
        </p:nvSpPr>
        <p:spPr>
          <a:xfrm>
            <a:off x="1993900" y="5588000"/>
            <a:ext cx="1282700" cy="508000"/>
          </a:xfrm>
          <a:prstGeom prst="roundRect">
            <a:avLst>
              <a:gd name="adj" fmla="val 8000"/>
            </a:avLst>
          </a:prstGeom>
          <a:solidFill>
            <a:srgbClr val="34343A"/>
          </a:solidFill>
          <a:ln w="15875">
            <a:solidFill>
              <a:srgbClr val="2DD4BF"/>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The estate</a:t>
            </a:r>
          </a:p>
        </p:txBody>
      </p:sp>
      <p:sp>
        <p:nvSpPr>
          <p:cNvPr id="16" name="Rectangle: Rounded Corners 15">
            <a:extLst>
              <a:ext uri="{FF2B5EF4-FFF2-40B4-BE49-F238E27FC236}">
                <a16:creationId xmlns:a16="http://schemas.microsoft.com/office/drawing/2014/main" id="{164AB541-A165-695E-4702-93828D42A9FA}"/>
              </a:ext>
            </a:extLst>
          </p:cNvPr>
          <p:cNvSpPr/>
          <p:nvPr/>
        </p:nvSpPr>
        <p:spPr>
          <a:xfrm>
            <a:off x="3378200" y="5588000"/>
            <a:ext cx="1282700" cy="508000"/>
          </a:xfrm>
          <a:prstGeom prst="roundRect">
            <a:avLst>
              <a:gd name="adj" fmla="val 8000"/>
            </a:avLst>
          </a:prstGeom>
          <a:solidFill>
            <a:srgbClr val="34343A"/>
          </a:solidFill>
          <a:ln w="15875">
            <a:solidFill>
              <a:srgbClr val="7DAA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Management plane</a:t>
            </a:r>
          </a:p>
        </p:txBody>
      </p:sp>
      <p:sp>
        <p:nvSpPr>
          <p:cNvPr id="17" name="Rectangle: Rounded Corners 16">
            <a:extLst>
              <a:ext uri="{FF2B5EF4-FFF2-40B4-BE49-F238E27FC236}">
                <a16:creationId xmlns:a16="http://schemas.microsoft.com/office/drawing/2014/main" id="{575C4190-A61A-087E-4E13-882FBA951B2E}"/>
              </a:ext>
            </a:extLst>
          </p:cNvPr>
          <p:cNvSpPr/>
          <p:nvPr/>
        </p:nvSpPr>
        <p:spPr>
          <a:xfrm>
            <a:off x="4762500" y="5588000"/>
            <a:ext cx="1282700" cy="508000"/>
          </a:xfrm>
          <a:prstGeom prst="roundRect">
            <a:avLst>
              <a:gd name="adj" fmla="val 8000"/>
            </a:avLst>
          </a:prstGeom>
          <a:solidFill>
            <a:srgbClr val="34343A"/>
          </a:solidFill>
          <a:ln w="15875">
            <a:solidFill>
              <a:srgbClr val="C4A0F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Data plane</a:t>
            </a:r>
          </a:p>
        </p:txBody>
      </p:sp>
      <p:sp>
        <p:nvSpPr>
          <p:cNvPr id="18" name="Rectangle: Rounded Corners 17">
            <a:extLst>
              <a:ext uri="{FF2B5EF4-FFF2-40B4-BE49-F238E27FC236}">
                <a16:creationId xmlns:a16="http://schemas.microsoft.com/office/drawing/2014/main" id="{CACFC87C-4EDF-14C4-5F18-567D4068433A}"/>
              </a:ext>
            </a:extLst>
          </p:cNvPr>
          <p:cNvSpPr/>
          <p:nvPr/>
        </p:nvSpPr>
        <p:spPr>
          <a:xfrm>
            <a:off x="6146800" y="5588000"/>
            <a:ext cx="1282700" cy="508000"/>
          </a:xfrm>
          <a:prstGeom prst="roundRect">
            <a:avLst>
              <a:gd name="adj" fmla="val 8000"/>
            </a:avLst>
          </a:prstGeom>
          <a:solidFill>
            <a:srgbClr val="34343A"/>
          </a:solidFill>
          <a:ln w="15875">
            <a:solidFill>
              <a:srgbClr val="A3E635"/>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Plan</a:t>
            </a:r>
          </a:p>
        </p:txBody>
      </p:sp>
      <p:sp>
        <p:nvSpPr>
          <p:cNvPr id="19" name="Rectangle: Rounded Corners 18">
            <a:extLst>
              <a:ext uri="{FF2B5EF4-FFF2-40B4-BE49-F238E27FC236}">
                <a16:creationId xmlns:a16="http://schemas.microsoft.com/office/drawing/2014/main" id="{E5925E92-A2C6-7B65-ED49-7E170A3A8B07}"/>
              </a:ext>
            </a:extLst>
          </p:cNvPr>
          <p:cNvSpPr/>
          <p:nvPr/>
        </p:nvSpPr>
        <p:spPr>
          <a:xfrm>
            <a:off x="7531100" y="5588000"/>
            <a:ext cx="1282700" cy="508000"/>
          </a:xfrm>
          <a:prstGeom prst="roundRect">
            <a:avLst>
              <a:gd name="adj" fmla="val 8000"/>
            </a:avLst>
          </a:prstGeom>
          <a:solidFill>
            <a:srgbClr val="34343A"/>
          </a:solidFill>
          <a:ln w="15875">
            <a:solidFill>
              <a:srgbClr val="FB923C"/>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Implement</a:t>
            </a:r>
          </a:p>
        </p:txBody>
      </p:sp>
      <p:sp>
        <p:nvSpPr>
          <p:cNvPr id="20" name="Rectangle: Rounded Corners 19">
            <a:extLst>
              <a:ext uri="{FF2B5EF4-FFF2-40B4-BE49-F238E27FC236}">
                <a16:creationId xmlns:a16="http://schemas.microsoft.com/office/drawing/2014/main" id="{28CAF950-6AED-E3F1-523F-C70AA8CBC70D}"/>
              </a:ext>
            </a:extLst>
          </p:cNvPr>
          <p:cNvSpPr/>
          <p:nvPr/>
        </p:nvSpPr>
        <p:spPr>
          <a:xfrm>
            <a:off x="8915400" y="5588000"/>
            <a:ext cx="1282700" cy="508000"/>
          </a:xfrm>
          <a:prstGeom prst="roundRect">
            <a:avLst>
              <a:gd name="adj" fmla="val 8000"/>
            </a:avLst>
          </a:prstGeom>
          <a:solidFill>
            <a:srgbClr val="34343A"/>
          </a:solidFill>
          <a:ln w="15875">
            <a:solidFill>
              <a:srgbClr val="FA828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a:solidFill>
                  <a:srgbClr val="B0B0BA"/>
                </a:solidFill>
                <a:latin typeface="Calibri" panose="020F0502020204030204" pitchFamily="34" charset="0"/>
              </a:rPr>
              <a:t>Operate</a:t>
            </a:r>
          </a:p>
        </p:txBody>
      </p:sp>
      <p:sp>
        <p:nvSpPr>
          <p:cNvPr id="21" name="Rectangle: Rounded Corners 20">
            <a:extLst>
              <a:ext uri="{FF2B5EF4-FFF2-40B4-BE49-F238E27FC236}">
                <a16:creationId xmlns:a16="http://schemas.microsoft.com/office/drawing/2014/main" id="{B6A30C30-47BA-F969-C4DF-8389BE71268B}"/>
              </a:ext>
            </a:extLst>
          </p:cNvPr>
          <p:cNvSpPr/>
          <p:nvPr/>
        </p:nvSpPr>
        <p:spPr>
          <a:xfrm>
            <a:off x="10299700" y="5588000"/>
            <a:ext cx="1282700" cy="508000"/>
          </a:xfrm>
          <a:prstGeom prst="roundRect">
            <a:avLst>
              <a:gd name="adj" fmla="val 8000"/>
            </a:avLst>
          </a:prstGeom>
          <a:solidFill>
            <a:srgbClr val="B0B0B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1150" b="1">
                <a:solidFill>
                  <a:srgbClr val="18181B"/>
                </a:solidFill>
                <a:latin typeface="Calibri" panose="020F0502020204030204" pitchFamily="34" charset="0"/>
              </a:rPr>
              <a:t>Reference</a:t>
            </a:r>
          </a:p>
        </p:txBody>
      </p:sp>
    </p:spTree>
    <p:extLst>
      <p:ext uri="{BB962C8B-B14F-4D97-AF65-F5344CB8AC3E}">
        <p14:creationId xmlns:p14="http://schemas.microsoft.com/office/powerpoint/2010/main" val="1337319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1D86D97-ABD9-48C7-5A56-F06DD531876E}"/>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D6ABE38A-CBE7-DA3B-BA65-C9F6DD547C79}"/>
              </a:ext>
            </a:extLst>
          </p:cNvPr>
          <p:cNvSpPr/>
          <p:nvPr/>
        </p:nvSpPr>
        <p:spPr>
          <a:xfrm>
            <a:off x="0" y="1295400"/>
            <a:ext cx="12192000" cy="38100"/>
          </a:xfrm>
          <a:prstGeom prst="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DC55E19-36EF-DE7F-7E4B-E53C8ECAF51F}"/>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DE27514-0C75-A5AA-21D6-D5ECC89AB383}"/>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Roles and identities</a:t>
            </a:r>
          </a:p>
        </p:txBody>
      </p:sp>
      <p:sp>
        <p:nvSpPr>
          <p:cNvPr id="6" name="ChapterTag">
            <a:extLst>
              <a:ext uri="{FF2B5EF4-FFF2-40B4-BE49-F238E27FC236}">
                <a16:creationId xmlns:a16="http://schemas.microsoft.com/office/drawing/2014/main" id="{14642549-0741-C3BD-372E-3F7AE5E293FF}"/>
              </a:ext>
            </a:extLst>
          </p:cNvPr>
          <p:cNvSpPr/>
          <p:nvPr/>
        </p:nvSpPr>
        <p:spPr>
          <a:xfrm>
            <a:off x="9245600" y="381000"/>
            <a:ext cx="2336800" cy="330200"/>
          </a:xfrm>
          <a:prstGeom prst="round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8 · REFERENCE</a:t>
            </a:r>
          </a:p>
        </p:txBody>
      </p:sp>
      <p:sp>
        <p:nvSpPr>
          <p:cNvPr id="7" name="TextBox 6">
            <a:extLst>
              <a:ext uri="{FF2B5EF4-FFF2-40B4-BE49-F238E27FC236}">
                <a16:creationId xmlns:a16="http://schemas.microsoft.com/office/drawing/2014/main" id="{8B996B31-9C80-2A86-B1FA-1008530E6A0C}"/>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8F65A30-EBCF-016E-A8AF-5C0E1BE57127}"/>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83</a:t>
            </a:r>
          </a:p>
        </p:txBody>
      </p:sp>
      <p:sp>
        <p:nvSpPr>
          <p:cNvPr id="9" name="Rectangle: Rounded Corners 8">
            <a:extLst>
              <a:ext uri="{FF2B5EF4-FFF2-40B4-BE49-F238E27FC236}">
                <a16:creationId xmlns:a16="http://schemas.microsoft.com/office/drawing/2014/main" id="{851C5BF6-70AC-C877-B212-18957DF8B8A3}"/>
              </a:ext>
            </a:extLst>
          </p:cNvPr>
          <p:cNvSpPr/>
          <p:nvPr/>
        </p:nvSpPr>
        <p:spPr>
          <a:xfrm>
            <a:off x="609600" y="1549400"/>
            <a:ext cx="2413000" cy="304800"/>
          </a:xfrm>
          <a:prstGeom prst="roundRect">
            <a:avLst>
              <a:gd name="adj" fmla="val 0"/>
            </a:avLst>
          </a:prstGeom>
          <a:solidFill>
            <a:srgbClr val="B0B0B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Role</a:t>
            </a:r>
          </a:p>
        </p:txBody>
      </p:sp>
      <p:sp>
        <p:nvSpPr>
          <p:cNvPr id="10" name="Rectangle: Rounded Corners 9">
            <a:extLst>
              <a:ext uri="{FF2B5EF4-FFF2-40B4-BE49-F238E27FC236}">
                <a16:creationId xmlns:a16="http://schemas.microsoft.com/office/drawing/2014/main" id="{7D5A150F-E75E-3FED-AA27-24D74B50ADEF}"/>
              </a:ext>
            </a:extLst>
          </p:cNvPr>
          <p:cNvSpPr/>
          <p:nvPr/>
        </p:nvSpPr>
        <p:spPr>
          <a:xfrm>
            <a:off x="3022600" y="1549400"/>
            <a:ext cx="4279900" cy="304800"/>
          </a:xfrm>
          <a:prstGeom prst="roundRect">
            <a:avLst>
              <a:gd name="adj" fmla="val 0"/>
            </a:avLst>
          </a:prstGeom>
          <a:solidFill>
            <a:srgbClr val="B0B0B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Grant to</a:t>
            </a:r>
          </a:p>
        </p:txBody>
      </p:sp>
      <p:sp>
        <p:nvSpPr>
          <p:cNvPr id="11" name="Rectangle: Rounded Corners 10">
            <a:extLst>
              <a:ext uri="{FF2B5EF4-FFF2-40B4-BE49-F238E27FC236}">
                <a16:creationId xmlns:a16="http://schemas.microsoft.com/office/drawing/2014/main" id="{36542F44-B2C6-B67F-79D0-96368B77AC3D}"/>
              </a:ext>
            </a:extLst>
          </p:cNvPr>
          <p:cNvSpPr/>
          <p:nvPr/>
        </p:nvSpPr>
        <p:spPr>
          <a:xfrm>
            <a:off x="7302500" y="1549400"/>
            <a:ext cx="4279900" cy="304800"/>
          </a:xfrm>
          <a:prstGeom prst="roundRect">
            <a:avLst>
              <a:gd name="adj" fmla="val 0"/>
            </a:avLst>
          </a:prstGeom>
          <a:solidFill>
            <a:srgbClr val="B0B0B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18181B"/>
                </a:solidFill>
                <a:latin typeface="Calibri" panose="020F0502020204030204" pitchFamily="34" charset="0"/>
              </a:rPr>
              <a:t>Scope</a:t>
            </a:r>
          </a:p>
        </p:txBody>
      </p:sp>
      <p:sp>
        <p:nvSpPr>
          <p:cNvPr id="12" name="Rectangle: Rounded Corners 11">
            <a:extLst>
              <a:ext uri="{FF2B5EF4-FFF2-40B4-BE49-F238E27FC236}">
                <a16:creationId xmlns:a16="http://schemas.microsoft.com/office/drawing/2014/main" id="{179418EA-613A-7881-28A2-53F884BBE74D}"/>
              </a:ext>
            </a:extLst>
          </p:cNvPr>
          <p:cNvSpPr/>
          <p:nvPr/>
        </p:nvSpPr>
        <p:spPr>
          <a:xfrm>
            <a:off x="609600" y="18542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Azure Connected Machine Onboarding</a:t>
            </a:r>
          </a:p>
        </p:txBody>
      </p:sp>
      <p:sp>
        <p:nvSpPr>
          <p:cNvPr id="13" name="Rectangle: Rounded Corners 12">
            <a:extLst>
              <a:ext uri="{FF2B5EF4-FFF2-40B4-BE49-F238E27FC236}">
                <a16:creationId xmlns:a16="http://schemas.microsoft.com/office/drawing/2014/main" id="{F45E0877-4EBE-2AA2-F06F-09059E5FFBB1}"/>
              </a:ext>
            </a:extLst>
          </p:cNvPr>
          <p:cNvSpPr/>
          <p:nvPr/>
        </p:nvSpPr>
        <p:spPr>
          <a:xfrm>
            <a:off x="3022600" y="18542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the onboarding service principal</a:t>
            </a:r>
          </a:p>
        </p:txBody>
      </p:sp>
      <p:sp>
        <p:nvSpPr>
          <p:cNvPr id="14" name="Rectangle: Rounded Corners 13">
            <a:extLst>
              <a:ext uri="{FF2B5EF4-FFF2-40B4-BE49-F238E27FC236}">
                <a16:creationId xmlns:a16="http://schemas.microsoft.com/office/drawing/2014/main" id="{B7FB98BA-1781-6DE9-5F1A-450C921E65E2}"/>
              </a:ext>
            </a:extLst>
          </p:cNvPr>
          <p:cNvSpPr/>
          <p:nvPr/>
        </p:nvSpPr>
        <p:spPr>
          <a:xfrm>
            <a:off x="7302500" y="18542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resource group for Arc servers</a:t>
            </a:r>
          </a:p>
        </p:txBody>
      </p:sp>
      <p:sp>
        <p:nvSpPr>
          <p:cNvPr id="15" name="Rectangle: Rounded Corners 14">
            <a:extLst>
              <a:ext uri="{FF2B5EF4-FFF2-40B4-BE49-F238E27FC236}">
                <a16:creationId xmlns:a16="http://schemas.microsoft.com/office/drawing/2014/main" id="{FB4C93C0-7894-56FE-D3D1-E6B34CFCDF6A}"/>
              </a:ext>
            </a:extLst>
          </p:cNvPr>
          <p:cNvSpPr/>
          <p:nvPr/>
        </p:nvSpPr>
        <p:spPr>
          <a:xfrm>
            <a:off x="609600" y="23495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Azure Connected Machine Resource Administrator</a:t>
            </a:r>
          </a:p>
        </p:txBody>
      </p:sp>
      <p:sp>
        <p:nvSpPr>
          <p:cNvPr id="16" name="Rectangle: Rounded Corners 15">
            <a:extLst>
              <a:ext uri="{FF2B5EF4-FFF2-40B4-BE49-F238E27FC236}">
                <a16:creationId xmlns:a16="http://schemas.microsoft.com/office/drawing/2014/main" id="{02761B5D-7F6B-827E-7319-462EE9762D08}"/>
              </a:ext>
            </a:extLst>
          </p:cNvPr>
          <p:cNvSpPr/>
          <p:nvPr/>
        </p:nvSpPr>
        <p:spPr>
          <a:xfrm>
            <a:off x="3022600" y="23495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platform engineers who manage agents and extensions</a:t>
            </a:r>
          </a:p>
        </p:txBody>
      </p:sp>
      <p:sp>
        <p:nvSpPr>
          <p:cNvPr id="17" name="Rectangle: Rounded Corners 16">
            <a:extLst>
              <a:ext uri="{FF2B5EF4-FFF2-40B4-BE49-F238E27FC236}">
                <a16:creationId xmlns:a16="http://schemas.microsoft.com/office/drawing/2014/main" id="{9AA0EEB1-F736-A3B7-C40D-CF3B0C5443ED}"/>
              </a:ext>
            </a:extLst>
          </p:cNvPr>
          <p:cNvSpPr/>
          <p:nvPr/>
        </p:nvSpPr>
        <p:spPr>
          <a:xfrm>
            <a:off x="7302500" y="23495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Arc resource groups</a:t>
            </a:r>
          </a:p>
        </p:txBody>
      </p:sp>
      <p:sp>
        <p:nvSpPr>
          <p:cNvPr id="18" name="Rectangle: Rounded Corners 17">
            <a:extLst>
              <a:ext uri="{FF2B5EF4-FFF2-40B4-BE49-F238E27FC236}">
                <a16:creationId xmlns:a16="http://schemas.microsoft.com/office/drawing/2014/main" id="{3E590B3A-52F2-801E-AEFC-82EE05A2D27E}"/>
              </a:ext>
            </a:extLst>
          </p:cNvPr>
          <p:cNvSpPr/>
          <p:nvPr/>
        </p:nvSpPr>
        <p:spPr>
          <a:xfrm>
            <a:off x="609600" y="28448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Kubernetes Cluster - Azure Arc Onboarding</a:t>
            </a:r>
          </a:p>
        </p:txBody>
      </p:sp>
      <p:sp>
        <p:nvSpPr>
          <p:cNvPr id="19" name="Rectangle: Rounded Corners 18">
            <a:extLst>
              <a:ext uri="{FF2B5EF4-FFF2-40B4-BE49-F238E27FC236}">
                <a16:creationId xmlns:a16="http://schemas.microsoft.com/office/drawing/2014/main" id="{7A5D1521-4B19-9110-A811-1BAD4356B6BC}"/>
              </a:ext>
            </a:extLst>
          </p:cNvPr>
          <p:cNvSpPr/>
          <p:nvPr/>
        </p:nvSpPr>
        <p:spPr>
          <a:xfrm>
            <a:off x="3022600" y="28448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whoever runs connectedk8s connect</a:t>
            </a:r>
          </a:p>
        </p:txBody>
      </p:sp>
      <p:sp>
        <p:nvSpPr>
          <p:cNvPr id="20" name="Rectangle: Rounded Corners 19">
            <a:extLst>
              <a:ext uri="{FF2B5EF4-FFF2-40B4-BE49-F238E27FC236}">
                <a16:creationId xmlns:a16="http://schemas.microsoft.com/office/drawing/2014/main" id="{1D024F11-299C-2B07-DC7E-4836C2959B63}"/>
              </a:ext>
            </a:extLst>
          </p:cNvPr>
          <p:cNvSpPr/>
          <p:nvPr/>
        </p:nvSpPr>
        <p:spPr>
          <a:xfrm>
            <a:off x="7302500" y="28448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resource group for Arc clusters</a:t>
            </a:r>
          </a:p>
        </p:txBody>
      </p:sp>
      <p:sp>
        <p:nvSpPr>
          <p:cNvPr id="21" name="Rectangle: Rounded Corners 20">
            <a:extLst>
              <a:ext uri="{FF2B5EF4-FFF2-40B4-BE49-F238E27FC236}">
                <a16:creationId xmlns:a16="http://schemas.microsoft.com/office/drawing/2014/main" id="{2B484EB4-D4FE-2157-CB52-FCC222FFA830}"/>
              </a:ext>
            </a:extLst>
          </p:cNvPr>
          <p:cNvSpPr/>
          <p:nvPr/>
        </p:nvSpPr>
        <p:spPr>
          <a:xfrm>
            <a:off x="609600" y="33401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Monitoring Contributor</a:t>
            </a:r>
          </a:p>
        </p:txBody>
      </p:sp>
      <p:sp>
        <p:nvSpPr>
          <p:cNvPr id="22" name="Rectangle: Rounded Corners 21">
            <a:extLst>
              <a:ext uri="{FF2B5EF4-FFF2-40B4-BE49-F238E27FC236}">
                <a16:creationId xmlns:a16="http://schemas.microsoft.com/office/drawing/2014/main" id="{57E72C7D-24DE-F740-6301-EFE1E8E21B15}"/>
              </a:ext>
            </a:extLst>
          </p:cNvPr>
          <p:cNvSpPr/>
          <p:nvPr/>
        </p:nvSpPr>
        <p:spPr>
          <a:xfrm>
            <a:off x="3022600" y="33401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whoever manages rules, alerts and workbooks</a:t>
            </a:r>
          </a:p>
        </p:txBody>
      </p:sp>
      <p:sp>
        <p:nvSpPr>
          <p:cNvPr id="23" name="Rectangle: Rounded Corners 22">
            <a:extLst>
              <a:ext uri="{FF2B5EF4-FFF2-40B4-BE49-F238E27FC236}">
                <a16:creationId xmlns:a16="http://schemas.microsoft.com/office/drawing/2014/main" id="{8E9A1ACD-1BA5-905C-57CF-10F5AAA1C959}"/>
              </a:ext>
            </a:extLst>
          </p:cNvPr>
          <p:cNvSpPr/>
          <p:nvPr/>
        </p:nvSpPr>
        <p:spPr>
          <a:xfrm>
            <a:off x="7302500" y="33401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rg-monitoring</a:t>
            </a:r>
          </a:p>
        </p:txBody>
      </p:sp>
      <p:sp>
        <p:nvSpPr>
          <p:cNvPr id="24" name="Rectangle: Rounded Corners 23">
            <a:extLst>
              <a:ext uri="{FF2B5EF4-FFF2-40B4-BE49-F238E27FC236}">
                <a16:creationId xmlns:a16="http://schemas.microsoft.com/office/drawing/2014/main" id="{78466C93-D699-4433-3154-67247F7B6132}"/>
              </a:ext>
            </a:extLst>
          </p:cNvPr>
          <p:cNvSpPr/>
          <p:nvPr/>
        </p:nvSpPr>
        <p:spPr>
          <a:xfrm>
            <a:off x="609600" y="36449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Monitoring Metrics Publisher</a:t>
            </a:r>
          </a:p>
        </p:txBody>
      </p:sp>
      <p:sp>
        <p:nvSpPr>
          <p:cNvPr id="25" name="Rectangle: Rounded Corners 24">
            <a:extLst>
              <a:ext uri="{FF2B5EF4-FFF2-40B4-BE49-F238E27FC236}">
                <a16:creationId xmlns:a16="http://schemas.microsoft.com/office/drawing/2014/main" id="{F805C44E-D7C6-B46B-F162-D2167E90DA05}"/>
              </a:ext>
            </a:extLst>
          </p:cNvPr>
          <p:cNvSpPr/>
          <p:nvPr/>
        </p:nvSpPr>
        <p:spPr>
          <a:xfrm>
            <a:off x="3022600" y="36449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every ingestion identity (Arc managed identities, apps, collectors)</a:t>
            </a:r>
          </a:p>
        </p:txBody>
      </p:sp>
      <p:sp>
        <p:nvSpPr>
          <p:cNvPr id="26" name="Rectangle: Rounded Corners 25">
            <a:extLst>
              <a:ext uri="{FF2B5EF4-FFF2-40B4-BE49-F238E27FC236}">
                <a16:creationId xmlns:a16="http://schemas.microsoft.com/office/drawing/2014/main" id="{5CF08488-1C60-4401-E22A-CA62E2C593AE}"/>
              </a:ext>
            </a:extLst>
          </p:cNvPr>
          <p:cNvSpPr/>
          <p:nvPr/>
        </p:nvSpPr>
        <p:spPr>
          <a:xfrm>
            <a:off x="7302500" y="36449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the specific data collection rule</a:t>
            </a:r>
          </a:p>
        </p:txBody>
      </p:sp>
      <p:sp>
        <p:nvSpPr>
          <p:cNvPr id="27" name="Rectangle: Rounded Corners 26">
            <a:extLst>
              <a:ext uri="{FF2B5EF4-FFF2-40B4-BE49-F238E27FC236}">
                <a16:creationId xmlns:a16="http://schemas.microsoft.com/office/drawing/2014/main" id="{9F7F004A-608F-6251-D5B5-41D605EF796D}"/>
              </a:ext>
            </a:extLst>
          </p:cNvPr>
          <p:cNvSpPr/>
          <p:nvPr/>
        </p:nvSpPr>
        <p:spPr>
          <a:xfrm>
            <a:off x="609600" y="4140200"/>
            <a:ext cx="2413000" cy="4953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Log Analytics Reader or resource-context read</a:t>
            </a:r>
          </a:p>
        </p:txBody>
      </p:sp>
      <p:sp>
        <p:nvSpPr>
          <p:cNvPr id="28" name="Rectangle: Rounded Corners 27">
            <a:extLst>
              <a:ext uri="{FF2B5EF4-FFF2-40B4-BE49-F238E27FC236}">
                <a16:creationId xmlns:a16="http://schemas.microsoft.com/office/drawing/2014/main" id="{86CDCC07-3FB5-63CE-0502-1A9509C36C6C}"/>
              </a:ext>
            </a:extLst>
          </p:cNvPr>
          <p:cNvSpPr/>
          <p:nvPr/>
        </p:nvSpPr>
        <p:spPr>
          <a:xfrm>
            <a:off x="3022600" y="41402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operators and workbook users</a:t>
            </a:r>
          </a:p>
        </p:txBody>
      </p:sp>
      <p:sp>
        <p:nvSpPr>
          <p:cNvPr id="29" name="Rectangle: Rounded Corners 28">
            <a:extLst>
              <a:ext uri="{FF2B5EF4-FFF2-40B4-BE49-F238E27FC236}">
                <a16:creationId xmlns:a16="http://schemas.microsoft.com/office/drawing/2014/main" id="{D3C2A067-2817-AD6B-88C1-BCFFD72E8D81}"/>
              </a:ext>
            </a:extLst>
          </p:cNvPr>
          <p:cNvSpPr/>
          <p:nvPr/>
        </p:nvSpPr>
        <p:spPr>
          <a:xfrm>
            <a:off x="7302500" y="4140200"/>
            <a:ext cx="4279900" cy="4953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workspace or their resources</a:t>
            </a:r>
          </a:p>
        </p:txBody>
      </p:sp>
      <p:sp>
        <p:nvSpPr>
          <p:cNvPr id="30" name="Rectangle: Rounded Corners 29">
            <a:extLst>
              <a:ext uri="{FF2B5EF4-FFF2-40B4-BE49-F238E27FC236}">
                <a16:creationId xmlns:a16="http://schemas.microsoft.com/office/drawing/2014/main" id="{669D16F2-1EEE-D675-588D-2BFDA0CCF847}"/>
              </a:ext>
            </a:extLst>
          </p:cNvPr>
          <p:cNvSpPr/>
          <p:nvPr/>
        </p:nvSpPr>
        <p:spPr>
          <a:xfrm>
            <a:off x="609600" y="46355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Grafana Admin or Viewer</a:t>
            </a:r>
          </a:p>
        </p:txBody>
      </p:sp>
      <p:sp>
        <p:nvSpPr>
          <p:cNvPr id="31" name="Rectangle: Rounded Corners 30">
            <a:extLst>
              <a:ext uri="{FF2B5EF4-FFF2-40B4-BE49-F238E27FC236}">
                <a16:creationId xmlns:a16="http://schemas.microsoft.com/office/drawing/2014/main" id="{A1B0D731-C330-C814-30DD-5DFE5AF06F44}"/>
              </a:ext>
            </a:extLst>
          </p:cNvPr>
          <p:cNvSpPr/>
          <p:nvPr/>
        </p:nvSpPr>
        <p:spPr>
          <a:xfrm>
            <a:off x="3022600" y="46355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dashboard owners and readers</a:t>
            </a:r>
          </a:p>
        </p:txBody>
      </p:sp>
      <p:sp>
        <p:nvSpPr>
          <p:cNvPr id="32" name="Rectangle: Rounded Corners 31">
            <a:extLst>
              <a:ext uri="{FF2B5EF4-FFF2-40B4-BE49-F238E27FC236}">
                <a16:creationId xmlns:a16="http://schemas.microsoft.com/office/drawing/2014/main" id="{7C5224F1-C60F-028E-E894-8D809DCCA776}"/>
              </a:ext>
            </a:extLst>
          </p:cNvPr>
          <p:cNvSpPr/>
          <p:nvPr/>
        </p:nvSpPr>
        <p:spPr>
          <a:xfrm>
            <a:off x="7302500" y="46355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the Managed Grafana instance</a:t>
            </a:r>
          </a:p>
        </p:txBody>
      </p:sp>
      <p:sp>
        <p:nvSpPr>
          <p:cNvPr id="33" name="Rectangle: Rounded Corners 32">
            <a:extLst>
              <a:ext uri="{FF2B5EF4-FFF2-40B4-BE49-F238E27FC236}">
                <a16:creationId xmlns:a16="http://schemas.microsoft.com/office/drawing/2014/main" id="{B4F34104-A955-0064-9B7E-5FA122A09762}"/>
              </a:ext>
            </a:extLst>
          </p:cNvPr>
          <p:cNvSpPr/>
          <p:nvPr/>
        </p:nvSpPr>
        <p:spPr>
          <a:xfrm>
            <a:off x="609600" y="4940300"/>
            <a:ext cx="2413000" cy="3048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b="1">
                <a:solidFill>
                  <a:srgbClr val="F4F4F5"/>
                </a:solidFill>
                <a:latin typeface="Calibri" panose="020F0502020204030204" pitchFamily="34" charset="0"/>
              </a:rPr>
              <a:t>Contributor</a:t>
            </a:r>
          </a:p>
        </p:txBody>
      </p:sp>
      <p:sp>
        <p:nvSpPr>
          <p:cNvPr id="34" name="Rectangle: Rounded Corners 33">
            <a:extLst>
              <a:ext uri="{FF2B5EF4-FFF2-40B4-BE49-F238E27FC236}">
                <a16:creationId xmlns:a16="http://schemas.microsoft.com/office/drawing/2014/main" id="{8E206A2E-741B-75AB-3843-C9D8F8E1EAD1}"/>
              </a:ext>
            </a:extLst>
          </p:cNvPr>
          <p:cNvSpPr/>
          <p:nvPr/>
        </p:nvSpPr>
        <p:spPr>
          <a:xfrm>
            <a:off x="3022600" y="49403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multicloud connector setup</a:t>
            </a:r>
          </a:p>
        </p:txBody>
      </p:sp>
      <p:sp>
        <p:nvSpPr>
          <p:cNvPr id="35" name="Rectangle: Rounded Corners 34">
            <a:extLst>
              <a:ext uri="{FF2B5EF4-FFF2-40B4-BE49-F238E27FC236}">
                <a16:creationId xmlns:a16="http://schemas.microsoft.com/office/drawing/2014/main" id="{E20F9FA7-FDEE-11C8-008B-9917B3F5D6BD}"/>
              </a:ext>
            </a:extLst>
          </p:cNvPr>
          <p:cNvSpPr/>
          <p:nvPr/>
        </p:nvSpPr>
        <p:spPr>
          <a:xfrm>
            <a:off x="7302500" y="4940300"/>
            <a:ext cx="4279900" cy="3048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150">
                <a:solidFill>
                  <a:srgbClr val="F4F4F5"/>
                </a:solidFill>
                <a:latin typeface="Calibri" panose="020F0502020204030204" pitchFamily="34" charset="0"/>
              </a:rPr>
              <a:t>subscription (one-time)</a:t>
            </a:r>
          </a:p>
        </p:txBody>
      </p:sp>
    </p:spTree>
    <p:extLst>
      <p:ext uri="{BB962C8B-B14F-4D97-AF65-F5344CB8AC3E}">
        <p14:creationId xmlns:p14="http://schemas.microsoft.com/office/powerpoint/2010/main" val="22551681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38DED07-4889-F8E1-8E56-11C9BE9CB540}"/>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F3D4154E-EC7C-E47B-D7CB-9959898CEA59}"/>
              </a:ext>
            </a:extLst>
          </p:cNvPr>
          <p:cNvSpPr/>
          <p:nvPr/>
        </p:nvSpPr>
        <p:spPr>
          <a:xfrm>
            <a:off x="0" y="1295400"/>
            <a:ext cx="12192000" cy="38100"/>
          </a:xfrm>
          <a:prstGeom prst="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330126D-C6A9-F886-C281-05896BCBE1EF}"/>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149FA15-1917-4C96-2831-245A5089D913}"/>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Limits and numbers to remember</a:t>
            </a:r>
          </a:p>
        </p:txBody>
      </p:sp>
      <p:sp>
        <p:nvSpPr>
          <p:cNvPr id="6" name="ChapterTag">
            <a:extLst>
              <a:ext uri="{FF2B5EF4-FFF2-40B4-BE49-F238E27FC236}">
                <a16:creationId xmlns:a16="http://schemas.microsoft.com/office/drawing/2014/main" id="{2E9CADA3-5C91-44E7-37BF-876451481735}"/>
              </a:ext>
            </a:extLst>
          </p:cNvPr>
          <p:cNvSpPr/>
          <p:nvPr/>
        </p:nvSpPr>
        <p:spPr>
          <a:xfrm>
            <a:off x="9245600" y="381000"/>
            <a:ext cx="2336800" cy="330200"/>
          </a:xfrm>
          <a:prstGeom prst="round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8 · REFERENCE</a:t>
            </a:r>
          </a:p>
        </p:txBody>
      </p:sp>
      <p:sp>
        <p:nvSpPr>
          <p:cNvPr id="7" name="TextBox 6">
            <a:extLst>
              <a:ext uri="{FF2B5EF4-FFF2-40B4-BE49-F238E27FC236}">
                <a16:creationId xmlns:a16="http://schemas.microsoft.com/office/drawing/2014/main" id="{A0828991-3CDD-4FA5-5C25-6C89B6C25AF0}"/>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670ED4E1-ACFB-4979-B577-B8A1D4062925}"/>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84</a:t>
            </a:r>
          </a:p>
        </p:txBody>
      </p:sp>
      <p:sp>
        <p:nvSpPr>
          <p:cNvPr id="9" name="Rectangle: Rounded Corners 8">
            <a:extLst>
              <a:ext uri="{FF2B5EF4-FFF2-40B4-BE49-F238E27FC236}">
                <a16:creationId xmlns:a16="http://schemas.microsoft.com/office/drawing/2014/main" id="{0C392D77-0683-1DFA-EAED-70A1B694F4FF}"/>
              </a:ext>
            </a:extLst>
          </p:cNvPr>
          <p:cNvSpPr/>
          <p:nvPr/>
        </p:nvSpPr>
        <p:spPr>
          <a:xfrm>
            <a:off x="609600" y="1549400"/>
            <a:ext cx="2413000" cy="317500"/>
          </a:xfrm>
          <a:prstGeom prst="roundRect">
            <a:avLst>
              <a:gd name="adj" fmla="val 0"/>
            </a:avLst>
          </a:prstGeom>
          <a:solidFill>
            <a:srgbClr val="B0B0B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Item</a:t>
            </a:r>
          </a:p>
        </p:txBody>
      </p:sp>
      <p:sp>
        <p:nvSpPr>
          <p:cNvPr id="10" name="Rectangle: Rounded Corners 9">
            <a:extLst>
              <a:ext uri="{FF2B5EF4-FFF2-40B4-BE49-F238E27FC236}">
                <a16:creationId xmlns:a16="http://schemas.microsoft.com/office/drawing/2014/main" id="{03AA34A3-0F65-ABE2-1841-9309EE6D2B56}"/>
              </a:ext>
            </a:extLst>
          </p:cNvPr>
          <p:cNvSpPr/>
          <p:nvPr/>
        </p:nvSpPr>
        <p:spPr>
          <a:xfrm>
            <a:off x="3022600" y="1549400"/>
            <a:ext cx="8559800" cy="317500"/>
          </a:xfrm>
          <a:prstGeom prst="roundRect">
            <a:avLst>
              <a:gd name="adj" fmla="val 0"/>
            </a:avLst>
          </a:prstGeom>
          <a:solidFill>
            <a:srgbClr val="B0B0BA"/>
          </a:solidFill>
          <a:ln w="15875">
            <a:solidFill>
              <a:srgbClr val="B0B0BA"/>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18181B"/>
                </a:solidFill>
                <a:latin typeface="Calibri" panose="020F0502020204030204" pitchFamily="34" charset="0"/>
              </a:rPr>
              <a:t>Value</a:t>
            </a:r>
          </a:p>
        </p:txBody>
      </p:sp>
      <p:sp>
        <p:nvSpPr>
          <p:cNvPr id="11" name="Rectangle: Rounded Corners 10">
            <a:extLst>
              <a:ext uri="{FF2B5EF4-FFF2-40B4-BE49-F238E27FC236}">
                <a16:creationId xmlns:a16="http://schemas.microsoft.com/office/drawing/2014/main" id="{2C7053C6-58F7-7AE7-948C-B8CADE59D671}"/>
              </a:ext>
            </a:extLst>
          </p:cNvPr>
          <p:cNvSpPr/>
          <p:nvPr/>
        </p:nvSpPr>
        <p:spPr>
          <a:xfrm>
            <a:off x="609600" y="18669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Arc-enabled VMware per resource bridge</a:t>
            </a:r>
          </a:p>
        </p:txBody>
      </p:sp>
      <p:sp>
        <p:nvSpPr>
          <p:cNvPr id="12" name="Rectangle: Rounded Corners 11">
            <a:extLst>
              <a:ext uri="{FF2B5EF4-FFF2-40B4-BE49-F238E27FC236}">
                <a16:creationId xmlns:a16="http://schemas.microsoft.com/office/drawing/2014/main" id="{21CD2409-986E-2003-36A2-B0D4238C8714}"/>
              </a:ext>
            </a:extLst>
          </p:cNvPr>
          <p:cNvSpPr/>
          <p:nvPr/>
        </p:nvSpPr>
        <p:spPr>
          <a:xfrm>
            <a:off x="3022600" y="1866900"/>
            <a:ext cx="85598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up to 9,500 VMs; vCenter 8</a:t>
            </a:r>
          </a:p>
        </p:txBody>
      </p:sp>
      <p:sp>
        <p:nvSpPr>
          <p:cNvPr id="13" name="Rectangle: Rounded Corners 12">
            <a:extLst>
              <a:ext uri="{FF2B5EF4-FFF2-40B4-BE49-F238E27FC236}">
                <a16:creationId xmlns:a16="http://schemas.microsoft.com/office/drawing/2014/main" id="{B1FD1150-87AF-40CE-9AF4-BE301ABAA1E7}"/>
              </a:ext>
            </a:extLst>
          </p:cNvPr>
          <p:cNvSpPr/>
          <p:nvPr/>
        </p:nvSpPr>
        <p:spPr>
          <a:xfrm>
            <a:off x="609600" y="23749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Resource bridge upgrade</a:t>
            </a:r>
          </a:p>
        </p:txBody>
      </p:sp>
      <p:sp>
        <p:nvSpPr>
          <p:cNvPr id="14" name="Rectangle: Rounded Corners 13">
            <a:extLst>
              <a:ext uri="{FF2B5EF4-FFF2-40B4-BE49-F238E27FC236}">
                <a16:creationId xmlns:a16="http://schemas.microsoft.com/office/drawing/2014/main" id="{127B9766-6AA7-6334-2497-DEE1E4DB7245}"/>
              </a:ext>
            </a:extLst>
          </p:cNvPr>
          <p:cNvSpPr/>
          <p:nvPr/>
        </p:nvSpPr>
        <p:spPr>
          <a:xfrm>
            <a:off x="3022600" y="2374900"/>
            <a:ext cx="85598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at least every 6 months; no Private Link</a:t>
            </a:r>
          </a:p>
        </p:txBody>
      </p:sp>
      <p:sp>
        <p:nvSpPr>
          <p:cNvPr id="15" name="Rectangle: Rounded Corners 14">
            <a:extLst>
              <a:ext uri="{FF2B5EF4-FFF2-40B4-BE49-F238E27FC236}">
                <a16:creationId xmlns:a16="http://schemas.microsoft.com/office/drawing/2014/main" id="{C09EFC76-E4C1-555E-ADDA-A5ED2E1D4DB7}"/>
              </a:ext>
            </a:extLst>
          </p:cNvPr>
          <p:cNvSpPr/>
          <p:nvPr/>
        </p:nvSpPr>
        <p:spPr>
          <a:xfrm>
            <a:off x="609600" y="26924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Multicloud connector</a:t>
            </a:r>
          </a:p>
        </p:txBody>
      </p:sp>
      <p:sp>
        <p:nvSpPr>
          <p:cNvPr id="16" name="Rectangle: Rounded Corners 15">
            <a:extLst>
              <a:ext uri="{FF2B5EF4-FFF2-40B4-BE49-F238E27FC236}">
                <a16:creationId xmlns:a16="http://schemas.microsoft.com/office/drawing/2014/main" id="{A70081CC-7EC5-4B44-D471-295B8A6A7101}"/>
              </a:ext>
            </a:extLst>
          </p:cNvPr>
          <p:cNvSpPr/>
          <p:nvPr/>
        </p:nvSpPr>
        <p:spPr>
          <a:xfrm>
            <a:off x="3022600" y="2692400"/>
            <a:ext cx="85598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one resource group per account or project; up to 980 per subscription</a:t>
            </a:r>
          </a:p>
        </p:txBody>
      </p:sp>
      <p:sp>
        <p:nvSpPr>
          <p:cNvPr id="17" name="Rectangle: Rounded Corners 16">
            <a:extLst>
              <a:ext uri="{FF2B5EF4-FFF2-40B4-BE49-F238E27FC236}">
                <a16:creationId xmlns:a16="http://schemas.microsoft.com/office/drawing/2014/main" id="{1B1637B1-3BA1-57D3-5364-723A50CF898C}"/>
              </a:ext>
            </a:extLst>
          </p:cNvPr>
          <p:cNvSpPr/>
          <p:nvPr/>
        </p:nvSpPr>
        <p:spPr>
          <a:xfrm>
            <a:off x="609600" y="30099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Connector Arc onboarding (AWS)</a:t>
            </a:r>
          </a:p>
        </p:txBody>
      </p:sp>
      <p:sp>
        <p:nvSpPr>
          <p:cNvPr id="18" name="Rectangle: Rounded Corners 17">
            <a:extLst>
              <a:ext uri="{FF2B5EF4-FFF2-40B4-BE49-F238E27FC236}">
                <a16:creationId xmlns:a16="http://schemas.microsoft.com/office/drawing/2014/main" id="{8352FFDD-8D81-5272-0896-90AE495E3E53}"/>
              </a:ext>
            </a:extLst>
          </p:cNvPr>
          <p:cNvSpPr/>
          <p:nvPr/>
        </p:nvSpPr>
        <p:spPr>
          <a:xfrm>
            <a:off x="3022600" y="3009900"/>
            <a:ext cx="85598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SSM agent required; IAM role assigned by a daily Lambda (configurable to 15 minutes)</a:t>
            </a:r>
          </a:p>
        </p:txBody>
      </p:sp>
      <p:sp>
        <p:nvSpPr>
          <p:cNvPr id="19" name="Rectangle: Rounded Corners 18">
            <a:extLst>
              <a:ext uri="{FF2B5EF4-FFF2-40B4-BE49-F238E27FC236}">
                <a16:creationId xmlns:a16="http://schemas.microsoft.com/office/drawing/2014/main" id="{41DAB7FB-6E5B-435D-9ACB-7BC6CF2A6AAD}"/>
              </a:ext>
            </a:extLst>
          </p:cNvPr>
          <p:cNvSpPr/>
          <p:nvPr/>
        </p:nvSpPr>
        <p:spPr>
          <a:xfrm>
            <a:off x="609600" y="35179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Arc gateway</a:t>
            </a:r>
          </a:p>
        </p:txBody>
      </p:sp>
      <p:sp>
        <p:nvSpPr>
          <p:cNvPr id="20" name="Rectangle: Rounded Corners 19">
            <a:extLst>
              <a:ext uri="{FF2B5EF4-FFF2-40B4-BE49-F238E27FC236}">
                <a16:creationId xmlns:a16="http://schemas.microsoft.com/office/drawing/2014/main" id="{37DFC3A0-9435-A4DC-E28C-C15E1D26173A}"/>
              </a:ext>
            </a:extLst>
          </p:cNvPr>
          <p:cNvSpPr/>
          <p:nvPr/>
        </p:nvSpPr>
        <p:spPr>
          <a:xfrm>
            <a:off x="3022600" y="3517900"/>
            <a:ext cx="85598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8 endpoints for the agent; internet required; no Private Link</a:t>
            </a:r>
          </a:p>
        </p:txBody>
      </p:sp>
      <p:sp>
        <p:nvSpPr>
          <p:cNvPr id="21" name="Rectangle: Rounded Corners 20">
            <a:extLst>
              <a:ext uri="{FF2B5EF4-FFF2-40B4-BE49-F238E27FC236}">
                <a16:creationId xmlns:a16="http://schemas.microsoft.com/office/drawing/2014/main" id="{52547B5C-3532-D4C5-BB05-F9D8E0AA5201}"/>
              </a:ext>
            </a:extLst>
          </p:cNvPr>
          <p:cNvSpPr/>
          <p:nvPr/>
        </p:nvSpPr>
        <p:spPr>
          <a:xfrm>
            <a:off x="609600" y="38354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Analytics retention</a:t>
            </a:r>
          </a:p>
        </p:txBody>
      </p:sp>
      <p:sp>
        <p:nvSpPr>
          <p:cNvPr id="22" name="Rectangle: Rounded Corners 21">
            <a:extLst>
              <a:ext uri="{FF2B5EF4-FFF2-40B4-BE49-F238E27FC236}">
                <a16:creationId xmlns:a16="http://schemas.microsoft.com/office/drawing/2014/main" id="{7FBA34D3-6E1B-2C2A-4486-5A71A45C729C}"/>
              </a:ext>
            </a:extLst>
          </p:cNvPr>
          <p:cNvSpPr/>
          <p:nvPr/>
        </p:nvSpPr>
        <p:spPr>
          <a:xfrm>
            <a:off x="3022600" y="3835400"/>
            <a:ext cx="85598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30 days included (90 for Sentinel and Application Insights); up to 2 years; total up to 12 years</a:t>
            </a:r>
          </a:p>
        </p:txBody>
      </p:sp>
      <p:sp>
        <p:nvSpPr>
          <p:cNvPr id="23" name="Rectangle: Rounded Corners 22">
            <a:extLst>
              <a:ext uri="{FF2B5EF4-FFF2-40B4-BE49-F238E27FC236}">
                <a16:creationId xmlns:a16="http://schemas.microsoft.com/office/drawing/2014/main" id="{4A1E3BD9-0B91-6A0C-DDD6-F14E2FFA4C09}"/>
              </a:ext>
            </a:extLst>
          </p:cNvPr>
          <p:cNvSpPr/>
          <p:nvPr/>
        </p:nvSpPr>
        <p:spPr>
          <a:xfrm>
            <a:off x="609600" y="41529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Commitment tiers</a:t>
            </a:r>
          </a:p>
        </p:txBody>
      </p:sp>
      <p:sp>
        <p:nvSpPr>
          <p:cNvPr id="24" name="Rectangle: Rounded Corners 23">
            <a:extLst>
              <a:ext uri="{FF2B5EF4-FFF2-40B4-BE49-F238E27FC236}">
                <a16:creationId xmlns:a16="http://schemas.microsoft.com/office/drawing/2014/main" id="{0B33BA39-E732-3850-7C40-0009B19B7A61}"/>
              </a:ext>
            </a:extLst>
          </p:cNvPr>
          <p:cNvSpPr/>
          <p:nvPr/>
        </p:nvSpPr>
        <p:spPr>
          <a:xfrm>
            <a:off x="3022600" y="4152900"/>
            <a:ext cx="85598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from 100 GB a day; 31-day term; Analytics ingestion only</a:t>
            </a:r>
          </a:p>
        </p:txBody>
      </p:sp>
      <p:sp>
        <p:nvSpPr>
          <p:cNvPr id="25" name="Rectangle: Rounded Corners 24">
            <a:extLst>
              <a:ext uri="{FF2B5EF4-FFF2-40B4-BE49-F238E27FC236}">
                <a16:creationId xmlns:a16="http://schemas.microsoft.com/office/drawing/2014/main" id="{C9256DB9-9BA6-965C-8F42-E9283D311BC6}"/>
              </a:ext>
            </a:extLst>
          </p:cNvPr>
          <p:cNvSpPr/>
          <p:nvPr/>
        </p:nvSpPr>
        <p:spPr>
          <a:xfrm>
            <a:off x="609600" y="44704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Table plan changes</a:t>
            </a:r>
          </a:p>
        </p:txBody>
      </p:sp>
      <p:sp>
        <p:nvSpPr>
          <p:cNvPr id="26" name="Rectangle: Rounded Corners 25">
            <a:extLst>
              <a:ext uri="{FF2B5EF4-FFF2-40B4-BE49-F238E27FC236}">
                <a16:creationId xmlns:a16="http://schemas.microsoft.com/office/drawing/2014/main" id="{D3C82D26-C74C-0930-5C25-D10A057DF94F}"/>
              </a:ext>
            </a:extLst>
          </p:cNvPr>
          <p:cNvSpPr/>
          <p:nvPr/>
        </p:nvSpPr>
        <p:spPr>
          <a:xfrm>
            <a:off x="3022600" y="4470400"/>
            <a:ext cx="85598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one switch per table per week; Auxiliary only at creation</a:t>
            </a:r>
          </a:p>
        </p:txBody>
      </p:sp>
      <p:sp>
        <p:nvSpPr>
          <p:cNvPr id="27" name="Rectangle: Rounded Corners 26">
            <a:extLst>
              <a:ext uri="{FF2B5EF4-FFF2-40B4-BE49-F238E27FC236}">
                <a16:creationId xmlns:a16="http://schemas.microsoft.com/office/drawing/2014/main" id="{C747B4FD-5EEA-06A2-5260-F55D700BDD3C}"/>
              </a:ext>
            </a:extLst>
          </p:cNvPr>
          <p:cNvSpPr/>
          <p:nvPr/>
        </p:nvSpPr>
        <p:spPr>
          <a:xfrm>
            <a:off x="609600" y="4787900"/>
            <a:ext cx="2413000" cy="3175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Log search alert frequency</a:t>
            </a:r>
          </a:p>
        </p:txBody>
      </p:sp>
      <p:sp>
        <p:nvSpPr>
          <p:cNvPr id="28" name="Rectangle: Rounded Corners 27">
            <a:extLst>
              <a:ext uri="{FF2B5EF4-FFF2-40B4-BE49-F238E27FC236}">
                <a16:creationId xmlns:a16="http://schemas.microsoft.com/office/drawing/2014/main" id="{C0EFC21B-7161-E4E1-041C-8310E1704391}"/>
              </a:ext>
            </a:extLst>
          </p:cNvPr>
          <p:cNvSpPr/>
          <p:nvPr/>
        </p:nvSpPr>
        <p:spPr>
          <a:xfrm>
            <a:off x="3022600" y="4787900"/>
            <a:ext cx="8559800" cy="3175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1 minute to 24 hours</a:t>
            </a:r>
          </a:p>
        </p:txBody>
      </p:sp>
      <p:sp>
        <p:nvSpPr>
          <p:cNvPr id="29" name="Rectangle: Rounded Corners 28">
            <a:extLst>
              <a:ext uri="{FF2B5EF4-FFF2-40B4-BE49-F238E27FC236}">
                <a16:creationId xmlns:a16="http://schemas.microsoft.com/office/drawing/2014/main" id="{0A10E95B-FC89-03F1-BD8E-A400F243CD79}"/>
              </a:ext>
            </a:extLst>
          </p:cNvPr>
          <p:cNvSpPr/>
          <p:nvPr/>
        </p:nvSpPr>
        <p:spPr>
          <a:xfrm>
            <a:off x="609600" y="51054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Azure Monitor Agent OTLP ports (Arc servers)</a:t>
            </a:r>
          </a:p>
        </p:txBody>
      </p:sp>
      <p:sp>
        <p:nvSpPr>
          <p:cNvPr id="30" name="Rectangle: Rounded Corners 29">
            <a:extLst>
              <a:ext uri="{FF2B5EF4-FFF2-40B4-BE49-F238E27FC236}">
                <a16:creationId xmlns:a16="http://schemas.microsoft.com/office/drawing/2014/main" id="{F7CB39DE-1E54-8B18-6233-F44ABB1881AC}"/>
              </a:ext>
            </a:extLst>
          </p:cNvPr>
          <p:cNvSpPr/>
          <p:nvPr/>
        </p:nvSpPr>
        <p:spPr>
          <a:xfrm>
            <a:off x="3022600" y="5105400"/>
            <a:ext cx="85598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4317 metrics, 4319 logs and traces, gRPC on localhost</a:t>
            </a:r>
          </a:p>
        </p:txBody>
      </p:sp>
      <p:sp>
        <p:nvSpPr>
          <p:cNvPr id="31" name="Rectangle: Rounded Corners 30">
            <a:extLst>
              <a:ext uri="{FF2B5EF4-FFF2-40B4-BE49-F238E27FC236}">
                <a16:creationId xmlns:a16="http://schemas.microsoft.com/office/drawing/2014/main" id="{BD4D15D4-83B7-9211-CB67-7F6DA5EE47A6}"/>
              </a:ext>
            </a:extLst>
          </p:cNvPr>
          <p:cNvSpPr/>
          <p:nvPr/>
        </p:nvSpPr>
        <p:spPr>
          <a:xfrm>
            <a:off x="609600" y="5613400"/>
            <a:ext cx="2413000" cy="508000"/>
          </a:xfrm>
          <a:prstGeom prst="roundRect">
            <a:avLst>
              <a:gd name="adj" fmla="val 0"/>
            </a:avLst>
          </a:prstGeom>
          <a:solidFill>
            <a:srgbClr val="34343A"/>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b="1">
                <a:solidFill>
                  <a:srgbClr val="F4F4F5"/>
                </a:solidFill>
                <a:latin typeface="Calibri" panose="020F0502020204030204" pitchFamily="34" charset="0"/>
              </a:rPr>
              <a:t>OpenTelemetry Collector for native OTLP</a:t>
            </a:r>
          </a:p>
        </p:txBody>
      </p:sp>
      <p:sp>
        <p:nvSpPr>
          <p:cNvPr id="32" name="Rectangle: Rounded Corners 31">
            <a:extLst>
              <a:ext uri="{FF2B5EF4-FFF2-40B4-BE49-F238E27FC236}">
                <a16:creationId xmlns:a16="http://schemas.microsoft.com/office/drawing/2014/main" id="{037BBE6C-6BAE-AB05-1D0A-CF007492BFD9}"/>
              </a:ext>
            </a:extLst>
          </p:cNvPr>
          <p:cNvSpPr/>
          <p:nvPr/>
        </p:nvSpPr>
        <p:spPr>
          <a:xfrm>
            <a:off x="3022600" y="5613400"/>
            <a:ext cx="8559800" cy="508000"/>
          </a:xfrm>
          <a:prstGeom prst="roundRect">
            <a:avLst>
              <a:gd name="adj" fmla="val 0"/>
            </a:avLst>
          </a:prstGeom>
          <a:solidFill>
            <a:srgbClr val="27272C"/>
          </a:solidFill>
          <a:ln w="15875">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76200" tIns="38100" rIns="76200" bIns="38100" rtlCol="0" anchor="ctr">
            <a:noAutofit/>
          </a:bodyPr>
          <a:lstStyle/>
          <a:p>
            <a:r>
              <a:rPr lang="en-US" sz="1200">
                <a:solidFill>
                  <a:srgbClr val="F4F4F5"/>
                </a:solidFill>
                <a:latin typeface="Calibri" panose="020F0502020204030204" pitchFamily="34" charset="0"/>
              </a:rPr>
              <a:t>version 0.132 or later with the Azure authentication extension</a:t>
            </a:r>
          </a:p>
        </p:txBody>
      </p:sp>
    </p:spTree>
    <p:extLst>
      <p:ext uri="{BB962C8B-B14F-4D97-AF65-F5344CB8AC3E}">
        <p14:creationId xmlns:p14="http://schemas.microsoft.com/office/powerpoint/2010/main" val="26681624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04EE8B4F-97EF-20A0-AA2B-1EF0BA399F07}"/>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04A7F6CF-6630-E1B5-97EB-A2D66C510FD4}"/>
              </a:ext>
            </a:extLst>
          </p:cNvPr>
          <p:cNvSpPr/>
          <p:nvPr/>
        </p:nvSpPr>
        <p:spPr>
          <a:xfrm>
            <a:off x="0" y="1295400"/>
            <a:ext cx="12192000" cy="38100"/>
          </a:xfrm>
          <a:prstGeom prst="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BE4CF01-A95E-736A-AD59-CAEDD8A05AC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1709C0C-AD0B-F801-20B6-878DF8A1B234}"/>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Command cheat sheet</a:t>
            </a:r>
          </a:p>
        </p:txBody>
      </p:sp>
      <p:sp>
        <p:nvSpPr>
          <p:cNvPr id="6" name="ChapterTag">
            <a:extLst>
              <a:ext uri="{FF2B5EF4-FFF2-40B4-BE49-F238E27FC236}">
                <a16:creationId xmlns:a16="http://schemas.microsoft.com/office/drawing/2014/main" id="{38F575B2-B67F-882D-65AD-ED925DA46E0F}"/>
              </a:ext>
            </a:extLst>
          </p:cNvPr>
          <p:cNvSpPr/>
          <p:nvPr/>
        </p:nvSpPr>
        <p:spPr>
          <a:xfrm>
            <a:off x="9245600" y="381000"/>
            <a:ext cx="2336800" cy="330200"/>
          </a:xfrm>
          <a:prstGeom prst="round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8 · REFERENCE</a:t>
            </a:r>
          </a:p>
        </p:txBody>
      </p:sp>
      <p:sp>
        <p:nvSpPr>
          <p:cNvPr id="7" name="TextBox 6">
            <a:extLst>
              <a:ext uri="{FF2B5EF4-FFF2-40B4-BE49-F238E27FC236}">
                <a16:creationId xmlns:a16="http://schemas.microsoft.com/office/drawing/2014/main" id="{3A648B11-58D0-1AFD-A34F-9003D4B0264E}"/>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ABFC1A37-3A60-8601-ABA6-9717CD9FECF1}"/>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85</a:t>
            </a:r>
          </a:p>
        </p:txBody>
      </p:sp>
      <p:sp>
        <p:nvSpPr>
          <p:cNvPr id="9" name="Rectangle 8">
            <a:extLst>
              <a:ext uri="{FF2B5EF4-FFF2-40B4-BE49-F238E27FC236}">
                <a16:creationId xmlns:a16="http://schemas.microsoft.com/office/drawing/2014/main" id="{66C664DA-E8E0-BDED-6393-549476FFDE13}"/>
              </a:ext>
            </a:extLst>
          </p:cNvPr>
          <p:cNvSpPr/>
          <p:nvPr/>
        </p:nvSpPr>
        <p:spPr>
          <a:xfrm>
            <a:off x="609600" y="1549400"/>
            <a:ext cx="10972800" cy="4876800"/>
          </a:xfrm>
          <a:prstGeom prst="rect">
            <a:avLst/>
          </a:prstGeom>
          <a:solidFill>
            <a:srgbClr val="1E1E22"/>
          </a:solidFill>
          <a:ln w="12700">
            <a:solidFill>
              <a:srgbClr val="70707C"/>
            </a:solidFill>
          </a:ln>
        </p:spPr>
        <p:style>
          <a:lnRef idx="2">
            <a:schemeClr val="accent1">
              <a:shade val="15000"/>
            </a:schemeClr>
          </a:lnRef>
          <a:fillRef idx="1">
            <a:schemeClr val="accent1"/>
          </a:fillRef>
          <a:effectRef idx="0">
            <a:schemeClr val="accent1"/>
          </a:effectRef>
          <a:fontRef idx="minor">
            <a:schemeClr val="lt1"/>
          </a:fontRef>
        </p:style>
        <p:txBody>
          <a:bodyPr wrap="square" lIns="152400" tIns="127000" rIns="152400" bIns="127000" rtlCol="0" anchor="t">
            <a:noAutofit/>
          </a:bodyPr>
          <a:lstStyle/>
          <a:p>
            <a:r>
              <a:rPr lang="en-US" sz="1150">
                <a:solidFill>
                  <a:srgbClr val="A3E635"/>
                </a:solidFill>
                <a:latin typeface="Consolas" panose="020B0609020204030204" pitchFamily="49" charset="0"/>
              </a:rPr>
              <a:t># Arc servers</a:t>
            </a:r>
          </a:p>
          <a:p>
            <a:r>
              <a:rPr lang="en-US" sz="1150">
                <a:solidFill>
                  <a:srgbClr val="F4F4F5"/>
                </a:solidFill>
                <a:latin typeface="Consolas" panose="020B0609020204030204" pitchFamily="49" charset="0"/>
              </a:rPr>
              <a:t>azcmagent connect ... ; azcmagent show ; azcmagent config set proxy.url http://proxy:8080</a:t>
            </a:r>
          </a:p>
          <a:p>
            <a:r>
              <a:rPr lang="en-US" sz="1150">
                <a:solidFill>
                  <a:srgbClr val="F4F4F5"/>
                </a:solidFill>
                <a:latin typeface="Consolas" panose="020B0609020204030204" pitchFamily="49" charset="0"/>
              </a:rPr>
              <a:t>az connectedmachine list -g &lt;rg&gt; -o table ; az connectedmachine extension list -g &lt;rg&gt; --machine-name &lt;m&gt;</a:t>
            </a:r>
          </a:p>
          <a:p>
            <a:r>
              <a:rPr lang="en-US" sz="1150">
                <a:solidFill>
                  <a:srgbClr val="A3E635"/>
                </a:solidFill>
                <a:latin typeface="Consolas" panose="020B0609020204030204" pitchFamily="49" charset="0"/>
              </a:rPr>
              <a:t># Arc Kubernetes</a:t>
            </a:r>
          </a:p>
          <a:p>
            <a:r>
              <a:rPr lang="en-US" sz="1150">
                <a:solidFill>
                  <a:srgbClr val="F4F4F5"/>
                </a:solidFill>
                <a:latin typeface="Consolas" panose="020B0609020204030204" pitchFamily="49" charset="0"/>
              </a:rPr>
              <a:t>az connectedk8s connect -n &lt;cluster&gt; -g &lt;rg&gt; ; az k8s-extension list -c &lt;cluster&gt; -g &lt;rg&gt; -t connectedClusters</a:t>
            </a:r>
          </a:p>
          <a:p>
            <a:r>
              <a:rPr lang="en-US" sz="1150">
                <a:solidFill>
                  <a:srgbClr val="A3E635"/>
                </a:solidFill>
                <a:latin typeface="Consolas" panose="020B0609020204030204" pitchFamily="49" charset="0"/>
              </a:rPr>
              <a:t># Collection</a:t>
            </a:r>
          </a:p>
          <a:p>
            <a:r>
              <a:rPr lang="en-US" sz="1150">
                <a:solidFill>
                  <a:srgbClr val="F4F4F5"/>
                </a:solidFill>
                <a:latin typeface="Consolas" panose="020B0609020204030204" pitchFamily="49" charset="0"/>
              </a:rPr>
              <a:t>az monitor data-collection rule create --rule-file dcr.json ... ; az monitor data-collection rule association create --rule-id &lt;dcr&gt; --resource &lt;machine-id&gt; --name &lt;assoc&gt;</a:t>
            </a:r>
          </a:p>
          <a:p>
            <a:r>
              <a:rPr lang="en-US" sz="1150">
                <a:solidFill>
                  <a:srgbClr val="F4F4F5"/>
                </a:solidFill>
                <a:latin typeface="Consolas" panose="020B0609020204030204" pitchFamily="49" charset="0"/>
              </a:rPr>
              <a:t>az monitor data-collection endpoint create ... ; az monitor log-analytics workspace table create ... ; az monitor log-analytics workspace table update --plan Basic ...</a:t>
            </a:r>
          </a:p>
          <a:p>
            <a:r>
              <a:rPr lang="en-US" sz="1150">
                <a:solidFill>
                  <a:srgbClr val="A3E635"/>
                </a:solidFill>
                <a:latin typeface="Consolas" panose="020B0609020204030204" pitchFamily="49" charset="0"/>
              </a:rPr>
              <a:t># Policy and inventory</a:t>
            </a:r>
          </a:p>
          <a:p>
            <a:r>
              <a:rPr lang="en-US" sz="1150">
                <a:solidFill>
                  <a:srgbClr val="F4F4F5"/>
                </a:solidFill>
                <a:latin typeface="Consolas" panose="020B0609020204030204" pitchFamily="49" charset="0"/>
              </a:rPr>
              <a:t>az policy assignment create --policy-set-definition &lt;initiative&gt; --scope &lt;mg&gt; --params ... --mi-system-assigned --location &lt;region&gt;</a:t>
            </a:r>
          </a:p>
          <a:p>
            <a:r>
              <a:rPr lang="en-US" sz="1150">
                <a:solidFill>
                  <a:srgbClr val="F4F4F5"/>
                </a:solidFill>
                <a:latin typeface="Consolas" panose="020B0609020204030204" pitchFamily="49" charset="0"/>
              </a:rPr>
              <a:t>az policy remediation create --policy-assignment &lt;name&gt; --name &lt;remediation&gt;</a:t>
            </a:r>
          </a:p>
          <a:p>
            <a:r>
              <a:rPr lang="en-US" sz="1150">
                <a:solidFill>
                  <a:srgbClr val="F4F4F5"/>
                </a:solidFill>
                <a:latin typeface="Consolas" panose="020B0609020204030204" pitchFamily="49" charset="0"/>
              </a:rPr>
              <a:t>az graph query -q "resources | where type =~ \"microsoft.hybridcompute/machines\""</a:t>
            </a:r>
          </a:p>
          <a:p>
            <a:r>
              <a:rPr lang="en-US" sz="1150">
                <a:solidFill>
                  <a:srgbClr val="A3E635"/>
                </a:solidFill>
                <a:latin typeface="Consolas" panose="020B0609020204030204" pitchFamily="49" charset="0"/>
              </a:rPr>
              <a:t># Verification</a:t>
            </a:r>
          </a:p>
          <a:p>
            <a:r>
              <a:rPr lang="en-US" sz="1150">
                <a:solidFill>
                  <a:srgbClr val="F4F4F5"/>
                </a:solidFill>
                <a:latin typeface="Consolas" panose="020B0609020204030204" pitchFamily="49" charset="0"/>
              </a:rPr>
              <a:t>Heartbeat | summarize max(TimeGenerated) by Computer ; Usage | where IsBillable | summarize sum(Quantity) by DataType</a:t>
            </a:r>
          </a:p>
        </p:txBody>
      </p:sp>
    </p:spTree>
    <p:extLst>
      <p:ext uri="{BB962C8B-B14F-4D97-AF65-F5344CB8AC3E}">
        <p14:creationId xmlns:p14="http://schemas.microsoft.com/office/powerpoint/2010/main" val="33139973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92B95FE1-0B25-2AB2-1563-8F0D26275215}"/>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1C291BA6-3B97-5190-631A-9C21DC4AEED7}"/>
              </a:ext>
            </a:extLst>
          </p:cNvPr>
          <p:cNvSpPr/>
          <p:nvPr/>
        </p:nvSpPr>
        <p:spPr>
          <a:xfrm>
            <a:off x="0" y="1295400"/>
            <a:ext cx="12192000" cy="38100"/>
          </a:xfrm>
          <a:prstGeom prst="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10D7706-36ED-D1D1-80B5-EA7BEC348C43}"/>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A1CC8BA-0F03-57EC-6467-3D86C50B283E}"/>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Links</a:t>
            </a:r>
          </a:p>
        </p:txBody>
      </p:sp>
      <p:sp>
        <p:nvSpPr>
          <p:cNvPr id="6" name="ChapterTag">
            <a:extLst>
              <a:ext uri="{FF2B5EF4-FFF2-40B4-BE49-F238E27FC236}">
                <a16:creationId xmlns:a16="http://schemas.microsoft.com/office/drawing/2014/main" id="{8630AB3B-00D6-CE95-6A02-AD1151ADA60F}"/>
              </a:ext>
            </a:extLst>
          </p:cNvPr>
          <p:cNvSpPr/>
          <p:nvPr/>
        </p:nvSpPr>
        <p:spPr>
          <a:xfrm>
            <a:off x="9245600" y="381000"/>
            <a:ext cx="2336800" cy="330200"/>
          </a:xfrm>
          <a:prstGeom prst="round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8 · REFERENCE</a:t>
            </a:r>
          </a:p>
        </p:txBody>
      </p:sp>
      <p:sp>
        <p:nvSpPr>
          <p:cNvPr id="7" name="TextBox 6">
            <a:extLst>
              <a:ext uri="{FF2B5EF4-FFF2-40B4-BE49-F238E27FC236}">
                <a16:creationId xmlns:a16="http://schemas.microsoft.com/office/drawing/2014/main" id="{59BC2CA8-87D7-91BC-5BA1-A1C15F0AE1EC}"/>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5140079E-2B78-9B65-10A6-E3D92FBFFAA5}"/>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86</a:t>
            </a:r>
          </a:p>
        </p:txBody>
      </p:sp>
      <p:sp>
        <p:nvSpPr>
          <p:cNvPr id="9" name="Oval 8">
            <a:extLst>
              <a:ext uri="{FF2B5EF4-FFF2-40B4-BE49-F238E27FC236}">
                <a16:creationId xmlns:a16="http://schemas.microsoft.com/office/drawing/2014/main" id="{1FB453A7-4D90-57D6-4540-514F65485D12}"/>
              </a:ext>
            </a:extLst>
          </p:cNvPr>
          <p:cNvSpPr/>
          <p:nvPr/>
        </p:nvSpPr>
        <p:spPr>
          <a:xfrm>
            <a:off x="660400" y="1674495"/>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0D5FAF9-D1E6-E2BD-A0A6-75F183E927A5}"/>
              </a:ext>
            </a:extLst>
          </p:cNvPr>
          <p:cNvSpPr txBox="1"/>
          <p:nvPr/>
        </p:nvSpPr>
        <p:spPr>
          <a:xfrm>
            <a:off x="889000" y="1600200"/>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Azure Arc overview and network requirements: learn.microsoft.com/azure/azure-arc</a:t>
            </a:r>
          </a:p>
        </p:txBody>
      </p:sp>
      <p:sp>
        <p:nvSpPr>
          <p:cNvPr id="11" name="Oval 10">
            <a:extLst>
              <a:ext uri="{FF2B5EF4-FFF2-40B4-BE49-F238E27FC236}">
                <a16:creationId xmlns:a16="http://schemas.microsoft.com/office/drawing/2014/main" id="{B81D3CB5-FDB8-C635-0D43-B1DD9981D24A}"/>
              </a:ext>
            </a:extLst>
          </p:cNvPr>
          <p:cNvSpPr/>
          <p:nvPr/>
        </p:nvSpPr>
        <p:spPr>
          <a:xfrm>
            <a:off x="660400" y="2063623"/>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3BE32F0-4658-1069-0A18-777AA1DAA7BB}"/>
              </a:ext>
            </a:extLst>
          </p:cNvPr>
          <p:cNvSpPr txBox="1"/>
          <p:nvPr/>
        </p:nvSpPr>
        <p:spPr>
          <a:xfrm>
            <a:off x="889000" y="1989328"/>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Multicloud connector enabled by Azure Arc: learn.microsoft.com/azure/azure-arc/multicloud-connector</a:t>
            </a:r>
          </a:p>
        </p:txBody>
      </p:sp>
      <p:sp>
        <p:nvSpPr>
          <p:cNvPr id="13" name="Oval 12">
            <a:extLst>
              <a:ext uri="{FF2B5EF4-FFF2-40B4-BE49-F238E27FC236}">
                <a16:creationId xmlns:a16="http://schemas.microsoft.com/office/drawing/2014/main" id="{3A6954DC-515E-C27B-8862-AFA0F3BA59F4}"/>
              </a:ext>
            </a:extLst>
          </p:cNvPr>
          <p:cNvSpPr/>
          <p:nvPr/>
        </p:nvSpPr>
        <p:spPr>
          <a:xfrm>
            <a:off x="660400" y="2452751"/>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DAF52AC-8799-73E6-C495-FB3F4BBA79D5}"/>
              </a:ext>
            </a:extLst>
          </p:cNvPr>
          <p:cNvSpPr txBox="1"/>
          <p:nvPr/>
        </p:nvSpPr>
        <p:spPr>
          <a:xfrm>
            <a:off x="889000" y="2378456"/>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Azure Arc resource bridge, VMware vSphere and SCVMM: learn.microsoft.com/azure/azure-arc/resource-bridge</a:t>
            </a:r>
          </a:p>
        </p:txBody>
      </p:sp>
      <p:sp>
        <p:nvSpPr>
          <p:cNvPr id="15" name="Oval 14">
            <a:extLst>
              <a:ext uri="{FF2B5EF4-FFF2-40B4-BE49-F238E27FC236}">
                <a16:creationId xmlns:a16="http://schemas.microsoft.com/office/drawing/2014/main" id="{80BBA577-0187-13B8-7E4C-726B18F2C18A}"/>
              </a:ext>
            </a:extLst>
          </p:cNvPr>
          <p:cNvSpPr/>
          <p:nvPr/>
        </p:nvSpPr>
        <p:spPr>
          <a:xfrm>
            <a:off x="660400" y="2841879"/>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13B7C46-122C-9C81-0573-039250E51C16}"/>
              </a:ext>
            </a:extLst>
          </p:cNvPr>
          <p:cNvSpPr txBox="1"/>
          <p:nvPr/>
        </p:nvSpPr>
        <p:spPr>
          <a:xfrm>
            <a:off x="889000" y="2767584"/>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Azure Monitor Agent and data collection rules: learn.microsoft.com/azure/azure-monitor/agents</a:t>
            </a:r>
          </a:p>
        </p:txBody>
      </p:sp>
      <p:sp>
        <p:nvSpPr>
          <p:cNvPr id="17" name="Oval 16">
            <a:extLst>
              <a:ext uri="{FF2B5EF4-FFF2-40B4-BE49-F238E27FC236}">
                <a16:creationId xmlns:a16="http://schemas.microsoft.com/office/drawing/2014/main" id="{18CE97AE-9F8C-5788-2A0F-076A270382A3}"/>
              </a:ext>
            </a:extLst>
          </p:cNvPr>
          <p:cNvSpPr/>
          <p:nvPr/>
        </p:nvSpPr>
        <p:spPr>
          <a:xfrm>
            <a:off x="660400" y="3231007"/>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B79F721-A429-A846-5EDB-8C8230B8BF38}"/>
              </a:ext>
            </a:extLst>
          </p:cNvPr>
          <p:cNvSpPr txBox="1"/>
          <p:nvPr/>
        </p:nvSpPr>
        <p:spPr>
          <a:xfrm>
            <a:off x="889000" y="3156712"/>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Kubernetes monitoring (Container insights, Managed Prometheus) on Arc clusters: learn.microsoft.com/azure/azure-monitor/containers</a:t>
            </a:r>
          </a:p>
        </p:txBody>
      </p:sp>
      <p:sp>
        <p:nvSpPr>
          <p:cNvPr id="19" name="Oval 18">
            <a:extLst>
              <a:ext uri="{FF2B5EF4-FFF2-40B4-BE49-F238E27FC236}">
                <a16:creationId xmlns:a16="http://schemas.microsoft.com/office/drawing/2014/main" id="{294D28AE-E1EB-FD89-1159-189D51AF6705}"/>
              </a:ext>
            </a:extLst>
          </p:cNvPr>
          <p:cNvSpPr/>
          <p:nvPr/>
        </p:nvSpPr>
        <p:spPr>
          <a:xfrm>
            <a:off x="660400" y="3620135"/>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67B2F3F-4C0D-BB57-BDB3-ED633DFEB4EB}"/>
              </a:ext>
            </a:extLst>
          </p:cNvPr>
          <p:cNvSpPr txBox="1"/>
          <p:nvPr/>
        </p:nvSpPr>
        <p:spPr>
          <a:xfrm>
            <a:off x="889000" y="3545840"/>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OpenTelemetry with Azure Monitor: learn.microsoft.com/azure/azure-monitor/app/opentelemetry-enable</a:t>
            </a:r>
          </a:p>
        </p:txBody>
      </p:sp>
      <p:sp>
        <p:nvSpPr>
          <p:cNvPr id="21" name="Oval 20">
            <a:extLst>
              <a:ext uri="{FF2B5EF4-FFF2-40B4-BE49-F238E27FC236}">
                <a16:creationId xmlns:a16="http://schemas.microsoft.com/office/drawing/2014/main" id="{BD0203AD-917A-66CD-5E95-9900377D3C27}"/>
              </a:ext>
            </a:extLst>
          </p:cNvPr>
          <p:cNvSpPr/>
          <p:nvPr/>
        </p:nvSpPr>
        <p:spPr>
          <a:xfrm>
            <a:off x="660400" y="4009263"/>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4A453C0-09A4-9027-C8A5-6E07C07C31D9}"/>
              </a:ext>
            </a:extLst>
          </p:cNvPr>
          <p:cNvSpPr txBox="1"/>
          <p:nvPr/>
        </p:nvSpPr>
        <p:spPr>
          <a:xfrm>
            <a:off x="889000" y="3934968"/>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Logs ingestion API and table plans: learn.microsoft.com/azure/azure-monitor/logs</a:t>
            </a:r>
          </a:p>
        </p:txBody>
      </p:sp>
      <p:sp>
        <p:nvSpPr>
          <p:cNvPr id="23" name="Oval 22">
            <a:extLst>
              <a:ext uri="{FF2B5EF4-FFF2-40B4-BE49-F238E27FC236}">
                <a16:creationId xmlns:a16="http://schemas.microsoft.com/office/drawing/2014/main" id="{BCD5B57D-5981-C306-6D5B-5E5CEDDAF46F}"/>
              </a:ext>
            </a:extLst>
          </p:cNvPr>
          <p:cNvSpPr/>
          <p:nvPr/>
        </p:nvSpPr>
        <p:spPr>
          <a:xfrm>
            <a:off x="660400" y="4398391"/>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79E2C58-BA93-28C0-94C4-80E82570E1B5}"/>
              </a:ext>
            </a:extLst>
          </p:cNvPr>
          <p:cNvSpPr txBox="1"/>
          <p:nvPr/>
        </p:nvSpPr>
        <p:spPr>
          <a:xfrm>
            <a:off x="889000" y="4324096"/>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Azure Monitor Health Models (preview): learn.microsoft.com/azure/azure-monitor/health-models</a:t>
            </a:r>
          </a:p>
        </p:txBody>
      </p:sp>
      <p:sp>
        <p:nvSpPr>
          <p:cNvPr id="25" name="Oval 24">
            <a:extLst>
              <a:ext uri="{FF2B5EF4-FFF2-40B4-BE49-F238E27FC236}">
                <a16:creationId xmlns:a16="http://schemas.microsoft.com/office/drawing/2014/main" id="{908D293A-1F37-E386-67D0-545749A2C376}"/>
              </a:ext>
            </a:extLst>
          </p:cNvPr>
          <p:cNvSpPr/>
          <p:nvPr/>
        </p:nvSpPr>
        <p:spPr>
          <a:xfrm>
            <a:off x="660400" y="4787519"/>
            <a:ext cx="101600" cy="101600"/>
          </a:xfrm>
          <a:prstGeom prst="ellipse">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BD19DCA8-F987-C4D6-DBCC-5F18032D09E5}"/>
              </a:ext>
            </a:extLst>
          </p:cNvPr>
          <p:cNvSpPr txBox="1"/>
          <p:nvPr/>
        </p:nvSpPr>
        <p:spPr>
          <a:xfrm>
            <a:off x="889000" y="4713224"/>
            <a:ext cx="10693400" cy="312928"/>
          </a:xfrm>
          <a:prstGeom prst="rect">
            <a:avLst/>
          </a:prstGeom>
          <a:noFill/>
        </p:spPr>
        <p:txBody>
          <a:bodyPr vert="horz" wrap="square" lIns="25400" tIns="12700" rIns="25400" bIns="12700" rtlCol="0" anchor="t">
            <a:noAutofit/>
          </a:bodyPr>
          <a:lstStyle/>
          <a:p>
            <a:r>
              <a:rPr lang="en-US" sz="1300">
                <a:solidFill>
                  <a:srgbClr val="F4F4F5"/>
                </a:solidFill>
                <a:latin typeface="Calibri" panose="020F0502020204030204" pitchFamily="34" charset="0"/>
              </a:rPr>
              <a:t>Cloud Adoption Framework, hybrid and multicloud scenario: learn.microsoft.com/azure/cloud-adoption-framework/scenarios/hybrid</a:t>
            </a:r>
          </a:p>
        </p:txBody>
      </p:sp>
    </p:spTree>
    <p:extLst>
      <p:ext uri="{BB962C8B-B14F-4D97-AF65-F5344CB8AC3E}">
        <p14:creationId xmlns:p14="http://schemas.microsoft.com/office/powerpoint/2010/main" val="18847498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8181B"/>
        </a:solidFill>
        <a:effectLst/>
      </p:bgPr>
    </p:bg>
    <p:spTree>
      <p:nvGrpSpPr>
        <p:cNvPr id="1" name=""/>
        <p:cNvGrpSpPr/>
        <p:nvPr/>
      </p:nvGrpSpPr>
      <p:grpSpPr>
        <a:xfrm>
          <a:off x="0" y="0"/>
          <a:ext cx="0" cy="0"/>
          <a:chOff x="0" y="0"/>
          <a:chExt cx="0" cy="0"/>
        </a:xfrm>
      </p:grpSpPr>
      <p:sp>
        <p:nvSpPr>
          <p:cNvPr id="2" name="Band">
            <a:extLst>
              <a:ext uri="{FF2B5EF4-FFF2-40B4-BE49-F238E27FC236}">
                <a16:creationId xmlns:a16="http://schemas.microsoft.com/office/drawing/2014/main" id="{373018EC-5A19-0C08-0511-5A9280858452}"/>
              </a:ext>
            </a:extLst>
          </p:cNvPr>
          <p:cNvSpPr/>
          <p:nvPr/>
        </p:nvSpPr>
        <p:spPr>
          <a:xfrm>
            <a:off x="0" y="0"/>
            <a:ext cx="12192000" cy="1320800"/>
          </a:xfrm>
          <a:prstGeom prst="rect">
            <a:avLst/>
          </a:prstGeom>
          <a:solidFill>
            <a:srgbClr val="20202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BandRule">
            <a:extLst>
              <a:ext uri="{FF2B5EF4-FFF2-40B4-BE49-F238E27FC236}">
                <a16:creationId xmlns:a16="http://schemas.microsoft.com/office/drawing/2014/main" id="{10F330BC-C5C8-DAAB-4929-49197B56D994}"/>
              </a:ext>
            </a:extLst>
          </p:cNvPr>
          <p:cNvSpPr/>
          <p:nvPr/>
        </p:nvSpPr>
        <p:spPr>
          <a:xfrm>
            <a:off x="0" y="1295400"/>
            <a:ext cx="12192000" cy="38100"/>
          </a:xfrm>
          <a:prstGeom prst="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9729510-9F8E-1DE1-2C06-DC367CAF4726}"/>
              </a:ext>
            </a:extLst>
          </p:cNvPr>
          <p:cNvSpPr/>
          <p:nvPr/>
        </p:nvSpPr>
        <p:spPr>
          <a:xfrm>
            <a:off x="558800" y="381000"/>
            <a:ext cx="63500" cy="558800"/>
          </a:xfrm>
          <a:prstGeom prst="rect">
            <a:avLst/>
          </a:prstGeom>
          <a:solidFill>
            <a:srgbClr val="FBBF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0BD1248-084C-3E0F-9517-CEE5EE5C4169}"/>
              </a:ext>
            </a:extLst>
          </p:cNvPr>
          <p:cNvSpPr txBox="1"/>
          <p:nvPr/>
        </p:nvSpPr>
        <p:spPr>
          <a:xfrm>
            <a:off x="762000" y="330200"/>
            <a:ext cx="8890000" cy="685800"/>
          </a:xfrm>
          <a:prstGeom prst="rect">
            <a:avLst/>
          </a:prstGeom>
          <a:noFill/>
        </p:spPr>
        <p:txBody>
          <a:bodyPr vert="horz" wrap="square" lIns="25400" tIns="12700" rIns="25400" bIns="12700" rtlCol="0" anchor="t">
            <a:noAutofit/>
          </a:bodyPr>
          <a:lstStyle/>
          <a:p>
            <a:r>
              <a:rPr lang="en-US" sz="2800" b="1">
                <a:solidFill>
                  <a:srgbClr val="F4F4F5"/>
                </a:solidFill>
                <a:latin typeface="Calibri" panose="020F0502020204030204" pitchFamily="34" charset="0"/>
              </a:rPr>
              <a:t>Closing</a:t>
            </a:r>
          </a:p>
        </p:txBody>
      </p:sp>
      <p:sp>
        <p:nvSpPr>
          <p:cNvPr id="6" name="ChapterTag">
            <a:extLst>
              <a:ext uri="{FF2B5EF4-FFF2-40B4-BE49-F238E27FC236}">
                <a16:creationId xmlns:a16="http://schemas.microsoft.com/office/drawing/2014/main" id="{D8C777C5-00FB-4347-0884-FD076978B2EF}"/>
              </a:ext>
            </a:extLst>
          </p:cNvPr>
          <p:cNvSpPr/>
          <p:nvPr/>
        </p:nvSpPr>
        <p:spPr>
          <a:xfrm>
            <a:off x="9245600" y="381000"/>
            <a:ext cx="2336800" cy="330200"/>
          </a:xfrm>
          <a:prstGeom prst="roundRect">
            <a:avLst/>
          </a:prstGeom>
          <a:solidFill>
            <a:srgbClr val="B0B0B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18181B"/>
                </a:solidFill>
                <a:latin typeface="Calibri" panose="020F0502020204030204" pitchFamily="34" charset="0"/>
              </a:rPr>
              <a:t>8 · REFERENCE</a:t>
            </a:r>
          </a:p>
        </p:txBody>
      </p:sp>
      <p:sp>
        <p:nvSpPr>
          <p:cNvPr id="7" name="TextBox 6">
            <a:extLst>
              <a:ext uri="{FF2B5EF4-FFF2-40B4-BE49-F238E27FC236}">
                <a16:creationId xmlns:a16="http://schemas.microsoft.com/office/drawing/2014/main" id="{1DCBA7A0-1854-E6E3-C717-C99787647D30}"/>
              </a:ext>
            </a:extLst>
          </p:cNvPr>
          <p:cNvSpPr txBox="1"/>
          <p:nvPr/>
        </p:nvSpPr>
        <p:spPr>
          <a:xfrm>
            <a:off x="558800" y="6578600"/>
            <a:ext cx="5080000" cy="203200"/>
          </a:xfrm>
          <a:prstGeom prst="rect">
            <a:avLst/>
          </a:prstGeom>
          <a:noFill/>
        </p:spPr>
        <p:txBody>
          <a:bodyPr vert="horz" wrap="square" lIns="25400" tIns="12700" rIns="25400" bIns="12700" rtlCol="0" anchor="t">
            <a:noAutofit/>
          </a:bodyPr>
          <a:lstStyle/>
          <a:p>
            <a:r>
              <a:rPr lang="en-US" sz="1050">
                <a:solidFill>
                  <a:srgbClr val="B0B0BA"/>
                </a:solidFill>
                <a:latin typeface="Calibri" panose="020F0502020204030204" pitchFamily="34" charset="0"/>
              </a:rPr>
              <a:t>Observability across clouds · reference</a:t>
            </a:r>
          </a:p>
        </p:txBody>
      </p:sp>
      <p:sp>
        <p:nvSpPr>
          <p:cNvPr id="8" name="TextBox 7">
            <a:extLst>
              <a:ext uri="{FF2B5EF4-FFF2-40B4-BE49-F238E27FC236}">
                <a16:creationId xmlns:a16="http://schemas.microsoft.com/office/drawing/2014/main" id="{3B5CD12D-5395-8FF4-39F8-908049D3A0FE}"/>
              </a:ext>
            </a:extLst>
          </p:cNvPr>
          <p:cNvSpPr txBox="1"/>
          <p:nvPr/>
        </p:nvSpPr>
        <p:spPr>
          <a:xfrm>
            <a:off x="11176000" y="6578600"/>
            <a:ext cx="406400" cy="203200"/>
          </a:xfrm>
          <a:prstGeom prst="rect">
            <a:avLst/>
          </a:prstGeom>
          <a:noFill/>
        </p:spPr>
        <p:txBody>
          <a:bodyPr vert="horz" wrap="square" lIns="25400" tIns="12700" rIns="25400" bIns="12700" rtlCol="0" anchor="t">
            <a:noAutofit/>
          </a:bodyPr>
          <a:lstStyle/>
          <a:p>
            <a:pPr algn="r"/>
            <a:r>
              <a:rPr lang="en-US" sz="1050">
                <a:solidFill>
                  <a:srgbClr val="B0B0BA"/>
                </a:solidFill>
                <a:latin typeface="Calibri" panose="020F0502020204030204" pitchFamily="34" charset="0"/>
              </a:rPr>
              <a:t>87</a:t>
            </a:r>
          </a:p>
        </p:txBody>
      </p:sp>
      <p:sp>
        <p:nvSpPr>
          <p:cNvPr id="9" name="Rectangle: Rounded Corners 8">
            <a:extLst>
              <a:ext uri="{FF2B5EF4-FFF2-40B4-BE49-F238E27FC236}">
                <a16:creationId xmlns:a16="http://schemas.microsoft.com/office/drawing/2014/main" id="{45F368EB-3334-BC4F-FB51-59BED4012025}"/>
              </a:ext>
            </a:extLst>
          </p:cNvPr>
          <p:cNvSpPr/>
          <p:nvPr/>
        </p:nvSpPr>
        <p:spPr>
          <a:xfrm>
            <a:off x="762000" y="1905000"/>
            <a:ext cx="10668000" cy="1905000"/>
          </a:xfrm>
          <a:prstGeom prst="roundRect">
            <a:avLst>
              <a:gd name="adj" fmla="val 8000"/>
            </a:avLst>
          </a:prstGeom>
          <a:solidFill>
            <a:srgbClr val="27272C"/>
          </a:solidFill>
          <a:ln w="15875">
            <a:solidFill>
              <a:srgbClr val="FBBF24"/>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50800" rIns="101600" bIns="50800" rtlCol="0" anchor="ctr">
            <a:noAutofit/>
          </a:bodyPr>
          <a:lstStyle/>
          <a:p>
            <a:pPr algn="ctr"/>
            <a:r>
              <a:rPr lang="en-US" sz="2000" b="1">
                <a:solidFill>
                  <a:srgbClr val="F4F4F5"/>
                </a:solidFill>
                <a:latin typeface="Calibri" panose="020F0502020204030204" pitchFamily="34" charset="0"/>
              </a:rPr>
              <a:t>Monitoring tells you a server is up. Observability tells you whether people can do their work, wherever the service runs.</a:t>
            </a:r>
          </a:p>
        </p:txBody>
      </p:sp>
      <p:sp>
        <p:nvSpPr>
          <p:cNvPr id="10" name="TextBox 9">
            <a:extLst>
              <a:ext uri="{FF2B5EF4-FFF2-40B4-BE49-F238E27FC236}">
                <a16:creationId xmlns:a16="http://schemas.microsoft.com/office/drawing/2014/main" id="{3B38E77A-C35A-7AF8-AE38-45FA82051107}"/>
              </a:ext>
            </a:extLst>
          </p:cNvPr>
          <p:cNvSpPr txBox="1"/>
          <p:nvPr/>
        </p:nvSpPr>
        <p:spPr>
          <a:xfrm>
            <a:off x="762000" y="4191000"/>
            <a:ext cx="10668000" cy="1524000"/>
          </a:xfrm>
          <a:prstGeom prst="rect">
            <a:avLst/>
          </a:prstGeom>
          <a:noFill/>
        </p:spPr>
        <p:txBody>
          <a:bodyPr vert="horz" wrap="square" lIns="25400" tIns="12700" rIns="25400" bIns="12700" rtlCol="0" anchor="t">
            <a:noAutofit/>
          </a:bodyPr>
          <a:lstStyle/>
          <a:p>
            <a:pPr algn="ctr"/>
            <a:r>
              <a:rPr lang="en-US" sz="1600">
                <a:solidFill>
                  <a:srgbClr val="B0B0BA"/>
                </a:solidFill>
                <a:latin typeface="Calibri" panose="020F0502020204030204" pitchFamily="34" charset="0"/>
              </a:rPr>
              <a:t>Azure Arc makes every machine and cluster a resource you can govern. Azure Monitor gives their evidence one shape and one home. The rest is design, ownership and the discipline to keep it true.</a:t>
            </a:r>
          </a:p>
        </p:txBody>
      </p:sp>
    </p:spTree>
    <p:extLst>
      <p:ext uri="{BB962C8B-B14F-4D97-AF65-F5344CB8AC3E}">
        <p14:creationId xmlns:p14="http://schemas.microsoft.com/office/powerpoint/2010/main" val="1048782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16024</Words>
  <Application>Microsoft Office PowerPoint</Application>
  <PresentationFormat>Custom</PresentationFormat>
  <Paragraphs>1756</Paragraphs>
  <Slides>87</Slides>
  <Notes>87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Aptos Display</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Kristopher Turner</dc:creator>
  <cp:lastModifiedBy>Kristopher Turner</cp:lastModifiedBy>
  <cp:revision>1</cp:revision>
  <dcterms:created xsi:type="dcterms:W3CDTF">2026-10-01T18:48:18Z</dcterms:created>
  <dcterms:modified xsi:type="dcterms:W3CDTF">2026-10-01T18:48:18Z</dcterms:modified>
</cp:coreProperties>
</file>