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xml" ContentType="application/vnd.openxmlformats-officedocument.presentationml.tags+xml"/>
  <Override PartName="/ppt/notesSlides/notesSlide40.xml" ContentType="application/vnd.openxmlformats-officedocument.presentationml.notesSlide+xml"/>
  <Override PartName="/ppt/tags/tag2.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3.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C85604-4861-4D63-A4C3-F37AE94C1195}"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691FEA-A84D-408B-A0F6-3F1C538FC592}" type="slidenum">
              <a:rPr lang="en-US" smtClean="0"/>
              <a:t>‹#›</a:t>
            </a:fld>
            <a:endParaRPr lang="en-US"/>
          </a:p>
        </p:txBody>
      </p:sp>
    </p:spTree>
    <p:extLst>
      <p:ext uri="{BB962C8B-B14F-4D97-AF65-F5344CB8AC3E}">
        <p14:creationId xmlns:p14="http://schemas.microsoft.com/office/powerpoint/2010/main" val="4150664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One service, three clouds, one view of its health.
• Whole-service observability across Azure · AWS · on-premises.
• → Next: thank the sponsors.
TALKING POINTS
Read the title, then the subtitle: whole-service observability across Azure, AWS and on-premises. Point to the three bars on the right and read the line under them. One service, three clouds, one view of its health. That is the promise, and the rest of the session earns it one step at a time. Transition: first, a thank you to the sponsors.
PURPOSE
Open with the published title and set the lens for the whole session. The audience should know from the first slide that this is about one service, not one site.</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1</a:t>
            </a:fld>
            <a:endParaRPr lang="en-US"/>
          </a:p>
        </p:txBody>
      </p:sp>
    </p:spTree>
    <p:extLst>
      <p:ext uri="{BB962C8B-B14F-4D97-AF65-F5344CB8AC3E}">
        <p14:creationId xmlns:p14="http://schemas.microsoft.com/office/powerpoint/2010/main" val="1333591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Thank the sponsors shown on the organizer’s slide.
• Community events run on their support.
• → Next: introduce the presenter.
TALKING POINTS
Thank the sponsors shown on the organizer's slide. Keep it brief and sincere; community events run on this support. Transition: a quick word about who is presenting.
PURPOSE
Thank the sponsors who make the event possible, then move to the introduction.</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2</a:t>
            </a:fld>
            <a:endParaRPr lang="en-US"/>
          </a:p>
        </p:txBody>
      </p:sp>
    </p:spTree>
    <p:extLst>
      <p:ext uri="{BB962C8B-B14F-4D97-AF65-F5344CB8AC3E}">
        <p14:creationId xmlns:p14="http://schemas.microsoft.com/office/powerpoint/2010/main" val="1043837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Hybrid operations across Azure · on-premises private cloud · AWS.
• Everything shown runs in a real environment built for this event.
• → Next: the discussion that shaped this session.
TALKING POINTS
Keep this short. Name the role and the kind of work: hybrid operations across Azure, the on-premises private cloud and AWS. Say that everything shown today runs in a real environment built for this event. Transition: a discussion that shaped this session.
PURPOSE
Introduce the presenter briefly so the audience knows the background behind the examples, then move straight to the story that shaped the session.</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3</a:t>
            </a:fld>
            <a:endParaRPr lang="en-US"/>
          </a:p>
        </p:txBody>
      </p:sp>
    </p:spTree>
    <p:extLst>
      <p:ext uri="{BB962C8B-B14F-4D97-AF65-F5344CB8AC3E}">
        <p14:creationId xmlns:p14="http://schemas.microsoft.com/office/powerpoint/2010/main" val="3416792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Ask the room: have you had discussions like this? Keep everyone anonymous.
• Our team runs the lab environments; some are treated as production.
• A corporate monitoring solution is shared with lab environments other teams manage: a flood of alerts for things we do not own.
• The proposal: another monitoring solution, just for our labs.
• The mindset: on-premises first, across our two datacenters; the labs in Azure and AWS came later, if at all.
• Everyone was solving a real problem; the question was too small.
• → Next: what I asked the team to consider.
TALKING POINTS
Ask the question on the slide and let people recognise it. Then tell the story plainly and keep everyone anonymous; this is not about a person or a product.
My team runs our lab environments, and depending on the lab, some of them are treated as production. We use a corporate monitoring solution, and it is also used in lab environments we do not control: they are part of the lab, but other teams manage them. The result is a flood of alerts for solutions we do not manage.
Read the first callout. In a team meeting, someone proposed that we think about another monitoring solution, just for our lab environments. That is a reasonable reaction to alert noise. Read the second callout. The thinking stayed on-premises: our labs spread across two datacenters, so the plan started there. But our labs already extend into Azure and AWS, and a plan that starts in the datacenter leaves those parts for later. Read the third callout: the real pain was alerts for things we do not own, and a second tool does not fix ownership; it adds a second place to be flooded.
My pushback was not about the tool. I said we need more than monitoring. We need to view this as observability, start from the whole service rather than one site, and bring the labs that run in Azure and AWS into one single pane of glass from day one.
Transition: here is what I asked the team to consider.
PURPOSE
Open with the real meeting, because most people in the room have been in it: alert noise, a proposal for a new tool, and a plan that starts where the team is most comfortable. The audience should recognise all three before the session answers them.</a:t>
            </a:r>
          </a:p>
          <a:p>
            <a:endParaRPr lang="en-US"/>
          </a:p>
          <a:p>
            <a:r>
              <a:rPr lang="en-US"/>
              <a:t>[Sources]</a:t>
            </a:r>
          </a:p>
          <a:p>
            <a:r>
              <a:rPr lang="en-US"/>
              <a:t>- Presenter account of the team meeting (anonymised).</a:t>
            </a:r>
          </a:p>
        </p:txBody>
      </p:sp>
      <p:sp>
        <p:nvSpPr>
          <p:cNvPr id="4" name="Slide Number Placeholder 3"/>
          <p:cNvSpPr>
            <a:spLocks noGrp="1"/>
          </p:cNvSpPr>
          <p:nvPr>
            <p:ph type="sldNum" sz="quarter" idx="5"/>
          </p:nvPr>
        </p:nvSpPr>
        <p:spPr/>
        <p:txBody>
          <a:bodyPr/>
          <a:lstStyle/>
          <a:p>
            <a:fld id="{59691FEA-A84D-408B-A0F6-3F1C538FC592}" type="slidenum">
              <a:rPr lang="en-US" smtClean="0"/>
              <a:t>4</a:t>
            </a:fld>
            <a:endParaRPr lang="en-US"/>
          </a:p>
        </p:txBody>
      </p:sp>
    </p:spTree>
    <p:extLst>
      <p:ext uri="{BB962C8B-B14F-4D97-AF65-F5344CB8AC3E}">
        <p14:creationId xmlns:p14="http://schemas.microsoft.com/office/powerpoint/2010/main" val="590671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Left, the proposal: a monitoring tool for our on-premises labs. "Is the server up?" Two datacenters, another source of alerts.
• Right, what I asked for: "Can the people using our labs do their work right now, and if not, why not?"
• Every lab, wherever it runs (on-premises, Azure, AWS) · one single pane of glass · impact, owner, recovery.
• Same data, bigger question.
• The working definition is stated here once and not repeated.
• Flexera 2026: 73% hybrid, 88% more than one cloud; the whole service is almost always in more than one place.
• → Next: the working definition in full.
TALKING POINTS
Read the left panel: the proposal in the meeting. A monitoring tool for our on-premises labs, answering "is the server up?" across our two datacenters. It would have been another source of alerts next to the corporate one.
Click the right panel and read what I asked the team to consider instead: can the people using our labs do their work right now, and if not, why not? That question is about every lab, wherever it runs, on-premises, in Azure or in AWS, in one single pane of glass, and it does not stop at "something is red": it asks who is affected, who owns the next step and how we will know it is fixed. Same data, bigger question.
Click the definition and read it once, slowly. This is the only time the session defines observability; everything after this is the definition applied to one example service, IIC Hybrid Orders, which stands in for any service, or any lab, whose parts run in more than one place.
Click the last line. Flexera's 2026 State of the Cloud found 73% of organizations run hybrid and 88% use more than one cloud. "The whole service" is almost never in one place, which is why a plan that starts in the datacenter would have missed parts of our labs that were already running.
Read the takeaway: monitoring tells you a server is up; observability tells you whether the customer was served, wherever the service runs. Transition: now the working definition in full, then the whole map.
PURPOSE
State, in the meeting's own words, the difference between the tool that was proposed and the observability the presenter asked for, and give the working definition exactly once.</a:t>
            </a:r>
          </a:p>
          <a:p>
            <a:endParaRPr lang="en-US"/>
          </a:p>
          <a:p>
            <a:r>
              <a:rPr lang="en-US"/>
              <a:t>[Sources]</a:t>
            </a:r>
          </a:p>
          <a:p>
            <a:r>
              <a:rPr lang="en-US"/>
              <a:t>- Presenter account of the team meeting (anonymised).</a:t>
            </a:r>
          </a:p>
          <a:p>
            <a:r>
              <a:rPr lang="en-US"/>
              <a:t>- Flexera 2026 State of the Cloud (presenter-verified figures).</a:t>
            </a:r>
          </a:p>
        </p:txBody>
      </p:sp>
      <p:sp>
        <p:nvSpPr>
          <p:cNvPr id="4" name="Slide Number Placeholder 3"/>
          <p:cNvSpPr>
            <a:spLocks noGrp="1"/>
          </p:cNvSpPr>
          <p:nvPr>
            <p:ph type="sldNum" sz="quarter" idx="5"/>
          </p:nvPr>
        </p:nvSpPr>
        <p:spPr/>
        <p:txBody>
          <a:bodyPr/>
          <a:lstStyle/>
          <a:p>
            <a:fld id="{59691FEA-A84D-408B-A0F6-3F1C538FC592}" type="slidenum">
              <a:rPr lang="en-US" smtClean="0"/>
              <a:t>5</a:t>
            </a:fld>
            <a:endParaRPr lang="en-US"/>
          </a:p>
        </p:txBody>
      </p:sp>
    </p:spTree>
    <p:extLst>
      <p:ext uri="{BB962C8B-B14F-4D97-AF65-F5344CB8AC3E}">
        <p14:creationId xmlns:p14="http://schemas.microsoft.com/office/powerpoint/2010/main" val="994605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Monitoring measures; observability explains—a practical working definition.
• Monitoring: collect signals · present views · set thresholds · raise alerts.
• Observability: service boundary · dependencies · customer impact · component owners.
• Observability: safe bounded action · verified recovery, not just command success.
• Signals plus context: service · dependency · customer operation · owner.
• → Next: everything observability can be, and the slice we walk today.
TALKING POINTS
Read the banner first. This is a working definition, not a vendor definition, and it is deliberately practical.
Walk the left column: monitoring. It collects and presents signals. It builds views, sets thresholds and raises alerts. All of that is necessary. Without measurements there is nothing to explain.
Walk the right column: observability. It explains and operates. It knows the service boundary, the dependencies between components, the impact on customers, the owner of each part, a bounded action that is safe to take, and a verified recovery. That last item matters. The job is not finished when a command succeeds; it is finished when the service is shown to work again.
Now read the join in the middle: signals plus context. Observability is not a different pile of data. It is the same measurements with the context that lets someone answer why and what next: which service, which dependency, which customer operation, which owner.
Keep this definition in mind; later slides separate measurement from explanation the same way. Transition: that is the definition. Next, the whole map of what observability can be, and the slice this session walks.
Read the line under the two columns. Each piece of observability on the right is built in a named section: boundary and dependencies in section 1, evidence in 2, impact in 3, explanation in 4, owner, action and recovery in 5, and keeping it true in 6. The rest of the session is this definition proved on one example service.
PURPOSE
Give the audience a working definition to use for the rest of the session: monitoring measures; observability explains. With it, every later slide is either about getting good measurements or about turning them into an explanation and a verified decision.</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6</a:t>
            </a:fld>
            <a:endParaRPr lang="en-US"/>
          </a:p>
        </p:txBody>
      </p:sp>
    </p:spTree>
    <p:extLst>
      <p:ext uri="{BB962C8B-B14F-4D97-AF65-F5344CB8AC3E}">
        <p14:creationId xmlns:p14="http://schemas.microsoft.com/office/powerpoint/2010/main" val="2861347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Twenty areas an observability practice can grow into; one session cannot do all of them.
• Filled: the eleven we cover today on IIC Hybrid Orders: infrastructure, cloud platforms, application performance, logs, metrics, digital experience (synthetic orders and customer impact), availability, alerting, incidents and operations, dashboards, platform architecture.
• Outlined: distributed tracing (we use correlation by ID, not traces), network, databases, Kubernetes detail, security, automation, configuration and assets, integrations, governance.
• The one-sentence map: metrics, logs, traces, events, topology, user experience and security telemetry, connected to alerting, dashboards, incident response, automation, governance and reporting, everywhere the service runs.
• The slice we walk is the one that answers the meeting: define the service, see every part, read impact, model health, respond and recover, keep it affordable.
• The field manual carries the same map as an appendix: covered today, next, later.
• → Next: what we will cover.
TALKING POINTS
Click once and read the grid as a whole: these are the twenty areas an observability practice can grow into, from infrastructure and cloud platforms through tracing, logs, metrics, network, digital experience, data, Kubernetes, security, availability, alerting, incidents, dashboards, automation, configuration, integrations, governance and the platform itself. Nobody in this room needs all of it on day one, and no single session can teach all of it.
Click again and point at the filled tiles. This is the slice we walk today, on one real-shaped service: the infrastructure and the cloud platforms it runs on, how the application performs, its logs and metrics, the customer's experience through synthetic orders, availability and dependencies, alerting with an owner, incidents and recovery, the service view, and the collection platform underneath. The outlined tiles are real and matter; distributed tracing, network, databases, Kubernetes internals, security, automation, configuration, integrations and governance are not today, and I will say so again when we brush past one of them.
Click the legend and read the one-sentence map at the bottom. That sentence is the whole thing: metrics, logs, traces, events, topology, user experience and security telemetry, connected to alerting, dashboards, incident response, automation, governance and reporting, across on-premises, private cloud, public cloud and edge. Keep it; the session is a vertical slice through it.
Read the takeaway: one session cannot do all of it, so we take one real-shaped service and walk the slice that answers the meeting's question. The field manual carries this map as an appendix, marked covered today, next and later. Transition: here is the slice, in six sections.
PURPOSE
Show the whole map once, honestly, so the audience knows what observability can be and does not mistake the session's slice for the whole practice.</a:t>
            </a:r>
          </a:p>
          <a:p>
            <a:endParaRPr lang="en-US"/>
          </a:p>
          <a:p>
            <a:r>
              <a:rPr lang="en-US"/>
              <a:t>[Sources]</a:t>
            </a:r>
          </a:p>
          <a:p>
            <a:r>
              <a:rPr lang="en-US"/>
              <a:t>- Composite of common observability-platform capability lists (presenter-supplied, 2026-10-01).</a:t>
            </a:r>
          </a:p>
        </p:txBody>
      </p:sp>
      <p:sp>
        <p:nvSpPr>
          <p:cNvPr id="4" name="Slide Number Placeholder 3"/>
          <p:cNvSpPr>
            <a:spLocks noGrp="1"/>
          </p:cNvSpPr>
          <p:nvPr>
            <p:ph type="sldNum" sz="quarter" idx="5"/>
          </p:nvPr>
        </p:nvSpPr>
        <p:spPr/>
        <p:txBody>
          <a:bodyPr/>
          <a:lstStyle/>
          <a:p>
            <a:fld id="{59691FEA-A84D-408B-A0F6-3F1C538FC592}" type="slidenum">
              <a:rPr lang="en-US" smtClean="0"/>
              <a:t>7</a:t>
            </a:fld>
            <a:endParaRPr lang="en-US"/>
          </a:p>
        </p:txBody>
      </p:sp>
    </p:spTree>
    <p:extLst>
      <p:ext uri="{BB962C8B-B14F-4D97-AF65-F5344CB8AC3E}">
        <p14:creationId xmlns:p14="http://schemas.microsoft.com/office/powerpoint/2010/main" val="3341875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Six sections, one example service, one story: the meeting.
• 1 Define the service · 2 See the parts Microsoft doesn't host · 3 When an order fails.
• 4 Model health with Azure Monitor Health Models · 5 Respond and prove recovery · 6 Keep it affordable and useful.
• Each number is in its section colour; every slide in that section carries the same colour tag.
• Each section opens with an intro slide and has a demonstration.
• → Next: section 1, define the service.
TALKING POINTS
Walk the six sections once, in the meeting's terms. One: define the service and what working means, using one example service that runs across Azure, the on-premises private cloud and AWS. Two: see the parts Microsoft doesn't host, because a server connected to Azure is not the same as evidence arriving. Three: when an order fails, where do we look first, with a baseline order and then a controlled fault in AWS. Four: model health with Azure Monitor Health Models, which is SCOM's idea reintroduced. Five: respond and prove recovery, with alerts that carry context and recovery proven by fresh orders. Six: keep it affordable and useful, with the real cost numbers from the lab.
Point at the colours: each number has its own colour, and every slide in that section carries the same colour tag in its title band, so you always know which part of the story you are in. The example service is named on the next slides, not here.
Transition: section 1, define the service.
PURPOSE
Give the audience the shape of the session once, in plain words, so the six intro slides that follow are recognised rather than new.</a:t>
            </a:r>
          </a:p>
          <a:p>
            <a:endParaRPr lang="en-US"/>
          </a:p>
          <a:p>
            <a:r>
              <a:rPr lang="en-US"/>
              <a:t>[Sources]</a:t>
            </a:r>
          </a:p>
          <a:p>
            <a:r>
              <a:rPr lang="en-US"/>
              <a:t>- Session structure.</a:t>
            </a:r>
          </a:p>
        </p:txBody>
      </p:sp>
      <p:sp>
        <p:nvSpPr>
          <p:cNvPr id="4" name="Slide Number Placeholder 3"/>
          <p:cNvSpPr>
            <a:spLocks noGrp="1"/>
          </p:cNvSpPr>
          <p:nvPr>
            <p:ph type="sldNum" sz="quarter" idx="5"/>
          </p:nvPr>
        </p:nvSpPr>
        <p:spPr/>
        <p:txBody>
          <a:bodyPr/>
          <a:lstStyle/>
          <a:p>
            <a:fld id="{59691FEA-A84D-408B-A0F6-3F1C538FC592}" type="slidenum">
              <a:rPr lang="en-US" smtClean="0"/>
              <a:t>8</a:t>
            </a:fld>
            <a:endParaRPr lang="en-US"/>
          </a:p>
        </p:txBody>
      </p:sp>
    </p:spTree>
    <p:extLst>
      <p:ext uri="{BB962C8B-B14F-4D97-AF65-F5344CB8AC3E}">
        <p14:creationId xmlns:p14="http://schemas.microsoft.com/office/powerpoint/2010/main" val="473173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1 of 6: Define the service.
• Question: What does our example service depend on, and what does "working" mean?
• Covers: The three customer commitments, the architecture across Azure, on-premises and AWS, and what one order depends on.
• Why: You can't monitor a service until you have agreed what it is and what success looks like.
• Part of observability: service boundary and dependencies.
• → Next: start with what "working" means for IIC Hybrid Orders.
TALKING POINTS
Section 1 of 6, Define the service. Read the question on the slide: What does our example service depend on, and what does "working" mean? Say it as a question to the room and let it sit for a moment; every slide in this section answers part of it.
Read WHAT IT COVERS: The three customer commitments, the architecture across Azure, on-premises and AWS, and what one order depends on. Read WHY IT'S HERE: You can't monitor a service until you have agreed what it is and what success looks like.
Read PART OF OBSERVABILITY: this section builds service boundary and dependencies, one of the pieces named on "What I asked the team to consider". The six sections together are that definition proved on one example service, IIC Hybrid Orders.
Point at the progress strip: section 1 is highlighted in its own colour, and every slide in this section carries the same colour tag in its title band, so nobody loses track of where we are.
Transition: start with what "working" means for IIC Hybrid Orders.
PURPOSE
Give the audience the section's question before any content, and the one-line reason it exists, so they know what they are about to learn and why it is in the session.</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9</a:t>
            </a:fld>
            <a:endParaRPr lang="en-US"/>
          </a:p>
        </p:txBody>
      </p:sp>
    </p:spTree>
    <p:extLst>
      <p:ext uri="{BB962C8B-B14F-4D97-AF65-F5344CB8AC3E}">
        <p14:creationId xmlns:p14="http://schemas.microsoft.com/office/powerpoint/2010/main" val="2576949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Working means a customer outcome with a time target, not a green server.
• Infinite Improbability Corp is fictional; IIC Hybrid Orders runs across three environments.
• Azure Front Door · Container Apps · Functions · Service Bus.
• AWS EKS · EC2; on-premises private-cloud Linux worker.
• Portal opens: response from either Azure or AWS origin.
• Order completes within target: every required Azure · on-premises · AWS stage finishes.
• Operators can observe: fresh workspace data; missing evidence is its own problem.
• The time target is concrete: 45 seconds, the coordinator's configured order timeout.
• → Next: SCOM veterans will recognise service modelling.
TALKING POINTS
Introduce the company first. Infinite Improbability Corp is fictional, a nod to The Hitchhiker's Guide to the Galaxy. The services are real: Azure Front Door, Container Apps, Functions and Service Bus in Azure, an EKS cluster and EC2 in AWS, and a Linux worker on the on-premises private cloud. The application runs across all three for this session.
Read the first card: customers can open the portal. The evidence is a portal response from either origin, the Azure copy or the AWS copy. Either one is enough for the customer to get in.
Read the second card: customers can complete an order. The evidence is an order that completes inside the time target. That means every required stage finished, in Azure, on-premises and in AWS.
Read the third card: operators can observe the service. The evidence is fresh data arriving from every cloud. If evidence stops arriving, we no longer know the state, and that is a problem of its own.
Finish on the footer: working is a customer outcome with a time target, not a green server. Every later slide traces back to one of these three commitments. Make the second commitment measurable: an order must complete within 45 seconds with both workers answering. Forty-five seconds is the coordinator's configured order timeout; past it, the order fails. Every later signal and demo uses that number.
Transition: modelling a service like this is not a new idea, and SCOM veterans will recognise it.
PURPOSE
Introduce the application the whole session uses, IIC Hybrid Orders, and define success before collecting anything. The audience must see that working is a customer outcome with a time target, and that these three commitments become the top of the Health Model later.</a:t>
            </a:r>
          </a:p>
          <a:p>
            <a:endParaRPr lang="en-US"/>
          </a:p>
          <a:p>
            <a:r>
              <a:rPr lang="en-US"/>
              <a:t>[Sources]</a:t>
            </a:r>
          </a:p>
          <a:p>
            <a:r>
              <a:rPr lang="en-US"/>
              <a:t>- https://learn.microsoft.com/en-us/azure/azure-monitor/health-models/health-modeling</a:t>
            </a:r>
          </a:p>
        </p:txBody>
      </p:sp>
      <p:sp>
        <p:nvSpPr>
          <p:cNvPr id="4" name="Slide Number Placeholder 3"/>
          <p:cNvSpPr>
            <a:spLocks noGrp="1"/>
          </p:cNvSpPr>
          <p:nvPr>
            <p:ph type="sldNum" sz="quarter" idx="5"/>
          </p:nvPr>
        </p:nvSpPr>
        <p:spPr/>
        <p:txBody>
          <a:bodyPr/>
          <a:lstStyle/>
          <a:p>
            <a:fld id="{59691FEA-A84D-408B-A0F6-3F1C538FC592}" type="slidenum">
              <a:rPr lang="en-US" smtClean="0"/>
              <a:t>10</a:t>
            </a:fld>
            <a:endParaRPr lang="en-US"/>
          </a:p>
        </p:txBody>
      </p:sp>
    </p:spTree>
    <p:extLst>
      <p:ext uri="{BB962C8B-B14F-4D97-AF65-F5344CB8AC3E}">
        <p14:creationId xmlns:p14="http://schemas.microsoft.com/office/powerpoint/2010/main" val="3215529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AWS fulfillment is required: its failure fails the order.
• Customer → Azure Front Door WAF → health-probed Azure Container Apps or AWS EKS/ALB portal.
• Either portal serves pages; footer identifies origin; both call Azure Functions coordinator.
• Coordinator accepts order, assigns one correlation ID, queues work on Azure Service Bus.
• Validation: cas26-lnx01, SCVMM-managed Hyper-V; fulfillment: EC2 in AWS.
• Both pull via outbound AMQP/TLS 5671; no inbound publishing or AWS–datacenter VPN.
• Both results are required for one order; the monitoring behind this picture is built in section 2.
• → Next: the same chain as a list of dependencies, each one required.
TALKING POINTS
Click through the order walk: the badge IIC-000042 moves from the customer to Front Door, to a portal, to the coordinator, to Service Bus, to the on-premises worker, to the AWS worker, and back to the coordinator, where it completes.
Read left to right, following a customer. The customer reaches Azure Front Door with its WAF policy. Front Door health-probes two portal origins and routes to either one: the Azure copy on Container Apps, or the AWS copy on the EKS cluster behind an Application Load Balancer. Either origin can serve the page, and the portal footer says which one did.
Both portals call the same Azure Functions coordinator. The coordinator accepts the order, assigns one correlation ID and puts the work on Azure Service Bus.
Now the two workers. The validation worker runs on cas26-lnx01, a Linux VM on the SCVMM-managed Hyper-V cluster in the on-premises private cloud. The fulfillment worker runs on EC2 in AWS. Both pull from Service Bus over outbound AMQP/TLS 5671. Nothing is published inbound, and there is no VPN between AWS and the datacenter. Each returns a result, and the coordinator completes the order only when both answer.
That is the key point: AWS is inside the order path. If fulfillment fails, the order fails, however green Azure and on-premises look.
The monitoring that watches all of this is deliberately not on this slide: section 2 builds it route by route, starting with Arc. Transition: next, the same chain written as dependencies, with every one of them marked required.
PURPOSE
Show the IIC architecture across its three boundaries and establish that the dependencies are truthful: AWS is inside the order path, not a side panel.</a:t>
            </a:r>
          </a:p>
          <a:p>
            <a:endParaRPr lang="en-US"/>
          </a:p>
          <a:p>
            <a:r>
              <a:rPr lang="en-US"/>
              <a:t>[Sources]</a:t>
            </a:r>
          </a:p>
          <a:p>
            <a:r>
              <a:rPr lang="en-US"/>
              <a:t>- https://learn.microsoft.com/en-us/azure/frontdoor/front-door-overview</a:t>
            </a:r>
          </a:p>
          <a:p>
            <a:r>
              <a:rPr lang="en-US"/>
              <a:t>- https://learn.microsoft.com/en-us/azure/service-bus-messaging/service-bus-messaging-overview</a:t>
            </a:r>
          </a:p>
          <a:p>
            <a:r>
              <a:rPr lang="en-US"/>
              <a:t>- https://learn.microsoft.com/en-us/azure/azure-arc/multicloud-connector/overview</a:t>
            </a:r>
          </a:p>
          <a:p>
            <a:r>
              <a:rPr lang="en-US"/>
              <a:t>- https://learn.microsoft.com/en-us/azure/azure-arc/servers/overview</a:t>
            </a:r>
          </a:p>
          <a:p>
            <a:r>
              <a:rPr lang="en-US"/>
              <a:t>- https://learn.microsoft.com/en-us/azure/azure-arc/kubernetes/overview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11</a:t>
            </a:fld>
            <a:endParaRPr lang="en-US"/>
          </a:p>
        </p:txBody>
      </p:sp>
    </p:spTree>
    <p:extLst>
      <p:ext uri="{BB962C8B-B14F-4D97-AF65-F5344CB8AC3E}">
        <p14:creationId xmlns:p14="http://schemas.microsoft.com/office/powerpoint/2010/main" val="3286473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Question on the slide: what does one order depend on, and which parts are required?
• Chain: customer → portal (either copy) → coordinator → validation on-premises and fulfillment in AWS.
• Every box after the customer is REQUIRED; the coordinator waits for both workers.
• A dependency is part of the service definition: missing part = no order.
• Four parts in three places: the service is the whole chain, not one estate's servers.
• What happens when a required part fails is section 3's controlled fault.
• → Next: section 2 asks whether we can actually see each part of this chain.
TALKING POINTS
Read the line under the title. This slide answers the first half of the section question: what does one order depend on, and which of those parts are required?
Walk the chain left to right, once. A customer places an order through a portal, served from either copy. The portal calls the coordinator, Azure Functions with Service Bus behind it. The coordinator hands work to two workers and waits for both: validation on the on-premises worker and fulfillment on the AWS worker. Say "required" at every box after the customer. There is no optional step in this chain.
Read the reasoning line: a dependency is part of the service definition. If any one of these parts is missing, there is no order. That is why this belongs in "define the service": the service is not the portal, and it is not the Azure estate. It is everything an order has to pass through.
Read the box: four parts in three places. The portal is in Azure or AWS, the coordinator in Azure, validation on-premises, fulfillment in AWS. Two of the four required parts are not hosted by Microsoft, which is the whole reason for this session.
Read the footer: define the service as everything an order must pass through, not as the servers you own. What happens when one of these required parts fails is shown in section 3, when we break the AWS worker on purpose.
Transition: that is the service defined, its commitments and its dependencies. Section 2 asks whether we can actually see each part of this chain.
PURPOSE
Finish the definition of IIC Hybrid Orders by naming its dependencies and marking every one of them required. The audience should leave able to draw the chain and say where each part runs, before anything is said about failure, evidence or health.</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12</a:t>
            </a:fld>
            <a:endParaRPr lang="en-US"/>
          </a:p>
        </p:txBody>
      </p:sp>
    </p:spTree>
    <p:extLst>
      <p:ext uri="{BB962C8B-B14F-4D97-AF65-F5344CB8AC3E}">
        <p14:creationId xmlns:p14="http://schemas.microsoft.com/office/powerpoint/2010/main" val="604416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2 of 6: See the parts Microsoft doesn't host.
• Question: The architecture shows what should exist. Can we actually see every part of it?
• Covers: How Azure Arc makes an on-premises or AWS machine visible to Azure Monitor, where the evidence lands, and how one order is followed across all three places by one ID.
• Why: A server connected to Arc is not the same as evidence arriving, and every later view depends on it.
• Part of observability: the evidence that everything else depends on.
• → Next: start with how a machine anywhere becomes visible.
TALKING POINTS
Section 2 of 6, See the parts Microsoft doesn't host. Read the question on the slide: The architecture shows what should exist. Can we actually see every part of it? Say it as a question to the room and let it sit for a moment; every slide in this section answers part of it.
Read WHAT IT COVERS: How Azure Arc makes an on-premises or AWS machine visible to Azure Monitor, where the evidence lands, and how one order is followed across all three places by one ID. Read WHY IT'S HERE: A server connected to Arc is not the same as evidence arriving, and every later view depends on it.
Read PART OF OBSERVABILITY: this section builds the evidence that everything else depends on, one of the pieces named on "What I asked the team to consider". The six sections together are that definition proved on one example service, IIC Hybrid Orders.
Point at the progress strip: section 2 is highlighted in its own colour, and every slide in this section carries the same colour tag in its title band, so nobody loses track of where we are.
Transition: start with how a machine anywhere becomes visible.
PURPOSE
Give the audience the section's question before any content, and the one-line reason it exists, so they know what they are about to learn and why it is in the session.</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13</a:t>
            </a:fld>
            <a:endParaRPr lang="en-US"/>
          </a:p>
        </p:txBody>
      </p:sp>
    </p:spTree>
    <p:extLst>
      <p:ext uri="{BB962C8B-B14F-4D97-AF65-F5344CB8AC3E}">
        <p14:creationId xmlns:p14="http://schemas.microsoft.com/office/powerpoint/2010/main" val="337698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One picture, three rows: the coordinator in Azure, the validation worker on-premises, the fulfillment worker in AWS.
• Azure Arc makes an on-premises or AWS machine an Azure resource: an identity, not evidence.
• The Azure Monitor Agent sends heartbeat, performance and logs; the workers also send their order stage records.
• All three rows land in one Log Analytics workspace, side by side.
• Data collection rules, associations, the logs ingestion API and role assignments are in the field manual and these notes.
• Takeaway: connected is not the same as collected; check that evidence arrives from every row, every day.
• → Next: follow one order across all three places by its ID.
TALKING POINTS
Read the first row, the coordinator in Azure Functions. It is already an Azure resource, so Application Insights and its order stage records flow straight into the workspace. Click row two, the validation worker on cas26-lnx01 in our datacenter. Azure Arc makes it an Azure resource: it gets an identity in Azure, nothing more. The Azure Monitor Agent is what gives it a voice: heartbeat, performance and logs, and the worker itself sends a record for every order stage it handles. Click row three, the fulfillment worker on EC2 in AWS. Same pattern: Arc, through the multicloud connector, makes it an Azure resource; the agent and the stage records do the talking.
Click the last column. All three rows land in the same Log Analytics workspace, side by side. That is the whole trick of monitoring what Microsoft doesn't host: the machine can be anywhere, the evidence lands in one place.
For the builders in the room, the detail is in the field manual and in these notes: data collection rules say what the agent collects and where it goes; an association attaches a rule to a machine; the stage records use the logs ingestion API with the machine's managed identity, which needs the Monitoring Metrics Publisher role on that rule; readers need Log Analytics Reader on the workspace.
Read the takeaway: connected is not the same as collected. Transition: now one order, followed across all three places by one ID.
PURPOSE
Replace four plumbing slides with one picture that a first-time audience can repeat: Arc gives identity, the agent gives voice, the workspace is where they meet. Keep the configuration in the notes for those who want it.</a:t>
            </a:r>
          </a:p>
          <a:p>
            <a:endParaRPr lang="en-US"/>
          </a:p>
          <a:p>
            <a:r>
              <a:rPr lang="en-US"/>
              <a:t>[Sources]</a:t>
            </a:r>
          </a:p>
          <a:p>
            <a:r>
              <a:rPr lang="en-US"/>
              <a:t>- lab/design/HYBRID-APPLICATION-HEALTH-DESIGN.md, collection section</a:t>
            </a:r>
          </a:p>
          <a:p>
            <a:r>
              <a:rPr lang="en-US"/>
              <a:t>- Microsoft Learn: Azure Arc-enabled servers overview</a:t>
            </a:r>
          </a:p>
          <a:p>
            <a:r>
              <a:rPr lang="en-US"/>
              <a:t>- Microsoft Learn: Azure Monitor Agent overview</a:t>
            </a:r>
          </a:p>
          <a:p>
            <a:r>
              <a:rPr lang="en-US"/>
              <a:t>- Microsoft Learn: Logs ingestion API</a:t>
            </a:r>
          </a:p>
        </p:txBody>
      </p:sp>
      <p:sp>
        <p:nvSpPr>
          <p:cNvPr id="4" name="Slide Number Placeholder 3"/>
          <p:cNvSpPr>
            <a:spLocks noGrp="1"/>
          </p:cNvSpPr>
          <p:nvPr>
            <p:ph type="sldNum" sz="quarter" idx="5"/>
          </p:nvPr>
        </p:nvSpPr>
        <p:spPr/>
        <p:txBody>
          <a:bodyPr/>
          <a:lstStyle/>
          <a:p>
            <a:fld id="{59691FEA-A84D-408B-A0F6-3F1C538FC592}" type="slidenum">
              <a:rPr lang="en-US" smtClean="0"/>
              <a:t>14</a:t>
            </a:fld>
            <a:endParaRPr lang="en-US"/>
          </a:p>
        </p:txBody>
      </p:sp>
    </p:spTree>
    <p:extLst>
      <p:ext uri="{BB962C8B-B14F-4D97-AF65-F5344CB8AC3E}">
        <p14:creationId xmlns:p14="http://schemas.microsoft.com/office/powerpoint/2010/main" val="2597360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IIC-000042 is display-only; the coordinator-assigned CorrelationId GUID joins every order row.
• Portal: customer orders through Azure or AWS; the Accepted row records the origin.
• Azure coordinator writes Accepted.
• On-premises validation: OnPremWorker writes cloud OnPrem; slide stage OnPrem - Completed.
• AWS fulfillment: AwsWorker writes cloud AWS; slide stage AWS - Completed.
• Coordinator Completed with Success true alone confirms completion; any Success false fails the order.
• Query CorrelationId using cloud · component · stage · result · duration to locate slow or failed stages.
• → Next: prove the routes before reading orders.
TALKING POINTS
Introduce the order: IIC-000042, following the 42 theme. The order number is for display. The join key is the CorrelationId, a GUID the coordinator assigns and every row of the order carries.
Read the timeline left to right. First the portal: the customer placed the order through either origin, Azure or AWS, and the coordinator records which one on its Accepted row. Second, the coordinator writes Accepted in Azure. Third, the on-premises validation worker writes its row, cloud OnPrem, component OnPremWorker; the slide calls this step OnPrem - Completed. Fourth, the AWS fulfillment worker writes its row, cloud AWS, component AwsWorker; the slide calls it AWS - Completed. Fifth, the coordinator writes Completed with Success true. That row, and only that row, means the order is complete. Any row with Success false fails the order.
Point to the fields on each record: cloud, component, stage, result and duration. With those, one query filtered on the CorrelationId shows exactly which cloud was slow or failed. A long duration on the AWS row points at fulfillment; a failed OnPrem row points at validation.
Transition: before reading orders, prove the routes that carry them.
PURPOSE
Show what one correlation ID buys: one query that reads one order across three clouds. The audience should be able to read a stage timeline and say which cloud was slow or failed.</a:t>
            </a:r>
          </a:p>
          <a:p>
            <a:endParaRPr lang="en-US"/>
          </a:p>
          <a:p>
            <a:r>
              <a:rPr lang="en-US"/>
              <a:t>[Sources]</a:t>
            </a:r>
          </a:p>
          <a:p>
            <a:r>
              <a:rPr lang="en-US"/>
              <a:t>- https://learn.microsoft.com/en-us/azure/azure-monitor/logs/logs-ingestion-api-overview</a:t>
            </a:r>
          </a:p>
          <a:p>
            <a:r>
              <a:rPr lang="en-US"/>
              <a:t>- https://learn.microsoft.com/en-us/azure/azure-monitor/data-collection/data-collection-rule-overview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15</a:t>
            </a:fld>
            <a:endParaRPr lang="en-US"/>
          </a:p>
        </p:txBody>
      </p:sp>
    </p:spTree>
    <p:extLst>
      <p:ext uri="{BB962C8B-B14F-4D97-AF65-F5344CB8AC3E}">
        <p14:creationId xmlns:p14="http://schemas.microsoft.com/office/powerpoint/2010/main" val="4138666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Select Arc-connected AWS EC2 machines, including iic-cas26-prd-api-01, and on-premises cas26-lnx01; use a short window.
• Check each machine’s OS-specific DCR association, such as dcr-tplabs-cas26-linux-eus-01; missing means no collection.
• Query Heartbeat and Perf in law-tplabs-cas26-shared-eus-01; inspect latest timestamp per AWS computer.
• Check Cas26Service_CL stage records through direct, unassociated dcr-cas26-requests-eus-01.
• Verify recent rows and the expected reader identity.
• Proof: expected resource · current timestamp · expected destination.
• Failure: missing association · wrong scope · stale data · unauthorised query.
• → Next: read the service view with routes proven.
TALKING POINTS
Step one: select the machines and the time window. Choose the Arc-connected AWS EC2 machines, including the fulfillment worker iic-cas26-prd-api-01, plus the on-premises worker cas26-lnx01, and set a window short enough that stale data stands out.
Step two: confirm each DCR association. For each machine, list its associations and check that the rule for its operating system, such as dcr-tplabs-cas26-linux-eus-01, is bound. A missing association means nothing is collected, whatever Arc shows.
Step three: query Heartbeat and Perf for the Arc-connected AWS machines in law-tplabs-cas26-shared-eus-01, and read the latest timestamp per computer.
Step four: check the stage-record route into Cas26Service_CL through dcr-cas26-requests-eus-01, the direct rule with no association.
Step five: verify freshness and identity. The latest row must be recent, and the query must run under the reader identity we expect.
Read the evidence box. Proof is the expected resource, a current timestamp and the expected destination. Failure is a missing association, the wrong scope, stale data or an unauthorised query.
Transition: with routes proven, how to read the service view.
PURPOSE
Prove collection route by route rather than assuming it from Arc registration. This is runbook M01. The audience should see what counts as proof, what counts as failure, and that each failure has a different fix.</a:t>
            </a:r>
          </a:p>
          <a:p>
            <a:endParaRPr lang="en-US"/>
          </a:p>
          <a:p>
            <a:r>
              <a:rPr lang="en-US"/>
              <a:t>[Sources]</a:t>
            </a:r>
          </a:p>
          <a:p>
            <a:r>
              <a:rPr lang="en-US"/>
              <a:t>- https://learn.microsoft.com/en-us/azure/azure-monitor/data-collection/data-collection-rule-associations</a:t>
            </a:r>
          </a:p>
          <a:p>
            <a:r>
              <a:rPr lang="en-US"/>
              <a:t>- https://learn.microsoft.com/en-us/azure/azure-monitor/agents/azure-monitor-agent-overview</a:t>
            </a:r>
          </a:p>
          <a:p>
            <a:r>
              <a:rPr lang="en-US"/>
              <a:t>- https://learn.microsoft.com/en-us/azure/azure-monitor/logs/logs-ingestion-api-overview</a:t>
            </a:r>
          </a:p>
          <a:p>
            <a:r>
              <a:rPr lang="en-US"/>
              <a:t>- https://learn.microsoft.com/en-us/azure/azure-monitor/logs/data-ingestion-time</a:t>
            </a:r>
          </a:p>
        </p:txBody>
      </p:sp>
      <p:sp>
        <p:nvSpPr>
          <p:cNvPr id="4" name="Slide Number Placeholder 3"/>
          <p:cNvSpPr>
            <a:spLocks noGrp="1"/>
          </p:cNvSpPr>
          <p:nvPr>
            <p:ph type="sldNum" sz="quarter" idx="5"/>
          </p:nvPr>
        </p:nvSpPr>
        <p:spPr/>
        <p:txBody>
          <a:bodyPr/>
          <a:lstStyle/>
          <a:p>
            <a:fld id="{59691FEA-A84D-408B-A0F6-3F1C538FC592}" type="slidenum">
              <a:rPr lang="en-US" smtClean="0"/>
              <a:t>16</a:t>
            </a:fld>
            <a:endParaRPr lang="en-US"/>
          </a:p>
        </p:txBody>
      </p:sp>
    </p:spTree>
    <p:extLst>
      <p:ext uri="{BB962C8B-B14F-4D97-AF65-F5344CB8AC3E}">
        <p14:creationId xmlns:p14="http://schemas.microsoft.com/office/powerpoint/2010/main" val="1466549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3 of 6: When an order fails.
• Question: When an order fails, where do we look first?
• Covers: Why a healthy server can hide a failing service, how to read the service view, a baseline order, a controlled fault in AWS, and investigating from the customer down.
• Why: A green server can hide a failing service, so investigation has to start from the customer.
• Part of observability: impact, explained from the customer down.
• → Next: start with why a healthy server can hide a failing service.
TALKING POINTS
Section 3 of 6, When an order fails. Read the question on the slide: When an order fails, where do we look first? Say it as a question to the room and let it sit for a moment; every slide in this section answers part of it.
Read WHAT IT COVERS: Why a healthy server can hide a failing service, how to read the service view, a baseline order, a controlled fault in AWS, and investigating from the customer down. Read WHY IT'S HERE: A green server can hide a failing service, so investigation has to start from the customer.
Read PART OF OBSERVABILITY: this section builds impact, explained from the customer down, one of the pieces named on "What I asked the team to consider". The six sections together are that definition proved on one example service, IIC Hybrid Orders.
Point at the progress strip: section 3 is highlighted in its own colour, and every slide in this section carries the same colour tag in its title band, so nobody loses track of where we are.
Transition: start with why a healthy server can hide a failing service.
PURPOSE
Give the audience the section's question before any content, and the one-line reason it exists, so they know what they are about to learn and why it is in the session.</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17</a:t>
            </a:fld>
            <a:endParaRPr lang="en-US"/>
          </a:p>
        </p:txBody>
      </p:sp>
    </p:spTree>
    <p:extLst>
      <p:ext uri="{BB962C8B-B14F-4D97-AF65-F5344CB8AC3E}">
        <p14:creationId xmlns:p14="http://schemas.microsoft.com/office/powerpoint/2010/main" val="1284495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On-premises validation worker: normal CPU · fresh heartbeat; both green for that resource.
• Unknown: did orders complete? Worker CPU cannot answer.
• Unknown: Azure or AWS portal origin? The worker never sees the portal.
• Unknown: is AWS fulfillment answering? The on-premises worker cannot see it.
• Whole-service view: customer outcome · both origins · both workers · source freshness · owners.
• Resource views serve component owners; one cannot answer whether customers can order.
• → Next: how to read the service view.
TALKING POINTS
Read the left panel: a one-resource view of the on-premises validation worker. CPU is normal and the heartbeat is fresh. Both are green. That is true, and it is useful for whoever owns that machine.
Now read the unknowns listed under it. Did orders complete? The worker's CPU cannot say. Which origin served them, Azure or AWS? The worker never sees the portal. Is AWS fulfillment answering? The on-premises worker has no view of it. Each of those is a question the customer outcome depends on.
Read the right panel: the whole-service view. It shows the customer outcome, both portal origins, both workers, the freshness of each source and the owner of each part. It can answer the three unknowns because it reads evidence from every place the order runs.
Connect it back to the opening story. The proposal from the meeting, a tool for the on-premises labs, would have given us this left panel. It can be completely correct and still leave the operator unable to say whether customers can order.
This is not an argument against resource views. Component owners need them. It is an argument against using one as the answer to a service question. Transition: so read the service view, in a fixed order.
PURPOSE
Show that a resource view answers a resource question, and that the service question needs the whole chain. The audience should be able to list what a green one-resource view leaves unknown.</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18</a:t>
            </a:fld>
            <a:endParaRPr lang="en-US"/>
          </a:p>
        </p:txBody>
      </p:sp>
    </p:spTree>
    <p:extLst>
      <p:ext uri="{BB962C8B-B14F-4D97-AF65-F5344CB8AC3E}">
        <p14:creationId xmlns:p14="http://schemas.microsoft.com/office/powerpoint/2010/main" val="4271740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Customer outcome: order success rate · latency versus target · last good order.
• Overall health: model state · evidence freshness · affected commitment—portal, order completion or observation.
• Components: both portal origins · coordinator · both workers, in dependency direction.
• Evidence freshness: latest timestamp per source; late means Unknown, not green.
• Drill-down: correlation ID query · changed model signal · owner · runbook.
• Start with outcome, not CPU charts; chase only problems customers may notice.
• Say: CAS26 service operations visualises; the Health Model calculates state.
• The health states here come from the model built in part 4; read them as given for now.
• → Next: place a baseline order for the view.
TALKING POINTS
Panel one, customer outcome: order success rate, order latency against the target, and the time of the last good order. If the last good order is recent and success is normal, the rest is context.
Panel two, overall health: the model's state, how fresh its evidence is, and which commitment is affected: opening the portal, completing an order, or observing the service.
Panel three, components and dependencies: both portal origins, the coordinator and both workers, laid out in dependency direction.
Panel four, evidence freshness: the latest timestamp per source and which sources are late. A late source means that part of the picture is Unknown, not green.
Panel five, drill-down: from a correlation ID query, to the model signal that changed state, to the owner and the runbook.
The order matters. Starting at CPU charts invites you to chase a busy machine that no customer noticed. Starting at the outcome tells you whether there is a problem worth chasing.
One boundary: the workbook visualises; it does not calculate the model's state. The state comes from the Health Model, and the workbook shows it next to the raw evidence. The workbook is CAS26 service operations, laid out in these five panels. The health states on this view come from the health model we build in part 4. For now, read them as given; we will open the model and explain every colour later.
Transition: place a baseline order so the view has something to show.
PURPOSE
Teach a fixed reading order for the service view so every operator reads it the same way under pressure. Outcome first; a chart earns its place only when it supports a decision.</a:t>
            </a:r>
          </a:p>
          <a:p>
            <a:endParaRPr lang="en-US"/>
          </a:p>
          <a:p>
            <a:r>
              <a:rPr lang="en-US"/>
              <a:t>[Sources]</a:t>
            </a:r>
          </a:p>
          <a:p>
            <a:r>
              <a:rPr lang="en-US"/>
              <a:t>- https://learn.microsoft.com/en-us/azure/azure-monitor/visualize/workbooks-overview</a:t>
            </a:r>
          </a:p>
          <a:p>
            <a:r>
              <a:rPr lang="en-US"/>
              <a:t>- https://learn.microsoft.com/en-us/azure/azure-monitor/health-models/overview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19</a:t>
            </a:fld>
            <a:endParaRPr lang="en-US"/>
          </a:p>
        </p:txBody>
      </p:sp>
    </p:spTree>
    <p:extLst>
      <p:ext uri="{BB962C8B-B14F-4D97-AF65-F5344CB8AC3E}">
        <p14:creationId xmlns:p14="http://schemas.microsoft.com/office/powerpoint/2010/main" val="2832359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Place one demo-tagged Front Door order using Invoke-Cas26Request.ps1 and DemoTag; later faults target tagged orders.
• Record time · order number · CorrelationId · portal origin, Azure or AWS.
• Query Cas26Service_CL: coordinator Accepted · on-premises worker · AWS worker · coordinator Completed, Success true.
• Open CAS26 service operations; find the same order and timestamps.
• Result: order within target · every stage present · workbook fresh.
• Say: if any stage is missing, stop; a baseline with a gap is not a baseline.
• Compare later AWS failure and recovery against this order.
• → Next: stage 2 reads the whole view around this order.
TALKING POINTS
Step one: place one demo-tagged order through the Front Door endpoint with Invoke-Cas26Request.ps1 and the DemoTag switch. The tag matters: faults later apply only to tagged orders.
Step two: record its correlation ID and the time. Read out the order number, the correlation ID and which origin served the portal, Azure or AWS.
Step three: read its stage records. Query Cas26Service_CL by that correlation ID and walk the rows: coordinator Accepted, on-premises worker, AWS worker, coordinator Completed with Success true.
Step four: confirm the workbook shows it. Open CAS26 service operations and find the same order, with the same timestamps.
Read the evidence box. The order completed inside the target, every stage is present, and the workbook is fresh. If any stage is missing, stop and say so; a baseline with a gap is not a baseline.
Why this matters: when the AWS worker fails later, the comparison is this order. When it recovers, the proof is a new order that looks like this one.
Transition: stage 2 reads the whole view around this order.
PURPOSE
Create the baseline that failure and recovery will be compared against. This is runbook M02, stage 1 of 2. The audience should see one healthy order proven end to end before anything is broken.</a:t>
            </a:r>
          </a:p>
          <a:p>
            <a:endParaRPr lang="en-US"/>
          </a:p>
          <a:p>
            <a:r>
              <a:rPr lang="en-US"/>
              <a:t>[Sources]</a:t>
            </a:r>
          </a:p>
          <a:p>
            <a:r>
              <a:rPr lang="en-US"/>
              <a:t>- https://learn.microsoft.com/en-us/azure/azure-monitor/logs/logs-ingestion-api-overview</a:t>
            </a:r>
          </a:p>
          <a:p>
            <a:r>
              <a:rPr lang="en-US"/>
              <a:t>- https://learn.microsoft.com/en-us/azure/azure-monitor/visualize/workbooks-overview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20</a:t>
            </a:fld>
            <a:endParaRPr lang="en-US"/>
          </a:p>
        </p:txBody>
      </p:sp>
    </p:spTree>
    <p:extLst>
      <p:ext uri="{BB962C8B-B14F-4D97-AF65-F5344CB8AC3E}">
        <p14:creationId xmlns:p14="http://schemas.microsoft.com/office/powerpoint/2010/main" val="40241969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Read customer outcome · overall health/commitment · dependencies · freshness · drill-down, aloud in order.
• Open baseline CorrelationId stage timeline; check each row against the raw query.
• Check Azure Container Apps and EKS origins; identify which served the baseline order.
• Read latest timestamp per source and owner per component.
• Result: outcome · components · freshness agree with raw stage records.
• Say: one origin down means Degraded, not Unhealthy; green with missing rows means the view is wrong.
• → Next: investigate from customer impact.
TALKING POINTS
Step one: read the view in the fixed order. Customer outcome, then overall health and the affected commitment, then components and dependencies, then evidence freshness, then drill-down. Say each panel's answer out loud before moving to the next.
Step two: open the baseline order's stages. Drill from the outcome panel into the stage timeline for the correlation ID from stage 1, and check each row against the raw query.
Step three: check both portal origins. The view should show the Azure Container Apps origin and the EKS origin, and which one served the baseline order. With both healthy, the portal commitment is healthy; with one down it would be Degraded, not Unhealthy.
Step four: note freshness and owners. Read the latest timestamp for each source and the owner named for each component.
Read the evidence box: outcome, components and freshness agree with the raw stage records. If the view says green and a stage row is missing, the view is wrong, not the records.
Transition: so when an order fails, how do you investigate? Start from customer impact.
PURPOSE
Read the service view in the order the previous slides taught, around the baseline order. This is runbook M02, stage 2 of 2. The audience should see the view and the raw records agree before trusting either.</a:t>
            </a:r>
          </a:p>
          <a:p>
            <a:endParaRPr lang="en-US"/>
          </a:p>
          <a:p>
            <a:r>
              <a:rPr lang="en-US"/>
              <a:t>[Sources]</a:t>
            </a:r>
          </a:p>
          <a:p>
            <a:r>
              <a:rPr lang="en-US"/>
              <a:t>- https://learn.microsoft.com/en-us/azure/azure-monitor/visualize/workbooks-overview</a:t>
            </a:r>
          </a:p>
          <a:p>
            <a:r>
              <a:rPr lang="en-US"/>
              <a:t>- https://learn.microsoft.com/en-us/azure/azure-monitor/health-models/overview</a:t>
            </a:r>
          </a:p>
          <a:p>
            <a:r>
              <a:rPr lang="en-US"/>
              <a:t>- https://learn.microsoft.com/en-us/azure/azure-monitor/health-models/concepts</a:t>
            </a:r>
          </a:p>
        </p:txBody>
      </p:sp>
      <p:sp>
        <p:nvSpPr>
          <p:cNvPr id="4" name="Slide Number Placeholder 3"/>
          <p:cNvSpPr>
            <a:spLocks noGrp="1"/>
          </p:cNvSpPr>
          <p:nvPr>
            <p:ph type="sldNum" sz="quarter" idx="5"/>
          </p:nvPr>
        </p:nvSpPr>
        <p:spPr/>
        <p:txBody>
          <a:bodyPr/>
          <a:lstStyle/>
          <a:p>
            <a:fld id="{59691FEA-A84D-408B-A0F6-3F1C538FC592}" type="slidenum">
              <a:rPr lang="en-US" smtClean="0"/>
              <a:t>21</a:t>
            </a:fld>
            <a:endParaRPr lang="en-US"/>
          </a:p>
        </p:txBody>
      </p:sp>
    </p:spTree>
    <p:extLst>
      <p:ext uri="{BB962C8B-B14F-4D97-AF65-F5344CB8AC3E}">
        <p14:creationId xmlns:p14="http://schemas.microsoft.com/office/powerpoint/2010/main" val="523645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Start with customer impact; narrow each claim to supporting evidence.
• Confirm portal opening or order completion; use outcome-panel start time, not first alert.
• Choose one failing order’s correlation ID and involved resources.
• Compare coordinator · on-premises · AWS stages against the baseline order.
• Check branch health and evidence freshness; stale evidence means Unknown.
• Name the owner and a scoped, authorised, reversible action.
• Say: call it a cause only when a test connects the observations.
• Worker failed or telemetry lost? A Failed record with fresh heartbeats points at the worker; a missing record means check dispatch and the queue first.
• → Next: apply the method to a controlled fault.
TALKING POINTS
Step one, confirm impact: which operation is affected and since when. Is it opening the portal or completing an order? Take the start time from the outcome panel, not from the first alert.
Step two, scope the order: pick a failing order's correlation ID and the resources involved. One concrete order is easier to reason about than a rate.
Step three, compare stages: read the coordinator, on-premises and AWS rows for that order side by side, and against the baseline order. Which stage failed or slowed, and in which cloud?
Step four, inspect dependencies: check the health model state for that branch and the freshness of its evidence. A stale source means the state is Unknown, and you say so.
Step five, decide: name the owner and a bounded action, one that is scoped, authorised and reversible.
Read the footer: call something a cause only when the test and the evidence support it. A failed AWS stage next to a CPU spike on the same machine is two observations. It becomes a cause when a test, such as a repeat order or a controlled change, connects them.
One distinction separates observability from monitoring here: did the worker fail, or did we lose sight of it? A Failed stage record while the heartbeats stay fresh points at the worker. A missing record is not proof of anything yet: check whether the work was dispatched and whether it is still waiting in the queue before you call it lost visibility. The fault demo next shows the first case.
Transition: now apply this method to a controlled fault.
PURPOSE
Give the audience a repeatable investigation method that starts from customer impact and narrows toward evidence. The discipline is to stop when the evidence no longer supports the next claim.</a:t>
            </a:r>
          </a:p>
          <a:p>
            <a:endParaRPr lang="en-US"/>
          </a:p>
          <a:p>
            <a:r>
              <a:rPr lang="en-US"/>
              <a:t>[Sources]</a:t>
            </a:r>
          </a:p>
          <a:p>
            <a:r>
              <a:rPr lang="en-US"/>
              <a:t>- https://learn.microsoft.com/en-us/azure/azure-monitor/health-models/concepts</a:t>
            </a:r>
          </a:p>
        </p:txBody>
      </p:sp>
      <p:sp>
        <p:nvSpPr>
          <p:cNvPr id="4" name="Slide Number Placeholder 3"/>
          <p:cNvSpPr>
            <a:spLocks noGrp="1"/>
          </p:cNvSpPr>
          <p:nvPr>
            <p:ph type="sldNum" sz="quarter" idx="5"/>
          </p:nvPr>
        </p:nvSpPr>
        <p:spPr/>
        <p:txBody>
          <a:bodyPr/>
          <a:lstStyle/>
          <a:p>
            <a:fld id="{59691FEA-A84D-408B-A0F6-3F1C538FC592}" type="slidenum">
              <a:rPr lang="en-US" smtClean="0"/>
              <a:t>22</a:t>
            </a:fld>
            <a:endParaRPr lang="en-US"/>
          </a:p>
        </p:txBody>
      </p:sp>
    </p:spTree>
    <p:extLst>
      <p:ext uri="{BB962C8B-B14F-4D97-AF65-F5344CB8AC3E}">
        <p14:creationId xmlns:p14="http://schemas.microsoft.com/office/powerpoint/2010/main" val="39598168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Say: application-level fault; CAS26-owned file, demo-tagged orders only; no host/network changes or customer impact.
• Set AWS worker to Fail, fault marvin, over SSM.
• Place fresh demo-tagged order through Front Door; record correlation ID and time.
• Query Cas26Service_CL by CorrelationId: coordinator accepted · on-premises validated · AWS failed with FailureMode marvin.
• Read failed order outcome: any stage with Success false fails the order.
• Result: failed AWS marvin stage · failed order · fresh worker heartbeats; healthy machines, unhealthy service.
• Leave fault in place; runbook later resets it and places a fresh order.
• → Next: section 4, starting with an idea SCOM veterans already know.
TALKING POINTS
First say what marvin is: a demo fault switch on the AWS worker. When it is on, the worker fails only orders tagged as demo orders, so nothing real is affected, and it switches itself off after a set time.
Say what is safe first. The fault is application level. We change one CAS26-owned file on the AWS worker, set mode to Fail, and the worker applies it only to demo-tagged orders. Nothing stops, no host or network is touched, and customer orders without the tag carry on normally.
Step one: set the AWS worker to Fail, fault name marvin, over SSM. Step two: place a fresh demo-tagged order through Front Door and write down its correlation ID and time. Step three: read that order's stage records in Cas26Service_CL by CorrelationId. The coordinator accepted it, the on-premises worker validated it, and the AWS worker returned a failed stage with FailureMode marvin. Step four: read the order outcome. The order failed, because any row with Success false fails the order.
Now the evidence box. Three things must be true together: a failed AWS stage carrying FailureMode marvin, a failed order, and heartbeats from both workers that are still fresh. That last point is the lesson. The machines are healthy and the service is not. The same correlation ID ties the failure to one cloud and one stage, so here we can call it the cause, because the test and the evidence both support it.
We leave the fault in place for now; the runbook ends later with a reset and a fresh order.
Transition: we have the evidence. Section 4 turns it into one health state for the service, starting with an idea SCOM veterans already know.
PURPOSE
Run the controlled fault and follow it with the investigation method from the previous slide. The audience must see that in IIC the AWS worker is inside the order path, so the marvin fault is the cause of the failed order, and that the evidence proves it while every machine still looks healthy.</a:t>
            </a:r>
          </a:p>
          <a:p>
            <a:endParaRPr lang="en-US"/>
          </a:p>
          <a:p>
            <a:r>
              <a:rPr lang="en-US"/>
              <a:t>[Sources]</a:t>
            </a:r>
          </a:p>
          <a:p>
            <a:r>
              <a:rPr lang="en-US"/>
              <a:t>- https://learn.microsoft.com/en-us/azure/azure-monitor/logs/log-query-overview</a:t>
            </a:r>
          </a:p>
          <a:p>
            <a:r>
              <a:rPr lang="en-US"/>
              <a:t>- https://learn.microsoft.com/en-us/azure/azure-monitor/agents/azure-monitor-agent-overview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23</a:t>
            </a:fld>
            <a:endParaRPr lang="en-US"/>
          </a:p>
        </p:txBody>
      </p:sp>
    </p:spTree>
    <p:extLst>
      <p:ext uri="{BB962C8B-B14F-4D97-AF65-F5344CB8AC3E}">
        <p14:creationId xmlns:p14="http://schemas.microsoft.com/office/powerpoint/2010/main" val="7268129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4 of 6: Model health with Azure Monitor Health Models.
• Question: How does evidence become a health state the whole team can trust?
• Covers: SCOM's service model reintroduced for a hybrid estate; what a health model is made of; how health rolls up; what happens when evidence goes quiet; the live IIC model.
• Why: A health model turns records into one answer about the service, instead of a wall of alerts.
• Part of observability: explanation the whole team can trust.
• → Next: start with SCOM's idea, reintroduced.
TALKING POINTS
Section 4 of 6, Model health with Azure Monitor Health Models. Read the question on the slide: How does evidence become a health state the whole team can trust? Say it as a question to the room and let it sit for a moment; every slide in this section answers part of it.
Read WHAT IT COVERS: SCOM's service model reintroduced for a hybrid estate; what a health model is made of; how health rolls up; what happens when evidence goes quiet; the live IIC model. Read WHY IT'S HERE: A health model turns records into one answer about the service, instead of a wall of alerts.
Read PART OF OBSERVABILITY: this section builds explanation the whole team can trust, one of the pieces named on "What I asked the team to consider". The six sections together are that definition proved on one example service, IIC Hybrid Orders.
Point at the progress strip: section 4 is highlighted in its own colour, and every slide in this section carries the same colour tag in its title band, so nobody loses track of where we are.
Transition: start with SCOM's idea, reintroduced.
PURPOSE
Give the audience the section's question before any content, and the one-line reason it exists, so they know what they are about to learn and why it is in the session.</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24</a:t>
            </a:fld>
            <a:endParaRPr lang="en-US"/>
          </a:p>
        </p:txBody>
      </p:sp>
    </p:spTree>
    <p:extLst>
      <p:ext uri="{BB962C8B-B14F-4D97-AF65-F5344CB8AC3E}">
        <p14:creationId xmlns:p14="http://schemas.microsoft.com/office/powerpoint/2010/main" val="1283805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SCOM distributed application ↔ Azure Monitor health model: the service as one thing.
• Component groups ↔ entities: the parts the service depends on, in Azure, on-premises or AWS.
• Monitors ↔ signals: signals read data Azure Monitor already collects.
• Rollup ↔ propagation: health rolls up from the parts to the service.
• What is different: existing data, an Azure resource with Arc-enabled entities, Unknown as a designed state, one alert per state change, preview.
• Takeaway: modelling a service is not new; Health Models bring it to the parts Microsoft doesn't host.
• → Next: what a health model is made of.
TALKING POINTS
Click through the four rows. If you ran SCOM, you already modelled services: you built a distributed application, grouped its components, pointed monitors at events and counters, and watched health roll up to the service. Azure Monitor Health Models is the same idea. The service is a health model, one resource. The parts are entities, and an entity can be an Azure resource, an Arc-enabled machine in your datacenter or in AWS, or a connector resource. The evidence comes from signals, which read data Azure Monitor already collects; there are no management packs to import. And health propagates from the entities to the service.
Click the last line and say the differences once, without dwelling: it reads data that is already there; it is an Azure resource whose entities can be Arc-enabled machines; missing data is a designed state called Unknown rather than a grey icon; it raises one alert per state change instead of one per monitor; and it is still in preview, so check limits before production.
Read the takeaway. Transition: so what is a health model actually made of?
PURPOSE
Give SCOM veterans the bridge and give everyone else the vocabulary (model, entity, signal, rollup) in one slide, so the next three slides are about ideas, not product names.</a:t>
            </a:r>
          </a:p>
          <a:p>
            <a:endParaRPr lang="en-US"/>
          </a:p>
          <a:p>
            <a:r>
              <a:rPr lang="en-US"/>
              <a:t>[Sources]</a:t>
            </a:r>
          </a:p>
          <a:p>
            <a:r>
              <a:rPr lang="en-US"/>
              <a:t>- Microsoft Learn: Azure Monitor Health Models overview (preview)</a:t>
            </a:r>
          </a:p>
          <a:p>
            <a:r>
              <a:rPr lang="en-US"/>
              <a:t>- Microsoft Learn: SCOM distributed applications</a:t>
            </a:r>
          </a:p>
        </p:txBody>
      </p:sp>
      <p:sp>
        <p:nvSpPr>
          <p:cNvPr id="4" name="Slide Number Placeholder 3"/>
          <p:cNvSpPr>
            <a:spLocks noGrp="1"/>
          </p:cNvSpPr>
          <p:nvPr>
            <p:ph type="sldNum" sz="quarter" idx="5"/>
          </p:nvPr>
        </p:nvSpPr>
        <p:spPr/>
        <p:txBody>
          <a:bodyPr/>
          <a:lstStyle/>
          <a:p>
            <a:fld id="{59691FEA-A84D-408B-A0F6-3F1C538FC592}" type="slidenum">
              <a:rPr lang="en-US" smtClean="0"/>
              <a:t>25</a:t>
            </a:fld>
            <a:endParaRPr lang="en-US"/>
          </a:p>
        </p:txBody>
      </p:sp>
    </p:spTree>
    <p:extLst>
      <p:ext uri="{BB962C8B-B14F-4D97-AF65-F5344CB8AC3E}">
        <p14:creationId xmlns:p14="http://schemas.microsoft.com/office/powerpoint/2010/main" val="25769687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Four layers: the service, its commitments and components (entities), the signals that measure them, and the state they produce.
• One signal end to end for AWS fulfillment: evidence → window → rule → state.
• Evidence: stage success and latency from the order records; window: a lookback with enough samples; rule: Degraded and Unhealthy thresholds.
• State: Healthy, Degraded, Unhealthy or Unknown.
• Every coloured state must trace back to a signal, a window and a rule.
• Takeaway: the service view shows results; the model defines what they mean.
• → Next: how health rolls up on the real IIC tree.
TALKING POINTS
Click through the four layers on the left, top to bottom. The service: what outcome are we protecting? IIC Hybrid Orders. The commitments and components: these are the entities, "customers can complete an order" and the three parts it needs. The signals: which evidence measures each one? Order stage records, heartbeats, metrics. The state: what the evidence means, Healthy, Degraded, Unhealthy or Unknown.
Click the right side and walk one signal end to end, because this is what the demo will open. The entity is AWS fulfillment. The evidence is stage success and latency from the order records. The window is a lookback period with enough samples to mean something. The rule is a pair of thresholds on the failure rate, one for Degraded and one for Unhealthy. The result is a state.
Click the line and read it: every coloured state must trace back to a signal, a window and a rule, or nobody can explain it. That sentence is the difference between a dashboard people trust and one they argue with.
Read the takeaway: the service view shows results; the model defines what they mean. Transition: now how those states roll up, on the real IIC tree.
PURPOSE
Teach the four words the demo uses (entity, signal, rule, state) and show exactly one signal end to end, so the room sees that a colour is an interpretation of records, not a fact.</a:t>
            </a:r>
          </a:p>
          <a:p>
            <a:endParaRPr lang="en-US"/>
          </a:p>
          <a:p>
            <a:r>
              <a:rPr lang="en-US"/>
              <a:t>[Sources]</a:t>
            </a:r>
          </a:p>
          <a:p>
            <a:r>
              <a:rPr lang="en-US"/>
              <a:t>- lab/design/HYBRID-APPLICATION-HEALTH-DESIGN.md, Health Model section</a:t>
            </a:r>
          </a:p>
          <a:p>
            <a:r>
              <a:rPr lang="en-US"/>
              <a:t>- Live model hm-tplabs-cas26-service-cus-01</a:t>
            </a:r>
          </a:p>
          <a:p>
            <a:r>
              <a:rPr lang="en-US"/>
              <a:t>- Microsoft Learn: Health Models signals</a:t>
            </a:r>
          </a:p>
        </p:txBody>
      </p:sp>
      <p:sp>
        <p:nvSpPr>
          <p:cNvPr id="4" name="Slide Number Placeholder 3"/>
          <p:cNvSpPr>
            <a:spLocks noGrp="1"/>
          </p:cNvSpPr>
          <p:nvPr>
            <p:ph type="sldNum" sz="quarter" idx="5"/>
          </p:nvPr>
        </p:nvSpPr>
        <p:spPr/>
        <p:txBody>
          <a:bodyPr/>
          <a:lstStyle/>
          <a:p>
            <a:fld id="{59691FEA-A84D-408B-A0F6-3F1C538FC592}" type="slidenum">
              <a:rPr lang="en-US" smtClean="0"/>
              <a:t>26</a:t>
            </a:fld>
            <a:endParaRPr lang="en-US"/>
          </a:p>
        </p:txBody>
      </p:sp>
    </p:spTree>
    <p:extLst>
      <p:ext uri="{BB962C8B-B14F-4D97-AF65-F5344CB8AC3E}">
        <p14:creationId xmlns:p14="http://schemas.microsoft.com/office/powerpoint/2010/main" val="1015111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The live IIC tree: IIC Hybrid Orders (worst of its children) with three commitments.
• Portal: two origins, Container Apps and EKS, each REDUNDANT (impact Limited): one down = Degraded.
• Complete an order: coordinator, on-premises validation, AWS fulfillment, each REQUIRED (impact Standard): any one down = Unhealthy.
• Observe the service: own signals on the stalest evidence source; lost evidence = Unknown, not down.
• Example walk: AWS fulfillment Unhealthy → the order commitment Unhealthy → the service Unhealthy.
• You decide what is required and what is redundant; that decision is how health rolls up.
• → Next: what happens when evidence goes quiet.
TALKING POINTS
Click the root: IIC Hybrid Orders, which takes the worst of its children. Click the portal branch. Two origins serve the portal, Container Apps in Azure and EKS in AWS, and they are redundant: either one serves customers. So each is marked Limited impact, and one origin down makes the commitment Degraded, not down. Click the order branch. Completing an order needs all three parts, the coordinator, on-premises validation and AWS fulfillment, so each is marked Standard impact: any one of them Unhealthy makes the commitment Unhealthy. Click the observe branch: it has its own signals on the stalest evidence source, and losing evidence makes it Unknown, not down; the next slide is about that.
Click the red line and walk it: AWS fulfillment goes Unhealthy, so "customers can complete an order" goes Unhealthy, so IIC Hybrid Orders goes Unhealthy. That is the controlled fault from section 3, as the model sees it. Read the line under it: you decide what is required and what is redundant, and that decision is how health rolls up. In the product these are the impact settings on each child (Standard, Limited, Suppressed) and the parent's rule (Worst of by default, or a threshold rule such as Not-healthy limit); the detail is in these notes, not on the slide.
Read the takeaway. Transition: so what happens when the evidence stops arriving?
PURPOSE
Show the one rollup idea a first-time audience needs, required versus redundant, on the real deployed tree, and connect it to the controlled fault they already watched.</a:t>
            </a:r>
          </a:p>
          <a:p>
            <a:endParaRPr lang="en-US"/>
          </a:p>
          <a:p>
            <a:r>
              <a:rPr lang="en-US"/>
              <a:t>[Sources]</a:t>
            </a:r>
          </a:p>
          <a:p>
            <a:r>
              <a:rPr lang="en-US"/>
              <a:t>- Live model hm-tplabs-cas26-service-cus-01 read back 2026-10-01</a:t>
            </a:r>
          </a:p>
          <a:p>
            <a:r>
              <a:rPr lang="en-US"/>
              <a:t>- Microsoft Learn: Health Models entity impact and aggregation (Microsoft.CloudHealth 2026-05-01-preview)</a:t>
            </a:r>
          </a:p>
        </p:txBody>
      </p:sp>
      <p:sp>
        <p:nvSpPr>
          <p:cNvPr id="4" name="Slide Number Placeholder 3"/>
          <p:cNvSpPr>
            <a:spLocks noGrp="1"/>
          </p:cNvSpPr>
          <p:nvPr>
            <p:ph type="sldNum" sz="quarter" idx="5"/>
          </p:nvPr>
        </p:nvSpPr>
        <p:spPr/>
        <p:txBody>
          <a:bodyPr/>
          <a:lstStyle/>
          <a:p>
            <a:fld id="{59691FEA-A84D-408B-A0F6-3F1C538FC592}" type="slidenum">
              <a:rPr lang="en-US" smtClean="0"/>
              <a:t>27</a:t>
            </a:fld>
            <a:endParaRPr lang="en-US"/>
          </a:p>
        </p:txBody>
      </p:sp>
    </p:spTree>
    <p:extLst>
      <p:ext uri="{BB962C8B-B14F-4D97-AF65-F5344CB8AC3E}">
        <p14:creationId xmlns:p14="http://schemas.microsoft.com/office/powerpoint/2010/main" val="39467755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A freshness gate before every rule: is the evidence fresh and enough? Yes: evaluate. No: Unknown, never Healthy.
• No evidence is not good news. It is Unknown.
• Multi-site: each site is its own entity under one parent; a disconnected site shows Unknown.
• Parent rule: Unhealthy only if more than half the sites are unhealthy; Unknown sites are ignored by default.
• Still visible: the service tracks its stalest evidence source and alerts when one goes quiet.
• Takeaway: Unknown is an operating state, not another shade of green.
• → Next: open the live model.
TALKING POINTS
Click the flow. Before any rule runs, ask whether the evidence is fresh and whether there is enough of it. If yes, evaluate the rule and you get a known state. Click the second branch: if no, the state is Unknown, and Unknown is never Healthy. Read the line on the right: no evidence is not good news; it is Unknown. The query behind a signal has to be written to return no row when the sample is stale or too small; that does not happen automatically, and the detail is in these notes and the field manual.
Click the sites. Real estates have more than one datacenter plus branch or edge sites. Each site becomes its own entity under the same parent; our lab demonstrates Site A, hvcl-ral-t1, and the other two are drawn as concept. Click Site B: it is disconnected, so it shows Unknown. Read the parent rule: Unhealthy only if more than half the sites are unhealthy, and Unknown sites are ignored by default, so the remaining sites keep the commitment healthy. Read the still-visible line: the service also tracks its stalest evidence source and alerts when one goes quiet, so a silent site is noticed even though it does not fail the service.
Read the takeaway. Transition: now open the live model and read exactly this.
PURPOSE
Make Unknown an operating state in the audience's mind: silence is not health, and a disconnected site is Unknown rather than down. This is what lets one model cover many sites honestly.</a:t>
            </a:r>
          </a:p>
          <a:p>
            <a:endParaRPr lang="en-US"/>
          </a:p>
          <a:p>
            <a:r>
              <a:rPr lang="en-US"/>
              <a:t>[Sources]</a:t>
            </a:r>
          </a:p>
          <a:p>
            <a:r>
              <a:rPr lang="en-US"/>
              <a:t>- Microsoft Learn: Health Models signal evaluation and Unknown</a:t>
            </a:r>
          </a:p>
          <a:p>
            <a:r>
              <a:rPr lang="en-US"/>
              <a:t>- Live observability entity signal (Degraded above 5 min, Unhealthy above 15 min)</a:t>
            </a:r>
          </a:p>
        </p:txBody>
      </p:sp>
      <p:sp>
        <p:nvSpPr>
          <p:cNvPr id="4" name="Slide Number Placeholder 3"/>
          <p:cNvSpPr>
            <a:spLocks noGrp="1"/>
          </p:cNvSpPr>
          <p:nvPr>
            <p:ph type="sldNum" sz="quarter" idx="5"/>
          </p:nvPr>
        </p:nvSpPr>
        <p:spPr/>
        <p:txBody>
          <a:bodyPr/>
          <a:lstStyle/>
          <a:p>
            <a:fld id="{59691FEA-A84D-408B-A0F6-3F1C538FC592}" type="slidenum">
              <a:rPr lang="en-US" smtClean="0"/>
              <a:t>28</a:t>
            </a:fld>
            <a:endParaRPr lang="en-US"/>
          </a:p>
        </p:txBody>
      </p:sp>
    </p:spTree>
    <p:extLst>
      <p:ext uri="{BB962C8B-B14F-4D97-AF65-F5344CB8AC3E}">
        <p14:creationId xmlns:p14="http://schemas.microsoft.com/office/powerpoint/2010/main" val="27668638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Open hm-tplabs-cas26-service-cus-01: IIC service · three commitments · components.
• Read entities and dependencies; parent arrows point toward what they need.
• Check the worker sits under the outcome, not above it.
• Open a signal; read its query · window · Degraded threshold · Unhealthy threshold.
• Check parent dependency rule · child impact · missing-data behaviour.
• Result: every coloured state traces to a named signal and rule.
• Say: a colour without a signal is a finding, not a demo failure.
• → Next: explain current state using this configuration and evidence.
TALKING POINTS
Step one: open the health model, hm-tplabs-cas26-service-cus-01. It holds the full IIC tree from slide 34: the service, its three commitments and their components.
Step two: read the entities and the relationship direction. Which entity depends on which? The arrow points from the parent to what it needs. Check that the worker sits under the outcome, not above it.
Step three: open one signal. Read its query, its window and its Degraded and Unhealthy thresholds out loud. If a threshold cannot be explained in one sentence, it is not ready.
Step four: check the aggregation and missing-data behaviour. What is the parent's dependency rule, what is the child's impact, and what happens when the signal has no data?
The evidence box: every coloured state traces to a named signal and rule. If we find a colour with no signal behind it, that is a finding, not a failure of the demo.
Transition: stage two uses this configuration to explain the current state from evidence.
PURPOSE
Open the model configuration and read it in the order the next stage will use to explain state. The audience must see that every coloured state traces to a named signal and rule.</a:t>
            </a:r>
          </a:p>
          <a:p>
            <a:endParaRPr lang="en-US"/>
          </a:p>
          <a:p>
            <a:r>
              <a:rPr lang="en-US"/>
              <a:t>[Sources]</a:t>
            </a:r>
          </a:p>
          <a:p>
            <a:r>
              <a:rPr lang="en-US"/>
              <a:t>- https://learn.microsoft.com/en-us/azure/azure-monitor/health-models/designer</a:t>
            </a:r>
          </a:p>
          <a:p>
            <a:r>
              <a:rPr lang="en-US"/>
              <a:t>- https://learn.microsoft.com/en-us/azure/azure-monitor/health-models/signals</a:t>
            </a:r>
          </a:p>
          <a:p>
            <a:r>
              <a:rPr lang="en-US"/>
              <a:t>- https://learn.microsoft.com/en-us/azure/azure-monitor/health-models/rollup</a:t>
            </a:r>
          </a:p>
        </p:txBody>
      </p:sp>
      <p:sp>
        <p:nvSpPr>
          <p:cNvPr id="4" name="Slide Number Placeholder 3"/>
          <p:cNvSpPr>
            <a:spLocks noGrp="1"/>
          </p:cNvSpPr>
          <p:nvPr>
            <p:ph type="sldNum" sz="quarter" idx="5"/>
          </p:nvPr>
        </p:nvSpPr>
        <p:spPr/>
        <p:txBody>
          <a:bodyPr/>
          <a:lstStyle/>
          <a:p>
            <a:fld id="{59691FEA-A84D-408B-A0F6-3F1C538FC592}" type="slidenum">
              <a:rPr lang="en-US" smtClean="0"/>
              <a:t>29</a:t>
            </a:fld>
            <a:endParaRPr lang="en-US"/>
          </a:p>
        </p:txBody>
      </p:sp>
    </p:spTree>
    <p:extLst>
      <p:ext uri="{BB962C8B-B14F-4D97-AF65-F5344CB8AC3E}">
        <p14:creationId xmlns:p14="http://schemas.microsoft.com/office/powerpoint/2010/main" val="8280865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Read Cas26Service_CL stage records: timestamps · newest component rows · orders per signal window.
• Apply the stage-one rule by hand; compare its result with the model.
• For Unhealthy AWS fulfillment, identify failed AWS stages with FailureMode marvin.
• Follow AWS fulfillment's required relationship to Customers can complete an order.
• Trace the commitment's state up to IIC Hybrid Orders.
• Result: show state · evidence · window · limits; exclude orders outside the window.
• Say: stale evidence means Unknown; never force a colour.
• Predict first: marvin fault → AWS fulfillment Unhealthy → order commitment Unhealthy → root Unhealthy.
• → Next: check dashboard, model and raw evidence agree.
TALKING POINTS
Step one: start from the current stage records and their timestamps in Cas26Service_CL. How recent is the newest row for each component, and how many orders fall in the signal's window?
Step two: evaluate the signal by hand. Apply the rule from stage one to those records. Do we get the same state the model shows? If the model says Unhealthy for AWS fulfillment, we should be able to point at the failed AWS stages with FailureMode marvin.
Step three: follow aggregation to the commitment. Customers can complete an order requires AWS fulfillment, so its state follows.
Step four: trace propagation up to the service, IIC Hybrid Orders.
The evidence box asks for four things: the state, its evidence, its window and its limits. Limits matter. Say what this state does not prove, for example that it says nothing about orders outside the window.
If the evidence is stale, show Unknown and say so. Do not force a colour to make the demo look finished.
Before opening the model, ask the room to predict. The marvin fault makes the AWS fulfillment signal Unhealthy; its impact is Standard, so the order commitment goes Unhealthy; the root uses Worst of, so the service is Unhealthy. Then follow the evidence and check whether the prediction holds.
Transition: the dashboard, the model and the raw evidence must now agree.
PURPOSE
Explain the model's current state starting from raw evidence rather than from the colour. The audience must see the full chain, evidence to signal to commitment to service, and must see that stale evidence produces Unknown instead of a forced colour.</a:t>
            </a:r>
          </a:p>
          <a:p>
            <a:endParaRPr lang="en-US"/>
          </a:p>
          <a:p>
            <a:r>
              <a:rPr lang="en-US"/>
              <a:t>[Sources]</a:t>
            </a:r>
          </a:p>
          <a:p>
            <a:r>
              <a:rPr lang="en-US"/>
              <a:t>- https://learn.microsoft.com/en-us/azure/azure-monitor/health-models/analyze-health</a:t>
            </a:r>
          </a:p>
          <a:p>
            <a:r>
              <a:rPr lang="en-US"/>
              <a:t>- https://learn.microsoft.com/en-us/azure/azure-monitor/health-models/signals</a:t>
            </a:r>
          </a:p>
          <a:p>
            <a:r>
              <a:rPr lang="en-US"/>
              <a:t>- https://learn.microsoft.com/en-us/azure/azure-monitor/logs/log-query-overview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30</a:t>
            </a:fld>
            <a:endParaRPr lang="en-US"/>
          </a:p>
        </p:txBody>
      </p:sp>
    </p:spTree>
    <p:extLst>
      <p:ext uri="{BB962C8B-B14F-4D97-AF65-F5344CB8AC3E}">
        <p14:creationId xmlns:p14="http://schemas.microsoft.com/office/powerpoint/2010/main" val="38829130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5 of 6: Respond and prove recovery.
• Question: Who acts, and how do we prove the service recovered?
• Covers: Alerts that carry context instead of alert sprawl, and recovery proven with fresh orders rather than a closed ticket.
• Why: An alert only starts the work; recovery is a new observation, not a closed ticket.
• Part of observability: owner, bounded action, verified recovery.
• → Next: start with alerts that carry context.
TALKING POINTS
Section 5 of 6, Respond and prove recovery. Read the question on the slide: Who acts, and how do we prove the service recovered? Say it as a question to the room and let it sit for a moment; every slide in this section answers part of it.
Read WHAT IT COVERS: Alerts that carry context instead of alert sprawl, and recovery proven with fresh orders rather than a closed ticket. Read WHY IT'S HERE: An alert only starts the work; recovery is a new observation, not a closed ticket.
Read PART OF OBSERVABILITY: this section builds owner, bounded action, verified recovery, one of the pieces named on "What I asked the team to consider". The six sections together are that definition proved on one example service, IIC Hybrid Orders.
Point at the progress strip: section 5 is highlighted in its own colour, and every slide in this section carries the same colour tag in its title band, so nobody loses track of where we are.
Transition: start with alerts that carry context.
PURPOSE
Give the audience the section's question before any content, and the one-line reason it exists, so they know what they are about to learn and why it is in the session.</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31</a:t>
            </a:fld>
            <a:endParaRPr lang="en-US"/>
          </a:p>
        </p:txBody>
      </p:sp>
    </p:spTree>
    <p:extLst>
      <p:ext uri="{BB962C8B-B14F-4D97-AF65-F5344CB8AC3E}">
        <p14:creationId xmlns:p14="http://schemas.microsoft.com/office/powerpoint/2010/main" val="30034050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Useful alerts carry meaningful conditions and context to an accountable owner.
• Condition: commitment or signal state change, not every worker CPU spike.
• Context: service · component · evidence · freshness · starting correlation ID.
• No owner means it is not our alert: the owner box is the answer to alerts for things we do not own.
• Owner: named team · permission to act · runbook; fulfillment owner or service owner.
• Outcome: service works again, proven by evidence; the alert is not recovery.
• Say: configured rules do not prove delivery; test Azure Monitor action groups end to end.
• Before: a flood of alerts, many for systems other teams own, plus three separate rules (stage failures · queue depth · latency) for one AWS fault.
• After: one entity alert on the order commitment with a named owner; fires once per state change, resolves itself; noise for someone else's system never reaches you.
• Retire old rules once the entity alert has proven itself; run both first.
• → Next: recovery is a new observation.
TALKING POINTS
Read the chain left to right. First, the condition. It should be meaningful: a commitment or a signal changing state, such as Customers can complete an order becoming Unhealthy. Not every CPU spike on every worker.
Second, context. The alert has to carry what the responder needs: the service, the component, the evidence, its freshness and a correlation ID to start from. An alert that only says a threshold was crossed sends the responder back to the beginning.
Third, the owner. A named team, with the permission to act and a runbook that says what to do. For the AWS worker that might be the fulfillment owner; for the commitment it is the service owner.
Fourth, a verified outcome. The alert is not the outcome. The outcome is a service that works again, proven by evidence.
Now the footer. A configured rule is not proof a notification was delivered. Test the action group end to end, and check that the right person actually received it. Health model alerts use the same action groups as other Azure Monitor alerts, so the same test applies.
Now make alert fatigue concrete instead of just naming it. Look back at the controlled fault: the AWS worker fails and the order fails, while heartbeats stay fresh. Without a health model, that one root cause could still trigger several separate alerts, one on the stage-failure query, one on Service Bus queue depth climbing, one on order latency, each firing on its own with no shared context, which is exactly the alert-fatigue pattern SCOM veterans remember. With the health model, you configure one alert on the entity Customers can complete an order instead. It fires once when that state changes, even though several signals are bad, uses the same action group, and resolves itself when the entity is healthy again. Same fault, same action group, one alert instead of three. Keep in mind that the old resource alert rules keep firing until you disable them.
One practical warning: do not switch off the old rules on day one. Run both for a while, compare what each catches, then retire each old rule once the entity alert has proven itself.
Transition: the alert starts the work; now how recovery is proven.
Tie it back to the meeting. Our real pain was a flood of alerts for systems other teams own. A second tool would have been a second flood. The owner box is the fix: an alert that carries an owner goes to the team that can act, and an alert with no owner is not our alert. Read BEFORE and AFTER with that in mind: the same fault produces either several disconnected alerts on top of the noise, or one contextual alert to one named owner.
PURPOSE
Define what makes an alert useful. The audience must understand that an alert starts work for an accountable owner, and that a configured rule is not proof anyone was told.</a:t>
            </a:r>
          </a:p>
          <a:p>
            <a:endParaRPr lang="en-US"/>
          </a:p>
          <a:p>
            <a:r>
              <a:rPr lang="en-US"/>
              <a:t>[Sources]</a:t>
            </a:r>
          </a:p>
          <a:p>
            <a:r>
              <a:rPr lang="en-US"/>
              <a:t>- https://learn.microsoft.com/en-us/azure/azure-monitor/alerts/alerts-overview</a:t>
            </a:r>
          </a:p>
          <a:p>
            <a:r>
              <a:rPr lang="en-US"/>
              <a:t>- https://learn.microsoft.com/en-us/azure/azure-monitor/alerts/action-groups</a:t>
            </a:r>
          </a:p>
          <a:p>
            <a:r>
              <a:rPr lang="en-US"/>
              <a:t>- https://learn.microsoft.com/en-us/azure/azure-monitor/health-models/alerts</a:t>
            </a:r>
          </a:p>
        </p:txBody>
      </p:sp>
      <p:sp>
        <p:nvSpPr>
          <p:cNvPr id="4" name="Slide Number Placeholder 3"/>
          <p:cNvSpPr>
            <a:spLocks noGrp="1"/>
          </p:cNvSpPr>
          <p:nvPr>
            <p:ph type="sldNum" sz="quarter" idx="5"/>
          </p:nvPr>
        </p:nvSpPr>
        <p:spPr/>
        <p:txBody>
          <a:bodyPr/>
          <a:lstStyle/>
          <a:p>
            <a:fld id="{59691FEA-A84D-408B-A0F6-3F1C538FC592}" type="slidenum">
              <a:rPr lang="en-US" smtClean="0"/>
              <a:t>32</a:t>
            </a:fld>
            <a:endParaRPr lang="en-US"/>
          </a:p>
        </p:txBody>
      </p:sp>
    </p:spTree>
    <p:extLst>
      <p:ext uri="{BB962C8B-B14F-4D97-AF65-F5344CB8AC3E}">
        <p14:creationId xmlns:p14="http://schemas.microsoft.com/office/powerpoint/2010/main" val="19981228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Five steps: see it, explain it, fix it, prove it, watch it catch up.
• See it: the service view says an order commitment is Unhealthy. Explain it: the model names the entity and the signal.
• Fix it: one bounded change by the owner of that part. Prove it: fresh orders complete; nothing waiting in the queue.
• Four clocks: the order result, the record arriving (30 s to 2 min on the agent route), the model re-evaluating, the alert resolving.
• Capture a timestamp at every layer; they do not move together.
• Roles: the fulfillment owner makes the change; the service owner declares the service recovered.
• → Next: the recovery demo.
TALKING POINTS
Click through the loop. See it: the service view says "customers can complete an order" is Unhealthy. Explain it: the model names the entity and the signal, AWS fulfillment, failed stages. Fix it: the owner of that part makes one bounded change, scoped to what they own, reversible if it does not work. Prove it: place fresh orders and watch several complete with nothing left waiting in the queue; that is the evidence of recovery, not the command that ran. Watch it catch up: the model and the alert recover later, each on its own schedule.
Click the four clocks. The order result is T0. The record arrives in the workspace roughly 30 seconds to two minutes later on the agent route. The model re-evaluates on its own window. The alert resolves on its own frequency, which for log search alerts can be anything from one minute to 24 hours. Read the line: capture a timestamp at every layer, because they do not move together, and recovery is proven by new customer evidence while the dashboards catch up afterwards.
Read the roles line: the fulfillment owner makes the change; the service owner declares the service recovered. Read the takeaway: a successful command proves execution, not customer recovery. Transition: now do exactly this in the lab.
PURPOSE
Give the audience the one sequence the recovery demo performs, and the one habit that prevents false recoveries: prove with fresh customer evidence, then let the dashboards catch up.</a:t>
            </a:r>
          </a:p>
          <a:p>
            <a:endParaRPr lang="en-US"/>
          </a:p>
          <a:p>
            <a:r>
              <a:rPr lang="en-US"/>
              <a:t>[Sources]</a:t>
            </a:r>
          </a:p>
          <a:p>
            <a:r>
              <a:rPr lang="en-US"/>
              <a:t>- Microsoft Learn: Azure Monitor Agent ingestion latency</a:t>
            </a:r>
          </a:p>
          <a:p>
            <a:r>
              <a:rPr lang="en-US"/>
              <a:t>- Microsoft Learn: log search alert rule frequency (1 minute to 24 hours)</a:t>
            </a:r>
          </a:p>
          <a:p>
            <a:r>
              <a:rPr lang="en-US"/>
              <a:t>- Demo runbook M03 stage 2</a:t>
            </a:r>
          </a:p>
        </p:txBody>
      </p:sp>
      <p:sp>
        <p:nvSpPr>
          <p:cNvPr id="4" name="Slide Number Placeholder 3"/>
          <p:cNvSpPr>
            <a:spLocks noGrp="1"/>
          </p:cNvSpPr>
          <p:nvPr>
            <p:ph type="sldNum" sz="quarter" idx="5"/>
          </p:nvPr>
        </p:nvSpPr>
        <p:spPr/>
        <p:txBody>
          <a:bodyPr/>
          <a:lstStyle/>
          <a:p>
            <a:fld id="{59691FEA-A84D-408B-A0F6-3F1C538FC592}" type="slidenum">
              <a:rPr lang="en-US" smtClean="0"/>
              <a:t>33</a:t>
            </a:fld>
            <a:endParaRPr lang="en-US"/>
          </a:p>
        </p:txBody>
      </p:sp>
    </p:spTree>
    <p:extLst>
      <p:ext uri="{BB962C8B-B14F-4D97-AF65-F5344CB8AC3E}">
        <p14:creationId xmlns:p14="http://schemas.microsoft.com/office/powerpoint/2010/main" val="29915251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Set AWS worker to Healthy; confirm the command succeeds
• Say: the successful command proves the file changed, nothing more
• Place a fresh demo-tagged order through Front Door; record correlation ID and time
• Read stages: coordinator Accepted · on-premises validated · AWS fulfilled without FailureMode · coordinator Completed
• Watch AWS fulfillment, Customers can complete an order, service, then alert resolve
• Show new correlation ID, completed order, and timestamped model and alert states
• Say: a completed order with a red model means wait for its window
• Recovery is sustained: a few new orders all complete and the queue is empty.
• → Next: what evidence can we afford to keep?
TALKING POINTS
Step one: set the AWS worker back to Healthy. The command succeeds. Say out loud that this proves the file changed, nothing more.
Step two: place a new demo-tagged order through Front Door and record its new correlation ID and time.
Step three: read its stage records. Accepted by the coordinator, validated on-premises, fulfilled on AWS with no FailureMode, and Completed by the coordinator. Every stage present, and the order completed.
Step four: watch the model and the alert catch up. AWS fulfillment returns to Healthy, then Customers can complete an order, then the service. The alert resolves. They arrive in the order of the four clocks, not all at once.
The evidence box: a new correlation ID, a completed order, and the later model and alert states with their timestamps. If the model is still red after a completed order, that is the model clock, not a failed recovery. Wait for the window.
This closes runbook M03: the fault touched demo-tagged orders only, and it ends with a fresh order.
Place a few orders, not one. Recovery means every one of them completes and nothing is left waiting in the queue, then the model and alert catch up.
Transition: now that we can prove recovery, what evidence can we afford to keep?
PURPOSE
Prove recovery with a new observation. The audience must see that recovery is a fresh completed order, followed by the model and alert catching up on their own clocks, and never a recycled screenshot or a green command result.</a:t>
            </a:r>
          </a:p>
          <a:p>
            <a:endParaRPr lang="en-US"/>
          </a:p>
          <a:p>
            <a:r>
              <a:rPr lang="en-US"/>
              <a:t>[Sources]</a:t>
            </a:r>
          </a:p>
          <a:p>
            <a:r>
              <a:rPr lang="en-US"/>
              <a:t>- https://learn.microsoft.com/en-us/azure/azure-monitor/health-models/analyze-health</a:t>
            </a:r>
          </a:p>
          <a:p>
            <a:r>
              <a:rPr lang="en-US"/>
              <a:t>- https://learn.microsoft.com/en-us/azure/azure-monitor/alerts/alerts-overview</a:t>
            </a:r>
          </a:p>
          <a:p>
            <a:r>
              <a:rPr lang="en-US"/>
              <a:t>- https://learn.microsoft.com/en-us/azure/azure-monitor/logs/data-ingestion-time</a:t>
            </a:r>
          </a:p>
        </p:txBody>
      </p:sp>
      <p:sp>
        <p:nvSpPr>
          <p:cNvPr id="4" name="Slide Number Placeholder 3"/>
          <p:cNvSpPr>
            <a:spLocks noGrp="1"/>
          </p:cNvSpPr>
          <p:nvPr>
            <p:ph type="sldNum" sz="quarter" idx="5"/>
          </p:nvPr>
        </p:nvSpPr>
        <p:spPr/>
        <p:txBody>
          <a:bodyPr/>
          <a:lstStyle/>
          <a:p>
            <a:fld id="{59691FEA-A84D-408B-A0F6-3F1C538FC592}" type="slidenum">
              <a:rPr lang="en-US" smtClean="0"/>
              <a:t>34</a:t>
            </a:fld>
            <a:endParaRPr lang="en-US"/>
          </a:p>
        </p:txBody>
      </p:sp>
    </p:spTree>
    <p:extLst>
      <p:ext uri="{BB962C8B-B14F-4D97-AF65-F5344CB8AC3E}">
        <p14:creationId xmlns:p14="http://schemas.microsoft.com/office/powerpoint/2010/main" val="26902587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6 of 6: Keep it affordable and useful.
• Question: What does the evidence cost, and how do we keep the view useful?
• Covers: Coverage, volume and retention trade-offs with real lab numbers; the freshness-and-cost demo; the operating cycle, including collecting the same thing twice.
• Why: Observability nobody can afford or maintain decays; every signal needs a question and an owner.
• Part of observability: keeping it true over time.
• → Next: start with what the evidence costs, with real numbers.
TALKING POINTS
Section 6 of 6, Keep it affordable and useful. Read the question on the slide: What does the evidence cost, and how do we keep the view useful? Say it as a question to the room and let it sit for a moment; every slide in this section answers part of it.
Read WHAT IT COVERS: Coverage, volume and retention trade-offs with real lab numbers; the freshness-and-cost demo; the operating cycle, including collecting the same thing twice. Read WHY IT'S HERE: Observability nobody can afford or maintain decays; every signal needs a question and an owner.
Read PART OF OBSERVABILITY: this section builds keeping it true over time, one of the pieces named on "What I asked the team to consider". The six sections together are that definition proved on one example service, IIC Hybrid Orders.
Point at the progress strip: section 6 is highlighted in its own colour, and every slide in this section carries the same colour tag in its title band, so nobody loses track of where we are.
Transition: start with what the evidence costs, with real numbers.
PURPOSE
Give the audience the section's question before any content, and the one-line reason it exists, so they know what they are about to learn and why it is in the session.</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35</a:t>
            </a:fld>
            <a:endParaRPr lang="en-US"/>
          </a:p>
        </p:txBody>
      </p:sp>
    </p:spTree>
    <p:extLst>
      <p:ext uri="{BB962C8B-B14F-4D97-AF65-F5344CB8AC3E}">
        <p14:creationId xmlns:p14="http://schemas.microsoft.com/office/powerpoint/2010/main" val="18881219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Name the diagnostic question before reducing evidence
• Triangle: coverage · volume and cost · retention; changing one moves the others
• Log Analytics ingestion: per GB; Analytics · Basic · Auxiliary have different limits
• Beyond-included retention: GB per month; Prometheus: samples ingested and queried
• Alert meters: metric time series · log-search rule frequency · Prometheus evaluation samples
• Say: check current Azure Monitor pricing before quoting money
• Decision: signal · question · owner · grain · retention · meter · accepted blind spot
• Lab, 7 days: 8.1 GB billable; Perf 1.41, AppTraces 1.25, ContainerInventory 1.21 GB; order stage records 0.011 GB.
• → Next: keeping it useful, including the most common waste
TALKING POINTS
Read the triangle. One corner is coverage: the questions we can answer. One is volume and cost. One is retention: how long we can look back. Pull one corner and the others move.
Now the meters on the slide. Log Analytics ingestion is billed per GB, and the rate depends on the table plan: Analytics, Basic or Auxiliary. Analytics suits data we alert and investigate on; Basic and Auxiliary may lower ingestion cost but carry real query-feature and retention limits compared with Analytics, not just a price difference. Retention beyond the included period is billed per GB per month. The Azure Monitor workspace bills Prometheus metrics by samples ingested and samples queried. Alert pricing varies by type: metric alerts generally by monitored time series, log-search alerts by rule frequency, and Prometheus alert rules by samples processed during evaluation.
No prices on this slide on purpose. Check the current Azure Monitor pricing page before you quote money.
Then read the decision record left to right: the signal, the question it answers, its owner, its grain, its retention, the meter it lands on, and the blind spot we accept if we cut it. For example, the IIC stage records answer which order failed where. Cutting them saves ingestion and loses that question.
Now real numbers from this lab, seven days of data: 8.1 GB billable. The biggest tables are Perf at 1.41 GB, AppTraces at 1.25 GB and ContainerInventory at 1.21 GB. The order stage records that actually answer the customer question are 0.011 GB. So the cost is not in the evidence that answers the service question; it is in the high-volume tables, which is where the decision record should start.
Transition: keeping the view useful is maintenance work, and the most common waste is collecting the same thing twice.
PURPOSE
Treat evidence cost as a design decision tied to a question. The audience must know which meters drive Azure Monitor cost, and must leave with a decision record that names the question before anything is reduced.</a:t>
            </a:r>
          </a:p>
          <a:p>
            <a:endParaRPr lang="en-US"/>
          </a:p>
          <a:p>
            <a:r>
              <a:rPr lang="en-US"/>
              <a:t>[Sources]</a:t>
            </a:r>
          </a:p>
          <a:p>
            <a:r>
              <a:rPr lang="en-US"/>
              <a:t>- https://learn.microsoft.com/en-us/azure/azure-monitor/fundamentals/cost-usage</a:t>
            </a:r>
          </a:p>
          <a:p>
            <a:r>
              <a:rPr lang="en-US"/>
              <a:t>- https://learn.microsoft.com/en-us/azure/azure-monitor/fundamentals/cost-meters</a:t>
            </a:r>
          </a:p>
          <a:p>
            <a:r>
              <a:rPr lang="en-US"/>
              <a:t>- https://learn.microsoft.com/en-us/azure/azure-monitor/logs/cost-logs</a:t>
            </a:r>
          </a:p>
          <a:p>
            <a:r>
              <a:rPr lang="en-US"/>
              <a:t>- https://learn.microsoft.com/en-us/azure/azure-monitor/logs/data-platform-logs</a:t>
            </a:r>
          </a:p>
          <a:p>
            <a:r>
              <a:rPr lang="en-US"/>
              <a:t>- https://learn.microsoft.com/en-us/azure/azure-monitor/logs/data-retention-configure</a:t>
            </a:r>
          </a:p>
        </p:txBody>
      </p:sp>
      <p:sp>
        <p:nvSpPr>
          <p:cNvPr id="4" name="Slide Number Placeholder 3"/>
          <p:cNvSpPr>
            <a:spLocks noGrp="1"/>
          </p:cNvSpPr>
          <p:nvPr>
            <p:ph type="sldNum" sz="quarter" idx="5"/>
          </p:nvPr>
        </p:nvSpPr>
        <p:spPr/>
        <p:txBody>
          <a:bodyPr/>
          <a:lstStyle/>
          <a:p>
            <a:fld id="{59691FEA-A84D-408B-A0F6-3F1C538FC592}" type="slidenum">
              <a:rPr lang="en-US" smtClean="0"/>
              <a:t>36</a:t>
            </a:fld>
            <a:endParaRPr lang="en-US"/>
          </a:p>
        </p:txBody>
      </p:sp>
    </p:spTree>
    <p:extLst>
      <p:ext uri="{BB962C8B-B14F-4D97-AF65-F5344CB8AC3E}">
        <p14:creationId xmlns:p14="http://schemas.microsoft.com/office/powerpoint/2010/main" val="42210094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Inventory expected machines · clusters · tables · stage records and cadences
• IIC inventory includes both workers · both portal origins · stage records
• Measure volume and freshness on a schedule, not only during incidents
• Tune noisy thresholds · order-rate windows · duplicate routes
• Review ignored alerts and customer-discovered incidents; own runbooks and escalation
• Restart when architecture, owners or expectations change; new AWS origins or workers
• Retire stale queries · unused tables · orphaned rules · legacy agents
• → Next: the freshness-and-cost demo on real data
TALKING POINTS
Read the five stages in order. Inventory expected sources: every machine, cluster, table and stage record the service should produce, written down with its cadence. For IIC, that includes both workers, both portal origins and the stage records.
Measure volume and freshness: the query we just ran, on a schedule, not only when something breaks.
Tune signals, windows and routes: adjust thresholds that fire too often or never, windows that are too short for the order rate, and routes that duplicate.
Review noise and missed impact: look at the alerts that nobody acted on, and at the incidents customers found before we did. Both are tuning input.
Own runbooks and escalation: every signal and alert has an owner and a runbook that still works.
Then say when to repeat: when the architecture changes, when an owner changes, when expectations change. Adding an AWS origin or a new worker restarts the cycle.
Read the retire list underneath. Retiring stale queries, unused tables, orphaned rules and legacy agents is part of the job.
Transition: now the same decisions on real data.
Read the orange line above the retire list: the most common waste is the same source collected by two overlapping routes, which produces duplicated records, conflicting charts and double alerts. Inventory the routes before adding another one, and remove duplication only after checking which question each route answers.
PURPOSE
Close the teaching with maintenance. The audience must understand that coverage, tuning and ownership decay unless someone runs an explicit cycle, and that the cycle restarts whenever the architecture, owners or expectations change.</a:t>
            </a:r>
          </a:p>
          <a:p>
            <a:endParaRPr lang="en-US"/>
          </a:p>
          <a:p>
            <a:r>
              <a:rPr lang="en-US"/>
              <a:t>[Sources]</a:t>
            </a:r>
          </a:p>
          <a:p>
            <a:r>
              <a:rPr lang="en-US"/>
              <a:t>- https://learn.microsoft.com/en-us/azure/azure-monitor/fundamentals/best-practices-cost</a:t>
            </a:r>
          </a:p>
          <a:p>
            <a:r>
              <a:rPr lang="en-US"/>
              <a:t>- https://learn.microsoft.com/en-us/azure/azure-monitor/health-models/health-modeling</a:t>
            </a:r>
          </a:p>
          <a:p>
            <a:r>
              <a:rPr lang="en-US"/>
              <a:t>- https://learn.microsoft.com/en-us/azure/azure-monitor/logs/analyze-usage</a:t>
            </a:r>
          </a:p>
        </p:txBody>
      </p:sp>
      <p:sp>
        <p:nvSpPr>
          <p:cNvPr id="4" name="Slide Number Placeholder 3"/>
          <p:cNvSpPr>
            <a:spLocks noGrp="1"/>
          </p:cNvSpPr>
          <p:nvPr>
            <p:ph type="sldNum" sz="quarter" idx="5"/>
          </p:nvPr>
        </p:nvSpPr>
        <p:spPr/>
        <p:txBody>
          <a:bodyPr/>
          <a:lstStyle/>
          <a:p>
            <a:fld id="{59691FEA-A84D-408B-A0F6-3F1C538FC592}" type="slidenum">
              <a:rPr lang="en-US" smtClean="0"/>
              <a:t>37</a:t>
            </a:fld>
            <a:endParaRPr lang="en-US"/>
          </a:p>
        </p:txBody>
      </p:sp>
    </p:spTree>
    <p:extLst>
      <p:ext uri="{BB962C8B-B14F-4D97-AF65-F5344CB8AC3E}">
        <p14:creationId xmlns:p14="http://schemas.microsoft.com/office/powerpoint/2010/main" val="10944021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Query latest Heartbeat and Perf timestamps from Arc-connected EC2 machines
• Query newest Cas26Service_CL row per Component and Stage
• Compare expected cadence; distinguish no traffic · wrong scope · collection failure · route failure · unavailable component
• Query Usage for billable volume by table; identify the largest tables
• Record one reduction: signal · question lost · owner · grain · retention · meter · blind spot
• Show per-source freshness, table volume, and recorded decision; no prices
• → Next: back to that meeting
TALKING POINTS
Step one: query the last timestamp per source and per stage. For guest evidence, that is Heartbeat and Perf from the Arc-connected EC2 machines. For the application, it is the newest Cas26Service_CL row per Component and Stage.
Step two: compare each with its expected cadence. A heartbeat should be recent. Stage records should be recent only if orders are flowing. Silence with no traffic is different from silence with traffic, so walk the causes: no traffic, wrong scope, collection failure, route failure, or an unavailable component.
Step three: run the billable volume by table query over the Usage table. Which tables carry the most billable data?
Step four: name one reduction and the question it would lose. Record it with the decision structure from slide 48: signal, question, owner, grain, retention, meter and accepted blind spot.
The evidence box: freshness per source, volume by table, and one decision recorded. No prices.
Transition: that is the whole loop. Back to the meeting we started with.
PURPOSE
Apply the last two slides to data. The audience must see freshness measured per source against its expected cadence, volume measured per table, and one reduction decision written down with the question it would cost.</a:t>
            </a:r>
          </a:p>
          <a:p>
            <a:endParaRPr lang="en-US"/>
          </a:p>
          <a:p>
            <a:r>
              <a:rPr lang="en-US"/>
              <a:t>[Sources]</a:t>
            </a:r>
          </a:p>
          <a:p>
            <a:r>
              <a:rPr lang="en-US"/>
              <a:t>- https://learn.microsoft.com/en-us/azure/azure-monitor/logs/analyze-usage</a:t>
            </a:r>
          </a:p>
          <a:p>
            <a:r>
              <a:rPr lang="en-US"/>
              <a:t>- https://learn.microsoft.com/en-us/azure/azure-monitor/logs/data-ingestion-time</a:t>
            </a:r>
          </a:p>
          <a:p>
            <a:r>
              <a:rPr lang="en-US"/>
              <a:t>- https://learn.microsoft.com/en-us/azure/azure-monitor/logs/cost-logs</a:t>
            </a:r>
          </a:p>
        </p:txBody>
      </p:sp>
      <p:sp>
        <p:nvSpPr>
          <p:cNvPr id="4" name="Slide Number Placeholder 3"/>
          <p:cNvSpPr>
            <a:spLocks noGrp="1"/>
          </p:cNvSpPr>
          <p:nvPr>
            <p:ph type="sldNum" sz="quarter" idx="5"/>
          </p:nvPr>
        </p:nvSpPr>
        <p:spPr/>
        <p:txBody>
          <a:bodyPr/>
          <a:lstStyle/>
          <a:p>
            <a:fld id="{59691FEA-A84D-408B-A0F6-3F1C538FC592}" type="slidenum">
              <a:rPr lang="en-US" smtClean="0"/>
              <a:t>38</a:t>
            </a:fld>
            <a:endParaRPr lang="en-US"/>
          </a:p>
        </p:txBody>
      </p:sp>
    </p:spTree>
    <p:extLst>
      <p:ext uri="{BB962C8B-B14F-4D97-AF65-F5344CB8AC3E}">
        <p14:creationId xmlns:p14="http://schemas.microsoft.com/office/powerpoint/2010/main" val="16254685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Back to the meeting: "a new monitoring tool, just for our labs" and "on-premises first: our two datacenters".
• Define the service first: a lab, like an order, needs parts in more than one place.
• See every part: Arc put the AWS and on-premises workers in the same workspace as Azure, one single pane of glass.
• Read impact from the people using it down: the machines were healthy while every order failed.
• Prove recovery with fresh evidence, and let the dashboards catch up.
• Same data. Bigger question.
• → Next: keep the conversation going.
TALKING POINTS
Read the two proposals on the left; they are the same two from the first slide: a new monitoring tool just for our labs, starting on-premises across our two datacenters. Then click through what you would say now, and point at what the room saw for each one.
Define the service first: an IIC order needed four parts in three places, and our labs are the same shape; the service is the chain, not the servers in one of them. See every part: Arc put the AWS and on-premises workers in the same workspace as the Azure coordinator, one single pane of glass, and we proved the evidence was arriving rather than assuming it. Read impact from the people using it down: in the controlled fault the machines were healthy while every order failed, and only the order evidence showed it. Prove recovery with fresh evidence: several orders completed and nothing was waiting before anyone called it recovered, and the dashboards caught up afterwards.
Click the last line: same data, bigger question. None of this needed a second monitoring tool; it needed a different question, asked across every place our labs run. Read the takeaway for the last time: monitoring tells you a server is up; observability tells you whether the customer was served, wherever the service runs.
Transition: let's keep the conversation going.
PURPOSE
Close the loop the session opened: answer the meeting's two proposals with the four things the room saw, say that IIC was only the stand-in for our own labs, and leave them with one sentence.</a:t>
            </a:r>
          </a:p>
          <a:p>
            <a:endParaRPr lang="en-US"/>
          </a:p>
          <a:p>
            <a:r>
              <a:rPr lang="en-US"/>
              <a:t>[Sources]</a:t>
            </a:r>
          </a:p>
          <a:p>
            <a:r>
              <a:rPr lang="en-US"/>
              <a:t>- Session structure.</a:t>
            </a:r>
          </a:p>
        </p:txBody>
      </p:sp>
      <p:sp>
        <p:nvSpPr>
          <p:cNvPr id="4" name="Slide Number Placeholder 3"/>
          <p:cNvSpPr>
            <a:spLocks noGrp="1"/>
          </p:cNvSpPr>
          <p:nvPr>
            <p:ph type="sldNum" sz="quarter" idx="5"/>
          </p:nvPr>
        </p:nvSpPr>
        <p:spPr/>
        <p:txBody>
          <a:bodyPr/>
          <a:lstStyle/>
          <a:p>
            <a:fld id="{59691FEA-A84D-408B-A0F6-3F1C538FC592}" type="slidenum">
              <a:rPr lang="en-US" smtClean="0"/>
              <a:t>39</a:t>
            </a:fld>
            <a:endParaRPr lang="en-US"/>
          </a:p>
        </p:txBody>
      </p:sp>
    </p:spTree>
    <p:extLst>
      <p:ext uri="{BB962C8B-B14F-4D97-AF65-F5344CB8AC3E}">
        <p14:creationId xmlns:p14="http://schemas.microsoft.com/office/powerpoint/2010/main" val="28123432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KEY POINTS
• Repository: handouts · KQL queries · five runbooks · IIC design
• Take the method: scope · evidence · model · action · recovery
• → Next: other sessions worth your time this week
TALKING POINTS
This is how to reach me. Everything from today is in the repository: the handouts, the KQL queries, the five runbooks and the IIC design. Take the method with you: scope, evidence, model, action, recovery.
Transition: a few other sessions this week are worth your time.
PURPOSE
Point people to what they can take home. They should know where the repository, handouts, queries and runbooks live.</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757113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KEY POINTS
• Thursday October 1, 1:15 PM: From On-Prem to Cloud-Native — John Smith
• Thursday, 3:00 PM: Engineering for Reliability and Stability in the Azure Messaging Services — Eldert Grootenboer
• Friday October 2, 3:00 PM: Integrate Azure Monitor alerts from servers with your ITSM system — John Joyner
• All three: Clarity · Central time
• Say: check the current schedule; rooms and times can change
• → Next: one sponsor worth a visit
TALKING POINTS
Thursday October 1 at 1:15 PM: From On-Prem to Cloud-Native, with John Smith. Thursday at 3:00 PM: Engineering for Reliability and Stability in the Azure Messaging Services, with Eldert Grootenboer, a good follow-up to our Service Bus transport. Friday October 2 at 3:00 PM: Integrate Azure Monitor alerts from servers with your ITSM system, with John Joyner. All three are in Clarity, Central time. Please check the current schedule, because rooms and times can change.
Transition: one sponsor worth a visit before questions.
PURPOSE
Recommend three related sessions briefly.</a:t>
            </a:r>
          </a:p>
          <a:p>
            <a:endParaRPr lang="en-US"/>
          </a:p>
          <a:p>
            <a:r>
              <a:rPr lang="en-US"/>
              <a:t>[Sources]</a:t>
            </a:r>
          </a:p>
          <a:p>
            <a:r>
              <a:rPr lang="en-US"/>
              <a:t>- Presenter contract and repository implementation.</a:t>
            </a:r>
          </a:p>
        </p:txBody>
      </p:sp>
    </p:spTree>
    <p:extLst>
      <p:ext uri="{BB962C8B-B14F-4D97-AF65-F5344CB8AC3E}">
        <p14:creationId xmlns:p14="http://schemas.microsoft.com/office/powerpoint/2010/main" val="27403263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A sponsor of this event whose product is about seeing the whole Azure estate.
• In their words: change observability for Azure, self-hosted in your own tenant, deployed from the Azure Marketplace in under 15 minutes.
• Change tracking (what, who, when), cost anomalies and orphaned resources, stale and over-privileged access, topology and Policy changes.
• Where it fits this session: the change, cost and access half of the evidence, on the Azure side.
• Be honest: Azure only today; our session also covered AWS and on-premises.
• Takeaway: observability is a practice, not one product.
• → Next: questions.
TALKING POINTS
Thirty seconds, not a pitch. StratoLens is one of the sponsors of this event, and their product is about seeing the whole Azure estate, which is this session's theme on the Azure side. Read their line on the left: see your whole Azure estate, your data never leaves it. It is self-hosted in your own tenant and deploys from the Azure Marketplace in under 15 minutes.
Read the list on the right in their words: change tracking, what changed, who changed it and when; cost anomaly detection and orphaned resources; access, meaning stale and over-privileged role assignments; network topology and Azure Policy change tracking. Read where it fits: that is the change, cost and access half of the evidence we talked about in section 6, on the Azure side. Be straight with the room: it is Azure only today, and our session also covered AWS and on-premises; nothing here replaces the health model or the service view.
Read the takeaway: observability is a practice, not one product. If change in your Azure estate is the blind spot you left with, go and ask them how they see it. Transition: questions.
PURPOSE
Give an event sponsor whose product is on-topic a fair, factual call-out next to the other recommendations, in their own words, with an honest scope statement.</a:t>
            </a:r>
          </a:p>
          <a:p>
            <a:endParaRPr lang="en-US"/>
          </a:p>
          <a:p>
            <a:r>
              <a:rPr lang="en-US"/>
              <a:t>[Sources]</a:t>
            </a:r>
          </a:p>
          <a:p>
            <a:r>
              <a:rPr lang="en-US"/>
              <a:t>- cloudandaisummit.com sponsor detail page for StratoLens (read 2026-10-01)</a:t>
            </a:r>
          </a:p>
          <a:p>
            <a:r>
              <a:rPr lang="en-US"/>
              <a:t>- getstratolens.com (read 2026-10-01)</a:t>
            </a:r>
          </a:p>
        </p:txBody>
      </p:sp>
      <p:sp>
        <p:nvSpPr>
          <p:cNvPr id="4" name="Slide Number Placeholder 3"/>
          <p:cNvSpPr>
            <a:spLocks noGrp="1"/>
          </p:cNvSpPr>
          <p:nvPr>
            <p:ph type="sldNum" sz="quarter" idx="5"/>
          </p:nvPr>
        </p:nvSpPr>
        <p:spPr/>
        <p:txBody>
          <a:bodyPr/>
          <a:lstStyle/>
          <a:p>
            <a:fld id="{59691FEA-A84D-408B-A0F6-3F1C538FC592}" type="slidenum">
              <a:rPr lang="en-US" smtClean="0"/>
              <a:t>42</a:t>
            </a:fld>
            <a:endParaRPr lang="en-US"/>
          </a:p>
        </p:txBody>
      </p:sp>
    </p:spTree>
    <p:extLst>
      <p:ext uri="{BB962C8B-B14F-4D97-AF65-F5344CB8AC3E}">
        <p14:creationId xmlns:p14="http://schemas.microsoft.com/office/powerpoint/2010/main" val="8759283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KEY POINTS
• Ask the room: what part of your estate is hardest to see?
• Examples: quiet site · cloud you do not own · service without stage records
• Repeat each question for the room
• Answer: commitment · available evidence · freshness · ownership
• Say: flag preview behaviour or prices and point to documentation
TALKING POINTS
Read the prompt: what part of your estate is hardest to see? A site that goes quiet, a cloud you do not own, a service with no stage records? Take a question, repeat it for the room, and answer it with the method: what is the commitment, what evidence exists, how fresh is it, and who owns it. If an answer depends on a preview behaviour or a price, say so and point to the documentation.
PURPOSE
Open the floor with a question that invites real estates, not product trivia.</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939181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Thank you for spending this session on whole-service observability.
• Scan the QR code and leave feedback while you’re here.
• I read all feedback; the QR code stays up.
• Runbooks · queries · IIC design: github.com/thisismydemo/cas26.
TALKING POINTS
Thank you for spending this session on whole-service observability. Please scan the QR code on the screen and leave feedback; I read all of it. I will leave it up while you do. Everything we used today, including the runbooks, queries and IIC design, is in the repository at github.com/thisismydemo/cas26. Thank you.
PURPOSE
Thank the room and get feedback while people are still here.</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44</a:t>
            </a:fld>
            <a:endParaRPr lang="en-US"/>
          </a:p>
        </p:txBody>
      </p:sp>
    </p:spTree>
    <p:extLst>
      <p:ext uri="{BB962C8B-B14F-4D97-AF65-F5344CB8AC3E}">
        <p14:creationId xmlns:p14="http://schemas.microsoft.com/office/powerpoint/2010/main" val="2785387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C278E-0D15-6C81-8EF1-F444454EFA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7E4B34-1646-7CC1-A447-11971EEE7E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C8E93D-955A-39DA-3F86-7F6D615CC59A}"/>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42B3DE2A-4E54-3E5E-80D0-D261339FB8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53C1B-6BC3-702C-B335-E7A986D0EDB0}"/>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2813742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94B67-F6D1-50F4-323E-7FF9A6D114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DFC352-AA62-6EE3-B5D3-E85A723413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D1CAB6-4A7C-F94A-247F-771A90011B8C}"/>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026682D2-5A16-21D6-E707-C53453953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0AAEC-8F0D-A34D-E6B1-97061D3C4D47}"/>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4179279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4DD6C-46C1-22E5-CA04-33F727BFB9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E64AB0-5B70-484C-457A-16C462642F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DA042F-FD84-8793-0ACB-9B5193071183}"/>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B784C8D9-3C02-2E79-8DBB-874E0D2010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ECFD8C-5506-F6D8-D699-6F809BC7E990}"/>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299849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0EDC4-7432-DF75-B2BD-EC7749531E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6F77FA-9C6B-89F7-3A13-6A108D579A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353F64-3DE4-DF8E-07ED-9FAEFE4560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153758-9D69-2868-5DCC-F104B858B3F5}"/>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6" name="Footer Placeholder 5">
            <a:extLst>
              <a:ext uri="{FF2B5EF4-FFF2-40B4-BE49-F238E27FC236}">
                <a16:creationId xmlns:a16="http://schemas.microsoft.com/office/drawing/2014/main" id="{A9C61F58-0AA6-2906-BD1D-48626BEAEF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74DE03-F130-7965-9A61-13AFC0604A99}"/>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784872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E5BB-D761-CBF5-4F5A-9553FAD174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CDA435-28BE-90AF-5289-02CFE90F81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D8A7CD-91F1-6101-6BF9-A2FB8B45B9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C50875-06B7-2531-EFE3-26D5D3B8AF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1D6DFE-0E22-A445-39CD-B99363DDAE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45B4F5-F427-7165-D877-84B0EB4DBD94}"/>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8" name="Footer Placeholder 7">
            <a:extLst>
              <a:ext uri="{FF2B5EF4-FFF2-40B4-BE49-F238E27FC236}">
                <a16:creationId xmlns:a16="http://schemas.microsoft.com/office/drawing/2014/main" id="{7A594B8F-7F3D-62BA-6B7F-52BCE64B02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E428C6-0987-28F2-BC48-7E3532423A39}"/>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2710200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DB691-216B-4E00-2897-705B7C04FF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65C919-6794-9CC1-7673-E531378FD197}"/>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4" name="Footer Placeholder 3">
            <a:extLst>
              <a:ext uri="{FF2B5EF4-FFF2-40B4-BE49-F238E27FC236}">
                <a16:creationId xmlns:a16="http://schemas.microsoft.com/office/drawing/2014/main" id="{A5885BD6-E99F-9697-AA57-13846839FF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AFDF18-749F-64A9-B20E-A2D321FD447C}"/>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3623619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64AA3C-04A6-5230-8C13-6A66548F3058}"/>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3" name="Footer Placeholder 2">
            <a:extLst>
              <a:ext uri="{FF2B5EF4-FFF2-40B4-BE49-F238E27FC236}">
                <a16:creationId xmlns:a16="http://schemas.microsoft.com/office/drawing/2014/main" id="{F43F7BAA-2203-D7EB-4D36-A2B48F3CB9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4110EA-BDFB-D8D8-4D6F-F48792893C4C}"/>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1525913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F790D-F9DF-3F61-8257-FE2345698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BC769B-5303-F13C-4CF4-4D0F4B052E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E57FCC-635C-DA18-1876-921E764DB1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D27F71-B3BB-8219-2D1E-64B84AEA892B}"/>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6" name="Footer Placeholder 5">
            <a:extLst>
              <a:ext uri="{FF2B5EF4-FFF2-40B4-BE49-F238E27FC236}">
                <a16:creationId xmlns:a16="http://schemas.microsoft.com/office/drawing/2014/main" id="{025BC9FB-C913-0EDF-4129-94FBB1B47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3BCFE9-677F-6112-15AC-F3740FF23213}"/>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3507383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9175A-313E-71FD-DF10-C73E7391F5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BF1A8D-846E-B0CF-95A2-240F97D8F1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D190F2-CB10-EFFA-A704-47EC3027C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F06537-DA07-8740-E653-BD5A501C8FC4}"/>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6" name="Footer Placeholder 5">
            <a:extLst>
              <a:ext uri="{FF2B5EF4-FFF2-40B4-BE49-F238E27FC236}">
                <a16:creationId xmlns:a16="http://schemas.microsoft.com/office/drawing/2014/main" id="{5639BA8B-8C40-E12E-B046-53F7629D38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39AE98-133A-01ED-9713-C6AE5C7C0418}"/>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2060622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6FDA9-A87B-0D54-9B4D-F2A682DE11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4F8EDB-DC32-2408-641A-9179FF4FED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773B2-A440-CE9F-8171-BD26FA66B746}"/>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3DCEB2AA-0B59-EE11-2831-E3F01262C6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8DBACC-F611-117C-76C5-6E9379D86C91}"/>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3511229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4E6CB6-BE46-D276-5367-589CEEBA30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A8371-337D-4B19-5176-9BECF318EA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0F4A5-55A2-9683-888B-FC46BE63BA85}"/>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52054990-3F60-2773-FD85-DA00D1FE2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84E380-9A48-53E8-BEA6-45249230C2F3}"/>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1201307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DBDE36-3A63-2443-3493-ADE125E968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A6A81C-FB6A-5F6A-C644-E615F3B684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7370D6-37F4-1F3A-862E-23791DEE80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E6AC1294-A1AD-86D2-0B16-2416028F84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27E7ACF-FEE9-64E9-9A65-B5E4226D68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09C6AA-AB49-4805-B49E-DC543268EC44}" type="slidenum">
              <a:rPr lang="en-US" smtClean="0"/>
              <a:t>‹#›</a:t>
            </a:fld>
            <a:endParaRPr lang="en-US"/>
          </a:p>
        </p:txBody>
      </p:sp>
    </p:spTree>
    <p:extLst>
      <p:ext uri="{BB962C8B-B14F-4D97-AF65-F5344CB8AC3E}">
        <p14:creationId xmlns:p14="http://schemas.microsoft.com/office/powerpoint/2010/main" val="2491592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hyperlink" Target="https://github.com/thisismydemo/cas2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A97649-C4D5-4168-9886-577F2F27298D}"/>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Block">
            <a:extLst>
              <a:ext uri="{FF2B5EF4-FFF2-40B4-BE49-F238E27FC236}">
                <a16:creationId xmlns:a16="http://schemas.microsoft.com/office/drawing/2014/main" id="{1EE51118-42A0-CDC5-3FDB-5BC434FAB552}"/>
              </a:ext>
            </a:extLst>
          </p:cNvPr>
          <p:cNvSpPr/>
          <p:nvPr/>
        </p:nvSpPr>
        <p:spPr>
          <a:xfrm>
            <a:off x="0" y="0"/>
            <a:ext cx="5461000" cy="6858000"/>
          </a:xfrm>
          <a:prstGeom prst="rect">
            <a:avLst/>
          </a:prstGeom>
          <a:solidFill>
            <a:srgbClr val="0F1A3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609600" rIns="304800" rtlCol="0" anchor="ctr"/>
          <a:lstStyle/>
          <a:p>
            <a:r>
              <a:rPr lang="en-US" sz="3400" b="1">
                <a:solidFill>
                  <a:srgbClr val="FFFFFF"/>
                </a:solidFill>
                <a:latin typeface="Calibri" panose="020F0502020204030204" pitchFamily="34" charset="0"/>
              </a:rPr>
              <a:t>Monitoring What</a:t>
            </a:r>
          </a:p>
          <a:p>
            <a:r>
              <a:rPr lang="en-US" sz="3400" b="1">
                <a:solidFill>
                  <a:srgbClr val="FFFFFF"/>
                </a:solidFill>
                <a:latin typeface="Calibri" panose="020F0502020204030204" pitchFamily="34" charset="0"/>
              </a:rPr>
              <a:t>Microsoft Doesn't Host</a:t>
            </a:r>
          </a:p>
          <a:p>
            <a:pPr>
              <a:spcBef>
                <a:spcPts val="1600"/>
              </a:spcBef>
            </a:pPr>
            <a:r>
              <a:rPr lang="en-US" sz="1900">
                <a:solidFill>
                  <a:srgbClr val="FFFFFF"/>
                </a:solidFill>
                <a:latin typeface="Calibri" panose="020F0502020204030204" pitchFamily="34" charset="0"/>
              </a:rPr>
              <a:t>Whole-Service Observability across Azure, AWS and On-Premises</a:t>
            </a:r>
          </a:p>
          <a:p>
            <a:pPr>
              <a:spcBef>
                <a:spcPts val="2000"/>
              </a:spcBef>
            </a:pPr>
            <a:r>
              <a:rPr lang="en-US" sz="1400">
                <a:solidFill>
                  <a:srgbClr val="FFFFFF"/>
                </a:solidFill>
                <a:latin typeface="Calibri" panose="020F0502020204030204" pitchFamily="34" charset="0"/>
              </a:rPr>
              <a:t>Kristopher Turner</a:t>
            </a:r>
          </a:p>
          <a:p>
            <a:r>
              <a:rPr lang="en-US" sz="1400">
                <a:solidFill>
                  <a:srgbClr val="FFFFFF"/>
                </a:solidFill>
                <a:latin typeface="Calibri" panose="020F0502020204030204" pitchFamily="34" charset="0"/>
              </a:rPr>
              <a:t>The Cloud &amp; AI Summit 2026  ·  October 1, 2026</a:t>
            </a:r>
          </a:p>
        </p:txBody>
      </p:sp>
      <p:sp>
        <p:nvSpPr>
          <p:cNvPr id="7" name="Rectangle 6">
            <a:extLst>
              <a:ext uri="{FF2B5EF4-FFF2-40B4-BE49-F238E27FC236}">
                <a16:creationId xmlns:a16="http://schemas.microsoft.com/office/drawing/2014/main" id="{658E62EE-783C-9172-A9B3-49DBA9A76554}"/>
              </a:ext>
            </a:extLst>
          </p:cNvPr>
          <p:cNvSpPr/>
          <p:nvPr/>
        </p:nvSpPr>
        <p:spPr>
          <a:xfrm>
            <a:off x="609600" y="1778000"/>
            <a:ext cx="889000" cy="63500"/>
          </a:xfrm>
          <a:prstGeom prst="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36A704D-EBA8-11A1-B080-0C49E83BE1AD}"/>
              </a:ext>
            </a:extLst>
          </p:cNvPr>
          <p:cNvSpPr/>
          <p:nvPr/>
        </p:nvSpPr>
        <p:spPr>
          <a:xfrm>
            <a:off x="6223000" y="1905000"/>
            <a:ext cx="101600" cy="7112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F2E571D-0262-CDCD-D940-C3D0B780E061}"/>
              </a:ext>
            </a:extLst>
          </p:cNvPr>
          <p:cNvSpPr txBox="1"/>
          <p:nvPr/>
        </p:nvSpPr>
        <p:spPr>
          <a:xfrm>
            <a:off x="6502400" y="2057400"/>
            <a:ext cx="5080000" cy="430887"/>
          </a:xfrm>
          <a:prstGeom prst="rect">
            <a:avLst/>
          </a:prstGeom>
          <a:noFill/>
        </p:spPr>
        <p:txBody>
          <a:bodyPr vert="horz" wrap="square" lIns="25400" rIns="25400" rtlCol="0">
            <a:spAutoFit/>
          </a:bodyPr>
          <a:lstStyle/>
          <a:p>
            <a:r>
              <a:rPr lang="en-US" sz="2200" b="1">
                <a:solidFill>
                  <a:srgbClr val="F1F5FB"/>
                </a:solidFill>
                <a:latin typeface="Calibri" panose="020F0502020204030204" pitchFamily="34" charset="0"/>
              </a:rPr>
              <a:t>AZURE</a:t>
            </a:r>
          </a:p>
        </p:txBody>
      </p:sp>
      <p:sp>
        <p:nvSpPr>
          <p:cNvPr id="10" name="Rectangle 9">
            <a:extLst>
              <a:ext uri="{FF2B5EF4-FFF2-40B4-BE49-F238E27FC236}">
                <a16:creationId xmlns:a16="http://schemas.microsoft.com/office/drawing/2014/main" id="{00422712-0E08-FEC7-2DCB-591E012896EE}"/>
              </a:ext>
            </a:extLst>
          </p:cNvPr>
          <p:cNvSpPr/>
          <p:nvPr/>
        </p:nvSpPr>
        <p:spPr>
          <a:xfrm>
            <a:off x="6223000" y="3048000"/>
            <a:ext cx="101600" cy="711200"/>
          </a:xfrm>
          <a:prstGeom prst="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A9D32F4-034F-3BA9-C5E9-92940B6BCB9C}"/>
              </a:ext>
            </a:extLst>
          </p:cNvPr>
          <p:cNvSpPr txBox="1"/>
          <p:nvPr/>
        </p:nvSpPr>
        <p:spPr>
          <a:xfrm>
            <a:off x="6502400" y="3200400"/>
            <a:ext cx="5080000" cy="430887"/>
          </a:xfrm>
          <a:prstGeom prst="rect">
            <a:avLst/>
          </a:prstGeom>
          <a:noFill/>
        </p:spPr>
        <p:txBody>
          <a:bodyPr vert="horz" wrap="square" lIns="25400" rIns="25400" rtlCol="0">
            <a:spAutoFit/>
          </a:bodyPr>
          <a:lstStyle/>
          <a:p>
            <a:r>
              <a:rPr lang="en-US" sz="2200" b="1">
                <a:solidFill>
                  <a:srgbClr val="F1F5FB"/>
                </a:solidFill>
                <a:latin typeface="Calibri" panose="020F0502020204030204" pitchFamily="34" charset="0"/>
              </a:rPr>
              <a:t>ON-PREMISES PRIVATE CLOUD</a:t>
            </a:r>
          </a:p>
        </p:txBody>
      </p:sp>
      <p:sp>
        <p:nvSpPr>
          <p:cNvPr id="12" name="Rectangle 11">
            <a:extLst>
              <a:ext uri="{FF2B5EF4-FFF2-40B4-BE49-F238E27FC236}">
                <a16:creationId xmlns:a16="http://schemas.microsoft.com/office/drawing/2014/main" id="{EAB7502E-59F2-C73E-BBF1-01363B693232}"/>
              </a:ext>
            </a:extLst>
          </p:cNvPr>
          <p:cNvSpPr/>
          <p:nvPr/>
        </p:nvSpPr>
        <p:spPr>
          <a:xfrm>
            <a:off x="6223000" y="4191000"/>
            <a:ext cx="101600" cy="711200"/>
          </a:xfrm>
          <a:prstGeom prst="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D05E31B-9FC1-37C4-158A-7EB7003B6808}"/>
              </a:ext>
            </a:extLst>
          </p:cNvPr>
          <p:cNvSpPr txBox="1"/>
          <p:nvPr/>
        </p:nvSpPr>
        <p:spPr>
          <a:xfrm>
            <a:off x="6502400" y="4343400"/>
            <a:ext cx="5080000" cy="430887"/>
          </a:xfrm>
          <a:prstGeom prst="rect">
            <a:avLst/>
          </a:prstGeom>
          <a:noFill/>
        </p:spPr>
        <p:txBody>
          <a:bodyPr vert="horz" wrap="square" lIns="25400" rIns="25400" rtlCol="0">
            <a:spAutoFit/>
          </a:bodyPr>
          <a:lstStyle/>
          <a:p>
            <a:r>
              <a:rPr lang="en-US" sz="2200" b="1">
                <a:solidFill>
                  <a:srgbClr val="F1F5FB"/>
                </a:solidFill>
                <a:latin typeface="Calibri" panose="020F0502020204030204" pitchFamily="34" charset="0"/>
              </a:rPr>
              <a:t>AWS</a:t>
            </a:r>
          </a:p>
        </p:txBody>
      </p:sp>
      <p:sp>
        <p:nvSpPr>
          <p:cNvPr id="14" name="TextBox 13">
            <a:extLst>
              <a:ext uri="{FF2B5EF4-FFF2-40B4-BE49-F238E27FC236}">
                <a16:creationId xmlns:a16="http://schemas.microsoft.com/office/drawing/2014/main" id="{9671E80D-CB0A-C871-C97A-CA6ADA37DFFD}"/>
              </a:ext>
            </a:extLst>
          </p:cNvPr>
          <p:cNvSpPr txBox="1"/>
          <p:nvPr/>
        </p:nvSpPr>
        <p:spPr>
          <a:xfrm>
            <a:off x="6223000" y="5461000"/>
            <a:ext cx="5461000" cy="338554"/>
          </a:xfrm>
          <a:prstGeom prst="rect">
            <a:avLst/>
          </a:prstGeom>
          <a:noFill/>
        </p:spPr>
        <p:txBody>
          <a:bodyPr vert="horz" wrap="square" lIns="25400" rIns="25400" rtlCol="0">
            <a:spAutoFit/>
          </a:bodyPr>
          <a:lstStyle/>
          <a:p>
            <a:r>
              <a:rPr lang="en-US" sz="1600" b="1">
                <a:solidFill>
                  <a:srgbClr val="F1F5FB"/>
                </a:solidFill>
                <a:latin typeface="Calibri" panose="020F0502020204030204" pitchFamily="34" charset="0"/>
              </a:rPr>
              <a:t>One service. Three clouds. One view of its health.</a:t>
            </a:r>
          </a:p>
        </p:txBody>
      </p:sp>
    </p:spTree>
    <p:extLst>
      <p:ext uri="{BB962C8B-B14F-4D97-AF65-F5344CB8AC3E}">
        <p14:creationId xmlns:p14="http://schemas.microsoft.com/office/powerpoint/2010/main" val="2214306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61A126-35B6-A8A5-C706-B14D7884B59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SponsorBar" descr="CAS 2026 sponsors and #CloudAISummit2026">
            <a:extLst>
              <a:ext uri="{FF2B5EF4-FFF2-40B4-BE49-F238E27FC236}">
                <a16:creationId xmlns:a16="http://schemas.microsoft.com/office/drawing/2014/main" id="{F66305A9-2556-EB86-A69D-D6F8D48E7AA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505161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8BDC9D-6039-5583-D398-F2048D6FBFA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58856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B7F172-F33E-A964-0372-BF8DB2746FC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B137E4C-3553-705C-E006-5BDF22CF666F}"/>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A392129-966D-AFC7-01EA-0C4C88BA4EB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Have you had discussions like this?</a:t>
            </a:r>
          </a:p>
        </p:txBody>
      </p:sp>
      <p:sp>
        <p:nvSpPr>
          <p:cNvPr id="5" name="Rectangle 4">
            <a:extLst>
              <a:ext uri="{FF2B5EF4-FFF2-40B4-BE49-F238E27FC236}">
                <a16:creationId xmlns:a16="http://schemas.microsoft.com/office/drawing/2014/main" id="{7B44C721-A447-64C4-649D-422DAE71ABF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BB9EA1-5DAC-D20A-D601-CBE6C41865EC}"/>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A real team meeting about monitoring our lab environments.</a:t>
            </a:r>
          </a:p>
        </p:txBody>
      </p:sp>
      <p:pic>
        <p:nvPicPr>
          <p:cNvPr id="8" name="Picture 7">
            <a:extLst>
              <a:ext uri="{FF2B5EF4-FFF2-40B4-BE49-F238E27FC236}">
                <a16:creationId xmlns:a16="http://schemas.microsoft.com/office/drawing/2014/main" id="{5166CD97-ADE3-6B03-26BC-52F9961681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3800" y="1676400"/>
            <a:ext cx="9804400" cy="4013200"/>
          </a:xfrm>
          <a:prstGeom prst="rect">
            <a:avLst/>
          </a:prstGeom>
        </p:spPr>
      </p:pic>
      <p:sp>
        <p:nvSpPr>
          <p:cNvPr id="9" name="Rectangle: Rounded Corners 8">
            <a:extLst>
              <a:ext uri="{FF2B5EF4-FFF2-40B4-BE49-F238E27FC236}">
                <a16:creationId xmlns:a16="http://schemas.microsoft.com/office/drawing/2014/main" id="{24482A2D-9B68-705F-A800-A6E4639D0D16}"/>
              </a:ext>
            </a:extLst>
          </p:cNvPr>
          <p:cNvSpPr/>
          <p:nvPr/>
        </p:nvSpPr>
        <p:spPr>
          <a:xfrm>
            <a:off x="1193800" y="5842000"/>
            <a:ext cx="3048000" cy="304800"/>
          </a:xfrm>
          <a:prstGeom prst="roundRect">
            <a:avLst/>
          </a:prstGeom>
          <a:noFill/>
          <a:ln w="1524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FACC15"/>
                </a:solidFill>
                <a:latin typeface="Calibri" panose="020F0502020204030204" pitchFamily="34" charset="0"/>
              </a:rPr>
              <a:t>A NEW TOOL, JUST FOR OUR LABS</a:t>
            </a:r>
          </a:p>
        </p:txBody>
      </p:sp>
      <p:sp>
        <p:nvSpPr>
          <p:cNvPr id="10" name="Rectangle: Rounded Corners 9">
            <a:extLst>
              <a:ext uri="{FF2B5EF4-FFF2-40B4-BE49-F238E27FC236}">
                <a16:creationId xmlns:a16="http://schemas.microsoft.com/office/drawing/2014/main" id="{1DF32B7F-1D23-304B-459E-0BEF3F5299BD}"/>
              </a:ext>
            </a:extLst>
          </p:cNvPr>
          <p:cNvSpPr/>
          <p:nvPr/>
        </p:nvSpPr>
        <p:spPr>
          <a:xfrm>
            <a:off x="4394200" y="5842000"/>
            <a:ext cx="3454400" cy="304800"/>
          </a:xfrm>
          <a:prstGeom prst="roundRect">
            <a:avLst/>
          </a:prstGeom>
          <a:noFill/>
          <a:ln w="1524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FACC15"/>
                </a:solidFill>
                <a:latin typeface="Calibri" panose="020F0502020204030204" pitchFamily="34" charset="0"/>
              </a:rPr>
              <a:t>ON-PREMISES FIRST, TWO DATACENTERS</a:t>
            </a:r>
          </a:p>
        </p:txBody>
      </p:sp>
      <p:sp>
        <p:nvSpPr>
          <p:cNvPr id="11" name="Rectangle: Rounded Corners 10">
            <a:extLst>
              <a:ext uri="{FF2B5EF4-FFF2-40B4-BE49-F238E27FC236}">
                <a16:creationId xmlns:a16="http://schemas.microsoft.com/office/drawing/2014/main" id="{6A5E3A98-45A8-9A6B-C098-9D1010C84A73}"/>
              </a:ext>
            </a:extLst>
          </p:cNvPr>
          <p:cNvSpPr/>
          <p:nvPr/>
        </p:nvSpPr>
        <p:spPr>
          <a:xfrm>
            <a:off x="8001000" y="5842000"/>
            <a:ext cx="3149600" cy="304800"/>
          </a:xfrm>
          <a:prstGeom prst="roundRect">
            <a:avLst/>
          </a:prstGeom>
          <a:noFill/>
          <a:ln w="1524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FACC15"/>
                </a:solidFill>
                <a:latin typeface="Calibri" panose="020F0502020204030204" pitchFamily="34" charset="0"/>
              </a:rPr>
              <a:t>ALERTS FOR THINGS WE DON'T OWN</a:t>
            </a:r>
          </a:p>
        </p:txBody>
      </p:sp>
      <p:pic>
        <p:nvPicPr>
          <p:cNvPr id="13" name="SponsorBar" descr="CAS 2026 sponsors and #CloudAISummit2026">
            <a:extLst>
              <a:ext uri="{FF2B5EF4-FFF2-40B4-BE49-F238E27FC236}">
                <a16:creationId xmlns:a16="http://schemas.microsoft.com/office/drawing/2014/main" id="{7378F761-D2AB-CD93-2348-8F533C6161B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5256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415D68-0FCE-148E-5CE3-5A2C87850DDC}"/>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691720C-A101-B182-4F07-9C87CD0B3962}"/>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3EE814-83E3-2B79-9A9B-A0F6E865550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I asked the team to consider</a:t>
            </a:r>
          </a:p>
        </p:txBody>
      </p:sp>
      <p:sp>
        <p:nvSpPr>
          <p:cNvPr id="5" name="Rectangle 4">
            <a:extLst>
              <a:ext uri="{FF2B5EF4-FFF2-40B4-BE49-F238E27FC236}">
                <a16:creationId xmlns:a16="http://schemas.microsoft.com/office/drawing/2014/main" id="{A8457724-9CF9-04F6-0A4D-C303C9D7F26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50A4C4C-A535-2B51-89F2-BC7A377AE468}"/>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The proposal was a monitoring tool for the on-premises labs. I asked for observability across all of them.</a:t>
            </a:r>
          </a:p>
        </p:txBody>
      </p:sp>
      <p:sp>
        <p:nvSpPr>
          <p:cNvPr id="7" name="Rectangle: Rounded Corners 6">
            <a:extLst>
              <a:ext uri="{FF2B5EF4-FFF2-40B4-BE49-F238E27FC236}">
                <a16:creationId xmlns:a16="http://schemas.microsoft.com/office/drawing/2014/main" id="{8032B94C-812B-2942-226E-605B2D32C22F}"/>
              </a:ext>
            </a:extLst>
          </p:cNvPr>
          <p:cNvSpPr/>
          <p:nvPr/>
        </p:nvSpPr>
        <p:spPr>
          <a:xfrm>
            <a:off x="609600" y="1625600"/>
            <a:ext cx="5080000" cy="2159000"/>
          </a:xfrm>
          <a:prstGeom prst="roundRect">
            <a:avLst>
              <a:gd name="adj" fmla="val 8235"/>
            </a:avLst>
          </a:prstGeom>
          <a:noFill/>
          <a:ln w="1905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7E0840E-9019-1A24-B46C-2CD1F8A6B9E3}"/>
              </a:ext>
            </a:extLst>
          </p:cNvPr>
          <p:cNvSpPr txBox="1"/>
          <p:nvPr/>
        </p:nvSpPr>
        <p:spPr>
          <a:xfrm>
            <a:off x="787400" y="1701800"/>
            <a:ext cx="4724400" cy="261610"/>
          </a:xfrm>
          <a:prstGeom prst="rect">
            <a:avLst/>
          </a:prstGeom>
          <a:noFill/>
        </p:spPr>
        <p:txBody>
          <a:bodyPr vert="horz" wrap="square" lIns="25400" rIns="25400" rtlCol="0">
            <a:spAutoFit/>
          </a:bodyPr>
          <a:lstStyle/>
          <a:p>
            <a:r>
              <a:rPr lang="en-US" sz="1100" b="1">
                <a:solidFill>
                  <a:srgbClr val="FACC15"/>
                </a:solidFill>
                <a:latin typeface="Calibri" panose="020F0502020204030204" pitchFamily="34" charset="0"/>
              </a:rPr>
              <a:t>THE PROPOSAL · a monitoring tool for our labs</a:t>
            </a:r>
          </a:p>
        </p:txBody>
      </p:sp>
      <p:sp>
        <p:nvSpPr>
          <p:cNvPr id="9" name="Rectangle: Rounded Corners 8">
            <a:extLst>
              <a:ext uri="{FF2B5EF4-FFF2-40B4-BE49-F238E27FC236}">
                <a16:creationId xmlns:a16="http://schemas.microsoft.com/office/drawing/2014/main" id="{72687AB1-516A-9542-4680-53F9F613A006}"/>
              </a:ext>
            </a:extLst>
          </p:cNvPr>
          <p:cNvSpPr/>
          <p:nvPr/>
        </p:nvSpPr>
        <p:spPr>
          <a:xfrm>
            <a:off x="1016000" y="2082800"/>
            <a:ext cx="4267200" cy="635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F1F5FB"/>
                </a:solidFill>
                <a:latin typeface="Calibri" panose="020F0502020204030204" pitchFamily="34" charset="0"/>
              </a:rPr>
              <a:t>"Is the server up?"</a:t>
            </a:r>
          </a:p>
        </p:txBody>
      </p:sp>
      <p:sp>
        <p:nvSpPr>
          <p:cNvPr id="10" name="TextBox 9">
            <a:extLst>
              <a:ext uri="{FF2B5EF4-FFF2-40B4-BE49-F238E27FC236}">
                <a16:creationId xmlns:a16="http://schemas.microsoft.com/office/drawing/2014/main" id="{BFB1E37B-480F-8690-3364-F3715AD27C0B}"/>
              </a:ext>
            </a:extLst>
          </p:cNvPr>
          <p:cNvSpPr txBox="1"/>
          <p:nvPr/>
        </p:nvSpPr>
        <p:spPr>
          <a:xfrm>
            <a:off x="1016000" y="2895600"/>
            <a:ext cx="4267200" cy="477054"/>
          </a:xfrm>
          <a:prstGeom prst="rect">
            <a:avLst/>
          </a:prstGeom>
          <a:noFill/>
        </p:spPr>
        <p:txBody>
          <a:bodyPr vert="horz" wrap="square" lIns="25400" rIns="25400" rtlCol="0">
            <a:spAutoFit/>
          </a:bodyPr>
          <a:lstStyle/>
          <a:p>
            <a:r>
              <a:rPr lang="en-US" sz="1250" b="1">
                <a:solidFill>
                  <a:srgbClr val="FACC15"/>
                </a:solidFill>
                <a:latin typeface="Calibri" panose="020F0502020204030204" pitchFamily="34" charset="0"/>
              </a:rPr>
              <a:t>our on-premises labs · two datacenters · another source of alerts</a:t>
            </a:r>
          </a:p>
        </p:txBody>
      </p:sp>
      <p:cxnSp>
        <p:nvCxnSpPr>
          <p:cNvPr id="11" name="Straight Arrow Connector 10">
            <a:extLst>
              <a:ext uri="{FF2B5EF4-FFF2-40B4-BE49-F238E27FC236}">
                <a16:creationId xmlns:a16="http://schemas.microsoft.com/office/drawing/2014/main" id="{17EA46ED-335C-708D-9CF7-A42C20E1D4E3}"/>
              </a:ext>
            </a:extLst>
          </p:cNvPr>
          <p:cNvCxnSpPr/>
          <p:nvPr/>
        </p:nvCxnSpPr>
        <p:spPr>
          <a:xfrm>
            <a:off x="5689600" y="2705100"/>
            <a:ext cx="812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C5AAD03-EBEB-8A0B-A199-86E094112FC9}"/>
              </a:ext>
            </a:extLst>
          </p:cNvPr>
          <p:cNvSpPr txBox="1"/>
          <p:nvPr/>
        </p:nvSpPr>
        <p:spPr>
          <a:xfrm>
            <a:off x="5080000" y="3810000"/>
            <a:ext cx="2032000" cy="261610"/>
          </a:xfrm>
          <a:prstGeom prst="rect">
            <a:avLst/>
          </a:prstGeom>
          <a:noFill/>
        </p:spPr>
        <p:txBody>
          <a:bodyPr vert="horz" wrap="square" lIns="25400" rIns="25400" rtlCol="0">
            <a:spAutoFit/>
          </a:bodyPr>
          <a:lstStyle/>
          <a:p>
            <a:pPr algn="ctr"/>
            <a:r>
              <a:rPr lang="en-US" sz="1100" b="1">
                <a:solidFill>
                  <a:srgbClr val="7DD3FC"/>
                </a:solidFill>
                <a:latin typeface="Calibri" panose="020F0502020204030204" pitchFamily="34" charset="0"/>
              </a:rPr>
              <a:t>same data, bigger question</a:t>
            </a:r>
          </a:p>
        </p:txBody>
      </p:sp>
      <p:sp>
        <p:nvSpPr>
          <p:cNvPr id="13" name="Rectangle: Rounded Corners 12">
            <a:extLst>
              <a:ext uri="{FF2B5EF4-FFF2-40B4-BE49-F238E27FC236}">
                <a16:creationId xmlns:a16="http://schemas.microsoft.com/office/drawing/2014/main" id="{DF1E0C9A-AEAD-AE00-9CE0-872EFA00DC17}"/>
              </a:ext>
            </a:extLst>
          </p:cNvPr>
          <p:cNvSpPr/>
          <p:nvPr/>
        </p:nvSpPr>
        <p:spPr>
          <a:xfrm>
            <a:off x="6502400" y="1625600"/>
            <a:ext cx="5080000" cy="2159000"/>
          </a:xfrm>
          <a:prstGeom prst="roundRect">
            <a:avLst>
              <a:gd name="adj" fmla="val 8235"/>
            </a:avLst>
          </a:prstGeom>
          <a:noFill/>
          <a:ln w="19050" cap="flat" cmpd="sng" algn="ctr">
            <a:solidFill>
              <a:srgbClr val="7DD3F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CB2E3C1-D28A-24F4-914D-43AFCFF1CFE9}"/>
              </a:ext>
            </a:extLst>
          </p:cNvPr>
          <p:cNvSpPr txBox="1"/>
          <p:nvPr/>
        </p:nvSpPr>
        <p:spPr>
          <a:xfrm>
            <a:off x="6680200" y="1701800"/>
            <a:ext cx="47244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OBSERVABILITY · what I asked the team to consider</a:t>
            </a:r>
          </a:p>
        </p:txBody>
      </p:sp>
      <p:sp>
        <p:nvSpPr>
          <p:cNvPr id="15" name="Rectangle: Rounded Corners 14">
            <a:extLst>
              <a:ext uri="{FF2B5EF4-FFF2-40B4-BE49-F238E27FC236}">
                <a16:creationId xmlns:a16="http://schemas.microsoft.com/office/drawing/2014/main" id="{E44E9651-7819-305C-56BD-17BA9BF30547}"/>
              </a:ext>
            </a:extLst>
          </p:cNvPr>
          <p:cNvSpPr/>
          <p:nvPr/>
        </p:nvSpPr>
        <p:spPr>
          <a:xfrm>
            <a:off x="6908800" y="1981200"/>
            <a:ext cx="4267200" cy="812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"Can the people using our labs do their work right now, and if not, why not?"</a:t>
            </a:r>
          </a:p>
        </p:txBody>
      </p:sp>
      <p:sp>
        <p:nvSpPr>
          <p:cNvPr id="16" name="TextBox 15">
            <a:extLst>
              <a:ext uri="{FF2B5EF4-FFF2-40B4-BE49-F238E27FC236}">
                <a16:creationId xmlns:a16="http://schemas.microsoft.com/office/drawing/2014/main" id="{76A17A95-369B-1967-F743-01E22811C14C}"/>
              </a:ext>
            </a:extLst>
          </p:cNvPr>
          <p:cNvSpPr txBox="1"/>
          <p:nvPr/>
        </p:nvSpPr>
        <p:spPr>
          <a:xfrm>
            <a:off x="6908800" y="2895600"/>
            <a:ext cx="4267200" cy="461665"/>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every lab, wherever it runs (on-premises, Azure, AWS) · one single pane of glass · impact, owner, recovery</a:t>
            </a:r>
          </a:p>
        </p:txBody>
      </p:sp>
      <p:sp>
        <p:nvSpPr>
          <p:cNvPr id="17" name="Rectangle: Rounded Corners 16">
            <a:extLst>
              <a:ext uri="{FF2B5EF4-FFF2-40B4-BE49-F238E27FC236}">
                <a16:creationId xmlns:a16="http://schemas.microsoft.com/office/drawing/2014/main" id="{AFA45BF1-6699-4C62-DD33-36DB335C2AA5}"/>
              </a:ext>
            </a:extLst>
          </p:cNvPr>
          <p:cNvSpPr/>
          <p:nvPr/>
        </p:nvSpPr>
        <p:spPr>
          <a:xfrm>
            <a:off x="609600" y="4089400"/>
            <a:ext cx="10972800" cy="6858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Observability is understanding the health, dependencies and impact of a whole service from its evidence, then using that to investigate, act and prove recovery.</a:t>
            </a:r>
          </a:p>
        </p:txBody>
      </p:sp>
      <p:sp>
        <p:nvSpPr>
          <p:cNvPr id="18" name="TextBox 17">
            <a:extLst>
              <a:ext uri="{FF2B5EF4-FFF2-40B4-BE49-F238E27FC236}">
                <a16:creationId xmlns:a16="http://schemas.microsoft.com/office/drawing/2014/main" id="{5E18739B-2A65-E7F4-B09A-6C0E7B808BD0}"/>
              </a:ext>
            </a:extLst>
          </p:cNvPr>
          <p:cNvSpPr txBox="1"/>
          <p:nvPr/>
        </p:nvSpPr>
        <p:spPr>
          <a:xfrm>
            <a:off x="609600" y="4978400"/>
            <a:ext cx="10972800" cy="292388"/>
          </a:xfrm>
          <a:prstGeom prst="rect">
            <a:avLst/>
          </a:prstGeom>
          <a:noFill/>
        </p:spPr>
        <p:txBody>
          <a:bodyPr vert="horz" wrap="square" lIns="25400" rIns="25400" rtlCol="0">
            <a:spAutoFit/>
          </a:bodyPr>
          <a:lstStyle/>
          <a:p>
            <a:r>
              <a:rPr lang="en-US" sz="1300">
                <a:solidFill>
                  <a:srgbClr val="B8C6DE"/>
                </a:solidFill>
                <a:latin typeface="Calibri" panose="020F0502020204030204" pitchFamily="34" charset="0"/>
              </a:rPr>
              <a:t>Flexera 2026 State of the Cloud: 73% of organizations run hybrid, 88% use more than one cloud. "The whole service" almost always means more than one place.</a:t>
            </a:r>
          </a:p>
        </p:txBody>
      </p:sp>
      <p:sp>
        <p:nvSpPr>
          <p:cNvPr id="19" name="Rectangle 18">
            <a:extLst>
              <a:ext uri="{FF2B5EF4-FFF2-40B4-BE49-F238E27FC236}">
                <a16:creationId xmlns:a16="http://schemas.microsoft.com/office/drawing/2014/main" id="{61CD25F1-5417-218C-7C39-8A30C629FEB7}"/>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10A3F95-931E-A323-C15B-2D27FE8500A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Monitoring tells you a server is up. Observability tells you whether the customer was served, wherever the service runs.</a:t>
            </a:r>
          </a:p>
        </p:txBody>
      </p:sp>
      <p:pic>
        <p:nvPicPr>
          <p:cNvPr id="22" name="SponsorBar" descr="CAS 2026 sponsors and #CloudAISummit2026">
            <a:extLst>
              <a:ext uri="{FF2B5EF4-FFF2-40B4-BE49-F238E27FC236}">
                <a16:creationId xmlns:a16="http://schemas.microsoft.com/office/drawing/2014/main" id="{8F2A61B8-DEFB-95FC-473B-DE2EE369E26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7873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3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3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3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p:bldP spid="15" grpId="0" animBg="1"/>
      <p:bldP spid="16" grpId="0"/>
      <p:bldP spid="17"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DE905E-5429-B4D5-19F6-3C09665441EC}"/>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D16E1DD-0DB5-AE3E-9096-AB0D8C0D9759}"/>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23511A9-193A-2769-08F1-BDA727396BF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Monitoring vs. observability</a:t>
            </a:r>
          </a:p>
        </p:txBody>
      </p:sp>
      <p:sp>
        <p:nvSpPr>
          <p:cNvPr id="5" name="Rectangle 4">
            <a:extLst>
              <a:ext uri="{FF2B5EF4-FFF2-40B4-BE49-F238E27FC236}">
                <a16:creationId xmlns:a16="http://schemas.microsoft.com/office/drawing/2014/main" id="{0937930E-6530-DCF3-4574-A54FC47243E7}"/>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600E3FC-183F-64FA-7FEA-CAB121732161}"/>
              </a:ext>
            </a:extLst>
          </p:cNvPr>
          <p:cNvSpPr/>
          <p:nvPr/>
        </p:nvSpPr>
        <p:spPr>
          <a:xfrm>
            <a:off x="736600" y="1676400"/>
            <a:ext cx="3048000" cy="304800"/>
          </a:xfrm>
          <a:prstGeom prst="roundRect">
            <a:avLst/>
          </a:prstGeom>
          <a:noFill/>
          <a:ln w="1524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FACC15"/>
                </a:solidFill>
                <a:latin typeface="Calibri" panose="020F0502020204030204" pitchFamily="34" charset="0"/>
              </a:rPr>
              <a:t>THE WORKING DEFINITION</a:t>
            </a:r>
          </a:p>
        </p:txBody>
      </p:sp>
      <p:sp>
        <p:nvSpPr>
          <p:cNvPr id="7" name="Rectangle: Rounded Corners 6">
            <a:extLst>
              <a:ext uri="{FF2B5EF4-FFF2-40B4-BE49-F238E27FC236}">
                <a16:creationId xmlns:a16="http://schemas.microsoft.com/office/drawing/2014/main" id="{7258AA26-6A43-9731-DBEB-124579F3C818}"/>
              </a:ext>
            </a:extLst>
          </p:cNvPr>
          <p:cNvSpPr/>
          <p:nvPr/>
        </p:nvSpPr>
        <p:spPr>
          <a:xfrm>
            <a:off x="736600" y="2082800"/>
            <a:ext cx="10718800" cy="10668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Observability is the ability to understand the health, behavior, dependencies and impact of a complete service from its outputs, then use that understanding to investigate, make an accountable decision and verify recovery.</a:t>
            </a:r>
          </a:p>
        </p:txBody>
      </p:sp>
      <p:sp>
        <p:nvSpPr>
          <p:cNvPr id="8" name="Rectangle: Rounded Corners 7">
            <a:extLst>
              <a:ext uri="{FF2B5EF4-FFF2-40B4-BE49-F238E27FC236}">
                <a16:creationId xmlns:a16="http://schemas.microsoft.com/office/drawing/2014/main" id="{B157EDC5-7911-219C-FDE9-B302DED81060}"/>
              </a:ext>
            </a:extLst>
          </p:cNvPr>
          <p:cNvSpPr/>
          <p:nvPr/>
        </p:nvSpPr>
        <p:spPr>
          <a:xfrm>
            <a:off x="939800" y="3505200"/>
            <a:ext cx="2286000" cy="304800"/>
          </a:xfrm>
          <a:prstGeom prst="roundRect">
            <a:avLst/>
          </a:prstGeom>
          <a:noFill/>
          <a:ln w="15240" cap="flat" cmpd="sng" algn="ctr">
            <a:solidFill>
              <a:srgbClr val="A5B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A5BEFF"/>
                </a:solidFill>
                <a:latin typeface="Calibri" panose="020F0502020204030204" pitchFamily="34" charset="0"/>
              </a:rPr>
              <a:t>MONITORING</a:t>
            </a:r>
          </a:p>
        </p:txBody>
      </p:sp>
      <p:sp>
        <p:nvSpPr>
          <p:cNvPr id="9" name="Rectangle: Rounded Corners 8">
            <a:extLst>
              <a:ext uri="{FF2B5EF4-FFF2-40B4-BE49-F238E27FC236}">
                <a16:creationId xmlns:a16="http://schemas.microsoft.com/office/drawing/2014/main" id="{B2633F72-A7C8-A27B-1A2A-B88B52388BE8}"/>
              </a:ext>
            </a:extLst>
          </p:cNvPr>
          <p:cNvSpPr/>
          <p:nvPr/>
        </p:nvSpPr>
        <p:spPr>
          <a:xfrm>
            <a:off x="6858000" y="3505200"/>
            <a:ext cx="2667000" cy="304800"/>
          </a:xfrm>
          <a:prstGeom prst="roundRect">
            <a:avLst/>
          </a:prstGeom>
          <a:noFill/>
          <a:ln w="15240" cap="flat" cmpd="sng" algn="ctr">
            <a:solidFill>
              <a:srgbClr val="7DD3F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7DD3FC"/>
                </a:solidFill>
                <a:latin typeface="Calibri" panose="020F0502020204030204" pitchFamily="34" charset="0"/>
              </a:rPr>
              <a:t>OBSERVABILITY</a:t>
            </a:r>
          </a:p>
        </p:txBody>
      </p:sp>
      <p:sp>
        <p:nvSpPr>
          <p:cNvPr id="10" name="Rectangle: Rounded Corners 9">
            <a:extLst>
              <a:ext uri="{FF2B5EF4-FFF2-40B4-BE49-F238E27FC236}">
                <a16:creationId xmlns:a16="http://schemas.microsoft.com/office/drawing/2014/main" id="{4713294B-689F-1456-91EF-832E44875EDD}"/>
              </a:ext>
            </a:extLst>
          </p:cNvPr>
          <p:cNvSpPr/>
          <p:nvPr/>
        </p:nvSpPr>
        <p:spPr>
          <a:xfrm>
            <a:off x="736600" y="3987800"/>
            <a:ext cx="4191000" cy="1651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COLLECT + PRESENT
metrics · logs · events · requests
views · thresholds · alerts</a:t>
            </a:r>
          </a:p>
        </p:txBody>
      </p:sp>
      <p:sp>
        <p:nvSpPr>
          <p:cNvPr id="11" name="Rectangle: Rounded Corners 10">
            <a:extLst>
              <a:ext uri="{FF2B5EF4-FFF2-40B4-BE49-F238E27FC236}">
                <a16:creationId xmlns:a16="http://schemas.microsoft.com/office/drawing/2014/main" id="{F311C3D0-30E3-3EEB-BC39-7BEFDB5B247A}"/>
              </a:ext>
            </a:extLst>
          </p:cNvPr>
          <p:cNvSpPr/>
          <p:nvPr/>
        </p:nvSpPr>
        <p:spPr>
          <a:xfrm>
            <a:off x="6413500" y="3987800"/>
            <a:ext cx="5080000" cy="16510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EXPLAIN + OPERATE
service boundary · dependencies · impact
owner · bounded action · verified recovery</a:t>
            </a:r>
          </a:p>
        </p:txBody>
      </p:sp>
      <p:cxnSp>
        <p:nvCxnSpPr>
          <p:cNvPr id="12" name="Straight Arrow Connector 11">
            <a:extLst>
              <a:ext uri="{FF2B5EF4-FFF2-40B4-BE49-F238E27FC236}">
                <a16:creationId xmlns:a16="http://schemas.microsoft.com/office/drawing/2014/main" id="{E47AE0D5-44B2-0B39-3E1A-4F98A6656C3E}"/>
              </a:ext>
            </a:extLst>
          </p:cNvPr>
          <p:cNvCxnSpPr/>
          <p:nvPr/>
        </p:nvCxnSpPr>
        <p:spPr>
          <a:xfrm>
            <a:off x="4927600" y="4813300"/>
            <a:ext cx="14859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EA9DDB7-A6C7-D9F0-CF66-300A1EBC74E5}"/>
              </a:ext>
            </a:extLst>
          </p:cNvPr>
          <p:cNvSpPr txBox="1"/>
          <p:nvPr/>
        </p:nvSpPr>
        <p:spPr>
          <a:xfrm>
            <a:off x="4794250" y="4381500"/>
            <a:ext cx="1752600" cy="261610"/>
          </a:xfrm>
          <a:prstGeom prst="rect">
            <a:avLst/>
          </a:prstGeom>
          <a:noFill/>
        </p:spPr>
        <p:txBody>
          <a:bodyPr vert="horz" wrap="square" lIns="25400" rIns="25400" rtlCol="0">
            <a:spAutoFit/>
          </a:bodyPr>
          <a:lstStyle/>
          <a:p>
            <a:pPr algn="ctr"/>
            <a:r>
              <a:rPr lang="en-US" sz="1100" b="1">
                <a:solidFill>
                  <a:srgbClr val="7DD3FC"/>
                </a:solidFill>
                <a:latin typeface="Calibri" panose="020F0502020204030204" pitchFamily="34" charset="0"/>
              </a:rPr>
              <a:t>becomes, with context</a:t>
            </a:r>
          </a:p>
        </p:txBody>
      </p:sp>
      <p:sp>
        <p:nvSpPr>
          <p:cNvPr id="14" name="TextBox 13">
            <a:extLst>
              <a:ext uri="{FF2B5EF4-FFF2-40B4-BE49-F238E27FC236}">
                <a16:creationId xmlns:a16="http://schemas.microsoft.com/office/drawing/2014/main" id="{74D756F5-E8C8-9C1E-6C27-A31ED656EF96}"/>
              </a:ext>
            </a:extLst>
          </p:cNvPr>
          <p:cNvSpPr txBox="1"/>
          <p:nvPr/>
        </p:nvSpPr>
        <p:spPr>
          <a:xfrm>
            <a:off x="736600" y="5715000"/>
            <a:ext cx="10718800" cy="269304"/>
          </a:xfrm>
          <a:prstGeom prst="rect">
            <a:avLst/>
          </a:prstGeom>
          <a:noFill/>
        </p:spPr>
        <p:txBody>
          <a:bodyPr vert="horz" wrap="square" lIns="25400" rIns="25400" rtlCol="0">
            <a:spAutoFit/>
          </a:bodyPr>
          <a:lstStyle/>
          <a:p>
            <a:r>
              <a:rPr lang="en-US" sz="1150" b="1">
                <a:solidFill>
                  <a:srgbClr val="7DD3FC"/>
                </a:solidFill>
                <a:latin typeface="Calibri" panose="020F0502020204030204" pitchFamily="34" charset="0"/>
              </a:rPr>
              <a:t>Where each is built: boundary + dependencies → section 1 · evidence → 2 · impact → 3 · explanation → 4 · owner, action, recovery → 5 · kept true → 6</a:t>
            </a:r>
          </a:p>
        </p:txBody>
      </p:sp>
      <p:sp>
        <p:nvSpPr>
          <p:cNvPr id="15" name="Rectangle 14">
            <a:extLst>
              <a:ext uri="{FF2B5EF4-FFF2-40B4-BE49-F238E27FC236}">
                <a16:creationId xmlns:a16="http://schemas.microsoft.com/office/drawing/2014/main" id="{A31BA474-9C48-B6D6-A642-835027E3E792}"/>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ED7560F-91AE-9B9E-0F33-14F2D26E366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The rest of the session builds each of these on one example service.</a:t>
            </a:r>
          </a:p>
        </p:txBody>
      </p:sp>
      <p:pic>
        <p:nvPicPr>
          <p:cNvPr id="18" name="SponsorBar" descr="CAS 2026 sponsors and #CloudAISummit2026">
            <a:extLst>
              <a:ext uri="{FF2B5EF4-FFF2-40B4-BE49-F238E27FC236}">
                <a16:creationId xmlns:a16="http://schemas.microsoft.com/office/drawing/2014/main" id="{AC6E483A-D5F5-CBD4-C9E5-2498C6D8F6E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687554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441B4B-A77F-8179-F5CB-CFC054E42D29}"/>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83E496F-60AA-CFEE-DFFC-B3661F2090BF}"/>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B371A81-4F3D-BBA8-1E5F-CEB01E9A321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Everything observability can be</a:t>
            </a:r>
          </a:p>
        </p:txBody>
      </p:sp>
      <p:sp>
        <p:nvSpPr>
          <p:cNvPr id="5" name="Rectangle 4">
            <a:extLst>
              <a:ext uri="{FF2B5EF4-FFF2-40B4-BE49-F238E27FC236}">
                <a16:creationId xmlns:a16="http://schemas.microsoft.com/office/drawing/2014/main" id="{B336A2EA-D788-1E54-1F08-EE63EDCDDAD3}"/>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E4A2AE-AE71-5C1B-DCCF-FBE28BD77961}"/>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The whole map, and the slice this session walks on one real-shaped service.</a:t>
            </a:r>
          </a:p>
        </p:txBody>
      </p:sp>
      <p:sp>
        <p:nvSpPr>
          <p:cNvPr id="7" name="Rectangle: Rounded Corners 6">
            <a:extLst>
              <a:ext uri="{FF2B5EF4-FFF2-40B4-BE49-F238E27FC236}">
                <a16:creationId xmlns:a16="http://schemas.microsoft.com/office/drawing/2014/main" id="{EA321658-851F-614B-707F-22DD08155EED}"/>
              </a:ext>
            </a:extLst>
          </p:cNvPr>
          <p:cNvSpPr/>
          <p:nvPr/>
        </p:nvSpPr>
        <p:spPr>
          <a:xfrm>
            <a:off x="6096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Infrastructure
servers · VMs · hypervisors · storage · network gear</a:t>
            </a:r>
          </a:p>
        </p:txBody>
      </p:sp>
      <p:sp>
        <p:nvSpPr>
          <p:cNvPr id="8" name="Rectangle: Rounded Corners 7">
            <a:extLst>
              <a:ext uri="{FF2B5EF4-FFF2-40B4-BE49-F238E27FC236}">
                <a16:creationId xmlns:a16="http://schemas.microsoft.com/office/drawing/2014/main" id="{958B4C9F-8CCC-EB9F-BE3E-F59FC1E538BC}"/>
              </a:ext>
            </a:extLst>
          </p:cNvPr>
          <p:cNvSpPr/>
          <p:nvPr/>
        </p:nvSpPr>
        <p:spPr>
          <a:xfrm>
            <a:off x="28194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Cloud platforms
Azure · AWS · GCP · managed services · cost</a:t>
            </a:r>
          </a:p>
        </p:txBody>
      </p:sp>
      <p:sp>
        <p:nvSpPr>
          <p:cNvPr id="9" name="Rectangle: Rounded Corners 8">
            <a:extLst>
              <a:ext uri="{FF2B5EF4-FFF2-40B4-BE49-F238E27FC236}">
                <a16:creationId xmlns:a16="http://schemas.microsoft.com/office/drawing/2014/main" id="{71F2A8AE-93A9-10CE-4293-EE088FA20DD1}"/>
              </a:ext>
            </a:extLst>
          </p:cNvPr>
          <p:cNvSpPr/>
          <p:nvPr/>
        </p:nvSpPr>
        <p:spPr>
          <a:xfrm>
            <a:off x="50292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Application performance
availability · latency · errors · dependencies</a:t>
            </a:r>
          </a:p>
        </p:txBody>
      </p:sp>
      <p:sp>
        <p:nvSpPr>
          <p:cNvPr id="10" name="Rectangle: Rounded Corners 9">
            <a:extLst>
              <a:ext uri="{FF2B5EF4-FFF2-40B4-BE49-F238E27FC236}">
                <a16:creationId xmlns:a16="http://schemas.microsoft.com/office/drawing/2014/main" id="{6D5CDC22-0C86-4E3D-928F-C65D9829C912}"/>
              </a:ext>
            </a:extLst>
          </p:cNvPr>
          <p:cNvSpPr/>
          <p:nvPr/>
        </p:nvSpPr>
        <p:spPr>
          <a:xfrm>
            <a:off x="72390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Distributed tracing
end-to-end requests · spans · root cause</a:t>
            </a:r>
          </a:p>
        </p:txBody>
      </p:sp>
      <p:sp>
        <p:nvSpPr>
          <p:cNvPr id="11" name="Rectangle: Rounded Corners 10">
            <a:extLst>
              <a:ext uri="{FF2B5EF4-FFF2-40B4-BE49-F238E27FC236}">
                <a16:creationId xmlns:a16="http://schemas.microsoft.com/office/drawing/2014/main" id="{8237E312-D9D4-4FF9-C763-6ECC5F82A733}"/>
              </a:ext>
            </a:extLst>
          </p:cNvPr>
          <p:cNvSpPr/>
          <p:nvPr/>
        </p:nvSpPr>
        <p:spPr>
          <a:xfrm>
            <a:off x="94488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Logs
app · system · audit · cloud · retention · cost</a:t>
            </a:r>
          </a:p>
        </p:txBody>
      </p:sp>
      <p:sp>
        <p:nvSpPr>
          <p:cNvPr id="12" name="Rectangle: Rounded Corners 11">
            <a:extLst>
              <a:ext uri="{FF2B5EF4-FFF2-40B4-BE49-F238E27FC236}">
                <a16:creationId xmlns:a16="http://schemas.microsoft.com/office/drawing/2014/main" id="{1E2C6286-3E51-F14B-14BB-199A0B455D93}"/>
              </a:ext>
            </a:extLst>
          </p:cNvPr>
          <p:cNvSpPr/>
          <p:nvPr/>
        </p:nvSpPr>
        <p:spPr>
          <a:xfrm>
            <a:off x="6096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Metrics + telemetry
infra · app · business · SLIs · custom</a:t>
            </a:r>
          </a:p>
        </p:txBody>
      </p:sp>
      <p:sp>
        <p:nvSpPr>
          <p:cNvPr id="13" name="Rectangle: Rounded Corners 12">
            <a:extLst>
              <a:ext uri="{FF2B5EF4-FFF2-40B4-BE49-F238E27FC236}">
                <a16:creationId xmlns:a16="http://schemas.microsoft.com/office/drawing/2014/main" id="{A8B4670A-2E02-BA9C-319E-7BE44890505D}"/>
              </a:ext>
            </a:extLst>
          </p:cNvPr>
          <p:cNvSpPr/>
          <p:nvPr/>
        </p:nvSpPr>
        <p:spPr>
          <a:xfrm>
            <a:off x="28194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Network
latency · loss · flows · DNS · TLS · site links</a:t>
            </a:r>
          </a:p>
        </p:txBody>
      </p:sp>
      <p:sp>
        <p:nvSpPr>
          <p:cNvPr id="14" name="Rectangle: Rounded Corners 13">
            <a:extLst>
              <a:ext uri="{FF2B5EF4-FFF2-40B4-BE49-F238E27FC236}">
                <a16:creationId xmlns:a16="http://schemas.microsoft.com/office/drawing/2014/main" id="{B4FD8524-3AE5-BC1E-DC03-783E5B7CC488}"/>
              </a:ext>
            </a:extLst>
          </p:cNvPr>
          <p:cNvSpPr/>
          <p:nvPr/>
        </p:nvSpPr>
        <p:spPr>
          <a:xfrm>
            <a:off x="50292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Digital experience
real users · synthetics · journeys · impact</a:t>
            </a:r>
          </a:p>
        </p:txBody>
      </p:sp>
      <p:sp>
        <p:nvSpPr>
          <p:cNvPr id="15" name="Rectangle: Rounded Corners 14">
            <a:extLst>
              <a:ext uri="{FF2B5EF4-FFF2-40B4-BE49-F238E27FC236}">
                <a16:creationId xmlns:a16="http://schemas.microsoft.com/office/drawing/2014/main" id="{4D7DB3A5-A928-0CEF-D614-43BF2888BA9A}"/>
              </a:ext>
            </a:extLst>
          </p:cNvPr>
          <p:cNvSpPr/>
          <p:nvPr/>
        </p:nvSpPr>
        <p:spPr>
          <a:xfrm>
            <a:off x="72390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Databases + data
queries · replication · backups · pipelines</a:t>
            </a:r>
          </a:p>
        </p:txBody>
      </p:sp>
      <p:sp>
        <p:nvSpPr>
          <p:cNvPr id="16" name="Rectangle: Rounded Corners 15">
            <a:extLst>
              <a:ext uri="{FF2B5EF4-FFF2-40B4-BE49-F238E27FC236}">
                <a16:creationId xmlns:a16="http://schemas.microsoft.com/office/drawing/2014/main" id="{DBF660A5-548F-391B-6EB0-283B4E7850F7}"/>
              </a:ext>
            </a:extLst>
          </p:cNvPr>
          <p:cNvSpPr/>
          <p:nvPr/>
        </p:nvSpPr>
        <p:spPr>
          <a:xfrm>
            <a:off x="94488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Kubernetes + containers
clusters · nodes · pods · rollouts · mesh</a:t>
            </a:r>
          </a:p>
        </p:txBody>
      </p:sp>
      <p:sp>
        <p:nvSpPr>
          <p:cNvPr id="17" name="Rectangle: Rounded Corners 16">
            <a:extLst>
              <a:ext uri="{FF2B5EF4-FFF2-40B4-BE49-F238E27FC236}">
                <a16:creationId xmlns:a16="http://schemas.microsoft.com/office/drawing/2014/main" id="{258BDD66-A62E-4B4D-5A7B-14B8CBD01188}"/>
              </a:ext>
            </a:extLst>
          </p:cNvPr>
          <p:cNvSpPr/>
          <p:nvPr/>
        </p:nvSpPr>
        <p:spPr>
          <a:xfrm>
            <a:off x="6096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Security
identity · access · posture · threats · SIEM</a:t>
            </a:r>
          </a:p>
        </p:txBody>
      </p:sp>
      <p:sp>
        <p:nvSpPr>
          <p:cNvPr id="18" name="Rectangle: Rounded Corners 17">
            <a:extLst>
              <a:ext uri="{FF2B5EF4-FFF2-40B4-BE49-F238E27FC236}">
                <a16:creationId xmlns:a16="http://schemas.microsoft.com/office/drawing/2014/main" id="{D349AFA9-087C-D749-0E05-1EE906B99A71}"/>
              </a:ext>
            </a:extLst>
          </p:cNvPr>
          <p:cNvSpPr/>
          <p:nvPr/>
        </p:nvSpPr>
        <p:spPr>
          <a:xfrm>
            <a:off x="28194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Availability + reliability
uptime · failover · DR · SLOs · error budgets</a:t>
            </a:r>
          </a:p>
        </p:txBody>
      </p:sp>
      <p:sp>
        <p:nvSpPr>
          <p:cNvPr id="19" name="Rectangle: Rounded Corners 18">
            <a:extLst>
              <a:ext uri="{FF2B5EF4-FFF2-40B4-BE49-F238E27FC236}">
                <a16:creationId xmlns:a16="http://schemas.microsoft.com/office/drawing/2014/main" id="{D4FA25A1-D317-218E-4ED5-C31B046F3C87}"/>
              </a:ext>
            </a:extLst>
          </p:cNvPr>
          <p:cNvSpPr/>
          <p:nvPr/>
        </p:nvSpPr>
        <p:spPr>
          <a:xfrm>
            <a:off x="50292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Alerting + events
thresholds · anomalies · routing · ownership</a:t>
            </a:r>
          </a:p>
        </p:txBody>
      </p:sp>
      <p:sp>
        <p:nvSpPr>
          <p:cNvPr id="20" name="Rectangle: Rounded Corners 19">
            <a:extLst>
              <a:ext uri="{FF2B5EF4-FFF2-40B4-BE49-F238E27FC236}">
                <a16:creationId xmlns:a16="http://schemas.microsoft.com/office/drawing/2014/main" id="{00287446-3205-1A98-4B2D-8A94B29892C6}"/>
              </a:ext>
            </a:extLst>
          </p:cNvPr>
          <p:cNvSpPr/>
          <p:nvPr/>
        </p:nvSpPr>
        <p:spPr>
          <a:xfrm>
            <a:off x="72390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Incidents + operations
triage · runbooks · change correlation · MTTR</a:t>
            </a:r>
          </a:p>
        </p:txBody>
      </p:sp>
      <p:sp>
        <p:nvSpPr>
          <p:cNvPr id="21" name="Rectangle: Rounded Corners 20">
            <a:extLst>
              <a:ext uri="{FF2B5EF4-FFF2-40B4-BE49-F238E27FC236}">
                <a16:creationId xmlns:a16="http://schemas.microsoft.com/office/drawing/2014/main" id="{F08F5572-4FF5-A0CB-D6A2-700BFD7426F8}"/>
              </a:ext>
            </a:extLst>
          </p:cNvPr>
          <p:cNvSpPr/>
          <p:nvPr/>
        </p:nvSpPr>
        <p:spPr>
          <a:xfrm>
            <a:off x="94488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Dashboards + reporting
service · executive · topology · trends · SLO</a:t>
            </a:r>
          </a:p>
        </p:txBody>
      </p:sp>
      <p:sp>
        <p:nvSpPr>
          <p:cNvPr id="22" name="Rectangle: Rounded Corners 21">
            <a:extLst>
              <a:ext uri="{FF2B5EF4-FFF2-40B4-BE49-F238E27FC236}">
                <a16:creationId xmlns:a16="http://schemas.microsoft.com/office/drawing/2014/main" id="{89D8A0BA-4699-B985-2F22-4EDD33D1A4AF}"/>
              </a:ext>
            </a:extLst>
          </p:cNvPr>
          <p:cNvSpPr/>
          <p:nvPr/>
        </p:nvSpPr>
        <p:spPr>
          <a:xfrm>
            <a:off x="6096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Automation + remediation
restarts · rollback · failover · ChatOps</a:t>
            </a:r>
          </a:p>
        </p:txBody>
      </p:sp>
      <p:sp>
        <p:nvSpPr>
          <p:cNvPr id="23" name="Rectangle: Rounded Corners 22">
            <a:extLst>
              <a:ext uri="{FF2B5EF4-FFF2-40B4-BE49-F238E27FC236}">
                <a16:creationId xmlns:a16="http://schemas.microsoft.com/office/drawing/2014/main" id="{23D6BA96-5D52-BFF4-C235-A5FBB2B065A6}"/>
              </a:ext>
            </a:extLst>
          </p:cNvPr>
          <p:cNvSpPr/>
          <p:nvPr/>
        </p:nvSpPr>
        <p:spPr>
          <a:xfrm>
            <a:off x="28194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Configuration + assets
inventory · CMDB · tagging · drift · change</a:t>
            </a:r>
          </a:p>
        </p:txBody>
      </p:sp>
      <p:sp>
        <p:nvSpPr>
          <p:cNvPr id="24" name="Rectangle: Rounded Corners 23">
            <a:extLst>
              <a:ext uri="{FF2B5EF4-FFF2-40B4-BE49-F238E27FC236}">
                <a16:creationId xmlns:a16="http://schemas.microsoft.com/office/drawing/2014/main" id="{2EF8C533-BC5C-415B-432B-06FBA1C3F35F}"/>
              </a:ext>
            </a:extLst>
          </p:cNvPr>
          <p:cNvSpPr/>
          <p:nvPr/>
        </p:nvSpPr>
        <p:spPr>
          <a:xfrm>
            <a:off x="50292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Integrations
OpenTelemetry · Prometheus · ITSM · SIEM</a:t>
            </a:r>
          </a:p>
        </p:txBody>
      </p:sp>
      <p:sp>
        <p:nvSpPr>
          <p:cNvPr id="25" name="Rectangle: Rounded Corners 24">
            <a:extLst>
              <a:ext uri="{FF2B5EF4-FFF2-40B4-BE49-F238E27FC236}">
                <a16:creationId xmlns:a16="http://schemas.microsoft.com/office/drawing/2014/main" id="{6E9F5234-0CA8-69A4-6498-009F3CA7FFE2}"/>
              </a:ext>
            </a:extLst>
          </p:cNvPr>
          <p:cNvSpPr/>
          <p:nvPr/>
        </p:nvSpPr>
        <p:spPr>
          <a:xfrm>
            <a:off x="72390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Governance
RBAC · SSO · residency · retention · audit</a:t>
            </a:r>
          </a:p>
        </p:txBody>
      </p:sp>
      <p:sp>
        <p:nvSpPr>
          <p:cNvPr id="26" name="Rectangle: Rounded Corners 25">
            <a:extLst>
              <a:ext uri="{FF2B5EF4-FFF2-40B4-BE49-F238E27FC236}">
                <a16:creationId xmlns:a16="http://schemas.microsoft.com/office/drawing/2014/main" id="{85654CA3-C443-ED96-0F43-44E32680B2C9}"/>
              </a:ext>
            </a:extLst>
          </p:cNvPr>
          <p:cNvSpPr/>
          <p:nvPr/>
        </p:nvSpPr>
        <p:spPr>
          <a:xfrm>
            <a:off x="94488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Platform architecture
agents · collectors · stores · HA · edge</a:t>
            </a:r>
          </a:p>
        </p:txBody>
      </p:sp>
      <p:sp>
        <p:nvSpPr>
          <p:cNvPr id="27" name="Rectangle: Rounded Corners 26">
            <a:extLst>
              <a:ext uri="{FF2B5EF4-FFF2-40B4-BE49-F238E27FC236}">
                <a16:creationId xmlns:a16="http://schemas.microsoft.com/office/drawing/2014/main" id="{2C0E5754-DE3E-741D-BD6A-7FF993A8E9D3}"/>
              </a:ext>
            </a:extLst>
          </p:cNvPr>
          <p:cNvSpPr/>
          <p:nvPr/>
        </p:nvSpPr>
        <p:spPr>
          <a:xfrm>
            <a:off x="609600" y="17526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Infrastructure
servers · VMs · hypervisors · storage · network gear</a:t>
            </a:r>
          </a:p>
        </p:txBody>
      </p:sp>
      <p:sp>
        <p:nvSpPr>
          <p:cNvPr id="28" name="Rectangle: Rounded Corners 27">
            <a:extLst>
              <a:ext uri="{FF2B5EF4-FFF2-40B4-BE49-F238E27FC236}">
                <a16:creationId xmlns:a16="http://schemas.microsoft.com/office/drawing/2014/main" id="{4732D4CA-00D0-E45B-F061-42368E8D65ED}"/>
              </a:ext>
            </a:extLst>
          </p:cNvPr>
          <p:cNvSpPr/>
          <p:nvPr/>
        </p:nvSpPr>
        <p:spPr>
          <a:xfrm>
            <a:off x="2819400" y="17526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Cloud platforms
Azure · AWS · GCP · managed services · cost</a:t>
            </a:r>
          </a:p>
        </p:txBody>
      </p:sp>
      <p:sp>
        <p:nvSpPr>
          <p:cNvPr id="29" name="Rectangle: Rounded Corners 28">
            <a:extLst>
              <a:ext uri="{FF2B5EF4-FFF2-40B4-BE49-F238E27FC236}">
                <a16:creationId xmlns:a16="http://schemas.microsoft.com/office/drawing/2014/main" id="{45282941-964A-BB77-FE92-BA2F8151E891}"/>
              </a:ext>
            </a:extLst>
          </p:cNvPr>
          <p:cNvSpPr/>
          <p:nvPr/>
        </p:nvSpPr>
        <p:spPr>
          <a:xfrm>
            <a:off x="5029200" y="17526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Application performance
availability · latency · errors · dependencies</a:t>
            </a:r>
          </a:p>
        </p:txBody>
      </p:sp>
      <p:sp>
        <p:nvSpPr>
          <p:cNvPr id="30" name="Rectangle: Rounded Corners 29">
            <a:extLst>
              <a:ext uri="{FF2B5EF4-FFF2-40B4-BE49-F238E27FC236}">
                <a16:creationId xmlns:a16="http://schemas.microsoft.com/office/drawing/2014/main" id="{A2E3B310-E6C9-9821-910E-0602619CA17D}"/>
              </a:ext>
            </a:extLst>
          </p:cNvPr>
          <p:cNvSpPr/>
          <p:nvPr/>
        </p:nvSpPr>
        <p:spPr>
          <a:xfrm>
            <a:off x="9448800" y="17526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Logs
app · system · audit · cloud · retention · cost</a:t>
            </a:r>
          </a:p>
        </p:txBody>
      </p:sp>
      <p:sp>
        <p:nvSpPr>
          <p:cNvPr id="31" name="Rectangle: Rounded Corners 30">
            <a:extLst>
              <a:ext uri="{FF2B5EF4-FFF2-40B4-BE49-F238E27FC236}">
                <a16:creationId xmlns:a16="http://schemas.microsoft.com/office/drawing/2014/main" id="{3D98E42D-83F8-3032-3DED-996E54B827CB}"/>
              </a:ext>
            </a:extLst>
          </p:cNvPr>
          <p:cNvSpPr/>
          <p:nvPr/>
        </p:nvSpPr>
        <p:spPr>
          <a:xfrm>
            <a:off x="609600" y="25400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Metrics + telemetry
infra · app · business · SLIs · custom</a:t>
            </a:r>
          </a:p>
        </p:txBody>
      </p:sp>
      <p:sp>
        <p:nvSpPr>
          <p:cNvPr id="32" name="Rectangle: Rounded Corners 31">
            <a:extLst>
              <a:ext uri="{FF2B5EF4-FFF2-40B4-BE49-F238E27FC236}">
                <a16:creationId xmlns:a16="http://schemas.microsoft.com/office/drawing/2014/main" id="{6012A866-60AE-5358-25BA-C9C14AF99AED}"/>
              </a:ext>
            </a:extLst>
          </p:cNvPr>
          <p:cNvSpPr/>
          <p:nvPr/>
        </p:nvSpPr>
        <p:spPr>
          <a:xfrm>
            <a:off x="5029200" y="25400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Digital experience
real users · synthetics · journeys · impact</a:t>
            </a:r>
          </a:p>
        </p:txBody>
      </p:sp>
      <p:sp>
        <p:nvSpPr>
          <p:cNvPr id="33" name="Rectangle: Rounded Corners 32">
            <a:extLst>
              <a:ext uri="{FF2B5EF4-FFF2-40B4-BE49-F238E27FC236}">
                <a16:creationId xmlns:a16="http://schemas.microsoft.com/office/drawing/2014/main" id="{5AFD1803-D123-39C5-14D3-AF5C5445A05F}"/>
              </a:ext>
            </a:extLst>
          </p:cNvPr>
          <p:cNvSpPr/>
          <p:nvPr/>
        </p:nvSpPr>
        <p:spPr>
          <a:xfrm>
            <a:off x="2819400" y="33274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Availability + reliability
uptime · failover · DR · SLOs · error budgets</a:t>
            </a:r>
          </a:p>
        </p:txBody>
      </p:sp>
      <p:sp>
        <p:nvSpPr>
          <p:cNvPr id="34" name="Rectangle: Rounded Corners 33">
            <a:extLst>
              <a:ext uri="{FF2B5EF4-FFF2-40B4-BE49-F238E27FC236}">
                <a16:creationId xmlns:a16="http://schemas.microsoft.com/office/drawing/2014/main" id="{1E3CFA93-2598-FDCF-60EB-756A3BA4E91D}"/>
              </a:ext>
            </a:extLst>
          </p:cNvPr>
          <p:cNvSpPr/>
          <p:nvPr/>
        </p:nvSpPr>
        <p:spPr>
          <a:xfrm>
            <a:off x="5029200" y="33274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Alerting + events
thresholds · anomalies · routing · ownership</a:t>
            </a:r>
          </a:p>
        </p:txBody>
      </p:sp>
      <p:sp>
        <p:nvSpPr>
          <p:cNvPr id="35" name="Rectangle: Rounded Corners 34">
            <a:extLst>
              <a:ext uri="{FF2B5EF4-FFF2-40B4-BE49-F238E27FC236}">
                <a16:creationId xmlns:a16="http://schemas.microsoft.com/office/drawing/2014/main" id="{308A9D7D-BE5B-4A7C-1E5F-DC7B7E0E4544}"/>
              </a:ext>
            </a:extLst>
          </p:cNvPr>
          <p:cNvSpPr/>
          <p:nvPr/>
        </p:nvSpPr>
        <p:spPr>
          <a:xfrm>
            <a:off x="7239000" y="33274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Incidents + operations
triage · runbooks · change correlation · MTTR</a:t>
            </a:r>
          </a:p>
        </p:txBody>
      </p:sp>
      <p:sp>
        <p:nvSpPr>
          <p:cNvPr id="36" name="Rectangle: Rounded Corners 35">
            <a:extLst>
              <a:ext uri="{FF2B5EF4-FFF2-40B4-BE49-F238E27FC236}">
                <a16:creationId xmlns:a16="http://schemas.microsoft.com/office/drawing/2014/main" id="{B3CD8B36-48D3-3762-1974-88BF1327F29B}"/>
              </a:ext>
            </a:extLst>
          </p:cNvPr>
          <p:cNvSpPr/>
          <p:nvPr/>
        </p:nvSpPr>
        <p:spPr>
          <a:xfrm>
            <a:off x="9448800" y="33274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Dashboards + reporting
service · executive · topology · trends · SLO</a:t>
            </a:r>
          </a:p>
        </p:txBody>
      </p:sp>
      <p:sp>
        <p:nvSpPr>
          <p:cNvPr id="37" name="Rectangle: Rounded Corners 36">
            <a:extLst>
              <a:ext uri="{FF2B5EF4-FFF2-40B4-BE49-F238E27FC236}">
                <a16:creationId xmlns:a16="http://schemas.microsoft.com/office/drawing/2014/main" id="{143EFA62-80BE-DBB6-447B-ACE201B4514B}"/>
              </a:ext>
            </a:extLst>
          </p:cNvPr>
          <p:cNvSpPr/>
          <p:nvPr/>
        </p:nvSpPr>
        <p:spPr>
          <a:xfrm>
            <a:off x="9448800" y="41148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Platform architecture
agents · collectors · stores · HA · edge</a:t>
            </a:r>
          </a:p>
        </p:txBody>
      </p:sp>
      <p:sp>
        <p:nvSpPr>
          <p:cNvPr id="38" name="Rectangle: Rounded Corners 37">
            <a:extLst>
              <a:ext uri="{FF2B5EF4-FFF2-40B4-BE49-F238E27FC236}">
                <a16:creationId xmlns:a16="http://schemas.microsoft.com/office/drawing/2014/main" id="{66D2D35B-34C2-DCEE-B998-558241C99F92}"/>
              </a:ext>
            </a:extLst>
          </p:cNvPr>
          <p:cNvSpPr/>
          <p:nvPr/>
        </p:nvSpPr>
        <p:spPr>
          <a:xfrm>
            <a:off x="609600" y="4978400"/>
            <a:ext cx="228600" cy="177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200">
              <a:solidFill>
                <a:srgbClr val="F1F5FB"/>
              </a:solidFill>
              <a:latin typeface="Calibri" panose="020F0502020204030204" pitchFamily="34" charset="0"/>
            </a:endParaRPr>
          </a:p>
        </p:txBody>
      </p:sp>
      <p:sp>
        <p:nvSpPr>
          <p:cNvPr id="39" name="TextBox 38">
            <a:extLst>
              <a:ext uri="{FF2B5EF4-FFF2-40B4-BE49-F238E27FC236}">
                <a16:creationId xmlns:a16="http://schemas.microsoft.com/office/drawing/2014/main" id="{0067705B-40BE-119D-A7AA-8CCC3483BB9E}"/>
              </a:ext>
            </a:extLst>
          </p:cNvPr>
          <p:cNvSpPr txBox="1"/>
          <p:nvPr/>
        </p:nvSpPr>
        <p:spPr>
          <a:xfrm>
            <a:off x="914400" y="4940300"/>
            <a:ext cx="3810000" cy="269304"/>
          </a:xfrm>
          <a:prstGeom prst="rect">
            <a:avLst/>
          </a:prstGeom>
          <a:noFill/>
        </p:spPr>
        <p:txBody>
          <a:bodyPr vert="horz" wrap="square" lIns="25400" rIns="25400" rtlCol="0">
            <a:spAutoFit/>
          </a:bodyPr>
          <a:lstStyle/>
          <a:p>
            <a:r>
              <a:rPr lang="en-US" sz="1150">
                <a:solidFill>
                  <a:srgbClr val="F1F5FB"/>
                </a:solidFill>
                <a:latin typeface="Calibri" panose="020F0502020204030204" pitchFamily="34" charset="0"/>
              </a:rPr>
              <a:t>covered today, on IIC Hybrid Orders</a:t>
            </a:r>
          </a:p>
        </p:txBody>
      </p:sp>
      <p:sp>
        <p:nvSpPr>
          <p:cNvPr id="40" name="Rectangle: Rounded Corners 39">
            <a:extLst>
              <a:ext uri="{FF2B5EF4-FFF2-40B4-BE49-F238E27FC236}">
                <a16:creationId xmlns:a16="http://schemas.microsoft.com/office/drawing/2014/main" id="{7E585662-E249-C9FC-AD80-1CEBFFC9E485}"/>
              </a:ext>
            </a:extLst>
          </p:cNvPr>
          <p:cNvSpPr/>
          <p:nvPr/>
        </p:nvSpPr>
        <p:spPr>
          <a:xfrm>
            <a:off x="5080000" y="4978400"/>
            <a:ext cx="228600" cy="177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200">
              <a:solidFill>
                <a:srgbClr val="F1F5FB"/>
              </a:solidFill>
              <a:latin typeface="Calibri" panose="020F0502020204030204" pitchFamily="34" charset="0"/>
            </a:endParaRPr>
          </a:p>
        </p:txBody>
      </p:sp>
      <p:sp>
        <p:nvSpPr>
          <p:cNvPr id="41" name="TextBox 40">
            <a:extLst>
              <a:ext uri="{FF2B5EF4-FFF2-40B4-BE49-F238E27FC236}">
                <a16:creationId xmlns:a16="http://schemas.microsoft.com/office/drawing/2014/main" id="{9DFAE461-103D-000E-83A6-A2E977DDDBCD}"/>
              </a:ext>
            </a:extLst>
          </p:cNvPr>
          <p:cNvSpPr txBox="1"/>
          <p:nvPr/>
        </p:nvSpPr>
        <p:spPr>
          <a:xfrm>
            <a:off x="5384800" y="4940300"/>
            <a:ext cx="3810000" cy="269304"/>
          </a:xfrm>
          <a:prstGeom prst="rect">
            <a:avLst/>
          </a:prstGeom>
          <a:noFill/>
        </p:spPr>
        <p:txBody>
          <a:bodyPr vert="horz" wrap="square" lIns="25400" rIns="25400" rtlCol="0">
            <a:spAutoFit/>
          </a:bodyPr>
          <a:lstStyle/>
          <a:p>
            <a:r>
              <a:rPr lang="en-US" sz="1150">
                <a:solidFill>
                  <a:srgbClr val="B8C6DE"/>
                </a:solidFill>
                <a:latin typeface="Calibri" panose="020F0502020204030204" pitchFamily="34" charset="0"/>
              </a:rPr>
              <a:t>part of the practice, not today</a:t>
            </a:r>
          </a:p>
        </p:txBody>
      </p:sp>
      <p:sp>
        <p:nvSpPr>
          <p:cNvPr id="42" name="TextBox 41">
            <a:extLst>
              <a:ext uri="{FF2B5EF4-FFF2-40B4-BE49-F238E27FC236}">
                <a16:creationId xmlns:a16="http://schemas.microsoft.com/office/drawing/2014/main" id="{3A5CC01B-2974-E2CF-B984-E189D0214960}"/>
              </a:ext>
            </a:extLst>
          </p:cNvPr>
          <p:cNvSpPr txBox="1"/>
          <p:nvPr/>
        </p:nvSpPr>
        <p:spPr>
          <a:xfrm>
            <a:off x="609600" y="5232400"/>
            <a:ext cx="10972800" cy="461665"/>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Metrics + logs + traces + events + topology + user experience + security telemetry, connected to alerting, dashboards, incident response, automation, governance and reporting, across on-premises, private cloud, public cloud, edge and hybrid.</a:t>
            </a:r>
          </a:p>
        </p:txBody>
      </p:sp>
      <p:sp>
        <p:nvSpPr>
          <p:cNvPr id="43" name="Rectangle 42">
            <a:extLst>
              <a:ext uri="{FF2B5EF4-FFF2-40B4-BE49-F238E27FC236}">
                <a16:creationId xmlns:a16="http://schemas.microsoft.com/office/drawing/2014/main" id="{7026A3A1-227D-F6C5-A839-BCA12023EC7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ECCD1ED5-D8DD-9C52-4F5A-81F71E6291F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One session cannot do all of it. We take one real-shaped service and walk the slice that answers the meeting's question.</a:t>
            </a:r>
          </a:p>
        </p:txBody>
      </p:sp>
      <p:pic>
        <p:nvPicPr>
          <p:cNvPr id="46" name="SponsorBar" descr="CAS 2026 sponsors and #CloudAISummit2026">
            <a:extLst>
              <a:ext uri="{FF2B5EF4-FFF2-40B4-BE49-F238E27FC236}">
                <a16:creationId xmlns:a16="http://schemas.microsoft.com/office/drawing/2014/main" id="{DB290F46-4BC5-BD1E-303E-B7F92D49E64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89355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3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3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3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3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3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3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3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3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300"/>
                                        <p:tgtEl>
                                          <p:spTgt spid="2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3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3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30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30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30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3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300"/>
                                        <p:tgtEl>
                                          <p:spTgt spid="3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300"/>
                                        <p:tgtEl>
                                          <p:spTgt spid="3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300"/>
                                        <p:tgtEl>
                                          <p:spTgt spid="3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300"/>
                                        <p:tgtEl>
                                          <p:spTgt spid="3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300"/>
                                        <p:tgtEl>
                                          <p:spTgt spid="3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300"/>
                                        <p:tgtEl>
                                          <p:spTgt spid="37"/>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30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300"/>
                                        <p:tgtEl>
                                          <p:spTgt spid="3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30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30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p:bldP spid="40" grpId="0" animBg="1"/>
      <p:bldP spid="41"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1F91B7-9043-6A4E-3488-0E49B199C128}"/>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CAD0ADA-4C1D-4066-C3A9-CFA09A832407}"/>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9680C4E-567C-B82C-DE16-C4C46CB76A1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we'll cover</a:t>
            </a:r>
          </a:p>
        </p:txBody>
      </p:sp>
      <p:sp>
        <p:nvSpPr>
          <p:cNvPr id="5" name="Rectangle 4">
            <a:extLst>
              <a:ext uri="{FF2B5EF4-FFF2-40B4-BE49-F238E27FC236}">
                <a16:creationId xmlns:a16="http://schemas.microsoft.com/office/drawing/2014/main" id="{E51D7845-437F-AEC0-8BCB-04E5B289F77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51EF7A2-A2AC-3178-93DC-BAF45C0C46E5}"/>
              </a:ext>
            </a:extLst>
          </p:cNvPr>
          <p:cNvSpPr/>
          <p:nvPr/>
        </p:nvSpPr>
        <p:spPr>
          <a:xfrm>
            <a:off x="736600" y="1727200"/>
            <a:ext cx="431800" cy="431800"/>
          </a:xfrm>
          <a:prstGeom prst="ellipse">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1</a:t>
            </a:r>
          </a:p>
        </p:txBody>
      </p:sp>
      <p:sp>
        <p:nvSpPr>
          <p:cNvPr id="7" name="TextBox 6">
            <a:extLst>
              <a:ext uri="{FF2B5EF4-FFF2-40B4-BE49-F238E27FC236}">
                <a16:creationId xmlns:a16="http://schemas.microsoft.com/office/drawing/2014/main" id="{1FC3D4E7-5DB1-F456-0948-8195073FA991}"/>
              </a:ext>
            </a:extLst>
          </p:cNvPr>
          <p:cNvSpPr txBox="1"/>
          <p:nvPr/>
        </p:nvSpPr>
        <p:spPr>
          <a:xfrm>
            <a:off x="1371600" y="16510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Define the service</a:t>
            </a:r>
          </a:p>
        </p:txBody>
      </p:sp>
      <p:sp>
        <p:nvSpPr>
          <p:cNvPr id="8" name="TextBox 7">
            <a:extLst>
              <a:ext uri="{FF2B5EF4-FFF2-40B4-BE49-F238E27FC236}">
                <a16:creationId xmlns:a16="http://schemas.microsoft.com/office/drawing/2014/main" id="{1A7BD9D5-8A15-C5B6-2581-35B31FF5379D}"/>
              </a:ext>
            </a:extLst>
          </p:cNvPr>
          <p:cNvSpPr txBox="1"/>
          <p:nvPr/>
        </p:nvSpPr>
        <p:spPr>
          <a:xfrm>
            <a:off x="1371600" y="19812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Our example: one order across Azure, the on-premises private cloud and AWS</a:t>
            </a:r>
          </a:p>
        </p:txBody>
      </p:sp>
      <p:sp>
        <p:nvSpPr>
          <p:cNvPr id="9" name="Oval 8">
            <a:extLst>
              <a:ext uri="{FF2B5EF4-FFF2-40B4-BE49-F238E27FC236}">
                <a16:creationId xmlns:a16="http://schemas.microsoft.com/office/drawing/2014/main" id="{758384EA-231D-6C95-810E-BACEDF525586}"/>
              </a:ext>
            </a:extLst>
          </p:cNvPr>
          <p:cNvSpPr/>
          <p:nvPr/>
        </p:nvSpPr>
        <p:spPr>
          <a:xfrm>
            <a:off x="736600" y="2463800"/>
            <a:ext cx="431800" cy="4318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2</a:t>
            </a:r>
          </a:p>
        </p:txBody>
      </p:sp>
      <p:sp>
        <p:nvSpPr>
          <p:cNvPr id="10" name="TextBox 9">
            <a:extLst>
              <a:ext uri="{FF2B5EF4-FFF2-40B4-BE49-F238E27FC236}">
                <a16:creationId xmlns:a16="http://schemas.microsoft.com/office/drawing/2014/main" id="{4E2576F5-44BB-DFBC-C54D-0060C9C1B113}"/>
              </a:ext>
            </a:extLst>
          </p:cNvPr>
          <p:cNvSpPr txBox="1"/>
          <p:nvPr/>
        </p:nvSpPr>
        <p:spPr>
          <a:xfrm>
            <a:off x="1371600" y="23876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See the parts Microsoft doesn't host</a:t>
            </a:r>
          </a:p>
        </p:txBody>
      </p:sp>
      <p:sp>
        <p:nvSpPr>
          <p:cNvPr id="11" name="TextBox 10">
            <a:extLst>
              <a:ext uri="{FF2B5EF4-FFF2-40B4-BE49-F238E27FC236}">
                <a16:creationId xmlns:a16="http://schemas.microsoft.com/office/drawing/2014/main" id="{1366380E-4CC0-79B3-7F0B-EC08E9BED045}"/>
              </a:ext>
            </a:extLst>
          </p:cNvPr>
          <p:cNvSpPr txBox="1"/>
          <p:nvPr/>
        </p:nvSpPr>
        <p:spPr>
          <a:xfrm>
            <a:off x="1371600" y="27178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How a machine anywhere becomes visible in Azure Monitor</a:t>
            </a:r>
          </a:p>
        </p:txBody>
      </p:sp>
      <p:sp>
        <p:nvSpPr>
          <p:cNvPr id="12" name="Oval 11">
            <a:extLst>
              <a:ext uri="{FF2B5EF4-FFF2-40B4-BE49-F238E27FC236}">
                <a16:creationId xmlns:a16="http://schemas.microsoft.com/office/drawing/2014/main" id="{11EC3B2D-F83A-5469-D7C9-A7C5CD47A04E}"/>
              </a:ext>
            </a:extLst>
          </p:cNvPr>
          <p:cNvSpPr/>
          <p:nvPr/>
        </p:nvSpPr>
        <p:spPr>
          <a:xfrm>
            <a:off x="736600" y="3200400"/>
            <a:ext cx="431800" cy="431800"/>
          </a:xfrm>
          <a:prstGeom prst="ellipse">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3</a:t>
            </a:r>
          </a:p>
        </p:txBody>
      </p:sp>
      <p:sp>
        <p:nvSpPr>
          <p:cNvPr id="13" name="TextBox 12">
            <a:extLst>
              <a:ext uri="{FF2B5EF4-FFF2-40B4-BE49-F238E27FC236}">
                <a16:creationId xmlns:a16="http://schemas.microsoft.com/office/drawing/2014/main" id="{AD738BD5-BA79-E877-9E4C-C8037A37972C}"/>
              </a:ext>
            </a:extLst>
          </p:cNvPr>
          <p:cNvSpPr txBox="1"/>
          <p:nvPr/>
        </p:nvSpPr>
        <p:spPr>
          <a:xfrm>
            <a:off x="1371600" y="31242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When an order fails</a:t>
            </a:r>
          </a:p>
        </p:txBody>
      </p:sp>
      <p:sp>
        <p:nvSpPr>
          <p:cNvPr id="14" name="TextBox 13">
            <a:extLst>
              <a:ext uri="{FF2B5EF4-FFF2-40B4-BE49-F238E27FC236}">
                <a16:creationId xmlns:a16="http://schemas.microsoft.com/office/drawing/2014/main" id="{5A8C1237-5FC0-E577-C85A-E5BC1EB121CA}"/>
              </a:ext>
            </a:extLst>
          </p:cNvPr>
          <p:cNvSpPr txBox="1"/>
          <p:nvPr/>
        </p:nvSpPr>
        <p:spPr>
          <a:xfrm>
            <a:off x="1371600" y="34544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 baseline order, then a controlled fault in AWS</a:t>
            </a:r>
          </a:p>
        </p:txBody>
      </p:sp>
      <p:sp>
        <p:nvSpPr>
          <p:cNvPr id="15" name="Oval 14">
            <a:extLst>
              <a:ext uri="{FF2B5EF4-FFF2-40B4-BE49-F238E27FC236}">
                <a16:creationId xmlns:a16="http://schemas.microsoft.com/office/drawing/2014/main" id="{032962C4-8D10-68EB-88E5-C76F2A8E2560}"/>
              </a:ext>
            </a:extLst>
          </p:cNvPr>
          <p:cNvSpPr/>
          <p:nvPr/>
        </p:nvSpPr>
        <p:spPr>
          <a:xfrm>
            <a:off x="736600" y="3937000"/>
            <a:ext cx="431800" cy="431800"/>
          </a:xfrm>
          <a:prstGeom prst="ellipse">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4</a:t>
            </a:r>
          </a:p>
        </p:txBody>
      </p:sp>
      <p:sp>
        <p:nvSpPr>
          <p:cNvPr id="16" name="TextBox 15">
            <a:extLst>
              <a:ext uri="{FF2B5EF4-FFF2-40B4-BE49-F238E27FC236}">
                <a16:creationId xmlns:a16="http://schemas.microsoft.com/office/drawing/2014/main" id="{1508D9A6-69ED-BC6B-D789-98641A96C29D}"/>
              </a:ext>
            </a:extLst>
          </p:cNvPr>
          <p:cNvSpPr txBox="1"/>
          <p:nvPr/>
        </p:nvSpPr>
        <p:spPr>
          <a:xfrm>
            <a:off x="1371600" y="38608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Model health with Azure Monitor Health Models</a:t>
            </a:r>
          </a:p>
        </p:txBody>
      </p:sp>
      <p:sp>
        <p:nvSpPr>
          <p:cNvPr id="17" name="TextBox 16">
            <a:extLst>
              <a:ext uri="{FF2B5EF4-FFF2-40B4-BE49-F238E27FC236}">
                <a16:creationId xmlns:a16="http://schemas.microsoft.com/office/drawing/2014/main" id="{A6BC8759-3B9B-4962-2498-19C5B204E710}"/>
              </a:ext>
            </a:extLst>
          </p:cNvPr>
          <p:cNvSpPr txBox="1"/>
          <p:nvPr/>
        </p:nvSpPr>
        <p:spPr>
          <a:xfrm>
            <a:off x="1371600" y="41910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SCOM's idea, reintroduced</a:t>
            </a:r>
          </a:p>
        </p:txBody>
      </p:sp>
      <p:sp>
        <p:nvSpPr>
          <p:cNvPr id="18" name="Oval 17">
            <a:extLst>
              <a:ext uri="{FF2B5EF4-FFF2-40B4-BE49-F238E27FC236}">
                <a16:creationId xmlns:a16="http://schemas.microsoft.com/office/drawing/2014/main" id="{0EF79D92-6EFB-A8B0-8445-E2B93CE3C51E}"/>
              </a:ext>
            </a:extLst>
          </p:cNvPr>
          <p:cNvSpPr/>
          <p:nvPr/>
        </p:nvSpPr>
        <p:spPr>
          <a:xfrm>
            <a:off x="736600" y="4673600"/>
            <a:ext cx="431800" cy="431800"/>
          </a:xfrm>
          <a:prstGeom prst="ellipse">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5</a:t>
            </a:r>
          </a:p>
        </p:txBody>
      </p:sp>
      <p:sp>
        <p:nvSpPr>
          <p:cNvPr id="19" name="TextBox 18">
            <a:extLst>
              <a:ext uri="{FF2B5EF4-FFF2-40B4-BE49-F238E27FC236}">
                <a16:creationId xmlns:a16="http://schemas.microsoft.com/office/drawing/2014/main" id="{767E2C9D-2682-0F1E-287E-98CFB9A52448}"/>
              </a:ext>
            </a:extLst>
          </p:cNvPr>
          <p:cNvSpPr txBox="1"/>
          <p:nvPr/>
        </p:nvSpPr>
        <p:spPr>
          <a:xfrm>
            <a:off x="1371600" y="45974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Respond and prove recovery</a:t>
            </a:r>
          </a:p>
        </p:txBody>
      </p:sp>
      <p:sp>
        <p:nvSpPr>
          <p:cNvPr id="20" name="TextBox 19">
            <a:extLst>
              <a:ext uri="{FF2B5EF4-FFF2-40B4-BE49-F238E27FC236}">
                <a16:creationId xmlns:a16="http://schemas.microsoft.com/office/drawing/2014/main" id="{07894490-D8A1-B36E-F12D-3BDD7DF06ABB}"/>
              </a:ext>
            </a:extLst>
          </p:cNvPr>
          <p:cNvSpPr txBox="1"/>
          <p:nvPr/>
        </p:nvSpPr>
        <p:spPr>
          <a:xfrm>
            <a:off x="1371600" y="49276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Alerts with context; recovery is a new observation</a:t>
            </a:r>
          </a:p>
        </p:txBody>
      </p:sp>
      <p:sp>
        <p:nvSpPr>
          <p:cNvPr id="21" name="Oval 20">
            <a:extLst>
              <a:ext uri="{FF2B5EF4-FFF2-40B4-BE49-F238E27FC236}">
                <a16:creationId xmlns:a16="http://schemas.microsoft.com/office/drawing/2014/main" id="{D744ABFD-D0DA-310B-D46F-3C658CD524E4}"/>
              </a:ext>
            </a:extLst>
          </p:cNvPr>
          <p:cNvSpPr/>
          <p:nvPr/>
        </p:nvSpPr>
        <p:spPr>
          <a:xfrm>
            <a:off x="736600" y="5410200"/>
            <a:ext cx="431800" cy="431800"/>
          </a:xfrm>
          <a:prstGeom prst="ellipse">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6</a:t>
            </a:r>
          </a:p>
        </p:txBody>
      </p:sp>
      <p:sp>
        <p:nvSpPr>
          <p:cNvPr id="22" name="TextBox 21">
            <a:extLst>
              <a:ext uri="{FF2B5EF4-FFF2-40B4-BE49-F238E27FC236}">
                <a16:creationId xmlns:a16="http://schemas.microsoft.com/office/drawing/2014/main" id="{9FD97A2E-3735-06C4-8B1D-886A87D5F6F2}"/>
              </a:ext>
            </a:extLst>
          </p:cNvPr>
          <p:cNvSpPr txBox="1"/>
          <p:nvPr/>
        </p:nvSpPr>
        <p:spPr>
          <a:xfrm>
            <a:off x="1371600" y="53340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Keep it affordable and useful</a:t>
            </a:r>
          </a:p>
        </p:txBody>
      </p:sp>
      <p:sp>
        <p:nvSpPr>
          <p:cNvPr id="23" name="TextBox 22">
            <a:extLst>
              <a:ext uri="{FF2B5EF4-FFF2-40B4-BE49-F238E27FC236}">
                <a16:creationId xmlns:a16="http://schemas.microsoft.com/office/drawing/2014/main" id="{F781640D-DF6A-72CD-C935-5143A3C64EA6}"/>
              </a:ext>
            </a:extLst>
          </p:cNvPr>
          <p:cNvSpPr txBox="1"/>
          <p:nvPr/>
        </p:nvSpPr>
        <p:spPr>
          <a:xfrm>
            <a:off x="1371600" y="56642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What the evidence costs</a:t>
            </a:r>
          </a:p>
        </p:txBody>
      </p:sp>
      <p:pic>
        <p:nvPicPr>
          <p:cNvPr id="25" name="SponsorBar" descr="CAS 2026 sponsors and #CloudAISummit2026">
            <a:extLst>
              <a:ext uri="{FF2B5EF4-FFF2-40B4-BE49-F238E27FC236}">
                <a16:creationId xmlns:a16="http://schemas.microsoft.com/office/drawing/2014/main" id="{CE26C79A-6C0E-263B-6CBA-273E4E159C9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867674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BDAB72-6DD0-21A5-52C7-AA784FF007F9}"/>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DE49842-B616-A5B6-F9E2-00F888B8D73B}"/>
              </a:ext>
            </a:extLst>
          </p:cNvPr>
          <p:cNvSpPr/>
          <p:nvPr/>
        </p:nvSpPr>
        <p:spPr>
          <a:xfrm>
            <a:off x="0" y="1549400"/>
            <a:ext cx="12192000" cy="50800"/>
          </a:xfrm>
          <a:prstGeom prst="rect">
            <a:avLst/>
          </a:prstGeom>
          <a:solidFill>
            <a:srgbClr val="6EE7B7"/>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993BA9D-63B0-DB0F-78D1-B9272E111CC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1 · Define the service</a:t>
            </a:r>
          </a:p>
        </p:txBody>
      </p:sp>
      <p:sp>
        <p:nvSpPr>
          <p:cNvPr id="5" name="Rectangle 4">
            <a:extLst>
              <a:ext uri="{FF2B5EF4-FFF2-40B4-BE49-F238E27FC236}">
                <a16:creationId xmlns:a16="http://schemas.microsoft.com/office/drawing/2014/main" id="{41567699-DC08-7EFD-01A3-2D5013A86DCB}"/>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E6A3695A-09E3-8D57-61D7-C10D04264D40}"/>
              </a:ext>
            </a:extLst>
          </p:cNvPr>
          <p:cNvSpPr/>
          <p:nvPr/>
        </p:nvSpPr>
        <p:spPr>
          <a:xfrm>
            <a:off x="9042400" y="330200"/>
            <a:ext cx="2540000" cy="3302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1 · DEFINE THE SERVICE</a:t>
            </a:r>
          </a:p>
        </p:txBody>
      </p:sp>
      <p:sp>
        <p:nvSpPr>
          <p:cNvPr id="7" name="TextBox 6">
            <a:extLst>
              <a:ext uri="{FF2B5EF4-FFF2-40B4-BE49-F238E27FC236}">
                <a16:creationId xmlns:a16="http://schemas.microsoft.com/office/drawing/2014/main" id="{2177CBD9-6F65-6BC5-7169-F13C7AFBC013}"/>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6EE7B7"/>
                </a:solidFill>
                <a:latin typeface="Calibri" panose="020F0502020204030204" pitchFamily="34" charset="0"/>
              </a:rPr>
              <a:t>1</a:t>
            </a:r>
          </a:p>
        </p:txBody>
      </p:sp>
      <p:sp>
        <p:nvSpPr>
          <p:cNvPr id="8" name="TextBox 7">
            <a:extLst>
              <a:ext uri="{FF2B5EF4-FFF2-40B4-BE49-F238E27FC236}">
                <a16:creationId xmlns:a16="http://schemas.microsoft.com/office/drawing/2014/main" id="{94A08DD6-8F20-4AEF-4799-71EAD962DE81}"/>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DBE1514C-F706-222B-7B06-B99E31D872B2}"/>
              </a:ext>
            </a:extLst>
          </p:cNvPr>
          <p:cNvSpPr txBox="1"/>
          <p:nvPr/>
        </p:nvSpPr>
        <p:spPr>
          <a:xfrm>
            <a:off x="2413000" y="1778000"/>
            <a:ext cx="9169400" cy="830997"/>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What does our example service depend on, and what does "working" mean?</a:t>
            </a:r>
          </a:p>
        </p:txBody>
      </p:sp>
      <p:sp>
        <p:nvSpPr>
          <p:cNvPr id="10" name="TextBox 9">
            <a:extLst>
              <a:ext uri="{FF2B5EF4-FFF2-40B4-BE49-F238E27FC236}">
                <a16:creationId xmlns:a16="http://schemas.microsoft.com/office/drawing/2014/main" id="{FBD24A6B-D895-1FBB-592A-5AC579AB1137}"/>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D778B8EA-2C75-FCF8-7566-B17F58F9EC57}"/>
              </a:ext>
            </a:extLst>
          </p:cNvPr>
          <p:cNvSpPr txBox="1"/>
          <p:nvPr/>
        </p:nvSpPr>
        <p:spPr>
          <a:xfrm>
            <a:off x="2413000" y="30480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The three customer commitments, the architecture across Azure, on-premises and AWS, and what one order depends on.</a:t>
            </a:r>
          </a:p>
        </p:txBody>
      </p:sp>
      <p:sp>
        <p:nvSpPr>
          <p:cNvPr id="12" name="TextBox 11">
            <a:extLst>
              <a:ext uri="{FF2B5EF4-FFF2-40B4-BE49-F238E27FC236}">
                <a16:creationId xmlns:a16="http://schemas.microsoft.com/office/drawing/2014/main" id="{88CCCF0E-3603-AF02-A497-21F4066B2CD2}"/>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EA117F58-2C27-DCF3-F7C2-5ADB97168CB2}"/>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You can't monitor a service until you have agreed what it is and what success looks like.</a:t>
            </a:r>
          </a:p>
        </p:txBody>
      </p:sp>
      <p:sp>
        <p:nvSpPr>
          <p:cNvPr id="14" name="TextBox 13">
            <a:extLst>
              <a:ext uri="{FF2B5EF4-FFF2-40B4-BE49-F238E27FC236}">
                <a16:creationId xmlns:a16="http://schemas.microsoft.com/office/drawing/2014/main" id="{759AE9E3-3EF2-27E6-FC50-BDC45663B671}"/>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8F175A70-57E5-134A-EF90-A02E269A4469}"/>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service boundary and dependencies</a:t>
            </a:r>
          </a:p>
        </p:txBody>
      </p:sp>
      <p:sp>
        <p:nvSpPr>
          <p:cNvPr id="16" name="Rectangle: Rounded Corners 15">
            <a:extLst>
              <a:ext uri="{FF2B5EF4-FFF2-40B4-BE49-F238E27FC236}">
                <a16:creationId xmlns:a16="http://schemas.microsoft.com/office/drawing/2014/main" id="{E411EA21-0EF2-9A0D-9A62-872E9AC393C7}"/>
              </a:ext>
            </a:extLst>
          </p:cNvPr>
          <p:cNvSpPr/>
          <p:nvPr/>
        </p:nvSpPr>
        <p:spPr>
          <a:xfrm>
            <a:off x="609600" y="5334000"/>
            <a:ext cx="1752600" cy="508000"/>
          </a:xfrm>
          <a:prstGeom prst="roundRect">
            <a:avLst/>
          </a:prstGeom>
          <a:solidFill>
            <a:srgbClr val="6EE7B7"/>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24F98ECE-7214-C55A-8334-769E0BB2B524}"/>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C2BC5366-4634-C3D9-0C4B-7A7134FD9F94}"/>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01280671-88CB-059B-A17D-1E36FB37655A}"/>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1B66B7CD-A0B1-EE7F-2915-A0E7E4540889}"/>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0D914B3B-45A9-A719-23F7-D2CF509C2A4F}"/>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5BD15BA8-6AA0-F4FF-7674-6D2E17B95DD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522992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B4A671-DB78-3BCA-49DD-CD37B7F75B5B}"/>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26ADD70-6F1D-D98D-B92E-44849887F172}"/>
              </a:ext>
            </a:extLst>
          </p:cNvPr>
          <p:cNvSpPr/>
          <p:nvPr/>
        </p:nvSpPr>
        <p:spPr>
          <a:xfrm>
            <a:off x="0" y="1549400"/>
            <a:ext cx="12192000" cy="50800"/>
          </a:xfrm>
          <a:prstGeom prst="rect">
            <a:avLst/>
          </a:prstGeom>
          <a:solidFill>
            <a:srgbClr val="6EE7B7"/>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C459009-0255-0C27-3AEF-48FF9B098F4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"working" means</a:t>
            </a:r>
          </a:p>
        </p:txBody>
      </p:sp>
      <p:sp>
        <p:nvSpPr>
          <p:cNvPr id="5" name="Rectangle 4">
            <a:extLst>
              <a:ext uri="{FF2B5EF4-FFF2-40B4-BE49-F238E27FC236}">
                <a16:creationId xmlns:a16="http://schemas.microsoft.com/office/drawing/2014/main" id="{27BCD7E0-40D1-278E-E523-027F1279954A}"/>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4BEADE-B8A0-66ED-4D3B-C15A73C3E389}"/>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Our example: IIC Hybrid Orders, from the fictional Infinite Improbability Corp. The services it uses are real.</a:t>
            </a:r>
          </a:p>
        </p:txBody>
      </p:sp>
      <p:sp>
        <p:nvSpPr>
          <p:cNvPr id="7" name="SectionTag">
            <a:extLst>
              <a:ext uri="{FF2B5EF4-FFF2-40B4-BE49-F238E27FC236}">
                <a16:creationId xmlns:a16="http://schemas.microsoft.com/office/drawing/2014/main" id="{1AEEC2BA-685F-A4D1-D88D-F0732D8370A5}"/>
              </a:ext>
            </a:extLst>
          </p:cNvPr>
          <p:cNvSpPr/>
          <p:nvPr/>
        </p:nvSpPr>
        <p:spPr>
          <a:xfrm>
            <a:off x="9042400" y="330200"/>
            <a:ext cx="2540000" cy="3302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1 · DEFINE THE SERVICE</a:t>
            </a:r>
          </a:p>
        </p:txBody>
      </p:sp>
      <p:sp>
        <p:nvSpPr>
          <p:cNvPr id="8" name="Rectangle: Rounded Corners 7">
            <a:extLst>
              <a:ext uri="{FF2B5EF4-FFF2-40B4-BE49-F238E27FC236}">
                <a16:creationId xmlns:a16="http://schemas.microsoft.com/office/drawing/2014/main" id="{2EA74500-B485-A229-49FF-8389A8A2A8DE}"/>
              </a:ext>
            </a:extLst>
          </p:cNvPr>
          <p:cNvSpPr/>
          <p:nvPr/>
        </p:nvSpPr>
        <p:spPr>
          <a:xfrm>
            <a:off x="609600" y="1854200"/>
            <a:ext cx="3454400" cy="889000"/>
          </a:xfrm>
          <a:prstGeom prst="roundRect">
            <a:avLst/>
          </a:prstGeom>
          <a:solidFill>
            <a:srgbClr val="20326C"/>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F1F5FB"/>
                </a:solidFill>
                <a:latin typeface="Calibri" panose="020F0502020204030204" pitchFamily="34" charset="0"/>
              </a:rPr>
              <a:t>Customers can open the portal</a:t>
            </a:r>
          </a:p>
        </p:txBody>
      </p:sp>
      <p:sp>
        <p:nvSpPr>
          <p:cNvPr id="9" name="TextBox 8">
            <a:extLst>
              <a:ext uri="{FF2B5EF4-FFF2-40B4-BE49-F238E27FC236}">
                <a16:creationId xmlns:a16="http://schemas.microsoft.com/office/drawing/2014/main" id="{D17A7EE5-DD47-C242-44D2-36280EA0E8C7}"/>
              </a:ext>
            </a:extLst>
          </p:cNvPr>
          <p:cNvSpPr txBox="1"/>
          <p:nvPr/>
        </p:nvSpPr>
        <p:spPr>
          <a:xfrm>
            <a:off x="609600" y="2946400"/>
            <a:ext cx="3454400" cy="276999"/>
          </a:xfrm>
          <a:prstGeom prst="rect">
            <a:avLst/>
          </a:prstGeom>
          <a:noFill/>
        </p:spPr>
        <p:txBody>
          <a:bodyPr vert="horz" wrap="square" lIns="25400" rIns="25400" rtlCol="0">
            <a:spAutoFit/>
          </a:bodyPr>
          <a:lstStyle/>
          <a:p>
            <a:r>
              <a:rPr lang="en-US" sz="1200" b="1">
                <a:solidFill>
                  <a:srgbClr val="A5BEFF"/>
                </a:solidFill>
                <a:latin typeface="Calibri" panose="020F0502020204030204" pitchFamily="34" charset="0"/>
              </a:rPr>
              <a:t>PROVED BY</a:t>
            </a:r>
          </a:p>
        </p:txBody>
      </p:sp>
      <p:sp>
        <p:nvSpPr>
          <p:cNvPr id="10" name="Rectangle: Rounded Corners 9">
            <a:extLst>
              <a:ext uri="{FF2B5EF4-FFF2-40B4-BE49-F238E27FC236}">
                <a16:creationId xmlns:a16="http://schemas.microsoft.com/office/drawing/2014/main" id="{2D694090-4867-0080-0344-A4AF7BD762D3}"/>
              </a:ext>
            </a:extLst>
          </p:cNvPr>
          <p:cNvSpPr/>
          <p:nvPr/>
        </p:nvSpPr>
        <p:spPr>
          <a:xfrm>
            <a:off x="609600" y="3276600"/>
            <a:ext cx="3454400" cy="1397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A portal response from either copy: Azure Container Apps or EKS in AWS, through Front Door</a:t>
            </a:r>
          </a:p>
        </p:txBody>
      </p:sp>
      <p:sp>
        <p:nvSpPr>
          <p:cNvPr id="11" name="Rectangle: Rounded Corners 10">
            <a:extLst>
              <a:ext uri="{FF2B5EF4-FFF2-40B4-BE49-F238E27FC236}">
                <a16:creationId xmlns:a16="http://schemas.microsoft.com/office/drawing/2014/main" id="{8BFD8425-E7A0-E78D-A9D3-D9BD27572B52}"/>
              </a:ext>
            </a:extLst>
          </p:cNvPr>
          <p:cNvSpPr/>
          <p:nvPr/>
        </p:nvSpPr>
        <p:spPr>
          <a:xfrm>
            <a:off x="4368800" y="1854200"/>
            <a:ext cx="3454400" cy="889000"/>
          </a:xfrm>
          <a:prstGeom prst="roundRect">
            <a:avLst/>
          </a:prstGeom>
          <a:solidFill>
            <a:srgbClr val="20326C"/>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F1F5FB"/>
                </a:solidFill>
                <a:latin typeface="Calibri" panose="020F0502020204030204" pitchFamily="34" charset="0"/>
              </a:rPr>
              <a:t>Customers can complete an order</a:t>
            </a:r>
          </a:p>
        </p:txBody>
      </p:sp>
      <p:sp>
        <p:nvSpPr>
          <p:cNvPr id="12" name="TextBox 11">
            <a:extLst>
              <a:ext uri="{FF2B5EF4-FFF2-40B4-BE49-F238E27FC236}">
                <a16:creationId xmlns:a16="http://schemas.microsoft.com/office/drawing/2014/main" id="{46F6F1CF-7EEC-73A2-A7BE-4417F9737F56}"/>
              </a:ext>
            </a:extLst>
          </p:cNvPr>
          <p:cNvSpPr txBox="1"/>
          <p:nvPr/>
        </p:nvSpPr>
        <p:spPr>
          <a:xfrm>
            <a:off x="4368800" y="2946400"/>
            <a:ext cx="34544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PROVED BY</a:t>
            </a:r>
          </a:p>
        </p:txBody>
      </p:sp>
      <p:sp>
        <p:nvSpPr>
          <p:cNvPr id="13" name="Rectangle: Rounded Corners 12">
            <a:extLst>
              <a:ext uri="{FF2B5EF4-FFF2-40B4-BE49-F238E27FC236}">
                <a16:creationId xmlns:a16="http://schemas.microsoft.com/office/drawing/2014/main" id="{9B35B5E9-45EC-7AC7-75A8-8EECCB5E7261}"/>
              </a:ext>
            </a:extLst>
          </p:cNvPr>
          <p:cNvSpPr/>
          <p:nvPr/>
        </p:nvSpPr>
        <p:spPr>
          <a:xfrm>
            <a:off x="4368800" y="3276600"/>
            <a:ext cx="3454400" cy="1397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An order that completes within 45 seconds, with both workers answering</a:t>
            </a:r>
          </a:p>
        </p:txBody>
      </p:sp>
      <p:sp>
        <p:nvSpPr>
          <p:cNvPr id="14" name="Rectangle: Rounded Corners 13">
            <a:extLst>
              <a:ext uri="{FF2B5EF4-FFF2-40B4-BE49-F238E27FC236}">
                <a16:creationId xmlns:a16="http://schemas.microsoft.com/office/drawing/2014/main" id="{2C80196A-9360-5CF8-1DE4-C3ACD623914E}"/>
              </a:ext>
            </a:extLst>
          </p:cNvPr>
          <p:cNvSpPr/>
          <p:nvPr/>
        </p:nvSpPr>
        <p:spPr>
          <a:xfrm>
            <a:off x="8128000" y="1854200"/>
            <a:ext cx="3454400" cy="8890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F1F5FB"/>
                </a:solidFill>
                <a:latin typeface="Calibri" panose="020F0502020204030204" pitchFamily="34" charset="0"/>
              </a:rPr>
              <a:t>Operators can observe the service</a:t>
            </a:r>
          </a:p>
        </p:txBody>
      </p:sp>
      <p:sp>
        <p:nvSpPr>
          <p:cNvPr id="15" name="TextBox 14">
            <a:extLst>
              <a:ext uri="{FF2B5EF4-FFF2-40B4-BE49-F238E27FC236}">
                <a16:creationId xmlns:a16="http://schemas.microsoft.com/office/drawing/2014/main" id="{C9DA09BF-F682-2F18-839A-4ABD411B1477}"/>
              </a:ext>
            </a:extLst>
          </p:cNvPr>
          <p:cNvSpPr txBox="1"/>
          <p:nvPr/>
        </p:nvSpPr>
        <p:spPr>
          <a:xfrm>
            <a:off x="8128000" y="2946400"/>
            <a:ext cx="34544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PROVED BY</a:t>
            </a:r>
          </a:p>
        </p:txBody>
      </p:sp>
      <p:sp>
        <p:nvSpPr>
          <p:cNvPr id="16" name="Rectangle: Rounded Corners 15">
            <a:extLst>
              <a:ext uri="{FF2B5EF4-FFF2-40B4-BE49-F238E27FC236}">
                <a16:creationId xmlns:a16="http://schemas.microsoft.com/office/drawing/2014/main" id="{DDB48806-9AAC-99E7-D436-24E8C4CC8467}"/>
              </a:ext>
            </a:extLst>
          </p:cNvPr>
          <p:cNvSpPr/>
          <p:nvPr/>
        </p:nvSpPr>
        <p:spPr>
          <a:xfrm>
            <a:off x="8128000" y="3276600"/>
            <a:ext cx="3454400" cy="1397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Fresh evidence arriving from every cloud</a:t>
            </a:r>
          </a:p>
        </p:txBody>
      </p:sp>
      <p:sp>
        <p:nvSpPr>
          <p:cNvPr id="17" name="TextBox 16">
            <a:extLst>
              <a:ext uri="{FF2B5EF4-FFF2-40B4-BE49-F238E27FC236}">
                <a16:creationId xmlns:a16="http://schemas.microsoft.com/office/drawing/2014/main" id="{75CE1C19-29E8-5616-863B-1A08FC6DFE56}"/>
              </a:ext>
            </a:extLst>
          </p:cNvPr>
          <p:cNvSpPr txBox="1"/>
          <p:nvPr/>
        </p:nvSpPr>
        <p:spPr>
          <a:xfrm>
            <a:off x="609600" y="4953000"/>
            <a:ext cx="10972800" cy="323165"/>
          </a:xfrm>
          <a:prstGeom prst="rect">
            <a:avLst/>
          </a:prstGeom>
          <a:noFill/>
        </p:spPr>
        <p:txBody>
          <a:bodyPr vert="horz" wrap="square" lIns="25400" rIns="25400" rtlCol="0">
            <a:spAutoFit/>
          </a:bodyPr>
          <a:lstStyle/>
          <a:p>
            <a:r>
              <a:rPr lang="en-US" sz="1500">
                <a:solidFill>
                  <a:srgbClr val="F1F5FB"/>
                </a:solidFill>
                <a:latin typeface="Calibri" panose="020F0502020204030204" pitchFamily="34" charset="0"/>
              </a:rPr>
              <a:t>These three commitments become the top of the IIC health model later in the session.</a:t>
            </a:r>
          </a:p>
        </p:txBody>
      </p:sp>
      <p:sp>
        <p:nvSpPr>
          <p:cNvPr id="18" name="Rectangle 17">
            <a:extLst>
              <a:ext uri="{FF2B5EF4-FFF2-40B4-BE49-F238E27FC236}">
                <a16:creationId xmlns:a16="http://schemas.microsoft.com/office/drawing/2014/main" id="{488ADD2E-02CC-4DC6-8903-55C07C1BEF9A}"/>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2AF8538-7B1F-67AD-B296-C3CCFB7B1056}"/>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Working is a customer outcome with a time target, proven only when operators can see it.</a:t>
            </a:r>
          </a:p>
        </p:txBody>
      </p:sp>
      <p:pic>
        <p:nvPicPr>
          <p:cNvPr id="21" name="SponsorBar" descr="CAS 2026 sponsors and #CloudAISummit2026">
            <a:extLst>
              <a:ext uri="{FF2B5EF4-FFF2-40B4-BE49-F238E27FC236}">
                <a16:creationId xmlns:a16="http://schemas.microsoft.com/office/drawing/2014/main" id="{3CC612C8-B2A8-80F6-BBCA-E6EE639CE91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963940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C8D8B0-C86C-60D8-FC8F-66CA64C2CC0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9D01E4E-FEB9-C016-E853-824C6DB0F94E}"/>
              </a:ext>
            </a:extLst>
          </p:cNvPr>
          <p:cNvSpPr/>
          <p:nvPr/>
        </p:nvSpPr>
        <p:spPr>
          <a:xfrm>
            <a:off x="0" y="1549400"/>
            <a:ext cx="12192000" cy="50800"/>
          </a:xfrm>
          <a:prstGeom prst="rect">
            <a:avLst/>
          </a:prstGeom>
          <a:solidFill>
            <a:srgbClr val="6EE7B7"/>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D99F93-C4B7-5EB1-FDEF-661A11988974}"/>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IIC Hybrid Orders architecture</a:t>
            </a:r>
          </a:p>
        </p:txBody>
      </p:sp>
      <p:sp>
        <p:nvSpPr>
          <p:cNvPr id="5" name="Rectangle 4">
            <a:extLst>
              <a:ext uri="{FF2B5EF4-FFF2-40B4-BE49-F238E27FC236}">
                <a16:creationId xmlns:a16="http://schemas.microsoft.com/office/drawing/2014/main" id="{BAF14B0D-B7C5-3011-0E92-FDC2D8903D74}"/>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DBBC4CDA-2483-F6F3-6FAA-832821B3AC1C}"/>
              </a:ext>
            </a:extLst>
          </p:cNvPr>
          <p:cNvSpPr/>
          <p:nvPr/>
        </p:nvSpPr>
        <p:spPr>
          <a:xfrm>
            <a:off x="9042400" y="330200"/>
            <a:ext cx="2540000" cy="3302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1 · DEFINE THE SERVICE</a:t>
            </a:r>
          </a:p>
        </p:txBody>
      </p:sp>
      <p:sp>
        <p:nvSpPr>
          <p:cNvPr id="7" name="Rectangle: Rounded Corners 6">
            <a:extLst>
              <a:ext uri="{FF2B5EF4-FFF2-40B4-BE49-F238E27FC236}">
                <a16:creationId xmlns:a16="http://schemas.microsoft.com/office/drawing/2014/main" id="{0FF658E2-87E2-EB07-7130-7EC693BF5ED4}"/>
              </a:ext>
            </a:extLst>
          </p:cNvPr>
          <p:cNvSpPr/>
          <p:nvPr/>
        </p:nvSpPr>
        <p:spPr>
          <a:xfrm>
            <a:off x="609600" y="2057400"/>
            <a:ext cx="4191000" cy="2489200"/>
          </a:xfrm>
          <a:prstGeom prst="roundRect">
            <a:avLst>
              <a:gd name="adj" fmla="val 7143"/>
            </a:avLst>
          </a:prstGeom>
          <a:noFill/>
          <a:ln w="19050" cap="flat" cmpd="sng" algn="ctr">
            <a:solidFill>
              <a:srgbClr val="A5B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22BE6CB-ED19-2304-AF82-FB0E3B2BDD9C}"/>
              </a:ext>
            </a:extLst>
          </p:cNvPr>
          <p:cNvSpPr txBox="1"/>
          <p:nvPr/>
        </p:nvSpPr>
        <p:spPr>
          <a:xfrm>
            <a:off x="787400" y="2133600"/>
            <a:ext cx="3835400" cy="261610"/>
          </a:xfrm>
          <a:prstGeom prst="rect">
            <a:avLst/>
          </a:prstGeom>
          <a:noFill/>
        </p:spPr>
        <p:txBody>
          <a:bodyPr vert="horz" wrap="square" lIns="25400" rIns="25400" rtlCol="0">
            <a:spAutoFit/>
          </a:bodyPr>
          <a:lstStyle/>
          <a:p>
            <a:r>
              <a:rPr lang="en-US" sz="1100" b="1">
                <a:solidFill>
                  <a:srgbClr val="A5BEFF"/>
                </a:solidFill>
                <a:latin typeface="Calibri" panose="020F0502020204030204" pitchFamily="34" charset="0"/>
              </a:rPr>
              <a:t>AZURE</a:t>
            </a:r>
          </a:p>
        </p:txBody>
      </p:sp>
      <p:sp>
        <p:nvSpPr>
          <p:cNvPr id="9" name="Rectangle: Rounded Corners 8">
            <a:extLst>
              <a:ext uri="{FF2B5EF4-FFF2-40B4-BE49-F238E27FC236}">
                <a16:creationId xmlns:a16="http://schemas.microsoft.com/office/drawing/2014/main" id="{E2BE8096-FCAB-0883-7BAC-6946E20A4999}"/>
              </a:ext>
            </a:extLst>
          </p:cNvPr>
          <p:cNvSpPr/>
          <p:nvPr/>
        </p:nvSpPr>
        <p:spPr>
          <a:xfrm>
            <a:off x="5003800" y="2057400"/>
            <a:ext cx="2616200" cy="2489200"/>
          </a:xfrm>
          <a:prstGeom prst="roundRect">
            <a:avLst>
              <a:gd name="adj" fmla="val 7143"/>
            </a:avLst>
          </a:prstGeom>
          <a:noFill/>
          <a:ln w="19050" cap="flat" cmpd="sng" algn="ctr">
            <a:solidFill>
              <a:srgbClr val="6EE7B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DD871DC-767B-9960-A2D2-1CB785CE2F76}"/>
              </a:ext>
            </a:extLst>
          </p:cNvPr>
          <p:cNvSpPr txBox="1"/>
          <p:nvPr/>
        </p:nvSpPr>
        <p:spPr>
          <a:xfrm>
            <a:off x="5181600" y="2133600"/>
            <a:ext cx="2260600" cy="261610"/>
          </a:xfrm>
          <a:prstGeom prst="rect">
            <a:avLst/>
          </a:prstGeom>
          <a:noFill/>
        </p:spPr>
        <p:txBody>
          <a:bodyPr vert="horz" wrap="square" lIns="25400" rIns="25400" rtlCol="0">
            <a:spAutoFit/>
          </a:bodyPr>
          <a:lstStyle/>
          <a:p>
            <a:r>
              <a:rPr lang="en-US" sz="1100" b="1">
                <a:solidFill>
                  <a:srgbClr val="6EE7B7"/>
                </a:solidFill>
                <a:latin typeface="Calibri" panose="020F0502020204030204" pitchFamily="34" charset="0"/>
              </a:rPr>
              <a:t>ON-PREMISES PRIVATE CLOUD</a:t>
            </a:r>
          </a:p>
        </p:txBody>
      </p:sp>
      <p:sp>
        <p:nvSpPr>
          <p:cNvPr id="11" name="Rectangle: Rounded Corners 10">
            <a:extLst>
              <a:ext uri="{FF2B5EF4-FFF2-40B4-BE49-F238E27FC236}">
                <a16:creationId xmlns:a16="http://schemas.microsoft.com/office/drawing/2014/main" id="{9B8FC207-C2CF-6E97-9A05-4B0BD08307D5}"/>
              </a:ext>
            </a:extLst>
          </p:cNvPr>
          <p:cNvSpPr/>
          <p:nvPr/>
        </p:nvSpPr>
        <p:spPr>
          <a:xfrm>
            <a:off x="7823200" y="2057400"/>
            <a:ext cx="3759200" cy="2489200"/>
          </a:xfrm>
          <a:prstGeom prst="roundRect">
            <a:avLst>
              <a:gd name="adj" fmla="val 7143"/>
            </a:avLst>
          </a:prstGeom>
          <a:noFill/>
          <a:ln w="1905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5D56137-B130-D914-43DE-84E393F5E0BD}"/>
              </a:ext>
            </a:extLst>
          </p:cNvPr>
          <p:cNvSpPr txBox="1"/>
          <p:nvPr/>
        </p:nvSpPr>
        <p:spPr>
          <a:xfrm>
            <a:off x="8001000" y="2133600"/>
            <a:ext cx="3403600" cy="261610"/>
          </a:xfrm>
          <a:prstGeom prst="rect">
            <a:avLst/>
          </a:prstGeom>
          <a:noFill/>
        </p:spPr>
        <p:txBody>
          <a:bodyPr vert="horz" wrap="square" lIns="25400" rIns="25400" rtlCol="0">
            <a:spAutoFit/>
          </a:bodyPr>
          <a:lstStyle/>
          <a:p>
            <a:r>
              <a:rPr lang="en-US" sz="1100" b="1">
                <a:solidFill>
                  <a:srgbClr val="FACC15"/>
                </a:solidFill>
                <a:latin typeface="Calibri" panose="020F0502020204030204" pitchFamily="34" charset="0"/>
              </a:rPr>
              <a:t>AWS</a:t>
            </a:r>
          </a:p>
        </p:txBody>
      </p:sp>
      <p:sp>
        <p:nvSpPr>
          <p:cNvPr id="13" name="Rectangle: Rounded Corners 12">
            <a:extLst>
              <a:ext uri="{FF2B5EF4-FFF2-40B4-BE49-F238E27FC236}">
                <a16:creationId xmlns:a16="http://schemas.microsoft.com/office/drawing/2014/main" id="{06343C69-5150-F1FA-270B-B320CEF5C2AF}"/>
              </a:ext>
            </a:extLst>
          </p:cNvPr>
          <p:cNvSpPr/>
          <p:nvPr/>
        </p:nvSpPr>
        <p:spPr>
          <a:xfrm>
            <a:off x="787400" y="2514600"/>
            <a:ext cx="1854200" cy="635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65417C64-CB07-55EA-3F5A-EE5FDDBBB8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638300" y="2552700"/>
            <a:ext cx="152400" cy="152400"/>
          </a:xfrm>
          <a:prstGeom prst="rect">
            <a:avLst/>
          </a:prstGeom>
        </p:spPr>
      </p:pic>
      <p:sp>
        <p:nvSpPr>
          <p:cNvPr id="16" name="TextBox 15">
            <a:extLst>
              <a:ext uri="{FF2B5EF4-FFF2-40B4-BE49-F238E27FC236}">
                <a16:creationId xmlns:a16="http://schemas.microsoft.com/office/drawing/2014/main" id="{07353337-761A-CB30-C175-1FA666DB5EBB}"/>
              </a:ext>
            </a:extLst>
          </p:cNvPr>
          <p:cNvSpPr txBox="1"/>
          <p:nvPr/>
        </p:nvSpPr>
        <p:spPr>
          <a:xfrm>
            <a:off x="889000" y="2717800"/>
            <a:ext cx="16510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Front Door + WAF</a:t>
            </a:r>
          </a:p>
        </p:txBody>
      </p:sp>
      <p:sp>
        <p:nvSpPr>
          <p:cNvPr id="17" name="Rectangle: Rounded Corners 16">
            <a:extLst>
              <a:ext uri="{FF2B5EF4-FFF2-40B4-BE49-F238E27FC236}">
                <a16:creationId xmlns:a16="http://schemas.microsoft.com/office/drawing/2014/main" id="{81DF8CB3-0E1E-1351-A2B2-323BA2DB0796}"/>
              </a:ext>
            </a:extLst>
          </p:cNvPr>
          <p:cNvSpPr/>
          <p:nvPr/>
        </p:nvSpPr>
        <p:spPr>
          <a:xfrm>
            <a:off x="2768600" y="2514600"/>
            <a:ext cx="1854200" cy="635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99A58574-01D3-F2C6-AF1D-0CBB081B219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19500" y="2552700"/>
            <a:ext cx="152400" cy="152400"/>
          </a:xfrm>
          <a:prstGeom prst="rect">
            <a:avLst/>
          </a:prstGeom>
        </p:spPr>
      </p:pic>
      <p:sp>
        <p:nvSpPr>
          <p:cNvPr id="20" name="TextBox 19">
            <a:extLst>
              <a:ext uri="{FF2B5EF4-FFF2-40B4-BE49-F238E27FC236}">
                <a16:creationId xmlns:a16="http://schemas.microsoft.com/office/drawing/2014/main" id="{7CB2E88C-372C-A962-08CF-133B81D2D292}"/>
              </a:ext>
            </a:extLst>
          </p:cNvPr>
          <p:cNvSpPr txBox="1"/>
          <p:nvPr/>
        </p:nvSpPr>
        <p:spPr>
          <a:xfrm>
            <a:off x="2870200" y="2717800"/>
            <a:ext cx="16510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Portal
Container Apps</a:t>
            </a:r>
          </a:p>
        </p:txBody>
      </p:sp>
      <p:sp>
        <p:nvSpPr>
          <p:cNvPr id="21" name="Rectangle: Rounded Corners 20">
            <a:extLst>
              <a:ext uri="{FF2B5EF4-FFF2-40B4-BE49-F238E27FC236}">
                <a16:creationId xmlns:a16="http://schemas.microsoft.com/office/drawing/2014/main" id="{44A1515B-58EC-E111-8CB6-0253A75A44D4}"/>
              </a:ext>
            </a:extLst>
          </p:cNvPr>
          <p:cNvSpPr/>
          <p:nvPr/>
        </p:nvSpPr>
        <p:spPr>
          <a:xfrm>
            <a:off x="787400" y="3479800"/>
            <a:ext cx="1854200" cy="635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11D0089F-EE38-2194-0818-90A4B851956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638300" y="3517900"/>
            <a:ext cx="152400" cy="152400"/>
          </a:xfrm>
          <a:prstGeom prst="rect">
            <a:avLst/>
          </a:prstGeom>
        </p:spPr>
      </p:pic>
      <p:sp>
        <p:nvSpPr>
          <p:cNvPr id="24" name="TextBox 23">
            <a:extLst>
              <a:ext uri="{FF2B5EF4-FFF2-40B4-BE49-F238E27FC236}">
                <a16:creationId xmlns:a16="http://schemas.microsoft.com/office/drawing/2014/main" id="{A223F0D7-57B2-7D2E-2626-A74FE6166B3E}"/>
              </a:ext>
            </a:extLst>
          </p:cNvPr>
          <p:cNvSpPr txBox="1"/>
          <p:nvPr/>
        </p:nvSpPr>
        <p:spPr>
          <a:xfrm>
            <a:off x="889000" y="3683000"/>
            <a:ext cx="16510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Coordinator
Azure Functions</a:t>
            </a:r>
          </a:p>
        </p:txBody>
      </p:sp>
      <p:sp>
        <p:nvSpPr>
          <p:cNvPr id="25" name="Rectangle: Rounded Corners 24">
            <a:extLst>
              <a:ext uri="{FF2B5EF4-FFF2-40B4-BE49-F238E27FC236}">
                <a16:creationId xmlns:a16="http://schemas.microsoft.com/office/drawing/2014/main" id="{65859388-C587-5A8D-8644-490BA0F60CBA}"/>
              </a:ext>
            </a:extLst>
          </p:cNvPr>
          <p:cNvSpPr/>
          <p:nvPr/>
        </p:nvSpPr>
        <p:spPr>
          <a:xfrm>
            <a:off x="2768600" y="3479800"/>
            <a:ext cx="1854200" cy="635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E60EDFF4-E56C-B085-9719-CD520A896DBB}"/>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619500" y="3517900"/>
            <a:ext cx="152400" cy="152400"/>
          </a:xfrm>
          <a:prstGeom prst="rect">
            <a:avLst/>
          </a:prstGeom>
        </p:spPr>
      </p:pic>
      <p:sp>
        <p:nvSpPr>
          <p:cNvPr id="28" name="TextBox 27">
            <a:extLst>
              <a:ext uri="{FF2B5EF4-FFF2-40B4-BE49-F238E27FC236}">
                <a16:creationId xmlns:a16="http://schemas.microsoft.com/office/drawing/2014/main" id="{7FEE6DAB-C771-9C5D-09AB-8CFBCD1F1D60}"/>
              </a:ext>
            </a:extLst>
          </p:cNvPr>
          <p:cNvSpPr txBox="1"/>
          <p:nvPr/>
        </p:nvSpPr>
        <p:spPr>
          <a:xfrm>
            <a:off x="2870200" y="3683000"/>
            <a:ext cx="16510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Service Bus
queues</a:t>
            </a:r>
          </a:p>
        </p:txBody>
      </p:sp>
      <p:sp>
        <p:nvSpPr>
          <p:cNvPr id="29" name="Rectangle: Rounded Corners 28">
            <a:extLst>
              <a:ext uri="{FF2B5EF4-FFF2-40B4-BE49-F238E27FC236}">
                <a16:creationId xmlns:a16="http://schemas.microsoft.com/office/drawing/2014/main" id="{2749078D-8577-4A23-49A6-D06375FF6BC4}"/>
              </a:ext>
            </a:extLst>
          </p:cNvPr>
          <p:cNvSpPr/>
          <p:nvPr/>
        </p:nvSpPr>
        <p:spPr>
          <a:xfrm>
            <a:off x="5588000" y="3479800"/>
            <a:ext cx="1905000" cy="635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8CFD9397-A16A-594A-698B-64D9854EFB82}"/>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464300" y="3517900"/>
            <a:ext cx="152400" cy="152400"/>
          </a:xfrm>
          <a:prstGeom prst="rect">
            <a:avLst/>
          </a:prstGeom>
        </p:spPr>
      </p:pic>
      <p:sp>
        <p:nvSpPr>
          <p:cNvPr id="32" name="TextBox 31">
            <a:extLst>
              <a:ext uri="{FF2B5EF4-FFF2-40B4-BE49-F238E27FC236}">
                <a16:creationId xmlns:a16="http://schemas.microsoft.com/office/drawing/2014/main" id="{A879176C-C171-BD34-127F-C8F6E845196A}"/>
              </a:ext>
            </a:extLst>
          </p:cNvPr>
          <p:cNvSpPr txBox="1"/>
          <p:nvPr/>
        </p:nvSpPr>
        <p:spPr>
          <a:xfrm>
            <a:off x="5689600" y="3683000"/>
            <a:ext cx="17018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Validation worker
cas26-lnx01 (SCVMM)</a:t>
            </a:r>
          </a:p>
        </p:txBody>
      </p:sp>
      <p:sp>
        <p:nvSpPr>
          <p:cNvPr id="33" name="Rectangle: Rounded Corners 32">
            <a:extLst>
              <a:ext uri="{FF2B5EF4-FFF2-40B4-BE49-F238E27FC236}">
                <a16:creationId xmlns:a16="http://schemas.microsoft.com/office/drawing/2014/main" id="{D5B5EEFF-5382-FC94-D357-01537D7F2213}"/>
              </a:ext>
            </a:extLst>
          </p:cNvPr>
          <p:cNvSpPr/>
          <p:nvPr/>
        </p:nvSpPr>
        <p:spPr>
          <a:xfrm>
            <a:off x="8001000" y="2514600"/>
            <a:ext cx="3403600" cy="635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0555884A-1937-7F57-B9A1-20FE4F829A5C}"/>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626600" y="2552700"/>
            <a:ext cx="152400" cy="152400"/>
          </a:xfrm>
          <a:prstGeom prst="rect">
            <a:avLst/>
          </a:prstGeom>
        </p:spPr>
      </p:pic>
      <p:sp>
        <p:nvSpPr>
          <p:cNvPr id="36" name="TextBox 35">
            <a:extLst>
              <a:ext uri="{FF2B5EF4-FFF2-40B4-BE49-F238E27FC236}">
                <a16:creationId xmlns:a16="http://schemas.microsoft.com/office/drawing/2014/main" id="{24EBC8AE-5298-98FC-961E-B33C8497AC89}"/>
              </a:ext>
            </a:extLst>
          </p:cNvPr>
          <p:cNvSpPr txBox="1"/>
          <p:nvPr/>
        </p:nvSpPr>
        <p:spPr>
          <a:xfrm>
            <a:off x="8102600" y="2717800"/>
            <a:ext cx="32004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Portal copy
EKS behind an ALB</a:t>
            </a:r>
          </a:p>
        </p:txBody>
      </p:sp>
      <p:sp>
        <p:nvSpPr>
          <p:cNvPr id="37" name="Rectangle: Rounded Corners 36">
            <a:extLst>
              <a:ext uri="{FF2B5EF4-FFF2-40B4-BE49-F238E27FC236}">
                <a16:creationId xmlns:a16="http://schemas.microsoft.com/office/drawing/2014/main" id="{1DEDDCC6-8825-CC5A-1911-8A7DD007504A}"/>
              </a:ext>
            </a:extLst>
          </p:cNvPr>
          <p:cNvSpPr/>
          <p:nvPr/>
        </p:nvSpPr>
        <p:spPr>
          <a:xfrm>
            <a:off x="8001000" y="3479800"/>
            <a:ext cx="3403600" cy="635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Fulfillment worker
EC2</a:t>
            </a:r>
          </a:p>
        </p:txBody>
      </p:sp>
      <p:sp>
        <p:nvSpPr>
          <p:cNvPr id="38" name="TextBox 37">
            <a:extLst>
              <a:ext uri="{FF2B5EF4-FFF2-40B4-BE49-F238E27FC236}">
                <a16:creationId xmlns:a16="http://schemas.microsoft.com/office/drawing/2014/main" id="{A73EB027-D05D-E759-4F72-CA726F66989E}"/>
              </a:ext>
            </a:extLst>
          </p:cNvPr>
          <p:cNvSpPr txBox="1"/>
          <p:nvPr/>
        </p:nvSpPr>
        <p:spPr>
          <a:xfrm>
            <a:off x="889000" y="1600200"/>
            <a:ext cx="1143000" cy="261610"/>
          </a:xfrm>
          <a:prstGeom prst="rect">
            <a:avLst/>
          </a:prstGeom>
          <a:noFill/>
        </p:spPr>
        <p:txBody>
          <a:bodyPr vert="horz" wrap="square" lIns="25400" rIns="25400" rtlCol="0">
            <a:spAutoFit/>
          </a:bodyPr>
          <a:lstStyle/>
          <a:p>
            <a:r>
              <a:rPr lang="en-US" sz="1100" b="1">
                <a:solidFill>
                  <a:srgbClr val="A5BEFF"/>
                </a:solidFill>
                <a:latin typeface="Calibri" panose="020F0502020204030204" pitchFamily="34" charset="0"/>
              </a:rPr>
              <a:t>CUSTOMER</a:t>
            </a:r>
          </a:p>
        </p:txBody>
      </p:sp>
      <p:cxnSp>
        <p:nvCxnSpPr>
          <p:cNvPr id="39" name="Straight Arrow Connector 38">
            <a:extLst>
              <a:ext uri="{FF2B5EF4-FFF2-40B4-BE49-F238E27FC236}">
                <a16:creationId xmlns:a16="http://schemas.microsoft.com/office/drawing/2014/main" id="{024DE45A-DCBF-7601-ECC2-21DBA5440304}"/>
              </a:ext>
            </a:extLst>
          </p:cNvPr>
          <p:cNvCxnSpPr/>
          <p:nvPr/>
        </p:nvCxnSpPr>
        <p:spPr>
          <a:xfrm>
            <a:off x="1397000" y="1828800"/>
            <a:ext cx="0" cy="6858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44800CC-25E2-A0F2-87F4-4B83CB7CCC59}"/>
              </a:ext>
            </a:extLst>
          </p:cNvPr>
          <p:cNvCxnSpPr/>
          <p:nvPr/>
        </p:nvCxnSpPr>
        <p:spPr>
          <a:xfrm>
            <a:off x="2641600" y="2832100"/>
            <a:ext cx="1270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B1EC7B89-1B8F-70E4-CCC0-CD83933695CF}"/>
              </a:ext>
            </a:extLst>
          </p:cNvPr>
          <p:cNvCxnSpPr/>
          <p:nvPr/>
        </p:nvCxnSpPr>
        <p:spPr>
          <a:xfrm flipV="1">
            <a:off x="2286000" y="1943100"/>
            <a:ext cx="0" cy="57150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88D3B399-1D8F-0A7B-19CB-8B99601E3793}"/>
              </a:ext>
            </a:extLst>
          </p:cNvPr>
          <p:cNvCxnSpPr/>
          <p:nvPr/>
        </p:nvCxnSpPr>
        <p:spPr>
          <a:xfrm>
            <a:off x="2286000" y="1943100"/>
            <a:ext cx="7416800" cy="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2F58AA17-A062-280D-1122-B87C2E7B89A2}"/>
              </a:ext>
            </a:extLst>
          </p:cNvPr>
          <p:cNvCxnSpPr/>
          <p:nvPr/>
        </p:nvCxnSpPr>
        <p:spPr>
          <a:xfrm>
            <a:off x="9702800" y="1943100"/>
            <a:ext cx="0" cy="5715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4683438F-C326-85B0-0947-BB751624001A}"/>
              </a:ext>
            </a:extLst>
          </p:cNvPr>
          <p:cNvCxnSpPr/>
          <p:nvPr/>
        </p:nvCxnSpPr>
        <p:spPr>
          <a:xfrm>
            <a:off x="3695700" y="3149600"/>
            <a:ext cx="0" cy="15240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9A86CD9C-5525-08B5-F7F6-3EEE4E4B12A9}"/>
              </a:ext>
            </a:extLst>
          </p:cNvPr>
          <p:cNvCxnSpPr/>
          <p:nvPr/>
        </p:nvCxnSpPr>
        <p:spPr>
          <a:xfrm flipH="1">
            <a:off x="1714500" y="3302000"/>
            <a:ext cx="1981200" cy="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8C018935-72DB-BCAF-0DFC-45490C517260}"/>
              </a:ext>
            </a:extLst>
          </p:cNvPr>
          <p:cNvCxnSpPr/>
          <p:nvPr/>
        </p:nvCxnSpPr>
        <p:spPr>
          <a:xfrm>
            <a:off x="1714500" y="3302000"/>
            <a:ext cx="0" cy="1778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6E1A885D-E7F4-F48C-4019-1105E66A9875}"/>
              </a:ext>
            </a:extLst>
          </p:cNvPr>
          <p:cNvCxnSpPr/>
          <p:nvPr/>
        </p:nvCxnSpPr>
        <p:spPr>
          <a:xfrm>
            <a:off x="2641600" y="3797300"/>
            <a:ext cx="1270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3BF19EB-0EB4-83A2-B2F5-94B9CFBE750A}"/>
              </a:ext>
            </a:extLst>
          </p:cNvPr>
          <p:cNvCxnSpPr/>
          <p:nvPr/>
        </p:nvCxnSpPr>
        <p:spPr>
          <a:xfrm flipH="1">
            <a:off x="4622800" y="3797300"/>
            <a:ext cx="9652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D825411F-F839-8AA5-C82A-C81401A8C701}"/>
              </a:ext>
            </a:extLst>
          </p:cNvPr>
          <p:cNvSpPr txBox="1"/>
          <p:nvPr/>
        </p:nvSpPr>
        <p:spPr>
          <a:xfrm>
            <a:off x="5054600" y="3543300"/>
            <a:ext cx="508000" cy="261610"/>
          </a:xfrm>
          <a:prstGeom prst="rect">
            <a:avLst/>
          </a:prstGeom>
          <a:noFill/>
        </p:spPr>
        <p:txBody>
          <a:bodyPr vert="horz" wrap="square" lIns="25400" rIns="25400" rtlCol="0">
            <a:spAutoFit/>
          </a:bodyPr>
          <a:lstStyle/>
          <a:p>
            <a:r>
              <a:rPr lang="en-US" sz="1100" b="1">
                <a:solidFill>
                  <a:srgbClr val="6EE7B7"/>
                </a:solidFill>
                <a:latin typeface="Calibri" panose="020F0502020204030204" pitchFamily="34" charset="0"/>
              </a:rPr>
              <a:t>pull</a:t>
            </a:r>
          </a:p>
        </p:txBody>
      </p:sp>
      <p:cxnSp>
        <p:nvCxnSpPr>
          <p:cNvPr id="50" name="Straight Arrow Connector 49">
            <a:extLst>
              <a:ext uri="{FF2B5EF4-FFF2-40B4-BE49-F238E27FC236}">
                <a16:creationId xmlns:a16="http://schemas.microsoft.com/office/drawing/2014/main" id="{CEC24BA4-F43E-1B7F-E408-440F7D05ACC5}"/>
              </a:ext>
            </a:extLst>
          </p:cNvPr>
          <p:cNvCxnSpPr/>
          <p:nvPr/>
        </p:nvCxnSpPr>
        <p:spPr>
          <a:xfrm>
            <a:off x="9702800" y="4114800"/>
            <a:ext cx="0" cy="139700"/>
          </a:xfrm>
          <a:prstGeom prst="straightConnector1">
            <a:avLst/>
          </a:prstGeom>
          <a:ln w="28575">
            <a:solidFill>
              <a:srgbClr val="FACC15"/>
            </a:solidFill>
            <a:tailEnd type="non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FF83CDCB-AA36-2162-4AF5-E0B0E390A35E}"/>
              </a:ext>
            </a:extLst>
          </p:cNvPr>
          <p:cNvCxnSpPr/>
          <p:nvPr/>
        </p:nvCxnSpPr>
        <p:spPr>
          <a:xfrm flipH="1">
            <a:off x="3695700" y="4254500"/>
            <a:ext cx="6007100" cy="0"/>
          </a:xfrm>
          <a:prstGeom prst="straightConnector1">
            <a:avLst/>
          </a:prstGeom>
          <a:ln w="28575">
            <a:solidFill>
              <a:srgbClr val="FACC15"/>
            </a:solidFill>
            <a:tailEnd type="non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20185805-A2A4-4A9B-1648-BB7A9E90F2E6}"/>
              </a:ext>
            </a:extLst>
          </p:cNvPr>
          <p:cNvCxnSpPr/>
          <p:nvPr/>
        </p:nvCxnSpPr>
        <p:spPr>
          <a:xfrm flipV="1">
            <a:off x="3695700" y="4114800"/>
            <a:ext cx="0" cy="13970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F8166EC-C53E-2C4E-6411-76DBEBCBBAC9}"/>
              </a:ext>
            </a:extLst>
          </p:cNvPr>
          <p:cNvSpPr txBox="1"/>
          <p:nvPr/>
        </p:nvSpPr>
        <p:spPr>
          <a:xfrm>
            <a:off x="609600" y="4876800"/>
            <a:ext cx="109728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Front Door serves either portal copy, and both call the same coordinator. Both workers pull their work from Service Bus over outbound TLS.</a:t>
            </a:r>
          </a:p>
        </p:txBody>
      </p:sp>
      <p:sp>
        <p:nvSpPr>
          <p:cNvPr id="54" name="Rectangle 53">
            <a:extLst>
              <a:ext uri="{FF2B5EF4-FFF2-40B4-BE49-F238E27FC236}">
                <a16:creationId xmlns:a16="http://schemas.microsoft.com/office/drawing/2014/main" id="{21E94787-3992-9AB9-49B2-19B60D9C3068}"/>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106EF971-9C28-04F8-8BA9-BD324748EC68}"/>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The order is complete only when both workers answer: AWS is inside the order path.</a:t>
            </a:r>
          </a:p>
        </p:txBody>
      </p:sp>
      <p:pic>
        <p:nvPicPr>
          <p:cNvPr id="57" name="SponsorBar" descr="CAS 2026 sponsors and #CloudAISummit2026">
            <a:extLst>
              <a:ext uri="{FF2B5EF4-FFF2-40B4-BE49-F238E27FC236}">
                <a16:creationId xmlns:a16="http://schemas.microsoft.com/office/drawing/2014/main" id="{E95B79EC-49C1-A57D-3215-4DE3C9F5B042}"/>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58" name="OrderBadge">
            <a:extLst>
              <a:ext uri="{FF2B5EF4-FFF2-40B4-BE49-F238E27FC236}">
                <a16:creationId xmlns:a16="http://schemas.microsoft.com/office/drawing/2014/main" id="{CD62CE58-A963-3D44-DCFA-9471EF64F7C8}"/>
              </a:ext>
            </a:extLst>
          </p:cNvPr>
          <p:cNvSpPr/>
          <p:nvPr/>
        </p:nvSpPr>
        <p:spPr>
          <a:xfrm>
            <a:off x="2413000" y="1651000"/>
            <a:ext cx="1524000" cy="2794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en-US" sz="1100" b="1">
                <a:solidFill>
                  <a:srgbClr val="0F172A"/>
                </a:solidFill>
                <a:latin typeface="Calibri" panose="020F0502020204030204" pitchFamily="34" charset="0"/>
              </a:rPr>
              <a:t>IIC-000042</a:t>
            </a:r>
          </a:p>
        </p:txBody>
      </p:sp>
      <p:sp>
        <p:nvSpPr>
          <p:cNvPr id="59" name="OrderBadgeDone">
            <a:extLst>
              <a:ext uri="{FF2B5EF4-FFF2-40B4-BE49-F238E27FC236}">
                <a16:creationId xmlns:a16="http://schemas.microsoft.com/office/drawing/2014/main" id="{3DAFEB2F-A08D-BDC1-7C81-295F208EB3A8}"/>
              </a:ext>
            </a:extLst>
          </p:cNvPr>
          <p:cNvSpPr/>
          <p:nvPr/>
        </p:nvSpPr>
        <p:spPr>
          <a:xfrm>
            <a:off x="787400" y="4127500"/>
            <a:ext cx="1905000" cy="2540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en-US" sz="1100" b="1">
                <a:solidFill>
                  <a:srgbClr val="0F172A"/>
                </a:solidFill>
                <a:latin typeface="Calibri" panose="020F0502020204030204" pitchFamily="34" charset="0"/>
              </a:rPr>
              <a:t>IIC-000042 · Completed</a:t>
            </a:r>
          </a:p>
        </p:txBody>
      </p:sp>
    </p:spTree>
    <p:extLst>
      <p:ext uri="{BB962C8B-B14F-4D97-AF65-F5344CB8AC3E}">
        <p14:creationId xmlns:p14="http://schemas.microsoft.com/office/powerpoint/2010/main" val="109168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Motion origin="layout" path="M 0 0 L -0.1198 0.1981 E" pathEditMode="relative">
                                      <p:cBhvr from="" to="">
                                        <p:cTn id="7" dur="600" fill="hold">
                                          <p:stCondLst>
                                            <p:cond delay="0"/>
                                          </p:stCondLst>
                                        </p:cTn>
                                        <p:tgtEl>
                                          <p:spTgt spid="58"/>
                                        </p:tgtEl>
                                        <p:attrNameLst>
                                          <p:attrName>ppt_x</p:attrName>
                                          <p:attrName>ppt_y</p:attrName>
                                        </p:attrNameLst>
                                      </p:cBhvr>
                                    </p:animMotion>
                                  </p:childTnLst>
                                </p:cTn>
                              </p:par>
                            </p:childTnLst>
                          </p:cTn>
                        </p:par>
                      </p:childTnLst>
                    </p:cTn>
                  </p:par>
                  <p:par>
                    <p:cTn id="8" fill="hold">
                      <p:stCondLst>
                        <p:cond delay="indefinite"/>
                      </p:stCondLst>
                      <p:childTnLst>
                        <p:par>
                          <p:cTn id="9" fill="hold">
                            <p:stCondLst>
                              <p:cond delay="0"/>
                            </p:stCondLst>
                            <p:childTnLst>
                              <p:par>
                                <p:cTn id="10" presetID="0" presetClass="entr" presetSubtype="0" fill="hold" grpId="1" nodeType="clickEffect">
                                  <p:stCondLst>
                                    <p:cond delay="0"/>
                                  </p:stCondLst>
                                  <p:childTnLst>
                                    <p:set>
                                      <p:cBhvr>
                                        <p:cTn id="11" dur="1" fill="hold">
                                          <p:stCondLst>
                                            <p:cond delay="0"/>
                                          </p:stCondLst>
                                        </p:cTn>
                                        <p:tgtEl>
                                          <p:spTgt spid="58"/>
                                        </p:tgtEl>
                                        <p:attrNameLst>
                                          <p:attrName>style.visibility</p:attrName>
                                        </p:attrNameLst>
                                      </p:cBhvr>
                                      <p:to>
                                        <p:strVal val="visible"/>
                                      </p:to>
                                    </p:set>
                                    <p:animMotion origin="layout" path="M -0.1198 0.1981 L 0.0427 0.1981 E" pathEditMode="relative">
                                      <p:cBhvr from="" to="">
                                        <p:cTn id="12" dur="600" fill="hold">
                                          <p:stCondLst>
                                            <p:cond delay="0"/>
                                          </p:stCondLst>
                                        </p:cTn>
                                        <p:tgtEl>
                                          <p:spTgt spid="5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0" presetClass="entr" presetSubtype="0" fill="hold" grpId="2" nodeType="clickEffect">
                                  <p:stCondLst>
                                    <p:cond delay="0"/>
                                  </p:stCondLst>
                                  <p:childTnLst>
                                    <p:set>
                                      <p:cBhvr>
                                        <p:cTn id="16" dur="1" fill="hold">
                                          <p:stCondLst>
                                            <p:cond delay="0"/>
                                          </p:stCondLst>
                                        </p:cTn>
                                        <p:tgtEl>
                                          <p:spTgt spid="58"/>
                                        </p:tgtEl>
                                        <p:attrNameLst>
                                          <p:attrName>style.visibility</p:attrName>
                                        </p:attrNameLst>
                                      </p:cBhvr>
                                      <p:to>
                                        <p:strVal val="visible"/>
                                      </p:to>
                                    </p:set>
                                    <p:animMotion origin="layout" path="M 0.0427 0.1981 L -0.1198 0.3389 E" pathEditMode="relative">
                                      <p:cBhvr from="" to="">
                                        <p:cTn id="17" dur="600" fill="hold">
                                          <p:stCondLst>
                                            <p:cond delay="0"/>
                                          </p:stCondLst>
                                        </p:cTn>
                                        <p:tgtEl>
                                          <p:spTgt spid="58"/>
                                        </p:tgtEl>
                                        <p:attrNameLst>
                                          <p:attrName>ppt_x</p:attrName>
                                          <p:attrName>ppt_y</p:attrName>
                                        </p:attrNameLst>
                                      </p:cBhvr>
                                    </p:animMotion>
                                  </p:childTnLst>
                                </p:cTn>
                              </p:par>
                            </p:childTnLst>
                          </p:cTn>
                        </p:par>
                      </p:childTnLst>
                    </p:cTn>
                  </p:par>
                  <p:par>
                    <p:cTn id="18" fill="hold">
                      <p:stCondLst>
                        <p:cond delay="indefinite"/>
                      </p:stCondLst>
                      <p:childTnLst>
                        <p:par>
                          <p:cTn id="19" fill="hold">
                            <p:stCondLst>
                              <p:cond delay="0"/>
                            </p:stCondLst>
                            <p:childTnLst>
                              <p:par>
                                <p:cTn id="20" presetID="0" presetClass="entr" presetSubtype="0" fill="hold" grpId="3" nodeType="clickEffect">
                                  <p:stCondLst>
                                    <p:cond delay="0"/>
                                  </p:stCondLst>
                                  <p:childTnLst>
                                    <p:set>
                                      <p:cBhvr>
                                        <p:cTn id="21" dur="1" fill="hold">
                                          <p:stCondLst>
                                            <p:cond delay="0"/>
                                          </p:stCondLst>
                                        </p:cTn>
                                        <p:tgtEl>
                                          <p:spTgt spid="58"/>
                                        </p:tgtEl>
                                        <p:attrNameLst>
                                          <p:attrName>style.visibility</p:attrName>
                                        </p:attrNameLst>
                                      </p:cBhvr>
                                      <p:to>
                                        <p:strVal val="visible"/>
                                      </p:to>
                                    </p:set>
                                    <p:animMotion origin="layout" path="M -0.1198 0.3389 L 0.0427 0.3389 E" pathEditMode="relative">
                                      <p:cBhvr from="" to="">
                                        <p:cTn id="22" dur="600" fill="hold">
                                          <p:stCondLst>
                                            <p:cond delay="0"/>
                                          </p:stCondLst>
                                        </p:cTn>
                                        <p:tgtEl>
                                          <p:spTgt spid="58"/>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0" presetClass="entr" presetSubtype="0" fill="hold" grpId="4" nodeType="clickEffect">
                                  <p:stCondLst>
                                    <p:cond delay="0"/>
                                  </p:stCondLst>
                                  <p:childTnLst>
                                    <p:set>
                                      <p:cBhvr>
                                        <p:cTn id="26" dur="1" fill="hold">
                                          <p:stCondLst>
                                            <p:cond delay="0"/>
                                          </p:stCondLst>
                                        </p:cTn>
                                        <p:tgtEl>
                                          <p:spTgt spid="58"/>
                                        </p:tgtEl>
                                        <p:attrNameLst>
                                          <p:attrName>style.visibility</p:attrName>
                                        </p:attrNameLst>
                                      </p:cBhvr>
                                      <p:to>
                                        <p:strVal val="visible"/>
                                      </p:to>
                                    </p:set>
                                    <p:animMotion origin="layout" path="M 0.0427 0.3389 L 0.276 0.3389 E" pathEditMode="relative">
                                      <p:cBhvr from="" to="">
                                        <p:cTn id="27" dur="600" fill="hold">
                                          <p:stCondLst>
                                            <p:cond delay="0"/>
                                          </p:stCondLst>
                                        </p:cTn>
                                        <p:tgtEl>
                                          <p:spTgt spid="58"/>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30" presetID="0" presetClass="entr" presetSubtype="0" fill="hold" grpId="5" nodeType="clickEffect">
                                  <p:stCondLst>
                                    <p:cond delay="0"/>
                                  </p:stCondLst>
                                  <p:childTnLst>
                                    <p:set>
                                      <p:cBhvr>
                                        <p:cTn id="31" dur="1" fill="hold">
                                          <p:stCondLst>
                                            <p:cond delay="0"/>
                                          </p:stCondLst>
                                        </p:cTn>
                                        <p:tgtEl>
                                          <p:spTgt spid="58"/>
                                        </p:tgtEl>
                                        <p:attrNameLst>
                                          <p:attrName>style.visibility</p:attrName>
                                        </p:attrNameLst>
                                      </p:cBhvr>
                                      <p:to>
                                        <p:strVal val="visible"/>
                                      </p:to>
                                    </p:set>
                                    <p:animMotion origin="layout" path="M 0.276 0.3389 L 0.5312 0.3389 E" pathEditMode="relative">
                                      <p:cBhvr from="" to="">
                                        <p:cTn id="32" dur="600" fill="hold">
                                          <p:stCondLst>
                                            <p:cond delay="0"/>
                                          </p:stCondLst>
                                        </p:cTn>
                                        <p:tgtEl>
                                          <p:spTgt spid="58"/>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0" presetClass="entr" presetSubtype="0" fill="hold" grpId="6" nodeType="clickEffect">
                                  <p:stCondLst>
                                    <p:cond delay="0"/>
                                  </p:stCondLst>
                                  <p:childTnLst>
                                    <p:set>
                                      <p:cBhvr>
                                        <p:cTn id="36" dur="1" fill="hold">
                                          <p:stCondLst>
                                            <p:cond delay="0"/>
                                          </p:stCondLst>
                                        </p:cTn>
                                        <p:tgtEl>
                                          <p:spTgt spid="58"/>
                                        </p:tgtEl>
                                        <p:attrNameLst>
                                          <p:attrName>style.visibility</p:attrName>
                                        </p:attrNameLst>
                                      </p:cBhvr>
                                      <p:to>
                                        <p:strVal val="visible"/>
                                      </p:to>
                                    </p:set>
                                    <p:animMotion origin="layout" path="M 0.5312 0.3389 L -0.1333 0.3611 E" pathEditMode="relative">
                                      <p:cBhvr from="" to="">
                                        <p:cTn id="37" dur="600" fill="hold">
                                          <p:stCondLst>
                                            <p:cond delay="0"/>
                                          </p:stCondLst>
                                        </p:cTn>
                                        <p:tgtEl>
                                          <p:spTgt spid="58"/>
                                        </p:tgtEl>
                                        <p:attrNameLst>
                                          <p:attrName>ppt_x</p:attrName>
                                          <p:attrName>ppt_y</p:attrName>
                                        </p:attrNameLst>
                                      </p:cBhvr>
                                    </p:animMotion>
                                  </p:childTnLst>
                                </p:cTn>
                              </p:par>
                            </p:childTnLst>
                          </p:cTn>
                        </p:par>
                        <p:par>
                          <p:cTn id="38" fill="hold">
                            <p:stCondLst>
                              <p:cond delay="600"/>
                            </p:stCondLst>
                            <p:childTnLst>
                              <p:par>
                                <p:cTn id="39" presetID="1" presetClass="exit" presetSubtype="0" fill="hold" grpId="7" nodeType="afterEffect">
                                  <p:stCondLst>
                                    <p:cond delay="0"/>
                                  </p:stCondLst>
                                  <p:childTnLst>
                                    <p:set>
                                      <p:cBhvr>
                                        <p:cTn id="40" dur="1" fill="hold">
                                          <p:stCondLst>
                                            <p:cond delay="0"/>
                                          </p:stCondLst>
                                        </p:cTn>
                                        <p:tgtEl>
                                          <p:spTgt spid="58"/>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8" grpId="2" animBg="1"/>
      <p:bldP spid="58" grpId="3" animBg="1"/>
      <p:bldP spid="58" grpId="4" animBg="1"/>
      <p:bldP spid="58" grpId="5" animBg="1"/>
      <p:bldP spid="58" grpId="6" animBg="1"/>
      <p:bldP spid="58" grpId="7" animBg="1"/>
      <p:bldP spid="5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066F4F-8C0C-BDC6-7733-F30F2D819FB4}"/>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714E275-7A9F-28DB-DB48-EC2E740325D9}"/>
              </a:ext>
            </a:extLst>
          </p:cNvPr>
          <p:cNvSpPr/>
          <p:nvPr/>
        </p:nvSpPr>
        <p:spPr>
          <a:xfrm>
            <a:off x="0" y="1549400"/>
            <a:ext cx="12192000" cy="50800"/>
          </a:xfrm>
          <a:prstGeom prst="rect">
            <a:avLst/>
          </a:prstGeom>
          <a:solidFill>
            <a:srgbClr val="6EE7B7"/>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7DAF890-77CC-DC3F-AD47-EB972C1836E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an order depends on</a:t>
            </a:r>
          </a:p>
        </p:txBody>
      </p:sp>
      <p:sp>
        <p:nvSpPr>
          <p:cNvPr id="5" name="Rectangle 4">
            <a:extLst>
              <a:ext uri="{FF2B5EF4-FFF2-40B4-BE49-F238E27FC236}">
                <a16:creationId xmlns:a16="http://schemas.microsoft.com/office/drawing/2014/main" id="{9B7D88F2-4909-ECDE-12DB-A8AE918A6CAB}"/>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F4B310F-6881-3203-3AE7-6C9DFCF77D88}"/>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What does one order depend on, and which of those parts are required?</a:t>
            </a:r>
          </a:p>
        </p:txBody>
      </p:sp>
      <p:sp>
        <p:nvSpPr>
          <p:cNvPr id="7" name="SectionTag">
            <a:extLst>
              <a:ext uri="{FF2B5EF4-FFF2-40B4-BE49-F238E27FC236}">
                <a16:creationId xmlns:a16="http://schemas.microsoft.com/office/drawing/2014/main" id="{8CC8A861-62F4-8115-2179-9A2819932366}"/>
              </a:ext>
            </a:extLst>
          </p:cNvPr>
          <p:cNvSpPr/>
          <p:nvPr/>
        </p:nvSpPr>
        <p:spPr>
          <a:xfrm>
            <a:off x="9042400" y="330200"/>
            <a:ext cx="2540000" cy="3302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1 · DEFINE THE SERVICE</a:t>
            </a:r>
          </a:p>
        </p:txBody>
      </p:sp>
      <p:sp>
        <p:nvSpPr>
          <p:cNvPr id="8" name="Rectangle: Rounded Corners 7">
            <a:extLst>
              <a:ext uri="{FF2B5EF4-FFF2-40B4-BE49-F238E27FC236}">
                <a16:creationId xmlns:a16="http://schemas.microsoft.com/office/drawing/2014/main" id="{3D306A20-B60E-0ECB-C895-AAA65D65B587}"/>
              </a:ext>
            </a:extLst>
          </p:cNvPr>
          <p:cNvSpPr/>
          <p:nvPr/>
        </p:nvSpPr>
        <p:spPr>
          <a:xfrm>
            <a:off x="508000" y="2540000"/>
            <a:ext cx="1905000" cy="8890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CUSTOMER
places an order</a:t>
            </a:r>
          </a:p>
        </p:txBody>
      </p:sp>
      <p:cxnSp>
        <p:nvCxnSpPr>
          <p:cNvPr id="9" name="Straight Arrow Connector 8">
            <a:extLst>
              <a:ext uri="{FF2B5EF4-FFF2-40B4-BE49-F238E27FC236}">
                <a16:creationId xmlns:a16="http://schemas.microsoft.com/office/drawing/2014/main" id="{D496274C-D1E6-9DD0-3684-CE2CDBBBBA04}"/>
              </a:ext>
            </a:extLst>
          </p:cNvPr>
          <p:cNvCxnSpPr/>
          <p:nvPr/>
        </p:nvCxnSpPr>
        <p:spPr>
          <a:xfrm>
            <a:off x="2413000" y="2984500"/>
            <a:ext cx="4064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03C9E24B-19DA-AD4F-B7A8-0E89D7F0F5DD}"/>
              </a:ext>
            </a:extLst>
          </p:cNvPr>
          <p:cNvSpPr/>
          <p:nvPr/>
        </p:nvSpPr>
        <p:spPr>
          <a:xfrm>
            <a:off x="2819400" y="2540000"/>
            <a:ext cx="1778000" cy="889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PORTAL
either copy</a:t>
            </a:r>
          </a:p>
        </p:txBody>
      </p:sp>
      <p:sp>
        <p:nvSpPr>
          <p:cNvPr id="11" name="TextBox 10">
            <a:extLst>
              <a:ext uri="{FF2B5EF4-FFF2-40B4-BE49-F238E27FC236}">
                <a16:creationId xmlns:a16="http://schemas.microsoft.com/office/drawing/2014/main" id="{280BD4C1-7617-D8F5-D5B3-E487031DC949}"/>
              </a:ext>
            </a:extLst>
          </p:cNvPr>
          <p:cNvSpPr txBox="1"/>
          <p:nvPr/>
        </p:nvSpPr>
        <p:spPr>
          <a:xfrm>
            <a:off x="2819400" y="3479800"/>
            <a:ext cx="2286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REQUIRED</a:t>
            </a:r>
          </a:p>
        </p:txBody>
      </p:sp>
      <p:cxnSp>
        <p:nvCxnSpPr>
          <p:cNvPr id="12" name="Straight Arrow Connector 11">
            <a:extLst>
              <a:ext uri="{FF2B5EF4-FFF2-40B4-BE49-F238E27FC236}">
                <a16:creationId xmlns:a16="http://schemas.microsoft.com/office/drawing/2014/main" id="{520318F4-F7F1-D2D3-78E4-69A5BF426D5E}"/>
              </a:ext>
            </a:extLst>
          </p:cNvPr>
          <p:cNvCxnSpPr/>
          <p:nvPr/>
        </p:nvCxnSpPr>
        <p:spPr>
          <a:xfrm>
            <a:off x="4597400" y="2984500"/>
            <a:ext cx="4064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418A4505-7322-8FFE-199A-C6B5C013214C}"/>
              </a:ext>
            </a:extLst>
          </p:cNvPr>
          <p:cNvSpPr/>
          <p:nvPr/>
        </p:nvSpPr>
        <p:spPr>
          <a:xfrm>
            <a:off x="5003800" y="2540000"/>
            <a:ext cx="2286000" cy="889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COORDINATOR
Functions + Service Bus</a:t>
            </a:r>
          </a:p>
        </p:txBody>
      </p:sp>
      <p:sp>
        <p:nvSpPr>
          <p:cNvPr id="14" name="TextBox 13">
            <a:extLst>
              <a:ext uri="{FF2B5EF4-FFF2-40B4-BE49-F238E27FC236}">
                <a16:creationId xmlns:a16="http://schemas.microsoft.com/office/drawing/2014/main" id="{F6619853-BA70-A608-84A6-B19B1944B8C2}"/>
              </a:ext>
            </a:extLst>
          </p:cNvPr>
          <p:cNvSpPr txBox="1"/>
          <p:nvPr/>
        </p:nvSpPr>
        <p:spPr>
          <a:xfrm>
            <a:off x="5003800" y="3479800"/>
            <a:ext cx="2286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REQUIRED</a:t>
            </a:r>
          </a:p>
        </p:txBody>
      </p:sp>
      <p:cxnSp>
        <p:nvCxnSpPr>
          <p:cNvPr id="15" name="Straight Arrow Connector 14">
            <a:extLst>
              <a:ext uri="{FF2B5EF4-FFF2-40B4-BE49-F238E27FC236}">
                <a16:creationId xmlns:a16="http://schemas.microsoft.com/office/drawing/2014/main" id="{B70CB0B2-41C3-8DEB-60C6-D07B1FAA098E}"/>
              </a:ext>
            </a:extLst>
          </p:cNvPr>
          <p:cNvCxnSpPr/>
          <p:nvPr/>
        </p:nvCxnSpPr>
        <p:spPr>
          <a:xfrm flipV="1">
            <a:off x="7289800" y="2387600"/>
            <a:ext cx="838200" cy="4699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AEB183E5-82F9-230C-BF8A-F5AACF72AC8E}"/>
              </a:ext>
            </a:extLst>
          </p:cNvPr>
          <p:cNvSpPr/>
          <p:nvPr/>
        </p:nvSpPr>
        <p:spPr>
          <a:xfrm>
            <a:off x="8128000" y="2032000"/>
            <a:ext cx="2794000" cy="711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VALIDATION
on-premises worker</a:t>
            </a:r>
          </a:p>
        </p:txBody>
      </p:sp>
      <p:sp>
        <p:nvSpPr>
          <p:cNvPr id="17" name="TextBox 16">
            <a:extLst>
              <a:ext uri="{FF2B5EF4-FFF2-40B4-BE49-F238E27FC236}">
                <a16:creationId xmlns:a16="http://schemas.microsoft.com/office/drawing/2014/main" id="{20CDBDC6-7D4C-12F1-949B-BB76A0E84F78}"/>
              </a:ext>
            </a:extLst>
          </p:cNvPr>
          <p:cNvSpPr txBox="1"/>
          <p:nvPr/>
        </p:nvSpPr>
        <p:spPr>
          <a:xfrm>
            <a:off x="8128000" y="2768600"/>
            <a:ext cx="2794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REQUIRED</a:t>
            </a:r>
          </a:p>
        </p:txBody>
      </p:sp>
      <p:cxnSp>
        <p:nvCxnSpPr>
          <p:cNvPr id="18" name="Straight Arrow Connector 17">
            <a:extLst>
              <a:ext uri="{FF2B5EF4-FFF2-40B4-BE49-F238E27FC236}">
                <a16:creationId xmlns:a16="http://schemas.microsoft.com/office/drawing/2014/main" id="{78266637-CA9A-280A-E0EC-57C51F2906B9}"/>
              </a:ext>
            </a:extLst>
          </p:cNvPr>
          <p:cNvCxnSpPr/>
          <p:nvPr/>
        </p:nvCxnSpPr>
        <p:spPr>
          <a:xfrm>
            <a:off x="7289800" y="3111500"/>
            <a:ext cx="838200" cy="4953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3537D83E-AEDA-F7B3-50DA-25B1D5A8FC94}"/>
              </a:ext>
            </a:extLst>
          </p:cNvPr>
          <p:cNvSpPr/>
          <p:nvPr/>
        </p:nvSpPr>
        <p:spPr>
          <a:xfrm>
            <a:off x="8128000" y="3251200"/>
            <a:ext cx="27940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FULFILLMENT
AWS worker</a:t>
            </a:r>
          </a:p>
        </p:txBody>
      </p:sp>
      <p:sp>
        <p:nvSpPr>
          <p:cNvPr id="20" name="TextBox 19">
            <a:extLst>
              <a:ext uri="{FF2B5EF4-FFF2-40B4-BE49-F238E27FC236}">
                <a16:creationId xmlns:a16="http://schemas.microsoft.com/office/drawing/2014/main" id="{15EB73C4-58D2-F527-F644-A5D51292C36E}"/>
              </a:ext>
            </a:extLst>
          </p:cNvPr>
          <p:cNvSpPr txBox="1"/>
          <p:nvPr/>
        </p:nvSpPr>
        <p:spPr>
          <a:xfrm>
            <a:off x="8128000" y="3987800"/>
            <a:ext cx="2794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REQUIRED</a:t>
            </a:r>
          </a:p>
        </p:txBody>
      </p:sp>
      <p:sp>
        <p:nvSpPr>
          <p:cNvPr id="21" name="TextBox 20">
            <a:extLst>
              <a:ext uri="{FF2B5EF4-FFF2-40B4-BE49-F238E27FC236}">
                <a16:creationId xmlns:a16="http://schemas.microsoft.com/office/drawing/2014/main" id="{7F87F650-9783-7598-B159-07ACBE5086A6}"/>
              </a:ext>
            </a:extLst>
          </p:cNvPr>
          <p:cNvSpPr txBox="1"/>
          <p:nvPr/>
        </p:nvSpPr>
        <p:spPr>
          <a:xfrm>
            <a:off x="609600" y="4470400"/>
            <a:ext cx="109728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A dependency is part of the service definition: if any one of these is missing, there is no order.</a:t>
            </a:r>
          </a:p>
        </p:txBody>
      </p:sp>
      <p:sp>
        <p:nvSpPr>
          <p:cNvPr id="22" name="Rectangle: Rounded Corners 21">
            <a:extLst>
              <a:ext uri="{FF2B5EF4-FFF2-40B4-BE49-F238E27FC236}">
                <a16:creationId xmlns:a16="http://schemas.microsoft.com/office/drawing/2014/main" id="{41100D96-15DE-81DB-7DE8-46D86A071D5C}"/>
              </a:ext>
            </a:extLst>
          </p:cNvPr>
          <p:cNvSpPr/>
          <p:nvPr/>
        </p:nvSpPr>
        <p:spPr>
          <a:xfrm>
            <a:off x="609600" y="4876800"/>
            <a:ext cx="10972800" cy="7620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An IIC order depends on four parts in three places: the portal (Azure or AWS), the coordinator (Azure), validation (on-premises) and fulfillment (AWS).</a:t>
            </a:r>
          </a:p>
        </p:txBody>
      </p:sp>
      <p:sp>
        <p:nvSpPr>
          <p:cNvPr id="23" name="Rectangle 22">
            <a:extLst>
              <a:ext uri="{FF2B5EF4-FFF2-40B4-BE49-F238E27FC236}">
                <a16:creationId xmlns:a16="http://schemas.microsoft.com/office/drawing/2014/main" id="{1BBD262E-2424-78C0-185F-85808EA7196B}"/>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5940586-8973-4AD3-99EF-9E3A843E375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Define the service as everything an order must pass through, not as the servers you own.</a:t>
            </a:r>
          </a:p>
        </p:txBody>
      </p:sp>
      <p:pic>
        <p:nvPicPr>
          <p:cNvPr id="26" name="SponsorBar" descr="CAS 2026 sponsors and #CloudAISummit2026">
            <a:extLst>
              <a:ext uri="{FF2B5EF4-FFF2-40B4-BE49-F238E27FC236}">
                <a16:creationId xmlns:a16="http://schemas.microsoft.com/office/drawing/2014/main" id="{5DCF9442-C137-1956-9677-4D1CDD6FB9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917927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3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3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3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3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3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3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3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3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3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animBg="1"/>
      <p:bldP spid="14" grpId="0"/>
      <p:bldP spid="16" grpId="0" animBg="1"/>
      <p:bldP spid="17" grpId="0"/>
      <p:bldP spid="19" grpId="0" animBg="1"/>
      <p:bldP spid="20" grpId="0"/>
      <p:bldP spid="21" grpId="0"/>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3E3BFB-8A90-DEF0-5460-F68E64E3A518}"/>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E65EC33-95DC-D7DD-7206-6E280A3F5425}"/>
              </a:ext>
            </a:extLst>
          </p:cNvPr>
          <p:cNvSpPr/>
          <p:nvPr/>
        </p:nvSpPr>
        <p:spPr>
          <a:xfrm>
            <a:off x="0" y="1549400"/>
            <a:ext cx="12192000" cy="50800"/>
          </a:xfrm>
          <a:prstGeom prst="rect">
            <a:avLst/>
          </a:prstGeom>
          <a:solidFill>
            <a:srgbClr val="FB923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387C9D-1485-6161-C8B4-F4E34CD4698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2 · See the parts Microsoft doesn't host</a:t>
            </a:r>
          </a:p>
        </p:txBody>
      </p:sp>
      <p:sp>
        <p:nvSpPr>
          <p:cNvPr id="5" name="Rectangle 4">
            <a:extLst>
              <a:ext uri="{FF2B5EF4-FFF2-40B4-BE49-F238E27FC236}">
                <a16:creationId xmlns:a16="http://schemas.microsoft.com/office/drawing/2014/main" id="{6D99B75C-A912-C617-0B7B-75150545FC99}"/>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53ABFEDB-F217-B586-F73B-551B59CFDED5}"/>
              </a:ext>
            </a:extLst>
          </p:cNvPr>
          <p:cNvSpPr/>
          <p:nvPr/>
        </p:nvSpPr>
        <p:spPr>
          <a:xfrm>
            <a:off x="9042400" y="330200"/>
            <a:ext cx="25400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2 · SEE EVERY PART</a:t>
            </a:r>
          </a:p>
        </p:txBody>
      </p:sp>
      <p:sp>
        <p:nvSpPr>
          <p:cNvPr id="7" name="TextBox 6">
            <a:extLst>
              <a:ext uri="{FF2B5EF4-FFF2-40B4-BE49-F238E27FC236}">
                <a16:creationId xmlns:a16="http://schemas.microsoft.com/office/drawing/2014/main" id="{7B4642D1-0273-47CA-E25B-8965BBD0B844}"/>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FB923C"/>
                </a:solidFill>
                <a:latin typeface="Calibri" panose="020F0502020204030204" pitchFamily="34" charset="0"/>
              </a:rPr>
              <a:t>2</a:t>
            </a:r>
          </a:p>
        </p:txBody>
      </p:sp>
      <p:sp>
        <p:nvSpPr>
          <p:cNvPr id="8" name="TextBox 7">
            <a:extLst>
              <a:ext uri="{FF2B5EF4-FFF2-40B4-BE49-F238E27FC236}">
                <a16:creationId xmlns:a16="http://schemas.microsoft.com/office/drawing/2014/main" id="{1743DA0A-CA88-47ED-0B64-140C2DD1E2AF}"/>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6AF2D3F7-DD3D-C55C-8116-31B72B151522}"/>
              </a:ext>
            </a:extLst>
          </p:cNvPr>
          <p:cNvSpPr txBox="1"/>
          <p:nvPr/>
        </p:nvSpPr>
        <p:spPr>
          <a:xfrm>
            <a:off x="2413000" y="1778000"/>
            <a:ext cx="9169400" cy="830997"/>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The architecture shows what should exist. Can we actually see every part of it?</a:t>
            </a:r>
          </a:p>
        </p:txBody>
      </p:sp>
      <p:sp>
        <p:nvSpPr>
          <p:cNvPr id="10" name="TextBox 9">
            <a:extLst>
              <a:ext uri="{FF2B5EF4-FFF2-40B4-BE49-F238E27FC236}">
                <a16:creationId xmlns:a16="http://schemas.microsoft.com/office/drawing/2014/main" id="{C146629A-2DE2-19AB-E30E-86548D2EE382}"/>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143EBCDE-6A30-1557-3F84-D93FAACF83AF}"/>
              </a:ext>
            </a:extLst>
          </p:cNvPr>
          <p:cNvSpPr txBox="1"/>
          <p:nvPr/>
        </p:nvSpPr>
        <p:spPr>
          <a:xfrm>
            <a:off x="2413000" y="3048000"/>
            <a:ext cx="9169400" cy="523220"/>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How Azure Arc makes an on-premises or AWS machine visible to Azure Monitor, where the evidence lands, and how one order is followed across all three places by one ID.</a:t>
            </a:r>
          </a:p>
        </p:txBody>
      </p:sp>
      <p:sp>
        <p:nvSpPr>
          <p:cNvPr id="12" name="TextBox 11">
            <a:extLst>
              <a:ext uri="{FF2B5EF4-FFF2-40B4-BE49-F238E27FC236}">
                <a16:creationId xmlns:a16="http://schemas.microsoft.com/office/drawing/2014/main" id="{735C2B69-44FE-50C0-0CFC-2929EEB8BFD6}"/>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8260C764-4029-1D65-9667-2253A140BD00}"/>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 server connected to Arc is not the same as evidence arriving, and every later view depends on it.</a:t>
            </a:r>
          </a:p>
        </p:txBody>
      </p:sp>
      <p:sp>
        <p:nvSpPr>
          <p:cNvPr id="14" name="TextBox 13">
            <a:extLst>
              <a:ext uri="{FF2B5EF4-FFF2-40B4-BE49-F238E27FC236}">
                <a16:creationId xmlns:a16="http://schemas.microsoft.com/office/drawing/2014/main" id="{335E654A-48A7-E8B8-D95C-A6D0B076288B}"/>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BDC18541-70D5-CC50-F92F-D3C6BD93AF5D}"/>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the evidence that everything else depends on</a:t>
            </a:r>
          </a:p>
        </p:txBody>
      </p:sp>
      <p:sp>
        <p:nvSpPr>
          <p:cNvPr id="16" name="Rectangle: Rounded Corners 15">
            <a:extLst>
              <a:ext uri="{FF2B5EF4-FFF2-40B4-BE49-F238E27FC236}">
                <a16:creationId xmlns:a16="http://schemas.microsoft.com/office/drawing/2014/main" id="{C8523084-910D-3C0D-2B4E-99A1469BA42E}"/>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1CD2ECD5-1DD1-55F0-F396-4FBD6A3E1FB5}"/>
              </a:ext>
            </a:extLst>
          </p:cNvPr>
          <p:cNvSpPr/>
          <p:nvPr/>
        </p:nvSpPr>
        <p:spPr>
          <a:xfrm>
            <a:off x="2463800" y="5334000"/>
            <a:ext cx="1752600" cy="508000"/>
          </a:xfrm>
          <a:prstGeom prst="roundRect">
            <a:avLst/>
          </a:prstGeom>
          <a:solidFill>
            <a:srgbClr val="FB923C"/>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55482C6C-327A-B28C-8195-5046E0A995C0}"/>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E36EBC0B-6F9B-3F62-9D95-189916F17C72}"/>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277B7AC3-B43B-999F-372A-582FFC6235E9}"/>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B200ACBF-7DA3-A7B1-D0DC-6BF75F964AF4}"/>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1833E16C-6D7B-B1B1-A383-8CD2DC01E8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78962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402E80-94D3-5D33-3E7C-294138EF4567}"/>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4169654-5295-8F9E-E93C-2A740613DD41}"/>
              </a:ext>
            </a:extLst>
          </p:cNvPr>
          <p:cNvSpPr/>
          <p:nvPr/>
        </p:nvSpPr>
        <p:spPr>
          <a:xfrm>
            <a:off x="0" y="1549400"/>
            <a:ext cx="12192000" cy="50800"/>
          </a:xfrm>
          <a:prstGeom prst="rect">
            <a:avLst/>
          </a:prstGeom>
          <a:solidFill>
            <a:srgbClr val="FB923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F7EB7FF-5667-16FD-5071-4422BE01DA9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How a machine anywhere becomes visible</a:t>
            </a:r>
          </a:p>
        </p:txBody>
      </p:sp>
      <p:sp>
        <p:nvSpPr>
          <p:cNvPr id="5" name="Rectangle 4">
            <a:extLst>
              <a:ext uri="{FF2B5EF4-FFF2-40B4-BE49-F238E27FC236}">
                <a16:creationId xmlns:a16="http://schemas.microsoft.com/office/drawing/2014/main" id="{2FC088F7-D79E-C54D-5DB0-4664563A0488}"/>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A4D8733-3C22-283E-B4AB-6340860AED09}"/>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Azure Arc makes an on-premises or AWS machine an Azure resource; the Azure Monitor Agent sends its evidence to one workspace.</a:t>
            </a:r>
          </a:p>
        </p:txBody>
      </p:sp>
      <p:sp>
        <p:nvSpPr>
          <p:cNvPr id="7" name="SectionTag">
            <a:extLst>
              <a:ext uri="{FF2B5EF4-FFF2-40B4-BE49-F238E27FC236}">
                <a16:creationId xmlns:a16="http://schemas.microsoft.com/office/drawing/2014/main" id="{1A29778E-C394-16DA-C599-F04608558A8A}"/>
              </a:ext>
            </a:extLst>
          </p:cNvPr>
          <p:cNvSpPr/>
          <p:nvPr/>
        </p:nvSpPr>
        <p:spPr>
          <a:xfrm>
            <a:off x="9042400" y="330200"/>
            <a:ext cx="25400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2 · SEE EVERY PART</a:t>
            </a:r>
          </a:p>
        </p:txBody>
      </p:sp>
      <p:sp>
        <p:nvSpPr>
          <p:cNvPr id="8" name="TextBox 7">
            <a:extLst>
              <a:ext uri="{FF2B5EF4-FFF2-40B4-BE49-F238E27FC236}">
                <a16:creationId xmlns:a16="http://schemas.microsoft.com/office/drawing/2014/main" id="{B5BB4EEB-E545-4EE7-ECF8-DF12C3876DA4}"/>
              </a:ext>
            </a:extLst>
          </p:cNvPr>
          <p:cNvSpPr txBox="1"/>
          <p:nvPr/>
        </p:nvSpPr>
        <p:spPr>
          <a:xfrm>
            <a:off x="609600" y="1625600"/>
            <a:ext cx="254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SOURCE</a:t>
            </a:r>
          </a:p>
        </p:txBody>
      </p:sp>
      <p:sp>
        <p:nvSpPr>
          <p:cNvPr id="9" name="TextBox 8">
            <a:extLst>
              <a:ext uri="{FF2B5EF4-FFF2-40B4-BE49-F238E27FC236}">
                <a16:creationId xmlns:a16="http://schemas.microsoft.com/office/drawing/2014/main" id="{6992E591-A3A8-B14A-6581-AA2FF4FF88F6}"/>
              </a:ext>
            </a:extLst>
          </p:cNvPr>
          <p:cNvSpPr txBox="1"/>
          <p:nvPr/>
        </p:nvSpPr>
        <p:spPr>
          <a:xfrm>
            <a:off x="3429000" y="1625600"/>
            <a:ext cx="254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HOW IT BECOMES VISIBLE</a:t>
            </a:r>
          </a:p>
        </p:txBody>
      </p:sp>
      <p:sp>
        <p:nvSpPr>
          <p:cNvPr id="10" name="TextBox 9">
            <a:extLst>
              <a:ext uri="{FF2B5EF4-FFF2-40B4-BE49-F238E27FC236}">
                <a16:creationId xmlns:a16="http://schemas.microsoft.com/office/drawing/2014/main" id="{D15BF223-A063-C1F4-065D-0AD9E9A9194C}"/>
              </a:ext>
            </a:extLst>
          </p:cNvPr>
          <p:cNvSpPr txBox="1"/>
          <p:nvPr/>
        </p:nvSpPr>
        <p:spPr>
          <a:xfrm>
            <a:off x="6248400" y="1625600"/>
            <a:ext cx="254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WHAT IT SENDS</a:t>
            </a:r>
          </a:p>
        </p:txBody>
      </p:sp>
      <p:sp>
        <p:nvSpPr>
          <p:cNvPr id="11" name="TextBox 10">
            <a:extLst>
              <a:ext uri="{FF2B5EF4-FFF2-40B4-BE49-F238E27FC236}">
                <a16:creationId xmlns:a16="http://schemas.microsoft.com/office/drawing/2014/main" id="{994E5C2D-319C-6C65-7141-BC81774C7F17}"/>
              </a:ext>
            </a:extLst>
          </p:cNvPr>
          <p:cNvSpPr txBox="1"/>
          <p:nvPr/>
        </p:nvSpPr>
        <p:spPr>
          <a:xfrm>
            <a:off x="9067800" y="1625600"/>
            <a:ext cx="25146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ONE PLACE</a:t>
            </a:r>
          </a:p>
        </p:txBody>
      </p:sp>
      <p:sp>
        <p:nvSpPr>
          <p:cNvPr id="12" name="Rectangle: Rounded Corners 11">
            <a:extLst>
              <a:ext uri="{FF2B5EF4-FFF2-40B4-BE49-F238E27FC236}">
                <a16:creationId xmlns:a16="http://schemas.microsoft.com/office/drawing/2014/main" id="{E97D68A4-7964-C4E1-627B-0DAE0BAFD8FA}"/>
              </a:ext>
            </a:extLst>
          </p:cNvPr>
          <p:cNvSpPr/>
          <p:nvPr/>
        </p:nvSpPr>
        <p:spPr>
          <a:xfrm>
            <a:off x="609600" y="1905000"/>
            <a:ext cx="2540000" cy="838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Coordinator
Azure Functions</a:t>
            </a:r>
          </a:p>
        </p:txBody>
      </p:sp>
      <p:cxnSp>
        <p:nvCxnSpPr>
          <p:cNvPr id="13" name="Straight Arrow Connector 12">
            <a:extLst>
              <a:ext uri="{FF2B5EF4-FFF2-40B4-BE49-F238E27FC236}">
                <a16:creationId xmlns:a16="http://schemas.microsoft.com/office/drawing/2014/main" id="{594E7857-C3B7-B621-FCAF-B0DEFE35D023}"/>
              </a:ext>
            </a:extLst>
          </p:cNvPr>
          <p:cNvCxnSpPr/>
          <p:nvPr/>
        </p:nvCxnSpPr>
        <p:spPr>
          <a:xfrm>
            <a:off x="3149600" y="2324100"/>
            <a:ext cx="2794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B8BB0DC8-28C0-0331-D30C-221B93C3D43B}"/>
              </a:ext>
            </a:extLst>
          </p:cNvPr>
          <p:cNvSpPr/>
          <p:nvPr/>
        </p:nvSpPr>
        <p:spPr>
          <a:xfrm>
            <a:off x="3429000" y="1905000"/>
            <a:ext cx="2540000" cy="838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Already an Azure resource</a:t>
            </a:r>
          </a:p>
        </p:txBody>
      </p:sp>
      <p:cxnSp>
        <p:nvCxnSpPr>
          <p:cNvPr id="15" name="Straight Arrow Connector 14">
            <a:extLst>
              <a:ext uri="{FF2B5EF4-FFF2-40B4-BE49-F238E27FC236}">
                <a16:creationId xmlns:a16="http://schemas.microsoft.com/office/drawing/2014/main" id="{6070D577-E1BB-01BC-684C-B6374E409B3D}"/>
              </a:ext>
            </a:extLst>
          </p:cNvPr>
          <p:cNvCxnSpPr/>
          <p:nvPr/>
        </p:nvCxnSpPr>
        <p:spPr>
          <a:xfrm>
            <a:off x="5969000" y="2324100"/>
            <a:ext cx="2794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1E548B77-0D03-AFD6-EAAE-AF2161D14787}"/>
              </a:ext>
            </a:extLst>
          </p:cNvPr>
          <p:cNvSpPr/>
          <p:nvPr/>
        </p:nvSpPr>
        <p:spPr>
          <a:xfrm>
            <a:off x="6248400" y="1905000"/>
            <a:ext cx="2540000" cy="838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Application Insights
+ order stage records</a:t>
            </a:r>
          </a:p>
        </p:txBody>
      </p:sp>
      <p:cxnSp>
        <p:nvCxnSpPr>
          <p:cNvPr id="17" name="Straight Arrow Connector 16">
            <a:extLst>
              <a:ext uri="{FF2B5EF4-FFF2-40B4-BE49-F238E27FC236}">
                <a16:creationId xmlns:a16="http://schemas.microsoft.com/office/drawing/2014/main" id="{488178FC-A0E5-74F4-C651-8F23966E2C46}"/>
              </a:ext>
            </a:extLst>
          </p:cNvPr>
          <p:cNvCxnSpPr/>
          <p:nvPr/>
        </p:nvCxnSpPr>
        <p:spPr>
          <a:xfrm>
            <a:off x="8788400" y="2324100"/>
            <a:ext cx="2794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000733A6-903A-AC22-53FA-546B7C917D21}"/>
              </a:ext>
            </a:extLst>
          </p:cNvPr>
          <p:cNvSpPr/>
          <p:nvPr/>
        </p:nvSpPr>
        <p:spPr>
          <a:xfrm>
            <a:off x="609600" y="2946400"/>
            <a:ext cx="2540000" cy="838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Validation worker
cas26-lnx01, on-premises</a:t>
            </a:r>
          </a:p>
        </p:txBody>
      </p:sp>
      <p:cxnSp>
        <p:nvCxnSpPr>
          <p:cNvPr id="19" name="Straight Arrow Connector 18">
            <a:extLst>
              <a:ext uri="{FF2B5EF4-FFF2-40B4-BE49-F238E27FC236}">
                <a16:creationId xmlns:a16="http://schemas.microsoft.com/office/drawing/2014/main" id="{EE542BDC-5FC3-A9CA-2894-3D102A592928}"/>
              </a:ext>
            </a:extLst>
          </p:cNvPr>
          <p:cNvCxnSpPr/>
          <p:nvPr/>
        </p:nvCxnSpPr>
        <p:spPr>
          <a:xfrm>
            <a:off x="3149600" y="3365500"/>
            <a:ext cx="2794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7C59EC91-020E-A9F3-59CD-56666BADE0B8}"/>
              </a:ext>
            </a:extLst>
          </p:cNvPr>
          <p:cNvSpPr/>
          <p:nvPr/>
        </p:nvSpPr>
        <p:spPr>
          <a:xfrm>
            <a:off x="3429000" y="2946400"/>
            <a:ext cx="2540000" cy="838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Arc
makes it an Azure resource</a:t>
            </a:r>
          </a:p>
        </p:txBody>
      </p:sp>
      <p:cxnSp>
        <p:nvCxnSpPr>
          <p:cNvPr id="21" name="Straight Arrow Connector 20">
            <a:extLst>
              <a:ext uri="{FF2B5EF4-FFF2-40B4-BE49-F238E27FC236}">
                <a16:creationId xmlns:a16="http://schemas.microsoft.com/office/drawing/2014/main" id="{8392A1E8-22E6-2FE4-F621-0FF9AC9954AE}"/>
              </a:ext>
            </a:extLst>
          </p:cNvPr>
          <p:cNvCxnSpPr/>
          <p:nvPr/>
        </p:nvCxnSpPr>
        <p:spPr>
          <a:xfrm>
            <a:off x="5969000" y="3365500"/>
            <a:ext cx="2794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48B87DA9-660B-43FF-AA00-9729BF8CACD8}"/>
              </a:ext>
            </a:extLst>
          </p:cNvPr>
          <p:cNvSpPr/>
          <p:nvPr/>
        </p:nvSpPr>
        <p:spPr>
          <a:xfrm>
            <a:off x="6248400" y="2946400"/>
            <a:ext cx="2540000" cy="838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Monitor Agent
+ order stage records</a:t>
            </a:r>
          </a:p>
        </p:txBody>
      </p:sp>
      <p:cxnSp>
        <p:nvCxnSpPr>
          <p:cNvPr id="23" name="Straight Arrow Connector 22">
            <a:extLst>
              <a:ext uri="{FF2B5EF4-FFF2-40B4-BE49-F238E27FC236}">
                <a16:creationId xmlns:a16="http://schemas.microsoft.com/office/drawing/2014/main" id="{15CBAE19-8B3B-1A4E-A0C4-09937262F4DA}"/>
              </a:ext>
            </a:extLst>
          </p:cNvPr>
          <p:cNvCxnSpPr/>
          <p:nvPr/>
        </p:nvCxnSpPr>
        <p:spPr>
          <a:xfrm>
            <a:off x="8788400" y="3365500"/>
            <a:ext cx="2794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B6FDA7A4-A5DA-2D83-F77E-611A346D7581}"/>
              </a:ext>
            </a:extLst>
          </p:cNvPr>
          <p:cNvSpPr/>
          <p:nvPr/>
        </p:nvSpPr>
        <p:spPr>
          <a:xfrm>
            <a:off x="609600" y="3987800"/>
            <a:ext cx="2540000" cy="838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Fulfillment worker
EC2, AWS</a:t>
            </a:r>
          </a:p>
        </p:txBody>
      </p:sp>
      <p:cxnSp>
        <p:nvCxnSpPr>
          <p:cNvPr id="25" name="Straight Arrow Connector 24">
            <a:extLst>
              <a:ext uri="{FF2B5EF4-FFF2-40B4-BE49-F238E27FC236}">
                <a16:creationId xmlns:a16="http://schemas.microsoft.com/office/drawing/2014/main" id="{AE891BEA-6245-A54E-F453-23E82AE3AA72}"/>
              </a:ext>
            </a:extLst>
          </p:cNvPr>
          <p:cNvCxnSpPr/>
          <p:nvPr/>
        </p:nvCxnSpPr>
        <p:spPr>
          <a:xfrm>
            <a:off x="3149600" y="4406900"/>
            <a:ext cx="2794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A13A8BCC-43D6-81D4-7FD8-28EBCD49DA01}"/>
              </a:ext>
            </a:extLst>
          </p:cNvPr>
          <p:cNvSpPr/>
          <p:nvPr/>
        </p:nvSpPr>
        <p:spPr>
          <a:xfrm>
            <a:off x="3429000" y="3987800"/>
            <a:ext cx="2540000" cy="838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Arc (multicloud connector)
makes it an Azure resource</a:t>
            </a:r>
          </a:p>
        </p:txBody>
      </p:sp>
      <p:cxnSp>
        <p:nvCxnSpPr>
          <p:cNvPr id="27" name="Straight Arrow Connector 26">
            <a:extLst>
              <a:ext uri="{FF2B5EF4-FFF2-40B4-BE49-F238E27FC236}">
                <a16:creationId xmlns:a16="http://schemas.microsoft.com/office/drawing/2014/main" id="{4B7DD9B4-C090-B705-D6D1-39699ECEB93F}"/>
              </a:ext>
            </a:extLst>
          </p:cNvPr>
          <p:cNvCxnSpPr/>
          <p:nvPr/>
        </p:nvCxnSpPr>
        <p:spPr>
          <a:xfrm>
            <a:off x="5969000" y="4406900"/>
            <a:ext cx="2794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E10E5BF2-D2C4-9F65-43BC-56C897D42EB3}"/>
              </a:ext>
            </a:extLst>
          </p:cNvPr>
          <p:cNvSpPr/>
          <p:nvPr/>
        </p:nvSpPr>
        <p:spPr>
          <a:xfrm>
            <a:off x="6248400" y="3987800"/>
            <a:ext cx="2540000" cy="838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Monitor Agent
+ order stage records</a:t>
            </a:r>
          </a:p>
        </p:txBody>
      </p:sp>
      <p:cxnSp>
        <p:nvCxnSpPr>
          <p:cNvPr id="29" name="Straight Arrow Connector 28">
            <a:extLst>
              <a:ext uri="{FF2B5EF4-FFF2-40B4-BE49-F238E27FC236}">
                <a16:creationId xmlns:a16="http://schemas.microsoft.com/office/drawing/2014/main" id="{66270B0D-DBDF-D8DE-009A-8BCE5870D514}"/>
              </a:ext>
            </a:extLst>
          </p:cNvPr>
          <p:cNvCxnSpPr/>
          <p:nvPr/>
        </p:nvCxnSpPr>
        <p:spPr>
          <a:xfrm>
            <a:off x="8788400" y="4406900"/>
            <a:ext cx="2794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47E23955-5C53-EF2D-15D3-55DDD8BE799A}"/>
              </a:ext>
            </a:extLst>
          </p:cNvPr>
          <p:cNvSpPr/>
          <p:nvPr/>
        </p:nvSpPr>
        <p:spPr>
          <a:xfrm>
            <a:off x="9067800" y="1905000"/>
            <a:ext cx="2514600" cy="29210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Log Analytics workspace
evidence from all three places,
side by side</a:t>
            </a:r>
          </a:p>
        </p:txBody>
      </p:sp>
      <p:sp>
        <p:nvSpPr>
          <p:cNvPr id="31" name="TextBox 30">
            <a:extLst>
              <a:ext uri="{FF2B5EF4-FFF2-40B4-BE49-F238E27FC236}">
                <a16:creationId xmlns:a16="http://schemas.microsoft.com/office/drawing/2014/main" id="{E320EC30-EB8D-6C42-D818-C8513778B83E}"/>
              </a:ext>
            </a:extLst>
          </p:cNvPr>
          <p:cNvSpPr txBox="1"/>
          <p:nvPr/>
        </p:nvSpPr>
        <p:spPr>
          <a:xfrm>
            <a:off x="609600" y="5029200"/>
            <a:ext cx="10972800" cy="300082"/>
          </a:xfrm>
          <a:prstGeom prst="rect">
            <a:avLst/>
          </a:prstGeom>
          <a:noFill/>
        </p:spPr>
        <p:txBody>
          <a:bodyPr vert="horz" wrap="square" lIns="25400" rIns="25400" rtlCol="0">
            <a:spAutoFit/>
          </a:bodyPr>
          <a:lstStyle/>
          <a:p>
            <a:r>
              <a:rPr lang="en-US" sz="1350" b="1">
                <a:solidFill>
                  <a:srgbClr val="7DD3FC"/>
                </a:solidFill>
                <a:latin typeface="Calibri" panose="020F0502020204030204" pitchFamily="34" charset="0"/>
              </a:rPr>
              <a:t>Arc gives a machine an Azure identity. The agent gives it a voice. The workspace is where all three voices meet.</a:t>
            </a:r>
          </a:p>
        </p:txBody>
      </p:sp>
      <p:sp>
        <p:nvSpPr>
          <p:cNvPr id="32" name="TextBox 31">
            <a:extLst>
              <a:ext uri="{FF2B5EF4-FFF2-40B4-BE49-F238E27FC236}">
                <a16:creationId xmlns:a16="http://schemas.microsoft.com/office/drawing/2014/main" id="{72FCCD9A-053A-0098-793F-A59390C64B19}"/>
              </a:ext>
            </a:extLst>
          </p:cNvPr>
          <p:cNvSpPr txBox="1"/>
          <p:nvPr/>
        </p:nvSpPr>
        <p:spPr>
          <a:xfrm>
            <a:off x="609600" y="5359400"/>
            <a:ext cx="10972800" cy="269304"/>
          </a:xfrm>
          <a:prstGeom prst="rect">
            <a:avLst/>
          </a:prstGeom>
          <a:noFill/>
        </p:spPr>
        <p:txBody>
          <a:bodyPr vert="horz" wrap="square" lIns="25400" rIns="25400" rtlCol="0">
            <a:spAutoFit/>
          </a:bodyPr>
          <a:lstStyle/>
          <a:p>
            <a:r>
              <a:rPr lang="en-US" sz="1150">
                <a:solidFill>
                  <a:srgbClr val="B8C6DE"/>
                </a:solidFill>
                <a:latin typeface="Calibri" panose="020F0502020204030204" pitchFamily="34" charset="0"/>
              </a:rPr>
              <a:t>The rules that say what to collect (data collection rules), the identities and the permissions are in the field manual and the speaker notes.</a:t>
            </a:r>
          </a:p>
        </p:txBody>
      </p:sp>
      <p:sp>
        <p:nvSpPr>
          <p:cNvPr id="33" name="Rectangle 32">
            <a:extLst>
              <a:ext uri="{FF2B5EF4-FFF2-40B4-BE49-F238E27FC236}">
                <a16:creationId xmlns:a16="http://schemas.microsoft.com/office/drawing/2014/main" id="{8B5A4270-1436-20AB-E75C-B221F708BC29}"/>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57001F1-18E4-A5F1-71FA-62B90E28C96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Connected is not the same as collected. Check that evidence is arriving from every row, every day.</a:t>
            </a:r>
          </a:p>
        </p:txBody>
      </p:sp>
      <p:pic>
        <p:nvPicPr>
          <p:cNvPr id="36" name="SponsorBar" descr="CAS 2026 sponsors and #CloudAISummit2026">
            <a:extLst>
              <a:ext uri="{FF2B5EF4-FFF2-40B4-BE49-F238E27FC236}">
                <a16:creationId xmlns:a16="http://schemas.microsoft.com/office/drawing/2014/main" id="{FF8080E8-ECA8-CB82-454D-45929BCA49E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72013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3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3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3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3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3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300"/>
                                        <p:tgtEl>
                                          <p:spTgt spid="24"/>
                                        </p:tgtEl>
                                      </p:cBhvr>
                                    </p:animEffect>
                                  </p:childTnLst>
                                </p:cTn>
                              </p:par>
                              <p:par>
                                <p:cTn id="28" presetID="10" presetClass="entr" presetSubtype="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300"/>
                                        <p:tgtEl>
                                          <p:spTgt spid="2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300"/>
                                        <p:tgtEl>
                                          <p:spTgt spid="26"/>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300"/>
                                        <p:tgtEl>
                                          <p:spTgt spid="2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3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3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3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3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2" grpId="0" animBg="1"/>
      <p:bldP spid="24" grpId="0" animBg="1"/>
      <p:bldP spid="26" grpId="0" animBg="1"/>
      <p:bldP spid="28" grpId="0" animBg="1"/>
      <p:bldP spid="30" grpId="0" animBg="1"/>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6D18D3-20FB-ADC9-A927-BC9AAF5F497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5F96FF3-CAC5-A3FF-7215-AF9B31C674A0}"/>
              </a:ext>
            </a:extLst>
          </p:cNvPr>
          <p:cNvSpPr/>
          <p:nvPr/>
        </p:nvSpPr>
        <p:spPr>
          <a:xfrm>
            <a:off x="0" y="1549400"/>
            <a:ext cx="12192000" cy="50800"/>
          </a:xfrm>
          <a:prstGeom prst="rect">
            <a:avLst/>
          </a:prstGeom>
          <a:solidFill>
            <a:srgbClr val="FB923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C8E6605-CDBC-49D9-A2C0-CF21DE9C583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One order, one ID</a:t>
            </a:r>
          </a:p>
        </p:txBody>
      </p:sp>
      <p:sp>
        <p:nvSpPr>
          <p:cNvPr id="5" name="Rectangle 4">
            <a:extLst>
              <a:ext uri="{FF2B5EF4-FFF2-40B4-BE49-F238E27FC236}">
                <a16:creationId xmlns:a16="http://schemas.microsoft.com/office/drawing/2014/main" id="{5008B76A-862D-F2D7-4A53-0027B9C57565}"/>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08111BA0-C551-25FA-32C7-6BFB3179C620}"/>
              </a:ext>
            </a:extLst>
          </p:cNvPr>
          <p:cNvSpPr/>
          <p:nvPr/>
        </p:nvSpPr>
        <p:spPr>
          <a:xfrm>
            <a:off x="9042400" y="330200"/>
            <a:ext cx="25400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2 · SEE EVERY PART</a:t>
            </a:r>
          </a:p>
        </p:txBody>
      </p:sp>
      <p:sp>
        <p:nvSpPr>
          <p:cNvPr id="7" name="Rectangle: Rounded Corners 6">
            <a:extLst>
              <a:ext uri="{FF2B5EF4-FFF2-40B4-BE49-F238E27FC236}">
                <a16:creationId xmlns:a16="http://schemas.microsoft.com/office/drawing/2014/main" id="{887D7084-CB3E-33DF-539B-4BA122EBE185}"/>
              </a:ext>
            </a:extLst>
          </p:cNvPr>
          <p:cNvSpPr/>
          <p:nvPr/>
        </p:nvSpPr>
        <p:spPr>
          <a:xfrm>
            <a:off x="609600" y="1676400"/>
            <a:ext cx="6604000" cy="304800"/>
          </a:xfrm>
          <a:prstGeom prst="roundRect">
            <a:avLst/>
          </a:prstGeom>
          <a:noFill/>
          <a:ln w="15240" cap="flat" cmpd="sng" algn="ctr">
            <a:solidFill>
              <a:srgbClr val="7DD3F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7DD3FC"/>
                </a:solidFill>
                <a:latin typeface="Calibri" panose="020F0502020204030204" pitchFamily="34" charset="0"/>
              </a:rPr>
              <a:t>Order IIC-000042  ·  CorrelationId 7d0c4242-1a42-4c42-9a42-000000000042</a:t>
            </a:r>
          </a:p>
        </p:txBody>
      </p:sp>
      <p:sp>
        <p:nvSpPr>
          <p:cNvPr id="8" name="Rectangle: Rounded Corners 7">
            <a:extLst>
              <a:ext uri="{FF2B5EF4-FFF2-40B4-BE49-F238E27FC236}">
                <a16:creationId xmlns:a16="http://schemas.microsoft.com/office/drawing/2014/main" id="{6B1325F9-0712-7604-C1BF-C853A45A3EA8}"/>
              </a:ext>
            </a:extLst>
          </p:cNvPr>
          <p:cNvSpPr/>
          <p:nvPr/>
        </p:nvSpPr>
        <p:spPr>
          <a:xfrm>
            <a:off x="609600" y="2235200"/>
            <a:ext cx="1930400" cy="1092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COORDINATOR
Accepted
origin recorded</a:t>
            </a:r>
          </a:p>
        </p:txBody>
      </p:sp>
      <p:cxnSp>
        <p:nvCxnSpPr>
          <p:cNvPr id="9" name="Straight Arrow Connector 8">
            <a:extLst>
              <a:ext uri="{FF2B5EF4-FFF2-40B4-BE49-F238E27FC236}">
                <a16:creationId xmlns:a16="http://schemas.microsoft.com/office/drawing/2014/main" id="{3F3BE666-3022-E510-386C-BEEE47AF6596}"/>
              </a:ext>
            </a:extLst>
          </p:cNvPr>
          <p:cNvCxnSpPr/>
          <p:nvPr/>
        </p:nvCxnSpPr>
        <p:spPr>
          <a:xfrm>
            <a:off x="2540000" y="27813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975710D1-C362-05E1-BAA5-E7BEF92621B0}"/>
              </a:ext>
            </a:extLst>
          </p:cNvPr>
          <p:cNvSpPr/>
          <p:nvPr/>
        </p:nvSpPr>
        <p:spPr>
          <a:xfrm>
            <a:off x="2844800" y="2235200"/>
            <a:ext cx="1930400" cy="1092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TRANSPORT
Dispatched</a:t>
            </a:r>
          </a:p>
        </p:txBody>
      </p:sp>
      <p:cxnSp>
        <p:nvCxnSpPr>
          <p:cNvPr id="11" name="Straight Arrow Connector 10">
            <a:extLst>
              <a:ext uri="{FF2B5EF4-FFF2-40B4-BE49-F238E27FC236}">
                <a16:creationId xmlns:a16="http://schemas.microsoft.com/office/drawing/2014/main" id="{353F1932-59CD-F37C-8FAD-28906AEC4CCD}"/>
              </a:ext>
            </a:extLst>
          </p:cNvPr>
          <p:cNvCxnSpPr/>
          <p:nvPr/>
        </p:nvCxnSpPr>
        <p:spPr>
          <a:xfrm>
            <a:off x="4775200" y="27813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B5D2472C-F180-9550-A5D5-A5CB0FEABDCB}"/>
              </a:ext>
            </a:extLst>
          </p:cNvPr>
          <p:cNvSpPr/>
          <p:nvPr/>
        </p:nvSpPr>
        <p:spPr>
          <a:xfrm>
            <a:off x="5080000" y="2235200"/>
            <a:ext cx="1930400" cy="1092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ONPREMWORKER
OnPrem · Completed</a:t>
            </a:r>
          </a:p>
        </p:txBody>
      </p:sp>
      <p:cxnSp>
        <p:nvCxnSpPr>
          <p:cNvPr id="13" name="Straight Arrow Connector 12">
            <a:extLst>
              <a:ext uri="{FF2B5EF4-FFF2-40B4-BE49-F238E27FC236}">
                <a16:creationId xmlns:a16="http://schemas.microsoft.com/office/drawing/2014/main" id="{B414173E-6967-4387-6475-D5600C5E4990}"/>
              </a:ext>
            </a:extLst>
          </p:cNvPr>
          <p:cNvCxnSpPr/>
          <p:nvPr/>
        </p:nvCxnSpPr>
        <p:spPr>
          <a:xfrm>
            <a:off x="7010400" y="27813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8A3BAD45-57EC-DBCA-74FA-A481AABDC998}"/>
              </a:ext>
            </a:extLst>
          </p:cNvPr>
          <p:cNvSpPr/>
          <p:nvPr/>
        </p:nvSpPr>
        <p:spPr>
          <a:xfrm>
            <a:off x="7315200" y="2235200"/>
            <a:ext cx="1930400" cy="1092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AWSWORKER
AWS · Completed</a:t>
            </a:r>
          </a:p>
        </p:txBody>
      </p:sp>
      <p:cxnSp>
        <p:nvCxnSpPr>
          <p:cNvPr id="15" name="Straight Arrow Connector 14">
            <a:extLst>
              <a:ext uri="{FF2B5EF4-FFF2-40B4-BE49-F238E27FC236}">
                <a16:creationId xmlns:a16="http://schemas.microsoft.com/office/drawing/2014/main" id="{4409C937-EC01-41C7-905C-C5C7747A55DF}"/>
              </a:ext>
            </a:extLst>
          </p:cNvPr>
          <p:cNvCxnSpPr/>
          <p:nvPr/>
        </p:nvCxnSpPr>
        <p:spPr>
          <a:xfrm>
            <a:off x="9245600" y="27813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FC5D210F-4E04-2F96-360A-6C70767E14AD}"/>
              </a:ext>
            </a:extLst>
          </p:cNvPr>
          <p:cNvSpPr/>
          <p:nvPr/>
        </p:nvSpPr>
        <p:spPr>
          <a:xfrm>
            <a:off x="9550400" y="2235200"/>
            <a:ext cx="1930400" cy="1092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COORDINATOR
Completed
Success = true</a:t>
            </a:r>
          </a:p>
        </p:txBody>
      </p:sp>
      <p:sp>
        <p:nvSpPr>
          <p:cNvPr id="17" name="TextBox 16">
            <a:extLst>
              <a:ext uri="{FF2B5EF4-FFF2-40B4-BE49-F238E27FC236}">
                <a16:creationId xmlns:a16="http://schemas.microsoft.com/office/drawing/2014/main" id="{1088D7E4-6D5C-1847-9A8F-8B1635153021}"/>
              </a:ext>
            </a:extLst>
          </p:cNvPr>
          <p:cNvSpPr txBox="1"/>
          <p:nvPr/>
        </p:nvSpPr>
        <p:spPr>
          <a:xfrm>
            <a:off x="609600" y="3632200"/>
            <a:ext cx="109728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Every stage writes one record: TimeGenerated · CorrelationId · Cloud · Component · Stage · Success · DurationMs · FailureMode</a:t>
            </a:r>
          </a:p>
        </p:txBody>
      </p:sp>
      <p:sp>
        <p:nvSpPr>
          <p:cNvPr id="18" name="Rectangle: Rounded Corners 17">
            <a:extLst>
              <a:ext uri="{FF2B5EF4-FFF2-40B4-BE49-F238E27FC236}">
                <a16:creationId xmlns:a16="http://schemas.microsoft.com/office/drawing/2014/main" id="{7900D9C9-77B6-26D7-00D7-E28EC082D2C6}"/>
              </a:ext>
            </a:extLst>
          </p:cNvPr>
          <p:cNvSpPr/>
          <p:nvPr/>
        </p:nvSpPr>
        <p:spPr>
          <a:xfrm>
            <a:off x="1905000" y="4368800"/>
            <a:ext cx="8382000" cy="12700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Cas26Service_CL
| where CorrelationId == '7d0c4242-1a42-4c42-9a42-000000000042'
| project TimeGenerated, Cloud, Component, Stage, Success, DurationMs
| order by TimeGenerated asc</a:t>
            </a:r>
          </a:p>
        </p:txBody>
      </p:sp>
      <p:sp>
        <p:nvSpPr>
          <p:cNvPr id="19" name="Rectangle 18">
            <a:extLst>
              <a:ext uri="{FF2B5EF4-FFF2-40B4-BE49-F238E27FC236}">
                <a16:creationId xmlns:a16="http://schemas.microsoft.com/office/drawing/2014/main" id="{81D8F0B5-B8AE-47FA-C526-D3E347B72E42}"/>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C50901F-0775-30A7-6E0C-79E27FE4FCA8}"/>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One ID on every record: one query shows which cloud was slow or failed.</a:t>
            </a:r>
          </a:p>
        </p:txBody>
      </p:sp>
      <p:pic>
        <p:nvPicPr>
          <p:cNvPr id="22" name="SponsorBar" descr="CAS 2026 sponsors and #CloudAISummit2026">
            <a:extLst>
              <a:ext uri="{FF2B5EF4-FFF2-40B4-BE49-F238E27FC236}">
                <a16:creationId xmlns:a16="http://schemas.microsoft.com/office/drawing/2014/main" id="{24E441A5-2447-64B7-DDDF-8280321CDB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37766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3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3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6" grpId="0" animBg="1"/>
      <p:bldP spid="17" grpId="0"/>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D6F729-B0D1-14EA-2C4E-8DC5CB24D853}"/>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2E250AF-B2F3-DFC7-C64D-D528BE88B964}"/>
              </a:ext>
            </a:extLst>
          </p:cNvPr>
          <p:cNvSpPr/>
          <p:nvPr/>
        </p:nvSpPr>
        <p:spPr>
          <a:xfrm>
            <a:off x="0" y="1549400"/>
            <a:ext cx="12192000" cy="50800"/>
          </a:xfrm>
          <a:prstGeom prst="rect">
            <a:avLst/>
          </a:prstGeom>
          <a:solidFill>
            <a:srgbClr val="FB923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CCEF484-4E61-29CF-63FC-45D5E808A4F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Evidence routes</a:t>
            </a:r>
          </a:p>
        </p:txBody>
      </p:sp>
      <p:sp>
        <p:nvSpPr>
          <p:cNvPr id="5" name="Rectangle 4">
            <a:extLst>
              <a:ext uri="{FF2B5EF4-FFF2-40B4-BE49-F238E27FC236}">
                <a16:creationId xmlns:a16="http://schemas.microsoft.com/office/drawing/2014/main" id="{CA3B2F43-2A42-312C-7568-65C6BB539F51}"/>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F931430E-944F-94B4-F184-0814BCE7E0A0}"/>
              </a:ext>
            </a:extLst>
          </p:cNvPr>
          <p:cNvSpPr/>
          <p:nvPr/>
        </p:nvSpPr>
        <p:spPr>
          <a:xfrm>
            <a:off x="9042400" y="330200"/>
            <a:ext cx="25400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2 · SEE EVERY PART</a:t>
            </a:r>
          </a:p>
        </p:txBody>
      </p:sp>
      <p:sp>
        <p:nvSpPr>
          <p:cNvPr id="7" name="TextBox 6">
            <a:extLst>
              <a:ext uri="{FF2B5EF4-FFF2-40B4-BE49-F238E27FC236}">
                <a16:creationId xmlns:a16="http://schemas.microsoft.com/office/drawing/2014/main" id="{43CB320C-FE95-A98D-5D3C-71025D8661B6}"/>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6372FDE9-525D-7BC4-A2AA-11C49915E780}"/>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EF21405C-4C97-0122-A501-68DF4574CF51}"/>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A4896973-355D-F6B0-4F35-349BA94764E4}"/>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Select the machines and time window</a:t>
            </a:r>
          </a:p>
        </p:txBody>
      </p:sp>
      <p:sp>
        <p:nvSpPr>
          <p:cNvPr id="11" name="Rectangle: Rounded Corners 10">
            <a:extLst>
              <a:ext uri="{FF2B5EF4-FFF2-40B4-BE49-F238E27FC236}">
                <a16:creationId xmlns:a16="http://schemas.microsoft.com/office/drawing/2014/main" id="{11C7F85B-8BE3-8441-28E4-B74E3CC0F461}"/>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D1D660C3-159D-14A7-5A0D-596FFA9C9504}"/>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Confirm each DCR association</a:t>
            </a:r>
          </a:p>
        </p:txBody>
      </p:sp>
      <p:sp>
        <p:nvSpPr>
          <p:cNvPr id="13" name="Rectangle: Rounded Corners 12">
            <a:extLst>
              <a:ext uri="{FF2B5EF4-FFF2-40B4-BE49-F238E27FC236}">
                <a16:creationId xmlns:a16="http://schemas.microsoft.com/office/drawing/2014/main" id="{BD4F242D-55DC-EF95-CE81-6360BE3B4390}"/>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22ADC997-0C3A-4398-953E-77D7CD28C812}"/>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Query Heartbeat and Perf for the AWS Arc machines</a:t>
            </a:r>
          </a:p>
        </p:txBody>
      </p:sp>
      <p:sp>
        <p:nvSpPr>
          <p:cNvPr id="15" name="Rectangle: Rounded Corners 14">
            <a:extLst>
              <a:ext uri="{FF2B5EF4-FFF2-40B4-BE49-F238E27FC236}">
                <a16:creationId xmlns:a16="http://schemas.microsoft.com/office/drawing/2014/main" id="{C1BEB64A-3ECD-2795-703D-D255E4866B39}"/>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5292DF94-FAB8-6D92-C108-897F3F08E01C}"/>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Check the stage-record route into Cas26Service_CL</a:t>
            </a:r>
          </a:p>
        </p:txBody>
      </p:sp>
      <p:sp>
        <p:nvSpPr>
          <p:cNvPr id="17" name="Rectangle: Rounded Corners 16">
            <a:extLst>
              <a:ext uri="{FF2B5EF4-FFF2-40B4-BE49-F238E27FC236}">
                <a16:creationId xmlns:a16="http://schemas.microsoft.com/office/drawing/2014/main" id="{522970F3-097D-4D10-7FB8-8A32E1929E28}"/>
              </a:ext>
            </a:extLst>
          </p:cNvPr>
          <p:cNvSpPr/>
          <p:nvPr/>
        </p:nvSpPr>
        <p:spPr>
          <a:xfrm>
            <a:off x="609600" y="5257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5</a:t>
            </a:r>
          </a:p>
        </p:txBody>
      </p:sp>
      <p:sp>
        <p:nvSpPr>
          <p:cNvPr id="18" name="TextBox 17">
            <a:extLst>
              <a:ext uri="{FF2B5EF4-FFF2-40B4-BE49-F238E27FC236}">
                <a16:creationId xmlns:a16="http://schemas.microsoft.com/office/drawing/2014/main" id="{784AF373-7C52-41DC-3E81-9436B974DBEA}"/>
              </a:ext>
            </a:extLst>
          </p:cNvPr>
          <p:cNvSpPr txBox="1"/>
          <p:nvPr/>
        </p:nvSpPr>
        <p:spPr>
          <a:xfrm>
            <a:off x="1295400" y="5257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Verify freshness and identity</a:t>
            </a:r>
          </a:p>
        </p:txBody>
      </p:sp>
      <p:sp>
        <p:nvSpPr>
          <p:cNvPr id="19" name="Rectangle: Rounded Corners 18">
            <a:extLst>
              <a:ext uri="{FF2B5EF4-FFF2-40B4-BE49-F238E27FC236}">
                <a16:creationId xmlns:a16="http://schemas.microsoft.com/office/drawing/2014/main" id="{6357603F-C85C-410A-3F7C-23FD6E1F3D3F}"/>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A11875F-14BB-7E18-65C0-218CCDBF9B07}"/>
              </a:ext>
            </a:extLst>
          </p:cNvPr>
          <p:cNvSpPr txBox="1"/>
          <p:nvPr/>
        </p:nvSpPr>
        <p:spPr>
          <a:xfrm>
            <a:off x="6781800" y="2540000"/>
            <a:ext cx="4521200" cy="1754326"/>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Expected resource and current timestamp
Expected destination
Fail: no association, wrong scope, stale data, no permission</a:t>
            </a:r>
          </a:p>
        </p:txBody>
      </p:sp>
      <p:sp>
        <p:nvSpPr>
          <p:cNvPr id="21" name="Rectangle 20">
            <a:extLst>
              <a:ext uri="{FF2B5EF4-FFF2-40B4-BE49-F238E27FC236}">
                <a16:creationId xmlns:a16="http://schemas.microsoft.com/office/drawing/2014/main" id="{611F8286-C4FA-3C85-3491-093D5BC4BA48}"/>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EAD9BBE-E966-6AB9-4F94-14507DAEE906}"/>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M01. Collection is proven route by route, not assumed from Arc registration.</a:t>
            </a:r>
          </a:p>
        </p:txBody>
      </p:sp>
      <p:pic>
        <p:nvPicPr>
          <p:cNvPr id="24" name="SponsorBar" descr="CAS 2026 sponsors and #CloudAISummit2026">
            <a:extLst>
              <a:ext uri="{FF2B5EF4-FFF2-40B4-BE49-F238E27FC236}">
                <a16:creationId xmlns:a16="http://schemas.microsoft.com/office/drawing/2014/main" id="{EA7E5F5C-A5AC-6470-64BA-DF286482654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5" name="DemoMarkerBar">
            <a:extLst>
              <a:ext uri="{FF2B5EF4-FFF2-40B4-BE49-F238E27FC236}">
                <a16:creationId xmlns:a16="http://schemas.microsoft.com/office/drawing/2014/main" id="{63B5057E-BE64-0F8C-B657-7C0CB2A40EFF}"/>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emoMarkerText">
            <a:extLst>
              <a:ext uri="{FF2B5EF4-FFF2-40B4-BE49-F238E27FC236}">
                <a16:creationId xmlns:a16="http://schemas.microsoft.com/office/drawing/2014/main" id="{70FDB7C4-DA40-0F43-EDCF-AC70595B1E3D}"/>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593304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459949-45F0-4AD9-7B59-187F80CC3930}"/>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D781252-4C90-8BCF-C9EC-22842DEBE841}"/>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2096B28-C60A-59AB-3D0E-D9ABDE212EF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3 · When an order fails</a:t>
            </a:r>
          </a:p>
        </p:txBody>
      </p:sp>
      <p:sp>
        <p:nvSpPr>
          <p:cNvPr id="5" name="Rectangle 4">
            <a:extLst>
              <a:ext uri="{FF2B5EF4-FFF2-40B4-BE49-F238E27FC236}">
                <a16:creationId xmlns:a16="http://schemas.microsoft.com/office/drawing/2014/main" id="{9834EF84-11F7-E2A4-D487-4DD411E9370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EFF83654-E4D5-89C9-D4B3-142FE7CE7F3A}"/>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TextBox 6">
            <a:extLst>
              <a:ext uri="{FF2B5EF4-FFF2-40B4-BE49-F238E27FC236}">
                <a16:creationId xmlns:a16="http://schemas.microsoft.com/office/drawing/2014/main" id="{7796E004-4E28-93A1-1344-19CD18BB7CC8}"/>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D0B6FF"/>
                </a:solidFill>
                <a:latin typeface="Calibri" panose="020F0502020204030204" pitchFamily="34" charset="0"/>
              </a:rPr>
              <a:t>3</a:t>
            </a:r>
          </a:p>
        </p:txBody>
      </p:sp>
      <p:sp>
        <p:nvSpPr>
          <p:cNvPr id="8" name="TextBox 7">
            <a:extLst>
              <a:ext uri="{FF2B5EF4-FFF2-40B4-BE49-F238E27FC236}">
                <a16:creationId xmlns:a16="http://schemas.microsoft.com/office/drawing/2014/main" id="{2762B2BC-9223-9262-1430-0F067FEBD393}"/>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2B29E3FB-7E95-C0BB-9EB6-C29D950DBBB8}"/>
              </a:ext>
            </a:extLst>
          </p:cNvPr>
          <p:cNvSpPr txBox="1"/>
          <p:nvPr/>
        </p:nvSpPr>
        <p:spPr>
          <a:xfrm>
            <a:off x="2413000" y="1778000"/>
            <a:ext cx="9169400" cy="461665"/>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When an order fails, where do we look first?</a:t>
            </a:r>
          </a:p>
        </p:txBody>
      </p:sp>
      <p:sp>
        <p:nvSpPr>
          <p:cNvPr id="10" name="TextBox 9">
            <a:extLst>
              <a:ext uri="{FF2B5EF4-FFF2-40B4-BE49-F238E27FC236}">
                <a16:creationId xmlns:a16="http://schemas.microsoft.com/office/drawing/2014/main" id="{3DDC585C-91AE-36B5-5E6B-D2A81AD29D81}"/>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C40B733E-59A4-5C44-F69B-8087266BEB66}"/>
              </a:ext>
            </a:extLst>
          </p:cNvPr>
          <p:cNvSpPr txBox="1"/>
          <p:nvPr/>
        </p:nvSpPr>
        <p:spPr>
          <a:xfrm>
            <a:off x="2413000" y="3048000"/>
            <a:ext cx="9169400" cy="523220"/>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Why a healthy server can hide a failing service, how to read the service view, a baseline order, a controlled fault in AWS, and investigating from the customer down.</a:t>
            </a:r>
          </a:p>
        </p:txBody>
      </p:sp>
      <p:sp>
        <p:nvSpPr>
          <p:cNvPr id="12" name="TextBox 11">
            <a:extLst>
              <a:ext uri="{FF2B5EF4-FFF2-40B4-BE49-F238E27FC236}">
                <a16:creationId xmlns:a16="http://schemas.microsoft.com/office/drawing/2014/main" id="{94BFBC42-BD63-A533-9C83-94DAAE5428E2}"/>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4E86BF38-B31E-F77E-1989-0B9CBBB7765F}"/>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 green server can hide a failing service, so investigation has to start from the customer.</a:t>
            </a:r>
          </a:p>
        </p:txBody>
      </p:sp>
      <p:sp>
        <p:nvSpPr>
          <p:cNvPr id="14" name="TextBox 13">
            <a:extLst>
              <a:ext uri="{FF2B5EF4-FFF2-40B4-BE49-F238E27FC236}">
                <a16:creationId xmlns:a16="http://schemas.microsoft.com/office/drawing/2014/main" id="{29CDF88D-B65F-C71F-ACA2-30F277A09F28}"/>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0E819D33-D126-5B54-0BCF-F841BD57F232}"/>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impact, explained from the customer down</a:t>
            </a:r>
          </a:p>
        </p:txBody>
      </p:sp>
      <p:sp>
        <p:nvSpPr>
          <p:cNvPr id="16" name="Rectangle: Rounded Corners 15">
            <a:extLst>
              <a:ext uri="{FF2B5EF4-FFF2-40B4-BE49-F238E27FC236}">
                <a16:creationId xmlns:a16="http://schemas.microsoft.com/office/drawing/2014/main" id="{B5439E9C-7CD5-9A69-999D-1D1EAEA048A8}"/>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D8EA2761-04FB-D5CF-5656-BADEB10F3CD4}"/>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1684B785-2D31-B7D3-A5ED-CDEE67A6DF5E}"/>
              </a:ext>
            </a:extLst>
          </p:cNvPr>
          <p:cNvSpPr/>
          <p:nvPr/>
        </p:nvSpPr>
        <p:spPr>
          <a:xfrm>
            <a:off x="4318000" y="5334000"/>
            <a:ext cx="1752600" cy="508000"/>
          </a:xfrm>
          <a:prstGeom prst="roundRect">
            <a:avLst/>
          </a:prstGeom>
          <a:solidFill>
            <a:srgbClr val="D0B6FF"/>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CD3960A0-1199-3778-A594-191E9D34A3D8}"/>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170AAF92-C3A1-2367-85BB-D9119EEAD978}"/>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01818F9A-1DA8-7EFB-8D19-B30D1F1BFFF9}"/>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EFE028B1-E7E5-F1EA-ED40-D690219B830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779737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231AEE-B87A-435B-3AF8-BB8D12100D52}"/>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E8035C7-B65F-D8B7-83E6-B801B684D972}"/>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8BF121E-6C5D-E976-83BE-FAB5986A4507}"/>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Resource view vs. service view</a:t>
            </a:r>
          </a:p>
        </p:txBody>
      </p:sp>
      <p:sp>
        <p:nvSpPr>
          <p:cNvPr id="5" name="Rectangle 4">
            <a:extLst>
              <a:ext uri="{FF2B5EF4-FFF2-40B4-BE49-F238E27FC236}">
                <a16:creationId xmlns:a16="http://schemas.microsoft.com/office/drawing/2014/main" id="{D8AFA5C7-3E44-64AB-1B55-9C80F14DAA48}"/>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027C6D6C-B542-81AB-5310-AAF42D94A7D9}"/>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Rectangle: Rounded Corners 6">
            <a:extLst>
              <a:ext uri="{FF2B5EF4-FFF2-40B4-BE49-F238E27FC236}">
                <a16:creationId xmlns:a16="http://schemas.microsoft.com/office/drawing/2014/main" id="{D953F4FA-63E9-CD5C-CCC3-4D9E79F7920A}"/>
              </a:ext>
            </a:extLst>
          </p:cNvPr>
          <p:cNvSpPr/>
          <p:nvPr/>
        </p:nvSpPr>
        <p:spPr>
          <a:xfrm>
            <a:off x="571500" y="1727200"/>
            <a:ext cx="5080000" cy="3810000"/>
          </a:xfrm>
          <a:prstGeom prst="roundRect">
            <a:avLst>
              <a:gd name="adj" fmla="val 4667"/>
            </a:avLst>
          </a:prstGeom>
          <a:noFill/>
          <a:ln w="1905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6F20797-61B7-FB58-5138-5D85B314674C}"/>
              </a:ext>
            </a:extLst>
          </p:cNvPr>
          <p:cNvSpPr txBox="1"/>
          <p:nvPr/>
        </p:nvSpPr>
        <p:spPr>
          <a:xfrm>
            <a:off x="749300" y="1803400"/>
            <a:ext cx="4724400" cy="261610"/>
          </a:xfrm>
          <a:prstGeom prst="rect">
            <a:avLst/>
          </a:prstGeom>
          <a:noFill/>
        </p:spPr>
        <p:txBody>
          <a:bodyPr vert="horz" wrap="square" lIns="25400" rIns="25400" rtlCol="0">
            <a:spAutoFit/>
          </a:bodyPr>
          <a:lstStyle/>
          <a:p>
            <a:r>
              <a:rPr lang="en-US" sz="1100" b="1">
                <a:solidFill>
                  <a:srgbClr val="FACC15"/>
                </a:solidFill>
                <a:latin typeface="Calibri" panose="020F0502020204030204" pitchFamily="34" charset="0"/>
              </a:rPr>
              <a:t>ONE RESOURCE VIEW</a:t>
            </a:r>
          </a:p>
        </p:txBody>
      </p:sp>
      <p:sp>
        <p:nvSpPr>
          <p:cNvPr id="9" name="Rectangle: Rounded Corners 8">
            <a:extLst>
              <a:ext uri="{FF2B5EF4-FFF2-40B4-BE49-F238E27FC236}">
                <a16:creationId xmlns:a16="http://schemas.microsoft.com/office/drawing/2014/main" id="{F84F116E-74B2-897A-0C6D-DD710459E5DC}"/>
              </a:ext>
            </a:extLst>
          </p:cNvPr>
          <p:cNvSpPr/>
          <p:nvPr/>
        </p:nvSpPr>
        <p:spPr>
          <a:xfrm>
            <a:off x="1714500" y="2286000"/>
            <a:ext cx="2794000" cy="889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On-premises worker
CPU · heartbeat: green</a:t>
            </a:r>
          </a:p>
        </p:txBody>
      </p:sp>
      <p:sp>
        <p:nvSpPr>
          <p:cNvPr id="10" name="Rectangle: Rounded Corners 9">
            <a:extLst>
              <a:ext uri="{FF2B5EF4-FFF2-40B4-BE49-F238E27FC236}">
                <a16:creationId xmlns:a16="http://schemas.microsoft.com/office/drawing/2014/main" id="{590F21E3-0384-DE58-D515-8D97EAD971A1}"/>
              </a:ext>
            </a:extLst>
          </p:cNvPr>
          <p:cNvSpPr/>
          <p:nvPr/>
        </p:nvSpPr>
        <p:spPr>
          <a:xfrm>
            <a:off x="952500" y="3683000"/>
            <a:ext cx="4318000" cy="13970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UNKNOWN
Did orders complete? Which origin served them? Is AWS fulfillment answering?</a:t>
            </a:r>
          </a:p>
        </p:txBody>
      </p:sp>
      <p:sp>
        <p:nvSpPr>
          <p:cNvPr id="11" name="Rectangle: Rounded Corners 10">
            <a:extLst>
              <a:ext uri="{FF2B5EF4-FFF2-40B4-BE49-F238E27FC236}">
                <a16:creationId xmlns:a16="http://schemas.microsoft.com/office/drawing/2014/main" id="{DA406D3F-1ECD-F8B4-E89D-32B4D409B5C5}"/>
              </a:ext>
            </a:extLst>
          </p:cNvPr>
          <p:cNvSpPr/>
          <p:nvPr/>
        </p:nvSpPr>
        <p:spPr>
          <a:xfrm>
            <a:off x="6540500" y="1727200"/>
            <a:ext cx="5080000" cy="3810000"/>
          </a:xfrm>
          <a:prstGeom prst="roundRect">
            <a:avLst>
              <a:gd name="adj" fmla="val 4667"/>
            </a:avLst>
          </a:prstGeom>
          <a:noFill/>
          <a:ln w="19050" cap="flat" cmpd="sng" algn="ctr">
            <a:solidFill>
              <a:srgbClr val="7DD3F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F7673F3-7912-D3A9-64C8-FFFDFD23A8B6}"/>
              </a:ext>
            </a:extLst>
          </p:cNvPr>
          <p:cNvSpPr txBox="1"/>
          <p:nvPr/>
        </p:nvSpPr>
        <p:spPr>
          <a:xfrm>
            <a:off x="6718300" y="1803400"/>
            <a:ext cx="47244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WHOLE-SERVICE VIEW</a:t>
            </a:r>
          </a:p>
        </p:txBody>
      </p:sp>
      <p:sp>
        <p:nvSpPr>
          <p:cNvPr id="13" name="Rectangle: Rounded Corners 12">
            <a:extLst>
              <a:ext uri="{FF2B5EF4-FFF2-40B4-BE49-F238E27FC236}">
                <a16:creationId xmlns:a16="http://schemas.microsoft.com/office/drawing/2014/main" id="{BADFD7C3-1291-45A8-403D-894806D8BA0E}"/>
              </a:ext>
            </a:extLst>
          </p:cNvPr>
          <p:cNvSpPr/>
          <p:nvPr/>
        </p:nvSpPr>
        <p:spPr>
          <a:xfrm>
            <a:off x="6921500" y="2362200"/>
            <a:ext cx="2032000" cy="711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Customer outcome</a:t>
            </a:r>
          </a:p>
        </p:txBody>
      </p:sp>
      <p:sp>
        <p:nvSpPr>
          <p:cNvPr id="14" name="Rectangle: Rounded Corners 13">
            <a:extLst>
              <a:ext uri="{FF2B5EF4-FFF2-40B4-BE49-F238E27FC236}">
                <a16:creationId xmlns:a16="http://schemas.microsoft.com/office/drawing/2014/main" id="{1A80D135-6BBC-F2A5-CDBC-8229204316B2}"/>
              </a:ext>
            </a:extLst>
          </p:cNvPr>
          <p:cNvSpPr/>
          <p:nvPr/>
        </p:nvSpPr>
        <p:spPr>
          <a:xfrm>
            <a:off x="9207500" y="2362200"/>
            <a:ext cx="2032000" cy="711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Portal through
either origin</a:t>
            </a:r>
          </a:p>
        </p:txBody>
      </p:sp>
      <p:sp>
        <p:nvSpPr>
          <p:cNvPr id="15" name="Rectangle: Rounded Corners 14">
            <a:extLst>
              <a:ext uri="{FF2B5EF4-FFF2-40B4-BE49-F238E27FC236}">
                <a16:creationId xmlns:a16="http://schemas.microsoft.com/office/drawing/2014/main" id="{D0DF065D-11AB-8F18-8C52-B6AAF01DA116}"/>
              </a:ext>
            </a:extLst>
          </p:cNvPr>
          <p:cNvSpPr/>
          <p:nvPr/>
        </p:nvSpPr>
        <p:spPr>
          <a:xfrm>
            <a:off x="6921500" y="3810000"/>
            <a:ext cx="20320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Both workers</a:t>
            </a:r>
          </a:p>
        </p:txBody>
      </p:sp>
      <p:sp>
        <p:nvSpPr>
          <p:cNvPr id="16" name="Rectangle: Rounded Corners 15">
            <a:extLst>
              <a:ext uri="{FF2B5EF4-FFF2-40B4-BE49-F238E27FC236}">
                <a16:creationId xmlns:a16="http://schemas.microsoft.com/office/drawing/2014/main" id="{637B2EB7-E619-3FC2-2813-8C14672DB388}"/>
              </a:ext>
            </a:extLst>
          </p:cNvPr>
          <p:cNvSpPr/>
          <p:nvPr/>
        </p:nvSpPr>
        <p:spPr>
          <a:xfrm>
            <a:off x="9207500" y="3810000"/>
            <a:ext cx="2032000" cy="711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Freshness + owner</a:t>
            </a:r>
          </a:p>
        </p:txBody>
      </p:sp>
      <p:cxnSp>
        <p:nvCxnSpPr>
          <p:cNvPr id="17" name="Straight Arrow Connector 16">
            <a:extLst>
              <a:ext uri="{FF2B5EF4-FFF2-40B4-BE49-F238E27FC236}">
                <a16:creationId xmlns:a16="http://schemas.microsoft.com/office/drawing/2014/main" id="{047BCE24-7C8D-B866-A222-923925ED5F16}"/>
              </a:ext>
            </a:extLst>
          </p:cNvPr>
          <p:cNvCxnSpPr/>
          <p:nvPr/>
        </p:nvCxnSpPr>
        <p:spPr>
          <a:xfrm>
            <a:off x="8953500" y="2717800"/>
            <a:ext cx="2540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98BC2D5-40E8-214A-795F-0AC0FDA5B3D3}"/>
              </a:ext>
            </a:extLst>
          </p:cNvPr>
          <p:cNvCxnSpPr/>
          <p:nvPr/>
        </p:nvCxnSpPr>
        <p:spPr>
          <a:xfrm flipH="1">
            <a:off x="7683500" y="3073400"/>
            <a:ext cx="1524000" cy="7366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DC399B55-0DFB-F118-2978-2FBF047CB1E6}"/>
              </a:ext>
            </a:extLst>
          </p:cNvPr>
          <p:cNvCxnSpPr/>
          <p:nvPr/>
        </p:nvCxnSpPr>
        <p:spPr>
          <a:xfrm>
            <a:off x="8953500" y="4165600"/>
            <a:ext cx="2540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EDE31D1D-1391-6E3B-41BF-ABA0200E9F68}"/>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ED44573-7A98-87FD-9013-2BEB654B0AC8}"/>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A resource view answers a resource question. The service question needs the whole chain.</a:t>
            </a:r>
          </a:p>
        </p:txBody>
      </p:sp>
      <p:pic>
        <p:nvPicPr>
          <p:cNvPr id="23" name="SponsorBar" descr="CAS 2026 sponsors and #CloudAISummit2026">
            <a:extLst>
              <a:ext uri="{FF2B5EF4-FFF2-40B4-BE49-F238E27FC236}">
                <a16:creationId xmlns:a16="http://schemas.microsoft.com/office/drawing/2014/main" id="{26D98B27-4C9B-1AA2-10B2-1875218053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521053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DAF330-1401-88ED-3358-4DDF3B76D39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5D4848-5281-C6B6-CDB0-8F36B64FE70D}"/>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E23DDFD-6969-5066-534D-0884BFA4995B}"/>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Reading the service view</a:t>
            </a:r>
          </a:p>
        </p:txBody>
      </p:sp>
      <p:sp>
        <p:nvSpPr>
          <p:cNvPr id="5" name="Rectangle 4">
            <a:extLst>
              <a:ext uri="{FF2B5EF4-FFF2-40B4-BE49-F238E27FC236}">
                <a16:creationId xmlns:a16="http://schemas.microsoft.com/office/drawing/2014/main" id="{82A481FC-B125-AA59-5EA7-1F6289093926}"/>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F6B2DE60-0B12-75B6-2488-3C1DB41B3E73}"/>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Rectangle: Rounded Corners 6">
            <a:extLst>
              <a:ext uri="{FF2B5EF4-FFF2-40B4-BE49-F238E27FC236}">
                <a16:creationId xmlns:a16="http://schemas.microsoft.com/office/drawing/2014/main" id="{E507830B-B3AF-601A-7F77-0A309940638C}"/>
              </a:ext>
            </a:extLst>
          </p:cNvPr>
          <p:cNvSpPr/>
          <p:nvPr/>
        </p:nvSpPr>
        <p:spPr>
          <a:xfrm>
            <a:off x="571500" y="1676400"/>
            <a:ext cx="5334000" cy="9906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1 · CUSTOMER OUTCOME
order success · latency · last good order</a:t>
            </a:r>
          </a:p>
        </p:txBody>
      </p:sp>
      <p:sp>
        <p:nvSpPr>
          <p:cNvPr id="8" name="Rectangle: Rounded Corners 7">
            <a:extLst>
              <a:ext uri="{FF2B5EF4-FFF2-40B4-BE49-F238E27FC236}">
                <a16:creationId xmlns:a16="http://schemas.microsoft.com/office/drawing/2014/main" id="{8CE645EE-63C0-0C28-8DD9-2A24D5B57331}"/>
              </a:ext>
            </a:extLst>
          </p:cNvPr>
          <p:cNvSpPr/>
          <p:nvPr/>
        </p:nvSpPr>
        <p:spPr>
          <a:xfrm>
            <a:off x="6286500" y="1676400"/>
            <a:ext cx="5334000" cy="9906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2 · OVERALL HEALTH
state · freshness · affected commitment</a:t>
            </a:r>
          </a:p>
        </p:txBody>
      </p:sp>
      <p:sp>
        <p:nvSpPr>
          <p:cNvPr id="9" name="Rectangle: Rounded Corners 8">
            <a:extLst>
              <a:ext uri="{FF2B5EF4-FFF2-40B4-BE49-F238E27FC236}">
                <a16:creationId xmlns:a16="http://schemas.microsoft.com/office/drawing/2014/main" id="{99F361B8-7AE8-61F6-5BF3-03D8B1911DEB}"/>
              </a:ext>
            </a:extLst>
          </p:cNvPr>
          <p:cNvSpPr/>
          <p:nvPr/>
        </p:nvSpPr>
        <p:spPr>
          <a:xfrm>
            <a:off x="571500" y="3048000"/>
            <a:ext cx="7239000" cy="1270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3 · COMPONENTS + DEPENDENCIES
portal origins · coordinator · both workers</a:t>
            </a:r>
          </a:p>
        </p:txBody>
      </p:sp>
      <p:sp>
        <p:nvSpPr>
          <p:cNvPr id="10" name="Rectangle: Rounded Corners 9">
            <a:extLst>
              <a:ext uri="{FF2B5EF4-FFF2-40B4-BE49-F238E27FC236}">
                <a16:creationId xmlns:a16="http://schemas.microsoft.com/office/drawing/2014/main" id="{17DB64DA-8D42-B21E-A766-A4576F1482A8}"/>
              </a:ext>
            </a:extLst>
          </p:cNvPr>
          <p:cNvSpPr/>
          <p:nvPr/>
        </p:nvSpPr>
        <p:spPr>
          <a:xfrm>
            <a:off x="8191500" y="3048000"/>
            <a:ext cx="3429000" cy="1270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4 · EVIDENCE FRESHNESS
latest timestamps
late sources</a:t>
            </a:r>
          </a:p>
        </p:txBody>
      </p:sp>
      <p:sp>
        <p:nvSpPr>
          <p:cNvPr id="11" name="Rectangle: Rounded Corners 10">
            <a:extLst>
              <a:ext uri="{FF2B5EF4-FFF2-40B4-BE49-F238E27FC236}">
                <a16:creationId xmlns:a16="http://schemas.microsoft.com/office/drawing/2014/main" id="{9EAF393D-E62A-3633-1F85-190E65C01E17}"/>
              </a:ext>
            </a:extLst>
          </p:cNvPr>
          <p:cNvSpPr/>
          <p:nvPr/>
        </p:nvSpPr>
        <p:spPr>
          <a:xfrm>
            <a:off x="1905000" y="4724400"/>
            <a:ext cx="8382000" cy="889000"/>
          </a:xfrm>
          <a:prstGeom prst="roundRect">
            <a:avLst/>
          </a:prstGeom>
          <a:solidFill>
            <a:srgbClr val="20326C"/>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5 · DRILL-DOWN
correlation ID query → underlying evidence → owner and runbook</a:t>
            </a:r>
          </a:p>
        </p:txBody>
      </p:sp>
      <p:cxnSp>
        <p:nvCxnSpPr>
          <p:cNvPr id="12" name="Straight Arrow Connector 11">
            <a:extLst>
              <a:ext uri="{FF2B5EF4-FFF2-40B4-BE49-F238E27FC236}">
                <a16:creationId xmlns:a16="http://schemas.microsoft.com/office/drawing/2014/main" id="{2A3773C7-BCFD-1B73-D788-BF120E0CAD45}"/>
              </a:ext>
            </a:extLst>
          </p:cNvPr>
          <p:cNvCxnSpPr/>
          <p:nvPr/>
        </p:nvCxnSpPr>
        <p:spPr>
          <a:xfrm>
            <a:off x="3238500" y="2667000"/>
            <a:ext cx="0" cy="3810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7E222A1-023F-D57D-35DA-E592F3559E83}"/>
              </a:ext>
            </a:extLst>
          </p:cNvPr>
          <p:cNvCxnSpPr/>
          <p:nvPr/>
        </p:nvCxnSpPr>
        <p:spPr>
          <a:xfrm>
            <a:off x="8953500" y="2667000"/>
            <a:ext cx="0" cy="3810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1B1B928-67CE-E3DE-D468-C63DD34654E5}"/>
              </a:ext>
            </a:extLst>
          </p:cNvPr>
          <p:cNvCxnSpPr/>
          <p:nvPr/>
        </p:nvCxnSpPr>
        <p:spPr>
          <a:xfrm>
            <a:off x="4191000" y="4318000"/>
            <a:ext cx="635000" cy="4064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73CA9E5-20D0-2739-AF9E-AF05F7213EED}"/>
              </a:ext>
            </a:extLst>
          </p:cNvPr>
          <p:cNvCxnSpPr/>
          <p:nvPr/>
        </p:nvCxnSpPr>
        <p:spPr>
          <a:xfrm flipH="1">
            <a:off x="7620000" y="4318000"/>
            <a:ext cx="2286000" cy="4064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9E967834-2D40-5856-4EE4-DDB7F03CF9BA}"/>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1345125-2C39-8ED5-6374-A1C58D4AE3D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Read both tracks top to bottom; both feed drill-down. The health model behind this view is built in section 4.</a:t>
            </a:r>
          </a:p>
        </p:txBody>
      </p:sp>
      <p:pic>
        <p:nvPicPr>
          <p:cNvPr id="19" name="SponsorBar" descr="CAS 2026 sponsors and #CloudAISummit2026">
            <a:extLst>
              <a:ext uri="{FF2B5EF4-FFF2-40B4-BE49-F238E27FC236}">
                <a16:creationId xmlns:a16="http://schemas.microsoft.com/office/drawing/2014/main" id="{62DE37C8-C12D-FAA5-0A34-D726B86AC6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487132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288900-A35D-EE21-F9B4-84EBFA8BBE0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69D6EB2-045A-1751-557C-45CE7693A207}"/>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0ABF91C-0F37-DF3D-05F7-65253A4C3EBB}"/>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Baseline order (1 of 2)</a:t>
            </a:r>
          </a:p>
        </p:txBody>
      </p:sp>
      <p:sp>
        <p:nvSpPr>
          <p:cNvPr id="5" name="Rectangle 4">
            <a:extLst>
              <a:ext uri="{FF2B5EF4-FFF2-40B4-BE49-F238E27FC236}">
                <a16:creationId xmlns:a16="http://schemas.microsoft.com/office/drawing/2014/main" id="{74EE523D-1AD0-1916-EA21-77A709ED6F5F}"/>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529D13F1-9479-6ECA-541E-DFBE3A9850D2}"/>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TextBox 6">
            <a:extLst>
              <a:ext uri="{FF2B5EF4-FFF2-40B4-BE49-F238E27FC236}">
                <a16:creationId xmlns:a16="http://schemas.microsoft.com/office/drawing/2014/main" id="{0B23A5FA-5B5A-C105-40F8-49DA6CB5E6BB}"/>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84A8F06E-59E5-19E8-97D2-539757AE9FB9}"/>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57C744F5-BAD4-F5CF-F385-E62B6CF49B6B}"/>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67E8101C-0FE8-35C5-45A1-944E03775163}"/>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Place one demo-tagged order through Front Door</a:t>
            </a:r>
          </a:p>
        </p:txBody>
      </p:sp>
      <p:sp>
        <p:nvSpPr>
          <p:cNvPr id="11" name="Rectangle: Rounded Corners 10">
            <a:extLst>
              <a:ext uri="{FF2B5EF4-FFF2-40B4-BE49-F238E27FC236}">
                <a16:creationId xmlns:a16="http://schemas.microsoft.com/office/drawing/2014/main" id="{7A5DAC22-1952-F001-24F9-2EABC9F24324}"/>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ABF16A91-CE55-AFB3-29D5-7AF237F815F7}"/>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Record its correlation ID and time</a:t>
            </a:r>
          </a:p>
        </p:txBody>
      </p:sp>
      <p:sp>
        <p:nvSpPr>
          <p:cNvPr id="13" name="Rectangle: Rounded Corners 12">
            <a:extLst>
              <a:ext uri="{FF2B5EF4-FFF2-40B4-BE49-F238E27FC236}">
                <a16:creationId xmlns:a16="http://schemas.microsoft.com/office/drawing/2014/main" id="{F0FD9CB0-D8CD-B2A7-444A-7F7802A301C2}"/>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15149254-319C-1756-EFC2-D583D1022639}"/>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Read its stage records</a:t>
            </a:r>
          </a:p>
        </p:txBody>
      </p:sp>
      <p:sp>
        <p:nvSpPr>
          <p:cNvPr id="15" name="Rectangle: Rounded Corners 14">
            <a:extLst>
              <a:ext uri="{FF2B5EF4-FFF2-40B4-BE49-F238E27FC236}">
                <a16:creationId xmlns:a16="http://schemas.microsoft.com/office/drawing/2014/main" id="{4A5B0C91-0E88-02B2-D6DD-0AB67CF2E09C}"/>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346D5A13-68C1-8A11-EC08-D5CFA9C49A54}"/>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Confirm the workbook shows it</a:t>
            </a:r>
          </a:p>
        </p:txBody>
      </p:sp>
      <p:sp>
        <p:nvSpPr>
          <p:cNvPr id="17" name="Rectangle: Rounded Corners 16">
            <a:extLst>
              <a:ext uri="{FF2B5EF4-FFF2-40B4-BE49-F238E27FC236}">
                <a16:creationId xmlns:a16="http://schemas.microsoft.com/office/drawing/2014/main" id="{06DB4AA6-47CD-D2C8-CF53-D2509D32272F}"/>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6523F2D-A674-09B1-A99B-9D426951BC7A}"/>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Order completed inside the target
All stages present, one correlation ID
Workbook fresh</a:t>
            </a:r>
          </a:p>
        </p:txBody>
      </p:sp>
      <p:sp>
        <p:nvSpPr>
          <p:cNvPr id="19" name="Rectangle 18">
            <a:extLst>
              <a:ext uri="{FF2B5EF4-FFF2-40B4-BE49-F238E27FC236}">
                <a16:creationId xmlns:a16="http://schemas.microsoft.com/office/drawing/2014/main" id="{8DAB24E5-1FD6-CB88-9E24-CB1D706C8DFC}"/>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1B709C0-2E77-B3C1-370D-962900052CC5}"/>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M02, stage 1 of 2. The baseline gives failure and recovery a comparison point.</a:t>
            </a:r>
          </a:p>
        </p:txBody>
      </p:sp>
      <p:pic>
        <p:nvPicPr>
          <p:cNvPr id="22" name="SponsorBar" descr="CAS 2026 sponsors and #CloudAISummit2026">
            <a:extLst>
              <a:ext uri="{FF2B5EF4-FFF2-40B4-BE49-F238E27FC236}">
                <a16:creationId xmlns:a16="http://schemas.microsoft.com/office/drawing/2014/main" id="{CAC40DBF-67DB-47C0-90C0-83A288F8B7D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A2E7A2D9-A906-7B09-18C7-B7AD614836B1}"/>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8C17151B-8DE3-8BBB-BF41-269F4419FCE4}"/>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892777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C8BA34-C9E5-28FE-D508-23EDCBE6516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628CCB2-E04A-5FB9-7745-28F31902E772}"/>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38889FF-39E5-E731-860B-64254F1F225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Service view (2 of 2)</a:t>
            </a:r>
          </a:p>
        </p:txBody>
      </p:sp>
      <p:sp>
        <p:nvSpPr>
          <p:cNvPr id="5" name="Rectangle 4">
            <a:extLst>
              <a:ext uri="{FF2B5EF4-FFF2-40B4-BE49-F238E27FC236}">
                <a16:creationId xmlns:a16="http://schemas.microsoft.com/office/drawing/2014/main" id="{3CE4C46E-C60C-94E0-E86E-B115BAE22C2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FB2E4FAD-12AF-18DC-8060-BCD720CE362B}"/>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TextBox 6">
            <a:extLst>
              <a:ext uri="{FF2B5EF4-FFF2-40B4-BE49-F238E27FC236}">
                <a16:creationId xmlns:a16="http://schemas.microsoft.com/office/drawing/2014/main" id="{FD913529-60FE-C6CA-15EC-97D5C2AEA603}"/>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2A339769-8FB6-F3F0-9D7B-B76225DF9260}"/>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994B6F67-F75D-2E54-1A19-6A3AFC7237A8}"/>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698B0490-4085-3B33-00FE-9260FA2E1138}"/>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Read the view in the fixed order</a:t>
            </a:r>
          </a:p>
        </p:txBody>
      </p:sp>
      <p:sp>
        <p:nvSpPr>
          <p:cNvPr id="11" name="Rectangle: Rounded Corners 10">
            <a:extLst>
              <a:ext uri="{FF2B5EF4-FFF2-40B4-BE49-F238E27FC236}">
                <a16:creationId xmlns:a16="http://schemas.microsoft.com/office/drawing/2014/main" id="{28795507-2071-E873-7022-53D8919415EC}"/>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563667D6-BBBE-2F28-44A4-23D5FAB2319F}"/>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Open the baseline order's stages</a:t>
            </a:r>
          </a:p>
        </p:txBody>
      </p:sp>
      <p:sp>
        <p:nvSpPr>
          <p:cNvPr id="13" name="Rectangle: Rounded Corners 12">
            <a:extLst>
              <a:ext uri="{FF2B5EF4-FFF2-40B4-BE49-F238E27FC236}">
                <a16:creationId xmlns:a16="http://schemas.microsoft.com/office/drawing/2014/main" id="{EBF90AF2-1374-ACCC-DBC0-83BBB32A68A6}"/>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71E097A2-5B50-088F-63E8-A38AA0FBFF98}"/>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Check both portal origins</a:t>
            </a:r>
          </a:p>
        </p:txBody>
      </p:sp>
      <p:sp>
        <p:nvSpPr>
          <p:cNvPr id="15" name="Rectangle: Rounded Corners 14">
            <a:extLst>
              <a:ext uri="{FF2B5EF4-FFF2-40B4-BE49-F238E27FC236}">
                <a16:creationId xmlns:a16="http://schemas.microsoft.com/office/drawing/2014/main" id="{41041EB9-AA2E-94E8-C70E-63933D4B94EA}"/>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C5965352-3622-EAD8-D93C-2534115423BE}"/>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Note freshness and owners</a:t>
            </a:r>
          </a:p>
        </p:txBody>
      </p:sp>
      <p:sp>
        <p:nvSpPr>
          <p:cNvPr id="17" name="Rectangle: Rounded Corners 16">
            <a:extLst>
              <a:ext uri="{FF2B5EF4-FFF2-40B4-BE49-F238E27FC236}">
                <a16:creationId xmlns:a16="http://schemas.microsoft.com/office/drawing/2014/main" id="{E1F88E39-2B47-A889-3A5C-B162FD776533}"/>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B46C1AA-A466-F978-5734-A133FBA8D5C3}"/>
              </a:ext>
            </a:extLst>
          </p:cNvPr>
          <p:cNvSpPr txBox="1"/>
          <p:nvPr/>
        </p:nvSpPr>
        <p:spPr>
          <a:xfrm>
            <a:off x="6781800" y="2540000"/>
            <a:ext cx="4521200" cy="646331"/>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Outcome, components and freshness agree with the raw stage records</a:t>
            </a:r>
          </a:p>
        </p:txBody>
      </p:sp>
      <p:sp>
        <p:nvSpPr>
          <p:cNvPr id="19" name="Rectangle 18">
            <a:extLst>
              <a:ext uri="{FF2B5EF4-FFF2-40B4-BE49-F238E27FC236}">
                <a16:creationId xmlns:a16="http://schemas.microsoft.com/office/drawing/2014/main" id="{C3F1F689-A9FA-AD29-ECC6-C0DCDA42EA9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31B65C7-9545-38E1-0753-A1EBEB7123A0}"/>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M02, stage 2 of 2. Read the view in the order the previous slides taught.</a:t>
            </a:r>
          </a:p>
        </p:txBody>
      </p:sp>
      <p:pic>
        <p:nvPicPr>
          <p:cNvPr id="22" name="SponsorBar" descr="CAS 2026 sponsors and #CloudAISummit2026">
            <a:extLst>
              <a:ext uri="{FF2B5EF4-FFF2-40B4-BE49-F238E27FC236}">
                <a16:creationId xmlns:a16="http://schemas.microsoft.com/office/drawing/2014/main" id="{BEEA0587-4AA3-17C4-C9B6-48072F6D463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99E1EB64-61D2-F2A3-2FF7-9002ADE139E3}"/>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EA97CA6D-0B6D-4338-4516-AEA35C431B09}"/>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825491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C3C4F1-7733-52D2-D4B3-BD18E4C1411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EC2A67E-B992-FA5A-CCEE-B55365FE54A5}"/>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548E384-1D18-E899-65B0-F8B882954EA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Impact-first investigation</a:t>
            </a:r>
          </a:p>
        </p:txBody>
      </p:sp>
      <p:sp>
        <p:nvSpPr>
          <p:cNvPr id="5" name="Rectangle 4">
            <a:extLst>
              <a:ext uri="{FF2B5EF4-FFF2-40B4-BE49-F238E27FC236}">
                <a16:creationId xmlns:a16="http://schemas.microsoft.com/office/drawing/2014/main" id="{4E58466F-FDA0-7A38-A6CC-A836454C7C8B}"/>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68F5FD7F-DFED-6F63-9D46-6EFCD6CE818A}"/>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Rectangle: Rounded Corners 6">
            <a:extLst>
              <a:ext uri="{FF2B5EF4-FFF2-40B4-BE49-F238E27FC236}">
                <a16:creationId xmlns:a16="http://schemas.microsoft.com/office/drawing/2014/main" id="{ECE33D2C-4594-884F-0026-235564CBD9E8}"/>
              </a:ext>
            </a:extLst>
          </p:cNvPr>
          <p:cNvSpPr/>
          <p:nvPr/>
        </p:nvSpPr>
        <p:spPr>
          <a:xfrm>
            <a:off x="609600" y="2489200"/>
            <a:ext cx="1930400" cy="13208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1  Confirm impact
operation + time</a:t>
            </a:r>
          </a:p>
        </p:txBody>
      </p:sp>
      <p:cxnSp>
        <p:nvCxnSpPr>
          <p:cNvPr id="8" name="Straight Arrow Connector 7">
            <a:extLst>
              <a:ext uri="{FF2B5EF4-FFF2-40B4-BE49-F238E27FC236}">
                <a16:creationId xmlns:a16="http://schemas.microsoft.com/office/drawing/2014/main" id="{298E3193-D3C3-172C-0B70-6944D1B68F95}"/>
              </a:ext>
            </a:extLst>
          </p:cNvPr>
          <p:cNvCxnSpPr/>
          <p:nvPr/>
        </p:nvCxnSpPr>
        <p:spPr>
          <a:xfrm>
            <a:off x="2540000" y="31496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AC3A9B3B-B204-0A06-0A68-E2046ACB74EA}"/>
              </a:ext>
            </a:extLst>
          </p:cNvPr>
          <p:cNvSpPr/>
          <p:nvPr/>
        </p:nvSpPr>
        <p:spPr>
          <a:xfrm>
            <a:off x="2844800" y="2489200"/>
            <a:ext cx="1930400" cy="1320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2  Scope the order
correlation ID + resource</a:t>
            </a:r>
          </a:p>
        </p:txBody>
      </p:sp>
      <p:cxnSp>
        <p:nvCxnSpPr>
          <p:cNvPr id="10" name="Straight Arrow Connector 9">
            <a:extLst>
              <a:ext uri="{FF2B5EF4-FFF2-40B4-BE49-F238E27FC236}">
                <a16:creationId xmlns:a16="http://schemas.microsoft.com/office/drawing/2014/main" id="{EF63689A-4FA2-A86D-37ED-7A8D1C66A9D1}"/>
              </a:ext>
            </a:extLst>
          </p:cNvPr>
          <p:cNvCxnSpPr/>
          <p:nvPr/>
        </p:nvCxnSpPr>
        <p:spPr>
          <a:xfrm>
            <a:off x="4775200" y="31496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F2FD40F4-4580-EF05-E247-B087FBC9E13F}"/>
              </a:ext>
            </a:extLst>
          </p:cNvPr>
          <p:cNvSpPr/>
          <p:nvPr/>
        </p:nvSpPr>
        <p:spPr>
          <a:xfrm>
            <a:off x="5080000" y="2489200"/>
            <a:ext cx="1930400" cy="1320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3  Compare stages
coordinator · on‑premises · AWS</a:t>
            </a:r>
          </a:p>
        </p:txBody>
      </p:sp>
      <p:cxnSp>
        <p:nvCxnSpPr>
          <p:cNvPr id="12" name="Straight Arrow Connector 11">
            <a:extLst>
              <a:ext uri="{FF2B5EF4-FFF2-40B4-BE49-F238E27FC236}">
                <a16:creationId xmlns:a16="http://schemas.microsoft.com/office/drawing/2014/main" id="{AEEAB322-D324-D10D-77EC-1E6A81B7099B}"/>
              </a:ext>
            </a:extLst>
          </p:cNvPr>
          <p:cNvCxnSpPr/>
          <p:nvPr/>
        </p:nvCxnSpPr>
        <p:spPr>
          <a:xfrm>
            <a:off x="7010400" y="31496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691580C8-D367-0147-1386-E12AB5B04806}"/>
              </a:ext>
            </a:extLst>
          </p:cNvPr>
          <p:cNvSpPr/>
          <p:nvPr/>
        </p:nvSpPr>
        <p:spPr>
          <a:xfrm>
            <a:off x="7315200" y="2489200"/>
            <a:ext cx="1930400" cy="1320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4  Inspect dependencies
model + freshness</a:t>
            </a:r>
          </a:p>
        </p:txBody>
      </p:sp>
      <p:cxnSp>
        <p:nvCxnSpPr>
          <p:cNvPr id="14" name="Straight Arrow Connector 13">
            <a:extLst>
              <a:ext uri="{FF2B5EF4-FFF2-40B4-BE49-F238E27FC236}">
                <a16:creationId xmlns:a16="http://schemas.microsoft.com/office/drawing/2014/main" id="{AC4A3A89-B7BF-E168-D9B2-2488643BC958}"/>
              </a:ext>
            </a:extLst>
          </p:cNvPr>
          <p:cNvCxnSpPr/>
          <p:nvPr/>
        </p:nvCxnSpPr>
        <p:spPr>
          <a:xfrm>
            <a:off x="9245600" y="31496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F007D9F0-4264-844B-BAD5-05A058C0EC31}"/>
              </a:ext>
            </a:extLst>
          </p:cNvPr>
          <p:cNvSpPr/>
          <p:nvPr/>
        </p:nvSpPr>
        <p:spPr>
          <a:xfrm>
            <a:off x="9550400" y="2489200"/>
            <a:ext cx="1930400" cy="1320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5  Decide
owner + bounded action
(scoped, reversible, authorized)</a:t>
            </a:r>
          </a:p>
        </p:txBody>
      </p:sp>
      <p:sp>
        <p:nvSpPr>
          <p:cNvPr id="16" name="Rectangle: Rounded Corners 15">
            <a:extLst>
              <a:ext uri="{FF2B5EF4-FFF2-40B4-BE49-F238E27FC236}">
                <a16:creationId xmlns:a16="http://schemas.microsoft.com/office/drawing/2014/main" id="{30EEEDE5-9E1C-8F13-B70C-16D943619524}"/>
              </a:ext>
            </a:extLst>
          </p:cNvPr>
          <p:cNvSpPr/>
          <p:nvPr/>
        </p:nvSpPr>
        <p:spPr>
          <a:xfrm>
            <a:off x="1905000" y="4445000"/>
            <a:ext cx="8382000" cy="8890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Evidence can establish correlation and sequence. Call something a cause only when the test and the evidence support it.</a:t>
            </a:r>
          </a:p>
        </p:txBody>
      </p:sp>
      <p:sp>
        <p:nvSpPr>
          <p:cNvPr id="17" name="TextBox 16">
            <a:extLst>
              <a:ext uri="{FF2B5EF4-FFF2-40B4-BE49-F238E27FC236}">
                <a16:creationId xmlns:a16="http://schemas.microsoft.com/office/drawing/2014/main" id="{562E5493-89F6-940E-BC63-67D3BA9F9205}"/>
              </a:ext>
            </a:extLst>
          </p:cNvPr>
          <p:cNvSpPr txBox="1"/>
          <p:nvPr/>
        </p:nvSpPr>
        <p:spPr>
          <a:xfrm>
            <a:off x="609600" y="5410200"/>
            <a:ext cx="10972800" cy="492443"/>
          </a:xfrm>
          <a:prstGeom prst="rect">
            <a:avLst/>
          </a:prstGeom>
          <a:noFill/>
        </p:spPr>
        <p:txBody>
          <a:bodyPr vert="horz" wrap="square" lIns="25400" rIns="25400" rtlCol="0">
            <a:spAutoFit/>
          </a:bodyPr>
          <a:lstStyle/>
          <a:p>
            <a:r>
              <a:rPr lang="en-US" sz="1300" b="1">
                <a:solidFill>
                  <a:srgbClr val="F1F5FB"/>
                </a:solidFill>
                <a:latin typeface="Calibri" panose="020F0502020204030204" pitchFamily="34" charset="0"/>
              </a:rPr>
              <a:t>Worker failed, or telemetry lost? A Failed stage record with fresh heartbeats points at the worker. A missing record: check dispatch and the queue before calling it lost visibility.</a:t>
            </a:r>
          </a:p>
        </p:txBody>
      </p:sp>
      <p:sp>
        <p:nvSpPr>
          <p:cNvPr id="18" name="Rectangle 17">
            <a:extLst>
              <a:ext uri="{FF2B5EF4-FFF2-40B4-BE49-F238E27FC236}">
                <a16:creationId xmlns:a16="http://schemas.microsoft.com/office/drawing/2014/main" id="{ADF622DB-B696-5C5C-1946-7151CC2A0D5E}"/>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D65DAED-2312-AB6A-B3F0-F48312F4D46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Start at the failing order; stop when the evidence no longer supports the next claim.</a:t>
            </a:r>
          </a:p>
        </p:txBody>
      </p:sp>
      <p:pic>
        <p:nvPicPr>
          <p:cNvPr id="21" name="SponsorBar" descr="CAS 2026 sponsors and #CloudAISummit2026">
            <a:extLst>
              <a:ext uri="{FF2B5EF4-FFF2-40B4-BE49-F238E27FC236}">
                <a16:creationId xmlns:a16="http://schemas.microsoft.com/office/drawing/2014/main" id="{B9B3381B-0106-B614-F9A6-4838115AEE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89802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6" grpId="0" animBg="1"/>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B92100-81F3-6A77-A254-724C96481D87}"/>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EEC088D-D458-CA96-F969-E95E934D4065}"/>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41832A-3525-F6FA-C4A3-375CCEEE59A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Controlled fault</a:t>
            </a:r>
          </a:p>
        </p:txBody>
      </p:sp>
      <p:sp>
        <p:nvSpPr>
          <p:cNvPr id="5" name="Rectangle 4">
            <a:extLst>
              <a:ext uri="{FF2B5EF4-FFF2-40B4-BE49-F238E27FC236}">
                <a16:creationId xmlns:a16="http://schemas.microsoft.com/office/drawing/2014/main" id="{066AE84C-FE5D-C4E6-C775-478352FBDFA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2B574B0A-F722-11C9-714B-091D7BE8EE25}"/>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TextBox 6">
            <a:extLst>
              <a:ext uri="{FF2B5EF4-FFF2-40B4-BE49-F238E27FC236}">
                <a16:creationId xmlns:a16="http://schemas.microsoft.com/office/drawing/2014/main" id="{DA330626-180D-EA2E-0832-E042CDA2302D}"/>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4F96C39D-89A4-D4DF-DD4C-6CC61A7C4466}"/>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4F3AA715-C6B5-CA04-2AC9-47A7DE519C43}"/>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4E31F2B1-299C-833A-C937-3271E9CC6F32}"/>
              </a:ext>
            </a:extLst>
          </p:cNvPr>
          <p:cNvSpPr txBox="1"/>
          <p:nvPr/>
        </p:nvSpPr>
        <p:spPr>
          <a:xfrm>
            <a:off x="1295400" y="2209800"/>
            <a:ext cx="4826000" cy="584775"/>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Turn on the demo fault "marvin": the AWS worker fails demo-tagged orders only</a:t>
            </a:r>
          </a:p>
        </p:txBody>
      </p:sp>
      <p:sp>
        <p:nvSpPr>
          <p:cNvPr id="11" name="Rectangle: Rounded Corners 10">
            <a:extLst>
              <a:ext uri="{FF2B5EF4-FFF2-40B4-BE49-F238E27FC236}">
                <a16:creationId xmlns:a16="http://schemas.microsoft.com/office/drawing/2014/main" id="{37CFE8D8-A2AF-17F2-2C14-928A976CBAAB}"/>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5AD63A08-E5E4-87E4-071F-330E8BDB94A5}"/>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Place a fresh demo-tagged order</a:t>
            </a:r>
          </a:p>
        </p:txBody>
      </p:sp>
      <p:sp>
        <p:nvSpPr>
          <p:cNvPr id="13" name="Rectangle: Rounded Corners 12">
            <a:extLst>
              <a:ext uri="{FF2B5EF4-FFF2-40B4-BE49-F238E27FC236}">
                <a16:creationId xmlns:a16="http://schemas.microsoft.com/office/drawing/2014/main" id="{16CFE6F8-0A8B-25CE-02C5-6557D2863849}"/>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2CD768E4-4FD2-1A74-C80E-EC7EB10C2A70}"/>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Read its stages: AWS fulfillment failed</a:t>
            </a:r>
          </a:p>
        </p:txBody>
      </p:sp>
      <p:sp>
        <p:nvSpPr>
          <p:cNvPr id="15" name="Rectangle: Rounded Corners 14">
            <a:extLst>
              <a:ext uri="{FF2B5EF4-FFF2-40B4-BE49-F238E27FC236}">
                <a16:creationId xmlns:a16="http://schemas.microsoft.com/office/drawing/2014/main" id="{BB6ACE1E-2A18-3EA7-9EC5-3A357F706E7C}"/>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89D5905B-F2D8-3DC5-1625-524C4A45D1BF}"/>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See the order fail while machines stay healthy</a:t>
            </a:r>
          </a:p>
        </p:txBody>
      </p:sp>
      <p:sp>
        <p:nvSpPr>
          <p:cNvPr id="17" name="Rectangle: Rounded Corners 16">
            <a:extLst>
              <a:ext uri="{FF2B5EF4-FFF2-40B4-BE49-F238E27FC236}">
                <a16:creationId xmlns:a16="http://schemas.microsoft.com/office/drawing/2014/main" id="{D304E7F8-012B-4025-AD91-7761C1C17AF9}"/>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1525F04-E5D8-05A6-729F-F5C9D3656BE4}"/>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AWS stage failed, FailureMode marvin
Order outcome: failed
Heartbeats still fresh</a:t>
            </a:r>
          </a:p>
        </p:txBody>
      </p:sp>
      <p:sp>
        <p:nvSpPr>
          <p:cNvPr id="19" name="Rectangle 18">
            <a:extLst>
              <a:ext uri="{FF2B5EF4-FFF2-40B4-BE49-F238E27FC236}">
                <a16:creationId xmlns:a16="http://schemas.microsoft.com/office/drawing/2014/main" id="{BDBAB818-E597-F814-C539-A684383D9D47}"/>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9D33910-4464-4BFA-9D1E-E86BE9FB94F2}"/>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M03, stage 1 of 2. The AWS worker is inside the order path, so its fault is the cause.</a:t>
            </a:r>
          </a:p>
        </p:txBody>
      </p:sp>
      <p:pic>
        <p:nvPicPr>
          <p:cNvPr id="22" name="SponsorBar" descr="CAS 2026 sponsors and #CloudAISummit2026">
            <a:extLst>
              <a:ext uri="{FF2B5EF4-FFF2-40B4-BE49-F238E27FC236}">
                <a16:creationId xmlns:a16="http://schemas.microsoft.com/office/drawing/2014/main" id="{30252F0B-EF9E-0FB2-EB83-99819DE4B79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25909B98-0AC4-2850-047B-4932B8F49D7B}"/>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19639163-151A-42BA-F252-C0831C5F3C7E}"/>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1320282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6E3D49-72AF-A704-B094-D8E719F23ED9}"/>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793B5D2-C96D-A563-8467-045FCACFBA48}"/>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02DAF39-4C73-F855-D4AB-ADE2744D6EE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4 · Model health with Azure Monitor Health Models</a:t>
            </a:r>
          </a:p>
        </p:txBody>
      </p:sp>
      <p:sp>
        <p:nvSpPr>
          <p:cNvPr id="5" name="Rectangle 4">
            <a:extLst>
              <a:ext uri="{FF2B5EF4-FFF2-40B4-BE49-F238E27FC236}">
                <a16:creationId xmlns:a16="http://schemas.microsoft.com/office/drawing/2014/main" id="{CE4510D8-6692-018E-4141-B272E89EB76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7C7CEEB4-3DC0-3FDB-CC13-EBC2C253AF99}"/>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TextBox 6">
            <a:extLst>
              <a:ext uri="{FF2B5EF4-FFF2-40B4-BE49-F238E27FC236}">
                <a16:creationId xmlns:a16="http://schemas.microsoft.com/office/drawing/2014/main" id="{FF2B4CE4-F008-1B41-E7A3-9C63C3920C3E}"/>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FACC15"/>
                </a:solidFill>
                <a:latin typeface="Calibri" panose="020F0502020204030204" pitchFamily="34" charset="0"/>
              </a:rPr>
              <a:t>4</a:t>
            </a:r>
          </a:p>
        </p:txBody>
      </p:sp>
      <p:sp>
        <p:nvSpPr>
          <p:cNvPr id="8" name="TextBox 7">
            <a:extLst>
              <a:ext uri="{FF2B5EF4-FFF2-40B4-BE49-F238E27FC236}">
                <a16:creationId xmlns:a16="http://schemas.microsoft.com/office/drawing/2014/main" id="{1BB0AF71-4A40-4239-8EC8-9DA7E063271F}"/>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077F0C89-25B9-54C2-6FCB-077A46D49065}"/>
              </a:ext>
            </a:extLst>
          </p:cNvPr>
          <p:cNvSpPr txBox="1"/>
          <p:nvPr/>
        </p:nvSpPr>
        <p:spPr>
          <a:xfrm>
            <a:off x="2413000" y="1778000"/>
            <a:ext cx="9169400" cy="461665"/>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How does evidence become a health state the whole team can trust?</a:t>
            </a:r>
          </a:p>
        </p:txBody>
      </p:sp>
      <p:sp>
        <p:nvSpPr>
          <p:cNvPr id="10" name="TextBox 9">
            <a:extLst>
              <a:ext uri="{FF2B5EF4-FFF2-40B4-BE49-F238E27FC236}">
                <a16:creationId xmlns:a16="http://schemas.microsoft.com/office/drawing/2014/main" id="{5BD3F01A-1A80-E91E-653D-9B3B6BBBE8BF}"/>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332A83DB-152D-D21C-3438-774C3FA9C43C}"/>
              </a:ext>
            </a:extLst>
          </p:cNvPr>
          <p:cNvSpPr txBox="1"/>
          <p:nvPr/>
        </p:nvSpPr>
        <p:spPr>
          <a:xfrm>
            <a:off x="2413000" y="3048000"/>
            <a:ext cx="9169400" cy="523220"/>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SCOM's service model reintroduced for a hybrid estate; what a health model is made of; how health rolls up; what happens when evidence goes quiet; the live IIC model.</a:t>
            </a:r>
          </a:p>
        </p:txBody>
      </p:sp>
      <p:sp>
        <p:nvSpPr>
          <p:cNvPr id="12" name="TextBox 11">
            <a:extLst>
              <a:ext uri="{FF2B5EF4-FFF2-40B4-BE49-F238E27FC236}">
                <a16:creationId xmlns:a16="http://schemas.microsoft.com/office/drawing/2014/main" id="{CDC6E1AC-B2DF-B915-ACF2-63BBD0DB8983}"/>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CE99418D-3E8B-E4D1-F8C6-5B76BC05035A}"/>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 health model turns records into one answer about the service, instead of a wall of alerts.</a:t>
            </a:r>
          </a:p>
        </p:txBody>
      </p:sp>
      <p:sp>
        <p:nvSpPr>
          <p:cNvPr id="14" name="TextBox 13">
            <a:extLst>
              <a:ext uri="{FF2B5EF4-FFF2-40B4-BE49-F238E27FC236}">
                <a16:creationId xmlns:a16="http://schemas.microsoft.com/office/drawing/2014/main" id="{1DF99056-23E2-3DB9-9C8B-F4E1DA08A731}"/>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342398CF-F87C-2727-DDBF-7B0126703660}"/>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explanation the whole team can trust</a:t>
            </a:r>
          </a:p>
        </p:txBody>
      </p:sp>
      <p:sp>
        <p:nvSpPr>
          <p:cNvPr id="16" name="Rectangle: Rounded Corners 15">
            <a:extLst>
              <a:ext uri="{FF2B5EF4-FFF2-40B4-BE49-F238E27FC236}">
                <a16:creationId xmlns:a16="http://schemas.microsoft.com/office/drawing/2014/main" id="{F0018502-FADA-0C78-5097-F1FDBCDF8C02}"/>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5C693009-00E1-A0F3-1519-E3418BE221B6}"/>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AA1E3172-F00E-2D56-C7F6-4D617AE385CF}"/>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EB33794A-C3FE-2906-2489-3A61F75DC22A}"/>
              </a:ext>
            </a:extLst>
          </p:cNvPr>
          <p:cNvSpPr/>
          <p:nvPr/>
        </p:nvSpPr>
        <p:spPr>
          <a:xfrm>
            <a:off x="6172200" y="5334000"/>
            <a:ext cx="1752600" cy="508000"/>
          </a:xfrm>
          <a:prstGeom prst="roundRect">
            <a:avLst/>
          </a:prstGeom>
          <a:solidFill>
            <a:srgbClr val="FACC15"/>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1E125C75-14B5-A12D-C7D9-0771B4142823}"/>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806E7988-190A-73E6-AD24-AB6A201CD948}"/>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11520976-B55D-2707-4C04-A14F3D6851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308216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1E85B4-28DB-C7E9-D340-65911CD5338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FB7CEAA-A83F-E16D-F2E9-9764FA10F4B1}"/>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40E768A-FFD2-D2E1-588A-241C54EFECF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SCOM's idea, reintroduced</a:t>
            </a:r>
          </a:p>
        </p:txBody>
      </p:sp>
      <p:sp>
        <p:nvSpPr>
          <p:cNvPr id="5" name="Rectangle 4">
            <a:extLst>
              <a:ext uri="{FF2B5EF4-FFF2-40B4-BE49-F238E27FC236}">
                <a16:creationId xmlns:a16="http://schemas.microsoft.com/office/drawing/2014/main" id="{192E97C4-ACBC-05EA-0C83-0B5EE1338284}"/>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C3BEC414-9929-D4FB-DC7B-2D192F5C5604}"/>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TextBox 6">
            <a:extLst>
              <a:ext uri="{FF2B5EF4-FFF2-40B4-BE49-F238E27FC236}">
                <a16:creationId xmlns:a16="http://schemas.microsoft.com/office/drawing/2014/main" id="{E4135420-181D-7423-7DEF-EFC02413A80A}"/>
              </a:ext>
            </a:extLst>
          </p:cNvPr>
          <p:cNvSpPr txBox="1"/>
          <p:nvPr/>
        </p:nvSpPr>
        <p:spPr>
          <a:xfrm>
            <a:off x="2286000" y="1676400"/>
            <a:ext cx="4191000" cy="261610"/>
          </a:xfrm>
          <a:prstGeom prst="rect">
            <a:avLst/>
          </a:prstGeom>
          <a:noFill/>
        </p:spPr>
        <p:txBody>
          <a:bodyPr vert="horz" wrap="square" lIns="25400" rIns="25400" rtlCol="0">
            <a:spAutoFit/>
          </a:bodyPr>
          <a:lstStyle/>
          <a:p>
            <a:r>
              <a:rPr lang="en-US" sz="1100" b="1">
                <a:solidFill>
                  <a:srgbClr val="6EE7B7"/>
                </a:solidFill>
                <a:latin typeface="Calibri" panose="020F0502020204030204" pitchFamily="34" charset="0"/>
              </a:rPr>
              <a:t>SCOM DISTRIBUTED APPLICATION</a:t>
            </a:r>
          </a:p>
        </p:txBody>
      </p:sp>
      <p:sp>
        <p:nvSpPr>
          <p:cNvPr id="8" name="TextBox 7">
            <a:extLst>
              <a:ext uri="{FF2B5EF4-FFF2-40B4-BE49-F238E27FC236}">
                <a16:creationId xmlns:a16="http://schemas.microsoft.com/office/drawing/2014/main" id="{1AE3A013-2230-209D-73E4-63C5930BC72D}"/>
              </a:ext>
            </a:extLst>
          </p:cNvPr>
          <p:cNvSpPr txBox="1"/>
          <p:nvPr/>
        </p:nvSpPr>
        <p:spPr>
          <a:xfrm>
            <a:off x="7112000" y="1676400"/>
            <a:ext cx="4191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AZURE MONITOR HEALTH MODEL</a:t>
            </a:r>
          </a:p>
        </p:txBody>
      </p:sp>
      <p:sp>
        <p:nvSpPr>
          <p:cNvPr id="9" name="TextBox 8">
            <a:extLst>
              <a:ext uri="{FF2B5EF4-FFF2-40B4-BE49-F238E27FC236}">
                <a16:creationId xmlns:a16="http://schemas.microsoft.com/office/drawing/2014/main" id="{EDD40E1F-EAB1-7B85-B7CD-52673696CE6F}"/>
              </a:ext>
            </a:extLst>
          </p:cNvPr>
          <p:cNvSpPr txBox="1"/>
          <p:nvPr/>
        </p:nvSpPr>
        <p:spPr>
          <a:xfrm>
            <a:off x="609600" y="2159000"/>
            <a:ext cx="1574800" cy="292388"/>
          </a:xfrm>
          <a:prstGeom prst="rect">
            <a:avLst/>
          </a:prstGeom>
          <a:noFill/>
        </p:spPr>
        <p:txBody>
          <a:bodyPr vert="horz" wrap="square" lIns="25400" rIns="25400" rtlCol="0">
            <a:spAutoFit/>
          </a:bodyPr>
          <a:lstStyle/>
          <a:p>
            <a:r>
              <a:rPr lang="en-US" sz="1300" b="1">
                <a:solidFill>
                  <a:srgbClr val="B8C6DE"/>
                </a:solidFill>
                <a:latin typeface="Calibri" panose="020F0502020204030204" pitchFamily="34" charset="0"/>
              </a:rPr>
              <a:t>The service</a:t>
            </a:r>
          </a:p>
        </p:txBody>
      </p:sp>
      <p:sp>
        <p:nvSpPr>
          <p:cNvPr id="10" name="Rectangle: Rounded Corners 9">
            <a:extLst>
              <a:ext uri="{FF2B5EF4-FFF2-40B4-BE49-F238E27FC236}">
                <a16:creationId xmlns:a16="http://schemas.microsoft.com/office/drawing/2014/main" id="{107D21A8-8E8E-1EE8-93AE-9E527674CEFE}"/>
              </a:ext>
            </a:extLst>
          </p:cNvPr>
          <p:cNvSpPr/>
          <p:nvPr/>
        </p:nvSpPr>
        <p:spPr>
          <a:xfrm>
            <a:off x="2286000" y="2006600"/>
            <a:ext cx="4191000" cy="584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 distributed application you build in SCOM</a:t>
            </a:r>
          </a:p>
        </p:txBody>
      </p:sp>
      <p:cxnSp>
        <p:nvCxnSpPr>
          <p:cNvPr id="11" name="Straight Arrow Connector 10">
            <a:extLst>
              <a:ext uri="{FF2B5EF4-FFF2-40B4-BE49-F238E27FC236}">
                <a16:creationId xmlns:a16="http://schemas.microsoft.com/office/drawing/2014/main" id="{97DE9067-EB66-3F31-A1C3-124D348F75BF}"/>
              </a:ext>
            </a:extLst>
          </p:cNvPr>
          <p:cNvCxnSpPr/>
          <p:nvPr/>
        </p:nvCxnSpPr>
        <p:spPr>
          <a:xfrm>
            <a:off x="6477000" y="2298700"/>
            <a:ext cx="635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3CBD4BEB-5B15-B182-679E-3F6E0591C50A}"/>
              </a:ext>
            </a:extLst>
          </p:cNvPr>
          <p:cNvSpPr/>
          <p:nvPr/>
        </p:nvSpPr>
        <p:spPr>
          <a:xfrm>
            <a:off x="7112000" y="2006600"/>
            <a:ext cx="4191000" cy="584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 health model: one resource that represents the service</a:t>
            </a:r>
          </a:p>
        </p:txBody>
      </p:sp>
      <p:sp>
        <p:nvSpPr>
          <p:cNvPr id="13" name="TextBox 12">
            <a:extLst>
              <a:ext uri="{FF2B5EF4-FFF2-40B4-BE49-F238E27FC236}">
                <a16:creationId xmlns:a16="http://schemas.microsoft.com/office/drawing/2014/main" id="{A4E272DE-39FF-06D6-32B2-12F2C6A75E5A}"/>
              </a:ext>
            </a:extLst>
          </p:cNvPr>
          <p:cNvSpPr txBox="1"/>
          <p:nvPr/>
        </p:nvSpPr>
        <p:spPr>
          <a:xfrm>
            <a:off x="609600" y="2895600"/>
            <a:ext cx="1574800" cy="292388"/>
          </a:xfrm>
          <a:prstGeom prst="rect">
            <a:avLst/>
          </a:prstGeom>
          <a:noFill/>
        </p:spPr>
        <p:txBody>
          <a:bodyPr vert="horz" wrap="square" lIns="25400" rIns="25400" rtlCol="0">
            <a:spAutoFit/>
          </a:bodyPr>
          <a:lstStyle/>
          <a:p>
            <a:r>
              <a:rPr lang="en-US" sz="1300" b="1">
                <a:solidFill>
                  <a:srgbClr val="B8C6DE"/>
                </a:solidFill>
                <a:latin typeface="Calibri" panose="020F0502020204030204" pitchFamily="34" charset="0"/>
              </a:rPr>
              <a:t>Parts</a:t>
            </a:r>
          </a:p>
        </p:txBody>
      </p:sp>
      <p:sp>
        <p:nvSpPr>
          <p:cNvPr id="14" name="Rectangle: Rounded Corners 13">
            <a:extLst>
              <a:ext uri="{FF2B5EF4-FFF2-40B4-BE49-F238E27FC236}">
                <a16:creationId xmlns:a16="http://schemas.microsoft.com/office/drawing/2014/main" id="{5EC8253D-0C9E-216D-CB40-19A5BC213412}"/>
              </a:ext>
            </a:extLst>
          </p:cNvPr>
          <p:cNvSpPr/>
          <p:nvPr/>
        </p:nvSpPr>
        <p:spPr>
          <a:xfrm>
            <a:off x="2286000" y="2743200"/>
            <a:ext cx="4191000" cy="584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Component groups, such as a web tier and a database tier</a:t>
            </a:r>
          </a:p>
        </p:txBody>
      </p:sp>
      <p:cxnSp>
        <p:nvCxnSpPr>
          <p:cNvPr id="15" name="Straight Arrow Connector 14">
            <a:extLst>
              <a:ext uri="{FF2B5EF4-FFF2-40B4-BE49-F238E27FC236}">
                <a16:creationId xmlns:a16="http://schemas.microsoft.com/office/drawing/2014/main" id="{796DA7E0-8798-3520-F740-8F7099104C66}"/>
              </a:ext>
            </a:extLst>
          </p:cNvPr>
          <p:cNvCxnSpPr/>
          <p:nvPr/>
        </p:nvCxnSpPr>
        <p:spPr>
          <a:xfrm>
            <a:off x="6477000" y="3035300"/>
            <a:ext cx="635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28AF0A5A-23CF-38D3-3F2A-B8A54A393C98}"/>
              </a:ext>
            </a:extLst>
          </p:cNvPr>
          <p:cNvSpPr/>
          <p:nvPr/>
        </p:nvSpPr>
        <p:spPr>
          <a:xfrm>
            <a:off x="7112000" y="2743200"/>
            <a:ext cx="4191000" cy="584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Entities: the components the service depends on, in Azure, on-premises or AWS</a:t>
            </a:r>
          </a:p>
        </p:txBody>
      </p:sp>
      <p:sp>
        <p:nvSpPr>
          <p:cNvPr id="17" name="TextBox 16">
            <a:extLst>
              <a:ext uri="{FF2B5EF4-FFF2-40B4-BE49-F238E27FC236}">
                <a16:creationId xmlns:a16="http://schemas.microsoft.com/office/drawing/2014/main" id="{B9A67C2E-4CEA-91BE-E2FA-892A66C953D2}"/>
              </a:ext>
            </a:extLst>
          </p:cNvPr>
          <p:cNvSpPr txBox="1"/>
          <p:nvPr/>
        </p:nvSpPr>
        <p:spPr>
          <a:xfrm>
            <a:off x="609600" y="3632200"/>
            <a:ext cx="1574800" cy="292388"/>
          </a:xfrm>
          <a:prstGeom prst="rect">
            <a:avLst/>
          </a:prstGeom>
          <a:noFill/>
        </p:spPr>
        <p:txBody>
          <a:bodyPr vert="horz" wrap="square" lIns="25400" rIns="25400" rtlCol="0">
            <a:spAutoFit/>
          </a:bodyPr>
          <a:lstStyle/>
          <a:p>
            <a:r>
              <a:rPr lang="en-US" sz="1300" b="1">
                <a:solidFill>
                  <a:srgbClr val="B8C6DE"/>
                </a:solidFill>
                <a:latin typeface="Calibri" panose="020F0502020204030204" pitchFamily="34" charset="0"/>
              </a:rPr>
              <a:t>Evidence</a:t>
            </a:r>
          </a:p>
        </p:txBody>
      </p:sp>
      <p:sp>
        <p:nvSpPr>
          <p:cNvPr id="18" name="Rectangle: Rounded Corners 17">
            <a:extLst>
              <a:ext uri="{FF2B5EF4-FFF2-40B4-BE49-F238E27FC236}">
                <a16:creationId xmlns:a16="http://schemas.microsoft.com/office/drawing/2014/main" id="{748A598E-E8EE-DF62-A67D-3F33DBDA52D8}"/>
              </a:ext>
            </a:extLst>
          </p:cNvPr>
          <p:cNvSpPr/>
          <p:nvPr/>
        </p:nvSpPr>
        <p:spPr>
          <a:xfrm>
            <a:off x="2286000" y="3479800"/>
            <a:ext cx="4191000" cy="584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Monitors watching events, counters and scripts</a:t>
            </a:r>
          </a:p>
        </p:txBody>
      </p:sp>
      <p:cxnSp>
        <p:nvCxnSpPr>
          <p:cNvPr id="19" name="Straight Arrow Connector 18">
            <a:extLst>
              <a:ext uri="{FF2B5EF4-FFF2-40B4-BE49-F238E27FC236}">
                <a16:creationId xmlns:a16="http://schemas.microsoft.com/office/drawing/2014/main" id="{C6E5DF18-C3AF-FA1A-095B-CF9C67A62ADA}"/>
              </a:ext>
            </a:extLst>
          </p:cNvPr>
          <p:cNvCxnSpPr/>
          <p:nvPr/>
        </p:nvCxnSpPr>
        <p:spPr>
          <a:xfrm>
            <a:off x="6477000" y="3771900"/>
            <a:ext cx="635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6D924391-9378-58DB-C02B-464209F9AC15}"/>
              </a:ext>
            </a:extLst>
          </p:cNvPr>
          <p:cNvSpPr/>
          <p:nvPr/>
        </p:nvSpPr>
        <p:spPr>
          <a:xfrm>
            <a:off x="7112000" y="3479800"/>
            <a:ext cx="4191000" cy="584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Signals reading data Azure Monitor already collects</a:t>
            </a:r>
          </a:p>
        </p:txBody>
      </p:sp>
      <p:sp>
        <p:nvSpPr>
          <p:cNvPr id="21" name="TextBox 20">
            <a:extLst>
              <a:ext uri="{FF2B5EF4-FFF2-40B4-BE49-F238E27FC236}">
                <a16:creationId xmlns:a16="http://schemas.microsoft.com/office/drawing/2014/main" id="{9E5F18DF-EDE3-0586-A2EA-954B4B947C45}"/>
              </a:ext>
            </a:extLst>
          </p:cNvPr>
          <p:cNvSpPr txBox="1"/>
          <p:nvPr/>
        </p:nvSpPr>
        <p:spPr>
          <a:xfrm>
            <a:off x="609600" y="4368800"/>
            <a:ext cx="1574800" cy="292388"/>
          </a:xfrm>
          <a:prstGeom prst="rect">
            <a:avLst/>
          </a:prstGeom>
          <a:noFill/>
        </p:spPr>
        <p:txBody>
          <a:bodyPr vert="horz" wrap="square" lIns="25400" rIns="25400" rtlCol="0">
            <a:spAutoFit/>
          </a:bodyPr>
          <a:lstStyle/>
          <a:p>
            <a:r>
              <a:rPr lang="en-US" sz="1300" b="1">
                <a:solidFill>
                  <a:srgbClr val="B8C6DE"/>
                </a:solidFill>
                <a:latin typeface="Calibri" panose="020F0502020204030204" pitchFamily="34" charset="0"/>
              </a:rPr>
              <a:t>Rollup</a:t>
            </a:r>
          </a:p>
        </p:txBody>
      </p:sp>
      <p:sp>
        <p:nvSpPr>
          <p:cNvPr id="22" name="Rectangle: Rounded Corners 21">
            <a:extLst>
              <a:ext uri="{FF2B5EF4-FFF2-40B4-BE49-F238E27FC236}">
                <a16:creationId xmlns:a16="http://schemas.microsoft.com/office/drawing/2014/main" id="{5FB585AE-DE0A-0E60-C342-6F03BD763E69}"/>
              </a:ext>
            </a:extLst>
          </p:cNvPr>
          <p:cNvSpPr/>
          <p:nvPr/>
        </p:nvSpPr>
        <p:spPr>
          <a:xfrm>
            <a:off x="2286000" y="4216400"/>
            <a:ext cx="4191000" cy="584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Health rolls up from components to the service</a:t>
            </a:r>
          </a:p>
        </p:txBody>
      </p:sp>
      <p:cxnSp>
        <p:nvCxnSpPr>
          <p:cNvPr id="23" name="Straight Arrow Connector 22">
            <a:extLst>
              <a:ext uri="{FF2B5EF4-FFF2-40B4-BE49-F238E27FC236}">
                <a16:creationId xmlns:a16="http://schemas.microsoft.com/office/drawing/2014/main" id="{AB7E465B-2B56-3820-1407-385F87BE461B}"/>
              </a:ext>
            </a:extLst>
          </p:cNvPr>
          <p:cNvCxnSpPr/>
          <p:nvPr/>
        </p:nvCxnSpPr>
        <p:spPr>
          <a:xfrm>
            <a:off x="6477000" y="4508500"/>
            <a:ext cx="635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DAC120D3-595B-B57B-3723-77BFAE2302D4}"/>
              </a:ext>
            </a:extLst>
          </p:cNvPr>
          <p:cNvSpPr/>
          <p:nvPr/>
        </p:nvSpPr>
        <p:spPr>
          <a:xfrm>
            <a:off x="7112000" y="4216400"/>
            <a:ext cx="4191000" cy="584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Health propagates from entities to the service</a:t>
            </a:r>
          </a:p>
        </p:txBody>
      </p:sp>
      <p:sp>
        <p:nvSpPr>
          <p:cNvPr id="25" name="TextBox 24">
            <a:extLst>
              <a:ext uri="{FF2B5EF4-FFF2-40B4-BE49-F238E27FC236}">
                <a16:creationId xmlns:a16="http://schemas.microsoft.com/office/drawing/2014/main" id="{AD261AEA-40A1-E778-74E4-BA3703C91C97}"/>
              </a:ext>
            </a:extLst>
          </p:cNvPr>
          <p:cNvSpPr txBox="1"/>
          <p:nvPr/>
        </p:nvSpPr>
        <p:spPr>
          <a:xfrm>
            <a:off x="609600" y="5029200"/>
            <a:ext cx="10972800" cy="477054"/>
          </a:xfrm>
          <a:prstGeom prst="rect">
            <a:avLst/>
          </a:prstGeom>
          <a:noFill/>
        </p:spPr>
        <p:txBody>
          <a:bodyPr vert="horz" wrap="square" lIns="25400" rIns="25400" rtlCol="0">
            <a:spAutoFit/>
          </a:bodyPr>
          <a:lstStyle/>
          <a:p>
            <a:r>
              <a:rPr lang="en-US" sz="1250" b="1">
                <a:solidFill>
                  <a:srgbClr val="FACC15"/>
                </a:solidFill>
                <a:latin typeface="Calibri" panose="020F0502020204030204" pitchFamily="34" charset="0"/>
              </a:rPr>
              <a:t>What is different: reads data Azure Monitor already has · an Azure resource whose entities can be Arc-enabled machines · missing data is a designed state (Unknown) · one alert per state change · still in preview.</a:t>
            </a:r>
          </a:p>
        </p:txBody>
      </p:sp>
      <p:sp>
        <p:nvSpPr>
          <p:cNvPr id="26" name="Rectangle 25">
            <a:extLst>
              <a:ext uri="{FF2B5EF4-FFF2-40B4-BE49-F238E27FC236}">
                <a16:creationId xmlns:a16="http://schemas.microsoft.com/office/drawing/2014/main" id="{52A8754B-98F5-EA43-AE29-31636ECC77BC}"/>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38B81A4-8817-C981-BD9F-886B492DD06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Modelling a service is not new. Health Models bring the idea to the parts Microsoft doesn't host.</a:t>
            </a:r>
          </a:p>
        </p:txBody>
      </p:sp>
      <p:pic>
        <p:nvPicPr>
          <p:cNvPr id="29" name="SponsorBar" descr="CAS 2026 sponsors and #CloudAISummit2026">
            <a:extLst>
              <a:ext uri="{FF2B5EF4-FFF2-40B4-BE49-F238E27FC236}">
                <a16:creationId xmlns:a16="http://schemas.microsoft.com/office/drawing/2014/main" id="{E2243C85-6880-3759-12BA-B1E6AD729C8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345910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3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3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3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3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3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3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3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3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3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30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300"/>
                                        <p:tgtEl>
                                          <p:spTgt spid="2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2" grpId="0" animBg="1"/>
      <p:bldP spid="13" grpId="0"/>
      <p:bldP spid="14" grpId="0" animBg="1"/>
      <p:bldP spid="16" grpId="0" animBg="1"/>
      <p:bldP spid="17" grpId="0"/>
      <p:bldP spid="18" grpId="0" animBg="1"/>
      <p:bldP spid="20" grpId="0" animBg="1"/>
      <p:bldP spid="21" grpId="0"/>
      <p:bldP spid="22" grpId="0" animBg="1"/>
      <p:bldP spid="24" grpId="0" animBg="1"/>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D85048-42E5-815D-C39D-868BA73CC21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B8F01E0-3703-6659-2E29-2A5215E537F0}"/>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24BF454-D1E7-57BE-8F3A-2A0D9CAE24E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a health model is made of</a:t>
            </a:r>
          </a:p>
        </p:txBody>
      </p:sp>
      <p:sp>
        <p:nvSpPr>
          <p:cNvPr id="5" name="Rectangle 4">
            <a:extLst>
              <a:ext uri="{FF2B5EF4-FFF2-40B4-BE49-F238E27FC236}">
                <a16:creationId xmlns:a16="http://schemas.microsoft.com/office/drawing/2014/main" id="{0B78F150-DAAE-9A21-AEF1-A90DADC65D5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0CAD85A0-F731-B3D6-4FF9-BB092C191880}"/>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Rectangle: Rounded Corners 6">
            <a:extLst>
              <a:ext uri="{FF2B5EF4-FFF2-40B4-BE49-F238E27FC236}">
                <a16:creationId xmlns:a16="http://schemas.microsoft.com/office/drawing/2014/main" id="{47F7E669-FF54-4B35-D2C8-CC767A20E891}"/>
              </a:ext>
            </a:extLst>
          </p:cNvPr>
          <p:cNvSpPr/>
          <p:nvPr/>
        </p:nvSpPr>
        <p:spPr>
          <a:xfrm>
            <a:off x="609600" y="1727200"/>
            <a:ext cx="5080000" cy="6604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SERVICE · what outcome are we protecting?
IIC Hybrid Orders</a:t>
            </a:r>
          </a:p>
        </p:txBody>
      </p:sp>
      <p:cxnSp>
        <p:nvCxnSpPr>
          <p:cNvPr id="8" name="Straight Arrow Connector 7">
            <a:extLst>
              <a:ext uri="{FF2B5EF4-FFF2-40B4-BE49-F238E27FC236}">
                <a16:creationId xmlns:a16="http://schemas.microsoft.com/office/drawing/2014/main" id="{1ED8128D-D921-C679-6EC1-2E372464073F}"/>
              </a:ext>
            </a:extLst>
          </p:cNvPr>
          <p:cNvCxnSpPr/>
          <p:nvPr/>
        </p:nvCxnSpPr>
        <p:spPr>
          <a:xfrm>
            <a:off x="3149600" y="2387600"/>
            <a:ext cx="0" cy="1270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ABDF6279-7D4A-596E-85E3-0C01CE03D74B}"/>
              </a:ext>
            </a:extLst>
          </p:cNvPr>
          <p:cNvSpPr/>
          <p:nvPr/>
        </p:nvSpPr>
        <p:spPr>
          <a:xfrm>
            <a:off x="609600" y="2514600"/>
            <a:ext cx="5080000" cy="6604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COMMITMENTS + COMPONENTS · the entities
customers can complete an order; coordinator, on-premises validation, AWS fulfillment</a:t>
            </a:r>
          </a:p>
        </p:txBody>
      </p:sp>
      <p:cxnSp>
        <p:nvCxnSpPr>
          <p:cNvPr id="10" name="Straight Arrow Connector 9">
            <a:extLst>
              <a:ext uri="{FF2B5EF4-FFF2-40B4-BE49-F238E27FC236}">
                <a16:creationId xmlns:a16="http://schemas.microsoft.com/office/drawing/2014/main" id="{499B382C-C9E9-A802-30C0-9DB35D87E9F1}"/>
              </a:ext>
            </a:extLst>
          </p:cNvPr>
          <p:cNvCxnSpPr/>
          <p:nvPr/>
        </p:nvCxnSpPr>
        <p:spPr>
          <a:xfrm>
            <a:off x="3149600" y="3175000"/>
            <a:ext cx="0" cy="1270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D449C5A3-D75C-5843-45F9-991C294FE089}"/>
              </a:ext>
            </a:extLst>
          </p:cNvPr>
          <p:cNvSpPr/>
          <p:nvPr/>
        </p:nvSpPr>
        <p:spPr>
          <a:xfrm>
            <a:off x="609600" y="3302000"/>
            <a:ext cx="5080000" cy="6604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SIGNALS · which evidence measures each one?
order stage records, heartbeats, metrics</a:t>
            </a:r>
          </a:p>
        </p:txBody>
      </p:sp>
      <p:cxnSp>
        <p:nvCxnSpPr>
          <p:cNvPr id="12" name="Straight Arrow Connector 11">
            <a:extLst>
              <a:ext uri="{FF2B5EF4-FFF2-40B4-BE49-F238E27FC236}">
                <a16:creationId xmlns:a16="http://schemas.microsoft.com/office/drawing/2014/main" id="{63312893-9C8C-10AE-C7C6-DF315F8344D4}"/>
              </a:ext>
            </a:extLst>
          </p:cNvPr>
          <p:cNvCxnSpPr/>
          <p:nvPr/>
        </p:nvCxnSpPr>
        <p:spPr>
          <a:xfrm>
            <a:off x="3149600" y="3962400"/>
            <a:ext cx="0" cy="1270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3A5B5087-56F9-B970-8ABD-17512EBE914A}"/>
              </a:ext>
            </a:extLst>
          </p:cNvPr>
          <p:cNvSpPr/>
          <p:nvPr/>
        </p:nvSpPr>
        <p:spPr>
          <a:xfrm>
            <a:off x="609600" y="4089400"/>
            <a:ext cx="5080000" cy="6604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STATE · what the evidence means
Healthy · Degraded · Unhealthy · Unknown</a:t>
            </a:r>
          </a:p>
        </p:txBody>
      </p:sp>
      <p:sp>
        <p:nvSpPr>
          <p:cNvPr id="14" name="TextBox 13">
            <a:extLst>
              <a:ext uri="{FF2B5EF4-FFF2-40B4-BE49-F238E27FC236}">
                <a16:creationId xmlns:a16="http://schemas.microsoft.com/office/drawing/2014/main" id="{1C0EECB9-9C71-AE07-ABA8-4509A403E2A4}"/>
              </a:ext>
            </a:extLst>
          </p:cNvPr>
          <p:cNvSpPr txBox="1"/>
          <p:nvPr/>
        </p:nvSpPr>
        <p:spPr>
          <a:xfrm>
            <a:off x="6248400" y="1625600"/>
            <a:ext cx="381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ONE SIGNAL, END TO END</a:t>
            </a:r>
          </a:p>
        </p:txBody>
      </p:sp>
      <p:sp>
        <p:nvSpPr>
          <p:cNvPr id="15" name="Rectangle: Rounded Corners 14">
            <a:extLst>
              <a:ext uri="{FF2B5EF4-FFF2-40B4-BE49-F238E27FC236}">
                <a16:creationId xmlns:a16="http://schemas.microsoft.com/office/drawing/2014/main" id="{8B867589-1226-83C2-A14E-C400A76B7322}"/>
              </a:ext>
            </a:extLst>
          </p:cNvPr>
          <p:cNvSpPr/>
          <p:nvPr/>
        </p:nvSpPr>
        <p:spPr>
          <a:xfrm>
            <a:off x="6248400" y="1905000"/>
            <a:ext cx="5334000" cy="5588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ENTITY · AWS fulfillment</a:t>
            </a:r>
          </a:p>
        </p:txBody>
      </p:sp>
      <p:cxnSp>
        <p:nvCxnSpPr>
          <p:cNvPr id="16" name="Straight Arrow Connector 15">
            <a:extLst>
              <a:ext uri="{FF2B5EF4-FFF2-40B4-BE49-F238E27FC236}">
                <a16:creationId xmlns:a16="http://schemas.microsoft.com/office/drawing/2014/main" id="{9E0A3DCA-ACF1-0E2F-83DA-9ACF7B0B99B4}"/>
              </a:ext>
            </a:extLst>
          </p:cNvPr>
          <p:cNvCxnSpPr/>
          <p:nvPr/>
        </p:nvCxnSpPr>
        <p:spPr>
          <a:xfrm>
            <a:off x="8915400" y="2463800"/>
            <a:ext cx="0" cy="15240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C9AAAC8F-D24B-C0C2-24B4-C2E5381111E4}"/>
              </a:ext>
            </a:extLst>
          </p:cNvPr>
          <p:cNvSpPr/>
          <p:nvPr/>
        </p:nvSpPr>
        <p:spPr>
          <a:xfrm>
            <a:off x="6248400" y="2616200"/>
            <a:ext cx="5334000" cy="5588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EVIDENCE · stage success and latency from the order records</a:t>
            </a:r>
          </a:p>
        </p:txBody>
      </p:sp>
      <p:cxnSp>
        <p:nvCxnSpPr>
          <p:cNvPr id="18" name="Straight Arrow Connector 17">
            <a:extLst>
              <a:ext uri="{FF2B5EF4-FFF2-40B4-BE49-F238E27FC236}">
                <a16:creationId xmlns:a16="http://schemas.microsoft.com/office/drawing/2014/main" id="{A4D382D9-F9D9-493D-639F-179F562AED25}"/>
              </a:ext>
            </a:extLst>
          </p:cNvPr>
          <p:cNvCxnSpPr/>
          <p:nvPr/>
        </p:nvCxnSpPr>
        <p:spPr>
          <a:xfrm>
            <a:off x="8915400" y="3175000"/>
            <a:ext cx="0" cy="1524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B956C00A-0C3E-34DA-5CA4-58D479508082}"/>
              </a:ext>
            </a:extLst>
          </p:cNvPr>
          <p:cNvSpPr/>
          <p:nvPr/>
        </p:nvSpPr>
        <p:spPr>
          <a:xfrm>
            <a:off x="6248400" y="3327400"/>
            <a:ext cx="5334000" cy="5588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WINDOW · a lookback window with enough samples</a:t>
            </a:r>
          </a:p>
        </p:txBody>
      </p:sp>
      <p:cxnSp>
        <p:nvCxnSpPr>
          <p:cNvPr id="20" name="Straight Arrow Connector 19">
            <a:extLst>
              <a:ext uri="{FF2B5EF4-FFF2-40B4-BE49-F238E27FC236}">
                <a16:creationId xmlns:a16="http://schemas.microsoft.com/office/drawing/2014/main" id="{9D7EE9C8-24CD-13BD-96C3-2ACC2EC69ED6}"/>
              </a:ext>
            </a:extLst>
          </p:cNvPr>
          <p:cNvCxnSpPr/>
          <p:nvPr/>
        </p:nvCxnSpPr>
        <p:spPr>
          <a:xfrm>
            <a:off x="8915400" y="3886200"/>
            <a:ext cx="0" cy="152400"/>
          </a:xfrm>
          <a:prstGeom prst="straightConnector1">
            <a:avLst/>
          </a:prstGeom>
          <a:ln w="28575">
            <a:solidFill>
              <a:srgbClr val="D0B6FF"/>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48437F00-2524-B28F-B2A8-7D1B73C53A1A}"/>
              </a:ext>
            </a:extLst>
          </p:cNvPr>
          <p:cNvSpPr/>
          <p:nvPr/>
        </p:nvSpPr>
        <p:spPr>
          <a:xfrm>
            <a:off x="6248400" y="4038600"/>
            <a:ext cx="5334000" cy="558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RULE · Degraded and Unhealthy thresholds on the failure rate</a:t>
            </a:r>
          </a:p>
        </p:txBody>
      </p:sp>
      <p:cxnSp>
        <p:nvCxnSpPr>
          <p:cNvPr id="22" name="Straight Arrow Connector 21">
            <a:extLst>
              <a:ext uri="{FF2B5EF4-FFF2-40B4-BE49-F238E27FC236}">
                <a16:creationId xmlns:a16="http://schemas.microsoft.com/office/drawing/2014/main" id="{CC39C5EC-5BED-B5CE-84AA-15D9D7FF1C69}"/>
              </a:ext>
            </a:extLst>
          </p:cNvPr>
          <p:cNvCxnSpPr/>
          <p:nvPr/>
        </p:nvCxnSpPr>
        <p:spPr>
          <a:xfrm>
            <a:off x="8915400" y="4597400"/>
            <a:ext cx="0" cy="1524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CA1F1F4F-83E7-8D73-9E24-1FC40A576DDA}"/>
              </a:ext>
            </a:extLst>
          </p:cNvPr>
          <p:cNvSpPr/>
          <p:nvPr/>
        </p:nvSpPr>
        <p:spPr>
          <a:xfrm>
            <a:off x="6248400" y="4749800"/>
            <a:ext cx="5334000" cy="558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STATE · Healthy · Degraded · Unhealthy · Unknown</a:t>
            </a:r>
          </a:p>
        </p:txBody>
      </p:sp>
      <p:sp>
        <p:nvSpPr>
          <p:cNvPr id="24" name="TextBox 23">
            <a:extLst>
              <a:ext uri="{FF2B5EF4-FFF2-40B4-BE49-F238E27FC236}">
                <a16:creationId xmlns:a16="http://schemas.microsoft.com/office/drawing/2014/main" id="{DB638E74-16E9-5D3C-D329-2A97E7DEEBFF}"/>
              </a:ext>
            </a:extLst>
          </p:cNvPr>
          <p:cNvSpPr txBox="1"/>
          <p:nvPr/>
        </p:nvSpPr>
        <p:spPr>
          <a:xfrm>
            <a:off x="609600" y="5537200"/>
            <a:ext cx="10972800" cy="300082"/>
          </a:xfrm>
          <a:prstGeom prst="rect">
            <a:avLst/>
          </a:prstGeom>
          <a:noFill/>
        </p:spPr>
        <p:txBody>
          <a:bodyPr vert="horz" wrap="square" lIns="25400" rIns="25400" rtlCol="0">
            <a:spAutoFit/>
          </a:bodyPr>
          <a:lstStyle/>
          <a:p>
            <a:r>
              <a:rPr lang="en-US" sz="1350" b="1">
                <a:solidFill>
                  <a:srgbClr val="7DD3FC"/>
                </a:solidFill>
                <a:latin typeface="Calibri" panose="020F0502020204030204" pitchFamily="34" charset="0"/>
              </a:rPr>
              <a:t>Every coloured state must trace back to a signal, a window and a rule, or nobody can explain it.</a:t>
            </a:r>
          </a:p>
        </p:txBody>
      </p:sp>
      <p:sp>
        <p:nvSpPr>
          <p:cNvPr id="25" name="Rectangle 24">
            <a:extLst>
              <a:ext uri="{FF2B5EF4-FFF2-40B4-BE49-F238E27FC236}">
                <a16:creationId xmlns:a16="http://schemas.microsoft.com/office/drawing/2014/main" id="{B2ADF07E-A9E1-C26E-FE51-3424B4476D6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54C525D-9FB7-850A-4CBC-D6713A8AFF9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The service view shows results; the model defines what they mean.</a:t>
            </a:r>
          </a:p>
        </p:txBody>
      </p:sp>
      <p:pic>
        <p:nvPicPr>
          <p:cNvPr id="28" name="SponsorBar" descr="CAS 2026 sponsors and #CloudAISummit2026">
            <a:extLst>
              <a:ext uri="{FF2B5EF4-FFF2-40B4-BE49-F238E27FC236}">
                <a16:creationId xmlns:a16="http://schemas.microsoft.com/office/drawing/2014/main" id="{6E4E2E82-7EE6-447D-0184-7FDE87232C8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19371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3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3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3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00"/>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30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3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300"/>
                                        <p:tgtEl>
                                          <p:spTgt spid="2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4" grpId="0"/>
      <p:bldP spid="15" grpId="0" animBg="1"/>
      <p:bldP spid="17" grpId="0" animBg="1"/>
      <p:bldP spid="19" grpId="0" animBg="1"/>
      <p:bldP spid="21" grpId="0" animBg="1"/>
      <p:bldP spid="23" grpId="0" animBg="1"/>
      <p:bldP spid="2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F968EB-5E1A-8DB4-140C-DCAA73B4796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7C8977B-87FF-00A5-EA5E-E8EA9885A238}"/>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D7AFB48-56D4-5835-8DF4-F7B558B602D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How health rolls up</a:t>
            </a:r>
          </a:p>
        </p:txBody>
      </p:sp>
      <p:sp>
        <p:nvSpPr>
          <p:cNvPr id="5" name="Rectangle 4">
            <a:extLst>
              <a:ext uri="{FF2B5EF4-FFF2-40B4-BE49-F238E27FC236}">
                <a16:creationId xmlns:a16="http://schemas.microsoft.com/office/drawing/2014/main" id="{51F5529B-8B73-E822-DB13-CAE5F5AD415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763A642-F0DD-EB69-2194-4CD9111FE7AB}"/>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The live IIC model, hm-tplabs-cas26-service-cus-01, as the picture of required versus redundant.</a:t>
            </a:r>
          </a:p>
        </p:txBody>
      </p:sp>
      <p:sp>
        <p:nvSpPr>
          <p:cNvPr id="7" name="SectionTag">
            <a:extLst>
              <a:ext uri="{FF2B5EF4-FFF2-40B4-BE49-F238E27FC236}">
                <a16:creationId xmlns:a16="http://schemas.microsoft.com/office/drawing/2014/main" id="{E9D6D6FE-4959-B8B6-E6A7-C54BB0909E37}"/>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8" name="Rectangle: Rounded Corners 7">
            <a:extLst>
              <a:ext uri="{FF2B5EF4-FFF2-40B4-BE49-F238E27FC236}">
                <a16:creationId xmlns:a16="http://schemas.microsoft.com/office/drawing/2014/main" id="{73AAA20C-6716-DD11-8349-F6A03974B21E}"/>
              </a:ext>
            </a:extLst>
          </p:cNvPr>
          <p:cNvSpPr/>
          <p:nvPr/>
        </p:nvSpPr>
        <p:spPr>
          <a:xfrm>
            <a:off x="4191000" y="1676400"/>
            <a:ext cx="3810000" cy="5588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IIC Hybrid Orders · worst of its children</a:t>
            </a:r>
          </a:p>
        </p:txBody>
      </p:sp>
      <p:cxnSp>
        <p:nvCxnSpPr>
          <p:cNvPr id="9" name="Straight Arrow Connector 8">
            <a:extLst>
              <a:ext uri="{FF2B5EF4-FFF2-40B4-BE49-F238E27FC236}">
                <a16:creationId xmlns:a16="http://schemas.microsoft.com/office/drawing/2014/main" id="{472A506B-58F0-2D1A-0372-4F1E7C2319B5}"/>
              </a:ext>
            </a:extLst>
          </p:cNvPr>
          <p:cNvCxnSpPr/>
          <p:nvPr/>
        </p:nvCxnSpPr>
        <p:spPr>
          <a:xfrm flipH="1">
            <a:off x="2324100" y="2235200"/>
            <a:ext cx="3136900" cy="2540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CF78AA1D-4AA3-B14C-BB6F-2D9158F358FA}"/>
              </a:ext>
            </a:extLst>
          </p:cNvPr>
          <p:cNvSpPr/>
          <p:nvPr/>
        </p:nvSpPr>
        <p:spPr>
          <a:xfrm>
            <a:off x="609600" y="2489200"/>
            <a:ext cx="3429000" cy="5588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Customers can open the portal</a:t>
            </a:r>
          </a:p>
        </p:txBody>
      </p:sp>
      <p:sp>
        <p:nvSpPr>
          <p:cNvPr id="11" name="Rectangle: Rounded Corners 10">
            <a:extLst>
              <a:ext uri="{FF2B5EF4-FFF2-40B4-BE49-F238E27FC236}">
                <a16:creationId xmlns:a16="http://schemas.microsoft.com/office/drawing/2014/main" id="{7633FBE1-3C3C-53DA-AB0B-26ACEC3E6550}"/>
              </a:ext>
            </a:extLst>
          </p:cNvPr>
          <p:cNvSpPr/>
          <p:nvPr/>
        </p:nvSpPr>
        <p:spPr>
          <a:xfrm>
            <a:off x="889000" y="3276600"/>
            <a:ext cx="2870200" cy="5334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Container Apps origin · REDUNDANT</a:t>
            </a:r>
          </a:p>
        </p:txBody>
      </p:sp>
      <p:sp>
        <p:nvSpPr>
          <p:cNvPr id="12" name="Rectangle: Rounded Corners 11">
            <a:extLst>
              <a:ext uri="{FF2B5EF4-FFF2-40B4-BE49-F238E27FC236}">
                <a16:creationId xmlns:a16="http://schemas.microsoft.com/office/drawing/2014/main" id="{8A956CD1-0CA1-DA4D-15A3-BF2A1EB2C0F5}"/>
              </a:ext>
            </a:extLst>
          </p:cNvPr>
          <p:cNvSpPr/>
          <p:nvPr/>
        </p:nvSpPr>
        <p:spPr>
          <a:xfrm>
            <a:off x="889000" y="3962400"/>
            <a:ext cx="2870200" cy="5334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EKS origin · REDUNDANT</a:t>
            </a:r>
          </a:p>
        </p:txBody>
      </p:sp>
      <p:sp>
        <p:nvSpPr>
          <p:cNvPr id="13" name="TextBox 12">
            <a:extLst>
              <a:ext uri="{FF2B5EF4-FFF2-40B4-BE49-F238E27FC236}">
                <a16:creationId xmlns:a16="http://schemas.microsoft.com/office/drawing/2014/main" id="{B5EEF80F-47B9-AB91-6A26-F21C8FABFF8F}"/>
              </a:ext>
            </a:extLst>
          </p:cNvPr>
          <p:cNvSpPr txBox="1"/>
          <p:nvPr/>
        </p:nvSpPr>
        <p:spPr>
          <a:xfrm>
            <a:off x="609600" y="4622800"/>
            <a:ext cx="3429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one origin down = Degraded, not down</a:t>
            </a:r>
          </a:p>
        </p:txBody>
      </p:sp>
      <p:cxnSp>
        <p:nvCxnSpPr>
          <p:cNvPr id="14" name="Straight Arrow Connector 13">
            <a:extLst>
              <a:ext uri="{FF2B5EF4-FFF2-40B4-BE49-F238E27FC236}">
                <a16:creationId xmlns:a16="http://schemas.microsoft.com/office/drawing/2014/main" id="{C19E44FF-6643-CD79-DBC1-878B06F7F1AF}"/>
              </a:ext>
            </a:extLst>
          </p:cNvPr>
          <p:cNvCxnSpPr/>
          <p:nvPr/>
        </p:nvCxnSpPr>
        <p:spPr>
          <a:xfrm>
            <a:off x="6096000" y="2235200"/>
            <a:ext cx="0" cy="2540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C943FA1C-81BC-0E7D-4AD2-0A3E23536641}"/>
              </a:ext>
            </a:extLst>
          </p:cNvPr>
          <p:cNvSpPr/>
          <p:nvPr/>
        </p:nvSpPr>
        <p:spPr>
          <a:xfrm>
            <a:off x="4381500" y="2489200"/>
            <a:ext cx="3429000" cy="558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Customers can complete an order</a:t>
            </a:r>
          </a:p>
        </p:txBody>
      </p:sp>
      <p:sp>
        <p:nvSpPr>
          <p:cNvPr id="16" name="Rectangle: Rounded Corners 15">
            <a:extLst>
              <a:ext uri="{FF2B5EF4-FFF2-40B4-BE49-F238E27FC236}">
                <a16:creationId xmlns:a16="http://schemas.microsoft.com/office/drawing/2014/main" id="{75148EF8-53A3-508A-B0DF-D887E0151473}"/>
              </a:ext>
            </a:extLst>
          </p:cNvPr>
          <p:cNvSpPr/>
          <p:nvPr/>
        </p:nvSpPr>
        <p:spPr>
          <a:xfrm>
            <a:off x="4660900" y="3276600"/>
            <a:ext cx="2870200" cy="4826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coordination · REQUIRED</a:t>
            </a:r>
          </a:p>
        </p:txBody>
      </p:sp>
      <p:sp>
        <p:nvSpPr>
          <p:cNvPr id="17" name="Rectangle: Rounded Corners 16">
            <a:extLst>
              <a:ext uri="{FF2B5EF4-FFF2-40B4-BE49-F238E27FC236}">
                <a16:creationId xmlns:a16="http://schemas.microsoft.com/office/drawing/2014/main" id="{A3864730-A1E1-4493-2E56-A868DBD825A0}"/>
              </a:ext>
            </a:extLst>
          </p:cNvPr>
          <p:cNvSpPr/>
          <p:nvPr/>
        </p:nvSpPr>
        <p:spPr>
          <a:xfrm>
            <a:off x="4660900" y="3860800"/>
            <a:ext cx="2870200" cy="4826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On-premises validation · REQUIRED</a:t>
            </a:r>
          </a:p>
        </p:txBody>
      </p:sp>
      <p:sp>
        <p:nvSpPr>
          <p:cNvPr id="18" name="Rectangle: Rounded Corners 17">
            <a:extLst>
              <a:ext uri="{FF2B5EF4-FFF2-40B4-BE49-F238E27FC236}">
                <a16:creationId xmlns:a16="http://schemas.microsoft.com/office/drawing/2014/main" id="{3020DA19-0F37-3CB3-7985-5144265ACBEB}"/>
              </a:ext>
            </a:extLst>
          </p:cNvPr>
          <p:cNvSpPr/>
          <p:nvPr/>
        </p:nvSpPr>
        <p:spPr>
          <a:xfrm>
            <a:off x="4660900" y="4445000"/>
            <a:ext cx="2870200" cy="4826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AWS fulfillment · REQUIRED</a:t>
            </a:r>
          </a:p>
        </p:txBody>
      </p:sp>
      <p:sp>
        <p:nvSpPr>
          <p:cNvPr id="19" name="TextBox 18">
            <a:extLst>
              <a:ext uri="{FF2B5EF4-FFF2-40B4-BE49-F238E27FC236}">
                <a16:creationId xmlns:a16="http://schemas.microsoft.com/office/drawing/2014/main" id="{48A5DE13-9A44-3355-04A1-C9A172F8304D}"/>
              </a:ext>
            </a:extLst>
          </p:cNvPr>
          <p:cNvSpPr txBox="1"/>
          <p:nvPr/>
        </p:nvSpPr>
        <p:spPr>
          <a:xfrm>
            <a:off x="4381500" y="5029200"/>
            <a:ext cx="3429000" cy="276999"/>
          </a:xfrm>
          <a:prstGeom prst="rect">
            <a:avLst/>
          </a:prstGeom>
          <a:noFill/>
        </p:spPr>
        <p:txBody>
          <a:bodyPr vert="horz" wrap="square" lIns="25400" rIns="25400" rtlCol="0">
            <a:spAutoFit/>
          </a:bodyPr>
          <a:lstStyle/>
          <a:p>
            <a:r>
              <a:rPr lang="en-US" sz="1200" b="1">
                <a:solidFill>
                  <a:srgbClr val="FD9A96"/>
                </a:solidFill>
                <a:latin typeface="Calibri" panose="020F0502020204030204" pitchFamily="34" charset="0"/>
              </a:rPr>
              <a:t>any one down = the commitment is Unhealthy</a:t>
            </a:r>
          </a:p>
        </p:txBody>
      </p:sp>
      <p:cxnSp>
        <p:nvCxnSpPr>
          <p:cNvPr id="20" name="Straight Arrow Connector 19">
            <a:extLst>
              <a:ext uri="{FF2B5EF4-FFF2-40B4-BE49-F238E27FC236}">
                <a16:creationId xmlns:a16="http://schemas.microsoft.com/office/drawing/2014/main" id="{B4093908-D9EE-CE04-90B5-26AA702837AB}"/>
              </a:ext>
            </a:extLst>
          </p:cNvPr>
          <p:cNvCxnSpPr/>
          <p:nvPr/>
        </p:nvCxnSpPr>
        <p:spPr>
          <a:xfrm>
            <a:off x="6731000" y="2235200"/>
            <a:ext cx="3136900" cy="25400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23F8BB7D-6C38-16BF-1ED1-2494EFF4FD77}"/>
              </a:ext>
            </a:extLst>
          </p:cNvPr>
          <p:cNvSpPr/>
          <p:nvPr/>
        </p:nvSpPr>
        <p:spPr>
          <a:xfrm>
            <a:off x="8153400" y="2489200"/>
            <a:ext cx="3429000" cy="5588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Operators can observe the service</a:t>
            </a:r>
          </a:p>
        </p:txBody>
      </p:sp>
      <p:sp>
        <p:nvSpPr>
          <p:cNvPr id="22" name="Rectangle: Rounded Corners 21">
            <a:extLst>
              <a:ext uri="{FF2B5EF4-FFF2-40B4-BE49-F238E27FC236}">
                <a16:creationId xmlns:a16="http://schemas.microsoft.com/office/drawing/2014/main" id="{02942086-B128-7BFC-BD8C-2968A962E7F6}"/>
              </a:ext>
            </a:extLst>
          </p:cNvPr>
          <p:cNvSpPr/>
          <p:nvPr/>
        </p:nvSpPr>
        <p:spPr>
          <a:xfrm>
            <a:off x="8432800" y="3276600"/>
            <a:ext cx="28702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Own signals:
the stalest evidence source</a:t>
            </a:r>
          </a:p>
        </p:txBody>
      </p:sp>
      <p:sp>
        <p:nvSpPr>
          <p:cNvPr id="23" name="TextBox 22">
            <a:extLst>
              <a:ext uri="{FF2B5EF4-FFF2-40B4-BE49-F238E27FC236}">
                <a16:creationId xmlns:a16="http://schemas.microsoft.com/office/drawing/2014/main" id="{EFAC7447-FE32-EFB1-7D3D-09BBD8EF5186}"/>
              </a:ext>
            </a:extLst>
          </p:cNvPr>
          <p:cNvSpPr txBox="1"/>
          <p:nvPr/>
        </p:nvSpPr>
        <p:spPr>
          <a:xfrm>
            <a:off x="8153400" y="4089400"/>
            <a:ext cx="3429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lost evidence = Unknown, not down</a:t>
            </a:r>
          </a:p>
        </p:txBody>
      </p:sp>
      <p:sp>
        <p:nvSpPr>
          <p:cNvPr id="24" name="TextBox 23">
            <a:extLst>
              <a:ext uri="{FF2B5EF4-FFF2-40B4-BE49-F238E27FC236}">
                <a16:creationId xmlns:a16="http://schemas.microsoft.com/office/drawing/2014/main" id="{1FCB6108-9C3E-03A7-9E9D-3748518D70D9}"/>
              </a:ext>
            </a:extLst>
          </p:cNvPr>
          <p:cNvSpPr txBox="1"/>
          <p:nvPr/>
        </p:nvSpPr>
        <p:spPr>
          <a:xfrm>
            <a:off x="609600" y="5384800"/>
            <a:ext cx="10972800" cy="284693"/>
          </a:xfrm>
          <a:prstGeom prst="rect">
            <a:avLst/>
          </a:prstGeom>
          <a:noFill/>
        </p:spPr>
        <p:txBody>
          <a:bodyPr vert="horz" wrap="square" lIns="25400" rIns="25400" rtlCol="0">
            <a:spAutoFit/>
          </a:bodyPr>
          <a:lstStyle/>
          <a:p>
            <a:r>
              <a:rPr lang="en-US" sz="1250" b="1">
                <a:solidFill>
                  <a:srgbClr val="FD9A96"/>
                </a:solidFill>
                <a:latin typeface="Calibri" panose="020F0502020204030204" pitchFamily="34" charset="0"/>
              </a:rPr>
              <a:t>Example: AWS fulfillment UNHEALTHY → Customers can complete an order UNHEALTHY → IIC Hybrid Orders UNHEALTHY</a:t>
            </a:r>
          </a:p>
        </p:txBody>
      </p:sp>
      <p:sp>
        <p:nvSpPr>
          <p:cNvPr id="25" name="TextBox 24">
            <a:extLst>
              <a:ext uri="{FF2B5EF4-FFF2-40B4-BE49-F238E27FC236}">
                <a16:creationId xmlns:a16="http://schemas.microsoft.com/office/drawing/2014/main" id="{C49122D2-DFC6-DA13-478A-7AB8360356FA}"/>
              </a:ext>
            </a:extLst>
          </p:cNvPr>
          <p:cNvSpPr txBox="1"/>
          <p:nvPr/>
        </p:nvSpPr>
        <p:spPr>
          <a:xfrm>
            <a:off x="609600" y="5664200"/>
            <a:ext cx="10972800" cy="284693"/>
          </a:xfrm>
          <a:prstGeom prst="rect">
            <a:avLst/>
          </a:prstGeom>
          <a:noFill/>
        </p:spPr>
        <p:txBody>
          <a:bodyPr vert="horz" wrap="square" lIns="25400" rIns="25400" rtlCol="0">
            <a:spAutoFit/>
          </a:bodyPr>
          <a:lstStyle/>
          <a:p>
            <a:r>
              <a:rPr lang="en-US" sz="1250" b="1">
                <a:solidFill>
                  <a:srgbClr val="7DD3FC"/>
                </a:solidFill>
                <a:latin typeface="Calibri" panose="020F0502020204030204" pitchFamily="34" charset="0"/>
              </a:rPr>
              <a:t>You decide what is required and what is redundant; that decision is how health rolls up.</a:t>
            </a:r>
          </a:p>
        </p:txBody>
      </p:sp>
      <p:sp>
        <p:nvSpPr>
          <p:cNvPr id="26" name="Rectangle 25">
            <a:extLst>
              <a:ext uri="{FF2B5EF4-FFF2-40B4-BE49-F238E27FC236}">
                <a16:creationId xmlns:a16="http://schemas.microsoft.com/office/drawing/2014/main" id="{2212EEB8-E90E-8EC0-2DBD-EDAD09E41EED}"/>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2E95356-C27B-4CCD-9064-8D44EA66219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A required part failing is the service failing. A redundant part failing is a warning.</a:t>
            </a:r>
          </a:p>
        </p:txBody>
      </p:sp>
      <p:pic>
        <p:nvPicPr>
          <p:cNvPr id="29" name="SponsorBar" descr="CAS 2026 sponsors and #CloudAISummit2026">
            <a:extLst>
              <a:ext uri="{FF2B5EF4-FFF2-40B4-BE49-F238E27FC236}">
                <a16:creationId xmlns:a16="http://schemas.microsoft.com/office/drawing/2014/main" id="{842A1D77-CA00-3CAE-F72E-4C8EF15D09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44894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3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3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3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3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3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p:bldP spid="15" grpId="0" animBg="1"/>
      <p:bldP spid="16" grpId="0" animBg="1"/>
      <p:bldP spid="17" grpId="0" animBg="1"/>
      <p:bldP spid="18" grpId="0" animBg="1"/>
      <p:bldP spid="19" grpId="0"/>
      <p:bldP spid="21" grpId="0" animBg="1"/>
      <p:bldP spid="22" grpId="0" animBg="1"/>
      <p:bldP spid="23" grpId="0"/>
      <p:bldP spid="24" grpId="0"/>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BA4D6C-39EE-5D0E-DCF8-102BF749111E}"/>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7859410-E46B-3054-E142-3AA7177DE7DF}"/>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1035432-C641-C7FF-1CF3-DF741C6DEB3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When evidence goes quiet</a:t>
            </a:r>
          </a:p>
        </p:txBody>
      </p:sp>
      <p:sp>
        <p:nvSpPr>
          <p:cNvPr id="5" name="Rectangle 4">
            <a:extLst>
              <a:ext uri="{FF2B5EF4-FFF2-40B4-BE49-F238E27FC236}">
                <a16:creationId xmlns:a16="http://schemas.microsoft.com/office/drawing/2014/main" id="{27FA4FF9-E757-A04F-C95B-22F5907F1BF3}"/>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732013ED-BBD1-84F4-8BC9-3C2FFE642030}"/>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Rectangle: Rounded Corners 6">
            <a:extLst>
              <a:ext uri="{FF2B5EF4-FFF2-40B4-BE49-F238E27FC236}">
                <a16:creationId xmlns:a16="http://schemas.microsoft.com/office/drawing/2014/main" id="{2CCDC4E6-8FAD-C2A9-A18F-C4ADBBFF06B2}"/>
              </a:ext>
            </a:extLst>
          </p:cNvPr>
          <p:cNvSpPr/>
          <p:nvPr/>
        </p:nvSpPr>
        <p:spPr>
          <a:xfrm>
            <a:off x="609600" y="1727200"/>
            <a:ext cx="2286000" cy="762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EXPECTED SOURCE
resource + cadence</a:t>
            </a:r>
          </a:p>
        </p:txBody>
      </p:sp>
      <p:cxnSp>
        <p:nvCxnSpPr>
          <p:cNvPr id="8" name="Straight Arrow Connector 7">
            <a:extLst>
              <a:ext uri="{FF2B5EF4-FFF2-40B4-BE49-F238E27FC236}">
                <a16:creationId xmlns:a16="http://schemas.microsoft.com/office/drawing/2014/main" id="{E8F68980-855F-420F-62E2-0D90FBD69085}"/>
              </a:ext>
            </a:extLst>
          </p:cNvPr>
          <p:cNvCxnSpPr/>
          <p:nvPr/>
        </p:nvCxnSpPr>
        <p:spPr>
          <a:xfrm>
            <a:off x="2895600" y="2108200"/>
            <a:ext cx="7874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9" name="Diamond 8">
            <a:extLst>
              <a:ext uri="{FF2B5EF4-FFF2-40B4-BE49-F238E27FC236}">
                <a16:creationId xmlns:a16="http://schemas.microsoft.com/office/drawing/2014/main" id="{55071EAD-7C8E-03EB-7166-E8390CD05D48}"/>
              </a:ext>
            </a:extLst>
          </p:cNvPr>
          <p:cNvSpPr/>
          <p:nvPr/>
        </p:nvSpPr>
        <p:spPr>
          <a:xfrm>
            <a:off x="3683000" y="1790700"/>
            <a:ext cx="635000" cy="635000"/>
          </a:xfrm>
          <a:prstGeom prst="diamond">
            <a:avLst/>
          </a:prstGeom>
          <a:solidFill>
            <a:srgbClr val="283C7A"/>
          </a:solidFill>
          <a:ln w="19050">
            <a:solidFill>
              <a:srgbClr val="FAC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347B3EB-AA1C-E02E-B685-E2856F43D3A4}"/>
              </a:ext>
            </a:extLst>
          </p:cNvPr>
          <p:cNvSpPr txBox="1"/>
          <p:nvPr/>
        </p:nvSpPr>
        <p:spPr>
          <a:xfrm>
            <a:off x="3175000" y="1612900"/>
            <a:ext cx="1651000" cy="261610"/>
          </a:xfrm>
          <a:prstGeom prst="rect">
            <a:avLst/>
          </a:prstGeom>
          <a:noFill/>
        </p:spPr>
        <p:txBody>
          <a:bodyPr vert="horz" wrap="square" lIns="25400" rIns="25400" rtlCol="0">
            <a:spAutoFit/>
          </a:bodyPr>
          <a:lstStyle/>
          <a:p>
            <a:pPr algn="ctr"/>
            <a:r>
              <a:rPr lang="en-US" sz="1100" b="1">
                <a:solidFill>
                  <a:srgbClr val="FACC15"/>
                </a:solidFill>
                <a:latin typeface="Calibri" panose="020F0502020204030204" pitchFamily="34" charset="0"/>
              </a:rPr>
              <a:t>fresh and enough?</a:t>
            </a:r>
          </a:p>
        </p:txBody>
      </p:sp>
      <p:cxnSp>
        <p:nvCxnSpPr>
          <p:cNvPr id="11" name="Straight Arrow Connector 10">
            <a:extLst>
              <a:ext uri="{FF2B5EF4-FFF2-40B4-BE49-F238E27FC236}">
                <a16:creationId xmlns:a16="http://schemas.microsoft.com/office/drawing/2014/main" id="{E0D33DE2-9335-33B3-36F5-B7BCABA24EE6}"/>
              </a:ext>
            </a:extLst>
          </p:cNvPr>
          <p:cNvCxnSpPr/>
          <p:nvPr/>
        </p:nvCxnSpPr>
        <p:spPr>
          <a:xfrm>
            <a:off x="4318000" y="2108200"/>
            <a:ext cx="10160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21A3AE4-7041-5250-BD48-1EFD271A1BC7}"/>
              </a:ext>
            </a:extLst>
          </p:cNvPr>
          <p:cNvSpPr txBox="1"/>
          <p:nvPr/>
        </p:nvSpPr>
        <p:spPr>
          <a:xfrm>
            <a:off x="4572000" y="1981200"/>
            <a:ext cx="508000" cy="194925"/>
          </a:xfrm>
          <a:prstGeom prst="rect">
            <a:avLst/>
          </a:prstGeom>
          <a:solidFill>
            <a:srgbClr val="172554"/>
          </a:solidFill>
        </p:spPr>
        <p:txBody>
          <a:bodyPr vert="horz" wrap="square" lIns="25400" tIns="12700" rIns="25400" bIns="12700" rtlCol="0">
            <a:spAutoFit/>
          </a:bodyPr>
          <a:lstStyle/>
          <a:p>
            <a:pPr algn="ctr"/>
            <a:r>
              <a:rPr lang="en-US" sz="1100" b="1">
                <a:solidFill>
                  <a:srgbClr val="6EE7B7"/>
                </a:solidFill>
                <a:latin typeface="Calibri" panose="020F0502020204030204" pitchFamily="34" charset="0"/>
              </a:rPr>
              <a:t>yes</a:t>
            </a:r>
          </a:p>
        </p:txBody>
      </p:sp>
      <p:sp>
        <p:nvSpPr>
          <p:cNvPr id="13" name="Rectangle: Rounded Corners 12">
            <a:extLst>
              <a:ext uri="{FF2B5EF4-FFF2-40B4-BE49-F238E27FC236}">
                <a16:creationId xmlns:a16="http://schemas.microsoft.com/office/drawing/2014/main" id="{4894D5DB-85C8-B3EA-D2B4-4948F55303D8}"/>
              </a:ext>
            </a:extLst>
          </p:cNvPr>
          <p:cNvSpPr/>
          <p:nvPr/>
        </p:nvSpPr>
        <p:spPr>
          <a:xfrm>
            <a:off x="5334000" y="1727200"/>
            <a:ext cx="2286000" cy="762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KNOWN
evaluate the rule</a:t>
            </a:r>
          </a:p>
        </p:txBody>
      </p:sp>
      <p:cxnSp>
        <p:nvCxnSpPr>
          <p:cNvPr id="14" name="Straight Arrow Connector 13">
            <a:extLst>
              <a:ext uri="{FF2B5EF4-FFF2-40B4-BE49-F238E27FC236}">
                <a16:creationId xmlns:a16="http://schemas.microsoft.com/office/drawing/2014/main" id="{BFC61D86-8376-F0A1-CFBC-3B0B314956A5}"/>
              </a:ext>
            </a:extLst>
          </p:cNvPr>
          <p:cNvCxnSpPr/>
          <p:nvPr/>
        </p:nvCxnSpPr>
        <p:spPr>
          <a:xfrm>
            <a:off x="4000500" y="2425700"/>
            <a:ext cx="0" cy="622300"/>
          </a:xfrm>
          <a:prstGeom prst="straightConnector1">
            <a:avLst/>
          </a:prstGeom>
          <a:ln w="28575">
            <a:solidFill>
              <a:srgbClr val="B8C6DE"/>
            </a:solidFill>
            <a:tailEnd type="non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43108D3-B24F-D10F-1D3E-268749EBA045}"/>
              </a:ext>
            </a:extLst>
          </p:cNvPr>
          <p:cNvCxnSpPr/>
          <p:nvPr/>
        </p:nvCxnSpPr>
        <p:spPr>
          <a:xfrm>
            <a:off x="4000500" y="3048000"/>
            <a:ext cx="1333500" cy="0"/>
          </a:xfrm>
          <a:prstGeom prst="straightConnector1">
            <a:avLst/>
          </a:prstGeom>
          <a:ln w="28575">
            <a:solidFill>
              <a:srgbClr val="B8C6DE"/>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97A4059-2D53-02B5-6504-E308A6118B57}"/>
              </a:ext>
            </a:extLst>
          </p:cNvPr>
          <p:cNvSpPr txBox="1"/>
          <p:nvPr/>
        </p:nvSpPr>
        <p:spPr>
          <a:xfrm>
            <a:off x="4413250" y="2921000"/>
            <a:ext cx="508000" cy="194925"/>
          </a:xfrm>
          <a:prstGeom prst="rect">
            <a:avLst/>
          </a:prstGeom>
          <a:solidFill>
            <a:srgbClr val="172554"/>
          </a:solidFill>
        </p:spPr>
        <p:txBody>
          <a:bodyPr vert="horz" wrap="square" lIns="25400" tIns="12700" rIns="25400" bIns="12700" rtlCol="0">
            <a:spAutoFit/>
          </a:bodyPr>
          <a:lstStyle/>
          <a:p>
            <a:pPr algn="ctr"/>
            <a:r>
              <a:rPr lang="en-US" sz="1100" b="1">
                <a:solidFill>
                  <a:srgbClr val="B8C6DE"/>
                </a:solidFill>
                <a:latin typeface="Calibri" panose="020F0502020204030204" pitchFamily="34" charset="0"/>
              </a:rPr>
              <a:t>no</a:t>
            </a:r>
          </a:p>
        </p:txBody>
      </p:sp>
      <p:sp>
        <p:nvSpPr>
          <p:cNvPr id="17" name="Rectangle: Rounded Corners 16">
            <a:extLst>
              <a:ext uri="{FF2B5EF4-FFF2-40B4-BE49-F238E27FC236}">
                <a16:creationId xmlns:a16="http://schemas.microsoft.com/office/drawing/2014/main" id="{04B0171F-42B5-1B0A-13DA-DD92CE7FB6E3}"/>
              </a:ext>
            </a:extLst>
          </p:cNvPr>
          <p:cNvSpPr/>
          <p:nvPr/>
        </p:nvSpPr>
        <p:spPr>
          <a:xfrm>
            <a:off x="5334000" y="2717800"/>
            <a:ext cx="2286000" cy="6604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UNKNOWN
never Healthy</a:t>
            </a:r>
          </a:p>
        </p:txBody>
      </p:sp>
      <p:sp>
        <p:nvSpPr>
          <p:cNvPr id="18" name="TextBox 17">
            <a:extLst>
              <a:ext uri="{FF2B5EF4-FFF2-40B4-BE49-F238E27FC236}">
                <a16:creationId xmlns:a16="http://schemas.microsoft.com/office/drawing/2014/main" id="{A5E3781C-8610-3FFF-6E49-3CEC8D5967C4}"/>
              </a:ext>
            </a:extLst>
          </p:cNvPr>
          <p:cNvSpPr txBox="1"/>
          <p:nvPr/>
        </p:nvSpPr>
        <p:spPr>
          <a:xfrm>
            <a:off x="8001000" y="1905000"/>
            <a:ext cx="3581400" cy="307777"/>
          </a:xfrm>
          <a:prstGeom prst="rect">
            <a:avLst/>
          </a:prstGeom>
          <a:noFill/>
        </p:spPr>
        <p:txBody>
          <a:bodyPr vert="horz" wrap="square" lIns="25400" rIns="25400" rtlCol="0">
            <a:spAutoFit/>
          </a:bodyPr>
          <a:lstStyle/>
          <a:p>
            <a:r>
              <a:rPr lang="en-US" sz="1400" b="1">
                <a:solidFill>
                  <a:srgbClr val="F1F5FB"/>
                </a:solidFill>
                <a:latin typeface="Calibri" panose="020F0502020204030204" pitchFamily="34" charset="0"/>
              </a:rPr>
              <a:t>No evidence is not good news. It is Unknown.</a:t>
            </a:r>
          </a:p>
        </p:txBody>
      </p:sp>
      <p:sp>
        <p:nvSpPr>
          <p:cNvPr id="19" name="Rectangle: Rounded Corners 18">
            <a:extLst>
              <a:ext uri="{FF2B5EF4-FFF2-40B4-BE49-F238E27FC236}">
                <a16:creationId xmlns:a16="http://schemas.microsoft.com/office/drawing/2014/main" id="{2876C502-2688-867B-E7D7-F3DC55E79875}"/>
              </a:ext>
            </a:extLst>
          </p:cNvPr>
          <p:cNvSpPr/>
          <p:nvPr/>
        </p:nvSpPr>
        <p:spPr>
          <a:xfrm>
            <a:off x="4191000" y="3657600"/>
            <a:ext cx="3810000" cy="508000"/>
          </a:xfrm>
          <a:prstGeom prst="roundRect">
            <a:avLst/>
          </a:prstGeom>
          <a:solidFill>
            <a:srgbClr val="20326C"/>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6EE7B7"/>
                </a:solidFill>
                <a:latin typeface="Calibri" panose="020F0502020204030204" pitchFamily="34" charset="0"/>
              </a:rPr>
              <a:t>On-premises validation · HEALTHY</a:t>
            </a:r>
          </a:p>
        </p:txBody>
      </p:sp>
      <p:sp>
        <p:nvSpPr>
          <p:cNvPr id="20" name="Rectangle: Rounded Corners 19">
            <a:extLst>
              <a:ext uri="{FF2B5EF4-FFF2-40B4-BE49-F238E27FC236}">
                <a16:creationId xmlns:a16="http://schemas.microsoft.com/office/drawing/2014/main" id="{7A52CD3A-545D-6C8D-5E3F-F7CC11A88F08}"/>
              </a:ext>
            </a:extLst>
          </p:cNvPr>
          <p:cNvSpPr/>
          <p:nvPr/>
        </p:nvSpPr>
        <p:spPr>
          <a:xfrm>
            <a:off x="609600" y="4394200"/>
            <a:ext cx="3302000" cy="685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6EE7B7"/>
                </a:solidFill>
                <a:latin typeface="Calibri" panose="020F0502020204030204" pitchFamily="34" charset="0"/>
              </a:rPr>
              <a:t>SITE A · DATACENTER
HEALTHY · demonstrated: hvcl-ral-t1</a:t>
            </a:r>
          </a:p>
        </p:txBody>
      </p:sp>
      <p:cxnSp>
        <p:nvCxnSpPr>
          <p:cNvPr id="21" name="Straight Arrow Connector 20">
            <a:extLst>
              <a:ext uri="{FF2B5EF4-FFF2-40B4-BE49-F238E27FC236}">
                <a16:creationId xmlns:a16="http://schemas.microsoft.com/office/drawing/2014/main" id="{50C77771-EC12-23D5-8C3F-F89AD985A8E9}"/>
              </a:ext>
            </a:extLst>
          </p:cNvPr>
          <p:cNvCxnSpPr/>
          <p:nvPr/>
        </p:nvCxnSpPr>
        <p:spPr>
          <a:xfrm flipV="1">
            <a:off x="2260600" y="4165600"/>
            <a:ext cx="2819400" cy="2286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34552711-847B-F9A0-C7F7-F1B2E6113481}"/>
              </a:ext>
            </a:extLst>
          </p:cNvPr>
          <p:cNvSpPr/>
          <p:nvPr/>
        </p:nvSpPr>
        <p:spPr>
          <a:xfrm>
            <a:off x="8280400" y="4394200"/>
            <a:ext cx="3302000" cy="685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6EE7B7"/>
                </a:solidFill>
                <a:latin typeface="Calibri" panose="020F0502020204030204" pitchFamily="34" charset="0"/>
              </a:rPr>
              <a:t>BRANCH / EDGE SITE
HEALTHY · conceptual</a:t>
            </a:r>
          </a:p>
        </p:txBody>
      </p:sp>
      <p:cxnSp>
        <p:nvCxnSpPr>
          <p:cNvPr id="23" name="Straight Arrow Connector 22">
            <a:extLst>
              <a:ext uri="{FF2B5EF4-FFF2-40B4-BE49-F238E27FC236}">
                <a16:creationId xmlns:a16="http://schemas.microsoft.com/office/drawing/2014/main" id="{637FEF32-584A-EEBF-7E36-AAB7FB2D5964}"/>
              </a:ext>
            </a:extLst>
          </p:cNvPr>
          <p:cNvCxnSpPr/>
          <p:nvPr/>
        </p:nvCxnSpPr>
        <p:spPr>
          <a:xfrm flipH="1" flipV="1">
            <a:off x="7112000" y="4165600"/>
            <a:ext cx="2819400" cy="2286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4BA9ED27-8210-26A7-B22E-265DD9AF8FB1}"/>
              </a:ext>
            </a:extLst>
          </p:cNvPr>
          <p:cNvSpPr/>
          <p:nvPr/>
        </p:nvSpPr>
        <p:spPr>
          <a:xfrm>
            <a:off x="4445000" y="4394200"/>
            <a:ext cx="33020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8C6DE"/>
                </a:solidFill>
                <a:latin typeface="Calibri" panose="020F0502020204030204" pitchFamily="34" charset="0"/>
              </a:rPr>
              <a:t>SITE B · SECOND DATACENTER
UNKNOWN · disconnected · conceptual</a:t>
            </a:r>
          </a:p>
        </p:txBody>
      </p:sp>
      <p:cxnSp>
        <p:nvCxnSpPr>
          <p:cNvPr id="25" name="Straight Arrow Connector 24">
            <a:extLst>
              <a:ext uri="{FF2B5EF4-FFF2-40B4-BE49-F238E27FC236}">
                <a16:creationId xmlns:a16="http://schemas.microsoft.com/office/drawing/2014/main" id="{35C1658D-B621-FF18-B779-7A410C242BEF}"/>
              </a:ext>
            </a:extLst>
          </p:cNvPr>
          <p:cNvCxnSpPr/>
          <p:nvPr/>
        </p:nvCxnSpPr>
        <p:spPr>
          <a:xfrm flipV="1">
            <a:off x="6096000" y="4165600"/>
            <a:ext cx="0" cy="228600"/>
          </a:xfrm>
          <a:prstGeom prst="straightConnector1">
            <a:avLst/>
          </a:prstGeom>
          <a:ln w="28575">
            <a:solidFill>
              <a:srgbClr val="849ACE"/>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E9BD628-F872-244A-057B-06324B6E7514}"/>
              </a:ext>
            </a:extLst>
          </p:cNvPr>
          <p:cNvSpPr txBox="1"/>
          <p:nvPr/>
        </p:nvSpPr>
        <p:spPr>
          <a:xfrm>
            <a:off x="609600" y="5181600"/>
            <a:ext cx="109728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Parent rule: Unhealthy only if more than half the sites are unhealthy · Unknown sites are ignored by default</a:t>
            </a:r>
          </a:p>
        </p:txBody>
      </p:sp>
      <p:sp>
        <p:nvSpPr>
          <p:cNvPr id="27" name="TextBox 26">
            <a:extLst>
              <a:ext uri="{FF2B5EF4-FFF2-40B4-BE49-F238E27FC236}">
                <a16:creationId xmlns:a16="http://schemas.microsoft.com/office/drawing/2014/main" id="{3553EF01-A4CC-B93D-A285-4928E1022F88}"/>
              </a:ext>
            </a:extLst>
          </p:cNvPr>
          <p:cNvSpPr txBox="1"/>
          <p:nvPr/>
        </p:nvSpPr>
        <p:spPr>
          <a:xfrm>
            <a:off x="609600" y="5461000"/>
            <a:ext cx="109728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Still visible: the service tracks its stalest evidence source and alerts when one goes quiet.</a:t>
            </a:r>
          </a:p>
        </p:txBody>
      </p:sp>
      <p:sp>
        <p:nvSpPr>
          <p:cNvPr id="28" name="Rectangle 27">
            <a:extLst>
              <a:ext uri="{FF2B5EF4-FFF2-40B4-BE49-F238E27FC236}">
                <a16:creationId xmlns:a16="http://schemas.microsoft.com/office/drawing/2014/main" id="{ACECD1F7-D213-7491-298E-5F7BEDA485B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A53DC39-7BC1-5749-AAA4-8277BCFCB04B}"/>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Unknown is an operating state, not another shade of green. A disconnected site shows Unknown and does not fail the service.</a:t>
            </a:r>
          </a:p>
        </p:txBody>
      </p:sp>
      <p:pic>
        <p:nvPicPr>
          <p:cNvPr id="31" name="SponsorBar" descr="CAS 2026 sponsors and #CloudAISummit2026">
            <a:extLst>
              <a:ext uri="{FF2B5EF4-FFF2-40B4-BE49-F238E27FC236}">
                <a16:creationId xmlns:a16="http://schemas.microsoft.com/office/drawing/2014/main" id="{CFC0DB55-8C65-B4EF-D1DC-B271FA1940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97430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00"/>
                                        <p:tgtEl>
                                          <p:spTgt spid="14"/>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3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3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00"/>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300"/>
                                        <p:tgtEl>
                                          <p:spTgt spid="2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300"/>
                                        <p:tgtEl>
                                          <p:spTgt spid="24"/>
                                        </p:tgtEl>
                                      </p:cBhvr>
                                    </p:animEffect>
                                  </p:childTnLst>
                                </p:cTn>
                              </p:par>
                              <p:par>
                                <p:cTn id="65" presetID="10"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3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3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p:bldP spid="12" grpId="0" animBg="1"/>
      <p:bldP spid="13" grpId="0" animBg="1"/>
      <p:bldP spid="16" grpId="0" animBg="1"/>
      <p:bldP spid="17" grpId="0" animBg="1"/>
      <p:bldP spid="18" grpId="0"/>
      <p:bldP spid="19" grpId="0" animBg="1"/>
      <p:bldP spid="20" grpId="0" animBg="1"/>
      <p:bldP spid="22" grpId="0" animBg="1"/>
      <p:bldP spid="24" grpId="0" animBg="1"/>
      <p:bldP spid="26" grpId="0"/>
      <p:bldP spid="27"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FF8B45-A07A-5EB0-14C9-A0299B24351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AB4EF2A-7E71-85C4-C728-DF8D480390A4}"/>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D642933-E4A1-B029-F5D2-B34FCC44E4B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Model configuration (1 of 2)</a:t>
            </a:r>
          </a:p>
        </p:txBody>
      </p:sp>
      <p:sp>
        <p:nvSpPr>
          <p:cNvPr id="5" name="Rectangle 4">
            <a:extLst>
              <a:ext uri="{FF2B5EF4-FFF2-40B4-BE49-F238E27FC236}">
                <a16:creationId xmlns:a16="http://schemas.microsoft.com/office/drawing/2014/main" id="{EEA7E418-A1DC-8B03-8839-AF9D38BF79EF}"/>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D1919CEF-6BA9-5D13-D6D9-0751A2952676}"/>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TextBox 6">
            <a:extLst>
              <a:ext uri="{FF2B5EF4-FFF2-40B4-BE49-F238E27FC236}">
                <a16:creationId xmlns:a16="http://schemas.microsoft.com/office/drawing/2014/main" id="{FFFD0EF9-031E-3284-9072-9090175BA6CB}"/>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3F662EDD-45C6-73BF-2EEC-757137DF0901}"/>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F30945E5-4D59-1788-21A7-62223CCF77CF}"/>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214BA19A-58E0-EF84-F2B0-45BF15357814}"/>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Open the IIC health model</a:t>
            </a:r>
          </a:p>
        </p:txBody>
      </p:sp>
      <p:sp>
        <p:nvSpPr>
          <p:cNvPr id="11" name="Rectangle: Rounded Corners 10">
            <a:extLst>
              <a:ext uri="{FF2B5EF4-FFF2-40B4-BE49-F238E27FC236}">
                <a16:creationId xmlns:a16="http://schemas.microsoft.com/office/drawing/2014/main" id="{21B0AE3A-6234-7DDF-BD8B-68DB4DB26EA7}"/>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D0C9898A-F46F-5CA7-8135-22B2A8E6CBE5}"/>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Read entities and relationship direction</a:t>
            </a:r>
          </a:p>
        </p:txBody>
      </p:sp>
      <p:sp>
        <p:nvSpPr>
          <p:cNvPr id="13" name="Rectangle: Rounded Corners 12">
            <a:extLst>
              <a:ext uri="{FF2B5EF4-FFF2-40B4-BE49-F238E27FC236}">
                <a16:creationId xmlns:a16="http://schemas.microsoft.com/office/drawing/2014/main" id="{CCF3E91C-39E2-FFCC-6532-8BED0030722A}"/>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E7E853AB-3CB2-7F8C-0406-A1807DFAA73F}"/>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Open one signal: query, window, thresholds</a:t>
            </a:r>
          </a:p>
        </p:txBody>
      </p:sp>
      <p:sp>
        <p:nvSpPr>
          <p:cNvPr id="15" name="Rectangle: Rounded Corners 14">
            <a:extLst>
              <a:ext uri="{FF2B5EF4-FFF2-40B4-BE49-F238E27FC236}">
                <a16:creationId xmlns:a16="http://schemas.microsoft.com/office/drawing/2014/main" id="{C9129D5E-E4EE-0E27-1545-4E449474641B}"/>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506D9488-C1FF-B831-393A-1D8E8B1EF2E5}"/>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Check aggregation and missing-data behaviour</a:t>
            </a:r>
          </a:p>
        </p:txBody>
      </p:sp>
      <p:sp>
        <p:nvSpPr>
          <p:cNvPr id="17" name="Rectangle: Rounded Corners 16">
            <a:extLst>
              <a:ext uri="{FF2B5EF4-FFF2-40B4-BE49-F238E27FC236}">
                <a16:creationId xmlns:a16="http://schemas.microsoft.com/office/drawing/2014/main" id="{E8A13C3F-5ECD-C893-CB86-7D956D256A67}"/>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3EC471B-1F01-4423-D0ED-D7D34F32B295}"/>
              </a:ext>
            </a:extLst>
          </p:cNvPr>
          <p:cNvSpPr txBox="1"/>
          <p:nvPr/>
        </p:nvSpPr>
        <p:spPr>
          <a:xfrm>
            <a:off x="6781800" y="2540000"/>
            <a:ext cx="4521200" cy="646331"/>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Every coloured state traces
to a named signal and rule</a:t>
            </a:r>
          </a:p>
        </p:txBody>
      </p:sp>
      <p:sp>
        <p:nvSpPr>
          <p:cNvPr id="19" name="Rectangle 18">
            <a:extLst>
              <a:ext uri="{FF2B5EF4-FFF2-40B4-BE49-F238E27FC236}">
                <a16:creationId xmlns:a16="http://schemas.microsoft.com/office/drawing/2014/main" id="{61CE93DA-EC0A-5298-AD57-EE58E88C8A35}"/>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622C54F-8C89-7DE8-C9C6-584D4F92D0EB}"/>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M04, stage 1 of 2. Read the configuration in the order the next stage uses.</a:t>
            </a:r>
          </a:p>
        </p:txBody>
      </p:sp>
      <p:pic>
        <p:nvPicPr>
          <p:cNvPr id="22" name="SponsorBar" descr="CAS 2026 sponsors and #CloudAISummit2026">
            <a:extLst>
              <a:ext uri="{FF2B5EF4-FFF2-40B4-BE49-F238E27FC236}">
                <a16:creationId xmlns:a16="http://schemas.microsoft.com/office/drawing/2014/main" id="{FE606CFB-0A87-2377-7F72-1C9593B4F17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473FA05A-56BB-51F9-9B69-3909C8928B01}"/>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D4105A07-60F3-9B1C-CFB8-A7B4EE20AD21}"/>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154755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63AD06-8C39-9DD1-17F2-81FEDF1C5240}"/>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1056CAC-82FD-7A4C-5822-816D130BE79B}"/>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AC68848-D885-53B0-3156-B734C4C025E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Current state (2 of 2)</a:t>
            </a:r>
          </a:p>
        </p:txBody>
      </p:sp>
      <p:sp>
        <p:nvSpPr>
          <p:cNvPr id="5" name="Rectangle 4">
            <a:extLst>
              <a:ext uri="{FF2B5EF4-FFF2-40B4-BE49-F238E27FC236}">
                <a16:creationId xmlns:a16="http://schemas.microsoft.com/office/drawing/2014/main" id="{0AB4CD29-3748-788D-B6D7-1610272BED17}"/>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94294F0A-93D0-A287-8050-95FAE543E8CB}"/>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TextBox 6">
            <a:extLst>
              <a:ext uri="{FF2B5EF4-FFF2-40B4-BE49-F238E27FC236}">
                <a16:creationId xmlns:a16="http://schemas.microsoft.com/office/drawing/2014/main" id="{C67C0E81-FD50-869C-A7D9-9F734347ECCE}"/>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4226C451-BE3E-7B0F-C5DF-8734981282BC}"/>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F8246203-5557-611B-70E6-7F3E62362546}"/>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88906C2D-D5A5-0A2A-2BFC-CE82676F7F38}"/>
              </a:ext>
            </a:extLst>
          </p:cNvPr>
          <p:cNvSpPr txBox="1"/>
          <p:nvPr/>
        </p:nvSpPr>
        <p:spPr>
          <a:xfrm>
            <a:off x="1295400" y="2209800"/>
            <a:ext cx="4826000" cy="584775"/>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Predict first: marvin fault → AWS fulfillment → order commitment → root</a:t>
            </a:r>
          </a:p>
        </p:txBody>
      </p:sp>
      <p:sp>
        <p:nvSpPr>
          <p:cNvPr id="11" name="Rectangle: Rounded Corners 10">
            <a:extLst>
              <a:ext uri="{FF2B5EF4-FFF2-40B4-BE49-F238E27FC236}">
                <a16:creationId xmlns:a16="http://schemas.microsoft.com/office/drawing/2014/main" id="{0804636E-5BCD-7767-8B9F-A6F235A0AC61}"/>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AEDA346A-F9C7-7ADD-462F-CA992BF4FCED}"/>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Start from current stage records and timestamps</a:t>
            </a:r>
          </a:p>
        </p:txBody>
      </p:sp>
      <p:sp>
        <p:nvSpPr>
          <p:cNvPr id="13" name="Rectangle: Rounded Corners 12">
            <a:extLst>
              <a:ext uri="{FF2B5EF4-FFF2-40B4-BE49-F238E27FC236}">
                <a16:creationId xmlns:a16="http://schemas.microsoft.com/office/drawing/2014/main" id="{DDD2DA3F-7457-CD6F-544C-E4B90C470BA2}"/>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37E0836B-589B-8A8A-65FE-B7409E4ABA6A}"/>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Evaluate the signal</a:t>
            </a:r>
          </a:p>
        </p:txBody>
      </p:sp>
      <p:sp>
        <p:nvSpPr>
          <p:cNvPr id="15" name="Rectangle: Rounded Corners 14">
            <a:extLst>
              <a:ext uri="{FF2B5EF4-FFF2-40B4-BE49-F238E27FC236}">
                <a16:creationId xmlns:a16="http://schemas.microsoft.com/office/drawing/2014/main" id="{7F09D474-6757-CED3-D2E2-2F96B5C6E931}"/>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52611800-6F3D-9750-7199-02DFA77341D0}"/>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Follow aggregation to the commitment</a:t>
            </a:r>
          </a:p>
        </p:txBody>
      </p:sp>
      <p:sp>
        <p:nvSpPr>
          <p:cNvPr id="17" name="Rectangle: Rounded Corners 16">
            <a:extLst>
              <a:ext uri="{FF2B5EF4-FFF2-40B4-BE49-F238E27FC236}">
                <a16:creationId xmlns:a16="http://schemas.microsoft.com/office/drawing/2014/main" id="{2B664750-87C9-50CE-42D4-D74562BF26E7}"/>
              </a:ext>
            </a:extLst>
          </p:cNvPr>
          <p:cNvSpPr/>
          <p:nvPr/>
        </p:nvSpPr>
        <p:spPr>
          <a:xfrm>
            <a:off x="609600" y="5257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5</a:t>
            </a:r>
          </a:p>
        </p:txBody>
      </p:sp>
      <p:sp>
        <p:nvSpPr>
          <p:cNvPr id="18" name="TextBox 17">
            <a:extLst>
              <a:ext uri="{FF2B5EF4-FFF2-40B4-BE49-F238E27FC236}">
                <a16:creationId xmlns:a16="http://schemas.microsoft.com/office/drawing/2014/main" id="{A04C3AFD-6E13-C85A-8552-0461A57C16C8}"/>
              </a:ext>
            </a:extLst>
          </p:cNvPr>
          <p:cNvSpPr txBox="1"/>
          <p:nvPr/>
        </p:nvSpPr>
        <p:spPr>
          <a:xfrm>
            <a:off x="1295400" y="5257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Trace propagation and check the prediction</a:t>
            </a:r>
          </a:p>
        </p:txBody>
      </p:sp>
      <p:sp>
        <p:nvSpPr>
          <p:cNvPr id="19" name="Rectangle: Rounded Corners 18">
            <a:extLst>
              <a:ext uri="{FF2B5EF4-FFF2-40B4-BE49-F238E27FC236}">
                <a16:creationId xmlns:a16="http://schemas.microsoft.com/office/drawing/2014/main" id="{DAADCD3A-080E-0ED8-6525-8DFD429ACDC5}"/>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3485C98-4F9C-EFCA-298E-69AE97BA8099}"/>
              </a:ext>
            </a:extLst>
          </p:cNvPr>
          <p:cNvSpPr txBox="1"/>
          <p:nvPr/>
        </p:nvSpPr>
        <p:spPr>
          <a:xfrm>
            <a:off x="6781800" y="2540000"/>
            <a:ext cx="4521200" cy="646331"/>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The state, its evidence,
its window and its limits</a:t>
            </a:r>
          </a:p>
        </p:txBody>
      </p:sp>
      <p:sp>
        <p:nvSpPr>
          <p:cNvPr id="21" name="Rectangle 20">
            <a:extLst>
              <a:ext uri="{FF2B5EF4-FFF2-40B4-BE49-F238E27FC236}">
                <a16:creationId xmlns:a16="http://schemas.microsoft.com/office/drawing/2014/main" id="{4DAD5D9E-D66B-80B1-F10D-5801100E6879}"/>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6C155D2-E04B-D6AD-0BE0-C01B59C28A58}"/>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M04, stage 2 of 2. If evidence is stale, show Unknown instead of forcing a colour.</a:t>
            </a:r>
          </a:p>
        </p:txBody>
      </p:sp>
      <p:pic>
        <p:nvPicPr>
          <p:cNvPr id="24" name="SponsorBar" descr="CAS 2026 sponsors and #CloudAISummit2026">
            <a:extLst>
              <a:ext uri="{FF2B5EF4-FFF2-40B4-BE49-F238E27FC236}">
                <a16:creationId xmlns:a16="http://schemas.microsoft.com/office/drawing/2014/main" id="{12068416-9495-67E7-1D6C-8BB19E5DB5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5" name="DemoMarkerBar">
            <a:extLst>
              <a:ext uri="{FF2B5EF4-FFF2-40B4-BE49-F238E27FC236}">
                <a16:creationId xmlns:a16="http://schemas.microsoft.com/office/drawing/2014/main" id="{2BA82648-80D0-290B-F68D-A99060C6B505}"/>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emoMarkerText">
            <a:extLst>
              <a:ext uri="{FF2B5EF4-FFF2-40B4-BE49-F238E27FC236}">
                <a16:creationId xmlns:a16="http://schemas.microsoft.com/office/drawing/2014/main" id="{478E08BF-58C9-603D-28E4-56989210736E}"/>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37486224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BD420B-E39A-7850-61ED-5BB77ECBF341}"/>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0746B18-0CF8-1B72-81CE-A4C73CBEBC8C}"/>
              </a:ext>
            </a:extLst>
          </p:cNvPr>
          <p:cNvSpPr/>
          <p:nvPr/>
        </p:nvSpPr>
        <p:spPr>
          <a:xfrm>
            <a:off x="0" y="1549400"/>
            <a:ext cx="12192000" cy="50800"/>
          </a:xfrm>
          <a:prstGeom prst="rect">
            <a:avLst/>
          </a:prstGeom>
          <a:solidFill>
            <a:srgbClr val="FD9A9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C4F8FD-B133-06B3-70C4-1D772BB68C0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5 · Respond and prove recovery</a:t>
            </a:r>
          </a:p>
        </p:txBody>
      </p:sp>
      <p:sp>
        <p:nvSpPr>
          <p:cNvPr id="5" name="Rectangle 4">
            <a:extLst>
              <a:ext uri="{FF2B5EF4-FFF2-40B4-BE49-F238E27FC236}">
                <a16:creationId xmlns:a16="http://schemas.microsoft.com/office/drawing/2014/main" id="{77471F71-EF80-E54F-D17E-DDA68FDF824A}"/>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CDC0E843-7F8C-1E17-E6C7-97BB66831398}"/>
              </a:ext>
            </a:extLst>
          </p:cNvPr>
          <p:cNvSpPr/>
          <p:nvPr/>
        </p:nvSpPr>
        <p:spPr>
          <a:xfrm>
            <a:off x="9042400" y="330200"/>
            <a:ext cx="2540000" cy="330200"/>
          </a:xfrm>
          <a:prstGeom prst="roundRect">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5 · RESPOND + RECOVER</a:t>
            </a:r>
          </a:p>
        </p:txBody>
      </p:sp>
      <p:sp>
        <p:nvSpPr>
          <p:cNvPr id="7" name="TextBox 6">
            <a:extLst>
              <a:ext uri="{FF2B5EF4-FFF2-40B4-BE49-F238E27FC236}">
                <a16:creationId xmlns:a16="http://schemas.microsoft.com/office/drawing/2014/main" id="{C9D15384-CD5D-BCAC-130F-ED25F5C8EBA1}"/>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FD9A96"/>
                </a:solidFill>
                <a:latin typeface="Calibri" panose="020F0502020204030204" pitchFamily="34" charset="0"/>
              </a:rPr>
              <a:t>5</a:t>
            </a:r>
          </a:p>
        </p:txBody>
      </p:sp>
      <p:sp>
        <p:nvSpPr>
          <p:cNvPr id="8" name="TextBox 7">
            <a:extLst>
              <a:ext uri="{FF2B5EF4-FFF2-40B4-BE49-F238E27FC236}">
                <a16:creationId xmlns:a16="http://schemas.microsoft.com/office/drawing/2014/main" id="{5B506667-AF68-326E-AB1C-D1569A2C22BC}"/>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DDC22DDC-D465-79FD-EE66-EFBF028C4CDB}"/>
              </a:ext>
            </a:extLst>
          </p:cNvPr>
          <p:cNvSpPr txBox="1"/>
          <p:nvPr/>
        </p:nvSpPr>
        <p:spPr>
          <a:xfrm>
            <a:off x="2413000" y="1778000"/>
            <a:ext cx="9169400" cy="461665"/>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Who acts, and how do we prove the service recovered?</a:t>
            </a:r>
          </a:p>
        </p:txBody>
      </p:sp>
      <p:sp>
        <p:nvSpPr>
          <p:cNvPr id="10" name="TextBox 9">
            <a:extLst>
              <a:ext uri="{FF2B5EF4-FFF2-40B4-BE49-F238E27FC236}">
                <a16:creationId xmlns:a16="http://schemas.microsoft.com/office/drawing/2014/main" id="{7B353FC0-1D84-035E-4BB1-94CA8621CB97}"/>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2A00426F-B53B-761E-AC72-C6978A530E72}"/>
              </a:ext>
            </a:extLst>
          </p:cNvPr>
          <p:cNvSpPr txBox="1"/>
          <p:nvPr/>
        </p:nvSpPr>
        <p:spPr>
          <a:xfrm>
            <a:off x="2413000" y="30480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Alerts that carry context instead of alert sprawl, and recovery proven with fresh orders rather than a closed ticket.</a:t>
            </a:r>
          </a:p>
        </p:txBody>
      </p:sp>
      <p:sp>
        <p:nvSpPr>
          <p:cNvPr id="12" name="TextBox 11">
            <a:extLst>
              <a:ext uri="{FF2B5EF4-FFF2-40B4-BE49-F238E27FC236}">
                <a16:creationId xmlns:a16="http://schemas.microsoft.com/office/drawing/2014/main" id="{2257859B-5424-9B15-06C4-B8ABBD032120}"/>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E23E3A5F-B78D-D6BF-C6B1-D818275D3023}"/>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An alert only starts the work; recovery is a new observation, not a closed ticket.</a:t>
            </a:r>
          </a:p>
        </p:txBody>
      </p:sp>
      <p:sp>
        <p:nvSpPr>
          <p:cNvPr id="14" name="TextBox 13">
            <a:extLst>
              <a:ext uri="{FF2B5EF4-FFF2-40B4-BE49-F238E27FC236}">
                <a16:creationId xmlns:a16="http://schemas.microsoft.com/office/drawing/2014/main" id="{08AFA9D7-7ABE-2D5C-5669-10AB77317E77}"/>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A8E84028-9825-8AB3-BA10-572A7247A8C8}"/>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owner, bounded action, verified recovery</a:t>
            </a:r>
          </a:p>
        </p:txBody>
      </p:sp>
      <p:sp>
        <p:nvSpPr>
          <p:cNvPr id="16" name="Rectangle: Rounded Corners 15">
            <a:extLst>
              <a:ext uri="{FF2B5EF4-FFF2-40B4-BE49-F238E27FC236}">
                <a16:creationId xmlns:a16="http://schemas.microsoft.com/office/drawing/2014/main" id="{2AAFC0AA-F313-4F76-F82A-C0597D10B5B5}"/>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F80EDEE1-673C-24CB-0C29-855A26CB4112}"/>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14ECE944-7C67-A752-A894-56F8F906F65A}"/>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5042B359-315F-1B85-B18E-18002D6F49F6}"/>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34AF178B-92E4-E16A-C71D-5969D740B13B}"/>
              </a:ext>
            </a:extLst>
          </p:cNvPr>
          <p:cNvSpPr/>
          <p:nvPr/>
        </p:nvSpPr>
        <p:spPr>
          <a:xfrm>
            <a:off x="8026400" y="5334000"/>
            <a:ext cx="1752600" cy="508000"/>
          </a:xfrm>
          <a:prstGeom prst="roundRect">
            <a:avLst/>
          </a:prstGeom>
          <a:solidFill>
            <a:srgbClr val="FD9A96"/>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6651F663-42A6-33BE-00FD-D792A1AD395C}"/>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0A602FB5-E4EF-AF35-272E-D0C6656A318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061913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2CCB75-DC5D-19C8-BF17-8B339267DF1A}"/>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A744EEB-6BEF-895C-03EA-CC2DFEB3CD45}"/>
              </a:ext>
            </a:extLst>
          </p:cNvPr>
          <p:cNvSpPr/>
          <p:nvPr/>
        </p:nvSpPr>
        <p:spPr>
          <a:xfrm>
            <a:off x="0" y="1549400"/>
            <a:ext cx="12192000" cy="50800"/>
          </a:xfrm>
          <a:prstGeom prst="rect">
            <a:avLst/>
          </a:prstGeom>
          <a:solidFill>
            <a:srgbClr val="FD9A9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A5D2254-F0E9-D1DE-21C3-39070C3277A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Alerts with context</a:t>
            </a:r>
          </a:p>
        </p:txBody>
      </p:sp>
      <p:sp>
        <p:nvSpPr>
          <p:cNvPr id="5" name="Rectangle 4">
            <a:extLst>
              <a:ext uri="{FF2B5EF4-FFF2-40B4-BE49-F238E27FC236}">
                <a16:creationId xmlns:a16="http://schemas.microsoft.com/office/drawing/2014/main" id="{98C28C43-130C-14AE-4365-E11F23B04605}"/>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87842A58-E70E-2A88-6FD0-AB25DC18A83D}"/>
              </a:ext>
            </a:extLst>
          </p:cNvPr>
          <p:cNvSpPr/>
          <p:nvPr/>
        </p:nvSpPr>
        <p:spPr>
          <a:xfrm>
            <a:off x="9042400" y="330200"/>
            <a:ext cx="2540000" cy="330200"/>
          </a:xfrm>
          <a:prstGeom prst="roundRect">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5 · RESPOND + RECOVER</a:t>
            </a:r>
          </a:p>
        </p:txBody>
      </p:sp>
      <p:sp>
        <p:nvSpPr>
          <p:cNvPr id="7" name="Rectangle: Rounded Corners 6">
            <a:extLst>
              <a:ext uri="{FF2B5EF4-FFF2-40B4-BE49-F238E27FC236}">
                <a16:creationId xmlns:a16="http://schemas.microsoft.com/office/drawing/2014/main" id="{93CD327A-7F56-CF3A-9AA6-258D6F57A114}"/>
              </a:ext>
            </a:extLst>
          </p:cNvPr>
          <p:cNvSpPr/>
          <p:nvPr/>
        </p:nvSpPr>
        <p:spPr>
          <a:xfrm>
            <a:off x="571500" y="2413000"/>
            <a:ext cx="2413000" cy="1219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CONDITION
a commitment or signal state</a:t>
            </a:r>
          </a:p>
        </p:txBody>
      </p:sp>
      <p:sp>
        <p:nvSpPr>
          <p:cNvPr id="8" name="Rectangle: Rounded Corners 7">
            <a:extLst>
              <a:ext uri="{FF2B5EF4-FFF2-40B4-BE49-F238E27FC236}">
                <a16:creationId xmlns:a16="http://schemas.microsoft.com/office/drawing/2014/main" id="{42C454DB-2D4B-DC3E-29F1-259B5AB83790}"/>
              </a:ext>
            </a:extLst>
          </p:cNvPr>
          <p:cNvSpPr/>
          <p:nvPr/>
        </p:nvSpPr>
        <p:spPr>
          <a:xfrm>
            <a:off x="3492500" y="2286000"/>
            <a:ext cx="2413000" cy="1473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CONTEXT
service · component · evidence · correlation ID</a:t>
            </a:r>
          </a:p>
        </p:txBody>
      </p:sp>
      <p:sp>
        <p:nvSpPr>
          <p:cNvPr id="9" name="Rectangle: Rounded Corners 8">
            <a:extLst>
              <a:ext uri="{FF2B5EF4-FFF2-40B4-BE49-F238E27FC236}">
                <a16:creationId xmlns:a16="http://schemas.microsoft.com/office/drawing/2014/main" id="{18609D3F-7BD9-9037-25C9-3389D82721BC}"/>
              </a:ext>
            </a:extLst>
          </p:cNvPr>
          <p:cNvSpPr/>
          <p:nvPr/>
        </p:nvSpPr>
        <p:spPr>
          <a:xfrm>
            <a:off x="6921500" y="2413000"/>
            <a:ext cx="2286000" cy="1219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OWNER
team · permission · runbook
no owner = not our alert</a:t>
            </a:r>
          </a:p>
        </p:txBody>
      </p:sp>
      <p:sp>
        <p:nvSpPr>
          <p:cNvPr id="10" name="Rectangle: Rounded Corners 9">
            <a:extLst>
              <a:ext uri="{FF2B5EF4-FFF2-40B4-BE49-F238E27FC236}">
                <a16:creationId xmlns:a16="http://schemas.microsoft.com/office/drawing/2014/main" id="{2ADA0165-824F-E2D4-7816-8569E1A46385}"/>
              </a:ext>
            </a:extLst>
          </p:cNvPr>
          <p:cNvSpPr/>
          <p:nvPr/>
        </p:nvSpPr>
        <p:spPr>
          <a:xfrm>
            <a:off x="9550400" y="2286000"/>
            <a:ext cx="2032000" cy="14732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OUTCOME
act · verify · close or escalate</a:t>
            </a:r>
          </a:p>
        </p:txBody>
      </p:sp>
      <p:cxnSp>
        <p:nvCxnSpPr>
          <p:cNvPr id="11" name="Straight Arrow Connector 10">
            <a:extLst>
              <a:ext uri="{FF2B5EF4-FFF2-40B4-BE49-F238E27FC236}">
                <a16:creationId xmlns:a16="http://schemas.microsoft.com/office/drawing/2014/main" id="{10A86D5A-224D-B2BA-3255-47F692CCBB05}"/>
              </a:ext>
            </a:extLst>
          </p:cNvPr>
          <p:cNvCxnSpPr/>
          <p:nvPr/>
        </p:nvCxnSpPr>
        <p:spPr>
          <a:xfrm>
            <a:off x="2984500" y="3022600"/>
            <a:ext cx="508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52EF1F49-6882-98A1-A246-1F1A2AABED80}"/>
              </a:ext>
            </a:extLst>
          </p:cNvPr>
          <p:cNvCxnSpPr/>
          <p:nvPr/>
        </p:nvCxnSpPr>
        <p:spPr>
          <a:xfrm>
            <a:off x="5905500" y="3022600"/>
            <a:ext cx="1016000" cy="0"/>
          </a:xfrm>
          <a:prstGeom prst="straightConnector1">
            <a:avLst/>
          </a:prstGeom>
          <a:ln w="28575">
            <a:solidFill>
              <a:srgbClr val="FD9A96"/>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9B65BDF-5F3E-8124-3C78-DC8E722F2AED}"/>
              </a:ext>
            </a:extLst>
          </p:cNvPr>
          <p:cNvSpPr txBox="1"/>
          <p:nvPr/>
        </p:nvSpPr>
        <p:spPr>
          <a:xfrm>
            <a:off x="5956300" y="2590800"/>
            <a:ext cx="914400" cy="261610"/>
          </a:xfrm>
          <a:prstGeom prst="rect">
            <a:avLst/>
          </a:prstGeom>
          <a:noFill/>
        </p:spPr>
        <p:txBody>
          <a:bodyPr vert="horz" wrap="square" lIns="25400" rIns="25400" rtlCol="0">
            <a:spAutoFit/>
          </a:bodyPr>
          <a:lstStyle/>
          <a:p>
            <a:pPr algn="ctr"/>
            <a:r>
              <a:rPr lang="en-US" sz="1100" b="1">
                <a:solidFill>
                  <a:srgbClr val="FD9A96"/>
                </a:solidFill>
                <a:latin typeface="Calibri" panose="020F0502020204030204" pitchFamily="34" charset="0"/>
              </a:rPr>
              <a:t>delivered?</a:t>
            </a:r>
          </a:p>
        </p:txBody>
      </p:sp>
      <p:cxnSp>
        <p:nvCxnSpPr>
          <p:cNvPr id="14" name="Straight Arrow Connector 13">
            <a:extLst>
              <a:ext uri="{FF2B5EF4-FFF2-40B4-BE49-F238E27FC236}">
                <a16:creationId xmlns:a16="http://schemas.microsoft.com/office/drawing/2014/main" id="{778C752A-86AC-4BDF-AC76-610A48AF52CD}"/>
              </a:ext>
            </a:extLst>
          </p:cNvPr>
          <p:cNvCxnSpPr/>
          <p:nvPr/>
        </p:nvCxnSpPr>
        <p:spPr>
          <a:xfrm>
            <a:off x="9207500" y="3022600"/>
            <a:ext cx="3429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1CC39B22-2265-E9F1-C4AD-2FFD33504D64}"/>
              </a:ext>
            </a:extLst>
          </p:cNvPr>
          <p:cNvSpPr/>
          <p:nvPr/>
        </p:nvSpPr>
        <p:spPr>
          <a:xfrm>
            <a:off x="2286000" y="3987800"/>
            <a:ext cx="7620000" cy="6350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A configured rule is not proof that a notification was delivered.</a:t>
            </a:r>
          </a:p>
        </p:txBody>
      </p:sp>
      <p:sp>
        <p:nvSpPr>
          <p:cNvPr id="16" name="Rectangle: Rounded Corners 15">
            <a:extLst>
              <a:ext uri="{FF2B5EF4-FFF2-40B4-BE49-F238E27FC236}">
                <a16:creationId xmlns:a16="http://schemas.microsoft.com/office/drawing/2014/main" id="{80C8D759-888D-9A67-F869-2BE91862B165}"/>
              </a:ext>
            </a:extLst>
          </p:cNvPr>
          <p:cNvSpPr/>
          <p:nvPr/>
        </p:nvSpPr>
        <p:spPr>
          <a:xfrm>
            <a:off x="609600" y="4724400"/>
            <a:ext cx="5181600" cy="9398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BEFORE
A flood of alerts, many for systems other teams own, plus 3 separate rules (stage failures, queue depth, latency) for one AWS fault, with no shared context.</a:t>
            </a:r>
          </a:p>
        </p:txBody>
      </p:sp>
      <p:sp>
        <p:nvSpPr>
          <p:cNvPr id="17" name="Rectangle: Rounded Corners 16">
            <a:extLst>
              <a:ext uri="{FF2B5EF4-FFF2-40B4-BE49-F238E27FC236}">
                <a16:creationId xmlns:a16="http://schemas.microsoft.com/office/drawing/2014/main" id="{2D0D52BB-6824-D7C6-1F38-66F3D6AAF03F}"/>
              </a:ext>
            </a:extLst>
          </p:cNvPr>
          <p:cNvSpPr/>
          <p:nvPr/>
        </p:nvSpPr>
        <p:spPr>
          <a:xfrm>
            <a:off x="6096000" y="4724400"/>
            <a:ext cx="5181600" cy="939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AFTER
One entity alert on Customers can complete an order, with a named owner: fires once per state change, resolves itself; noise for someone else's system never reaches you. Retire old rules once proven.</a:t>
            </a:r>
          </a:p>
        </p:txBody>
      </p:sp>
      <p:cxnSp>
        <p:nvCxnSpPr>
          <p:cNvPr id="18" name="Straight Arrow Connector 17">
            <a:extLst>
              <a:ext uri="{FF2B5EF4-FFF2-40B4-BE49-F238E27FC236}">
                <a16:creationId xmlns:a16="http://schemas.microsoft.com/office/drawing/2014/main" id="{FF956368-7E0A-94F8-22B7-AE60A2D47790}"/>
              </a:ext>
            </a:extLst>
          </p:cNvPr>
          <p:cNvCxnSpPr/>
          <p:nvPr/>
        </p:nvCxnSpPr>
        <p:spPr>
          <a:xfrm>
            <a:off x="5791200" y="5194300"/>
            <a:ext cx="3048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4A7C6F58-128C-560E-847A-217712AC4CD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BF13011-E944-55EC-77FE-EBB3BD882160}"/>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The alert starts the work; it is not the outcome.</a:t>
            </a:r>
          </a:p>
        </p:txBody>
      </p:sp>
      <p:pic>
        <p:nvPicPr>
          <p:cNvPr id="22" name="SponsorBar" descr="CAS 2026 sponsors and #CloudAISummit2026">
            <a:extLst>
              <a:ext uri="{FF2B5EF4-FFF2-40B4-BE49-F238E27FC236}">
                <a16:creationId xmlns:a16="http://schemas.microsoft.com/office/drawing/2014/main" id="{D91EB187-A445-4EFE-6E8F-8F1B9F27D5E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428731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3" grpId="0"/>
      <p:bldP spid="15"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FDF3A2-DC1A-4324-AEC1-8583997E83E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4C5F61C-54FD-4FD4-D1A3-7D868873BAD7}"/>
              </a:ext>
            </a:extLst>
          </p:cNvPr>
          <p:cNvSpPr/>
          <p:nvPr/>
        </p:nvSpPr>
        <p:spPr>
          <a:xfrm>
            <a:off x="0" y="1549400"/>
            <a:ext cx="12192000" cy="50800"/>
          </a:xfrm>
          <a:prstGeom prst="rect">
            <a:avLst/>
          </a:prstGeom>
          <a:solidFill>
            <a:srgbClr val="FD9A9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A77B332-2CFE-6C92-0F2B-4973FAC750B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Recovery is a new observation</a:t>
            </a:r>
          </a:p>
        </p:txBody>
      </p:sp>
      <p:sp>
        <p:nvSpPr>
          <p:cNvPr id="5" name="Rectangle 4">
            <a:extLst>
              <a:ext uri="{FF2B5EF4-FFF2-40B4-BE49-F238E27FC236}">
                <a16:creationId xmlns:a16="http://schemas.microsoft.com/office/drawing/2014/main" id="{26B2F9C8-E0EC-DF44-FFCE-878B4267934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7B7EBB8F-5A5F-CB36-AA86-7CD9600E241B}"/>
              </a:ext>
            </a:extLst>
          </p:cNvPr>
          <p:cNvSpPr/>
          <p:nvPr/>
        </p:nvSpPr>
        <p:spPr>
          <a:xfrm>
            <a:off x="9042400" y="330200"/>
            <a:ext cx="2540000" cy="330200"/>
          </a:xfrm>
          <a:prstGeom prst="roundRect">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5 · RESPOND + RECOVER</a:t>
            </a:r>
          </a:p>
        </p:txBody>
      </p:sp>
      <p:sp>
        <p:nvSpPr>
          <p:cNvPr id="7" name="Rectangle: Rounded Corners 6">
            <a:extLst>
              <a:ext uri="{FF2B5EF4-FFF2-40B4-BE49-F238E27FC236}">
                <a16:creationId xmlns:a16="http://schemas.microsoft.com/office/drawing/2014/main" id="{77B64A80-97C5-279E-A34B-0CB1F672A016}"/>
              </a:ext>
            </a:extLst>
          </p:cNvPr>
          <p:cNvSpPr/>
          <p:nvPr/>
        </p:nvSpPr>
        <p:spPr>
          <a:xfrm>
            <a:off x="609600" y="1854200"/>
            <a:ext cx="1930400" cy="11176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SEE IT
the service view: an order commitment is Unhealthy</a:t>
            </a:r>
          </a:p>
        </p:txBody>
      </p:sp>
      <p:cxnSp>
        <p:nvCxnSpPr>
          <p:cNvPr id="8" name="Straight Arrow Connector 7">
            <a:extLst>
              <a:ext uri="{FF2B5EF4-FFF2-40B4-BE49-F238E27FC236}">
                <a16:creationId xmlns:a16="http://schemas.microsoft.com/office/drawing/2014/main" id="{6A4C5D2D-82A3-47ED-B0E0-3B47DB95E451}"/>
              </a:ext>
            </a:extLst>
          </p:cNvPr>
          <p:cNvCxnSpPr/>
          <p:nvPr/>
        </p:nvCxnSpPr>
        <p:spPr>
          <a:xfrm>
            <a:off x="2540000" y="24130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C0C58382-8291-003B-1CCD-FC57245E3316}"/>
              </a:ext>
            </a:extLst>
          </p:cNvPr>
          <p:cNvSpPr/>
          <p:nvPr/>
        </p:nvSpPr>
        <p:spPr>
          <a:xfrm>
            <a:off x="2844800" y="1854200"/>
            <a:ext cx="1930400" cy="11176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EXPLAIN IT
the model: which entity, which signal</a:t>
            </a:r>
          </a:p>
        </p:txBody>
      </p:sp>
      <p:cxnSp>
        <p:nvCxnSpPr>
          <p:cNvPr id="10" name="Straight Arrow Connector 9">
            <a:extLst>
              <a:ext uri="{FF2B5EF4-FFF2-40B4-BE49-F238E27FC236}">
                <a16:creationId xmlns:a16="http://schemas.microsoft.com/office/drawing/2014/main" id="{9EADF20A-E6E1-7C0C-9DB4-735E55788A60}"/>
              </a:ext>
            </a:extLst>
          </p:cNvPr>
          <p:cNvCxnSpPr/>
          <p:nvPr/>
        </p:nvCxnSpPr>
        <p:spPr>
          <a:xfrm>
            <a:off x="4775200" y="24130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BB07D23C-E4B3-6F9C-2381-382771AFF60D}"/>
              </a:ext>
            </a:extLst>
          </p:cNvPr>
          <p:cNvSpPr/>
          <p:nvPr/>
        </p:nvSpPr>
        <p:spPr>
          <a:xfrm>
            <a:off x="5080000" y="1854200"/>
            <a:ext cx="1930400" cy="11176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FIX IT
one bounded change by the owner</a:t>
            </a:r>
          </a:p>
        </p:txBody>
      </p:sp>
      <p:cxnSp>
        <p:nvCxnSpPr>
          <p:cNvPr id="12" name="Straight Arrow Connector 11">
            <a:extLst>
              <a:ext uri="{FF2B5EF4-FFF2-40B4-BE49-F238E27FC236}">
                <a16:creationId xmlns:a16="http://schemas.microsoft.com/office/drawing/2014/main" id="{B23EED94-F928-7D97-517F-CB67F528E146}"/>
              </a:ext>
            </a:extLst>
          </p:cNvPr>
          <p:cNvCxnSpPr/>
          <p:nvPr/>
        </p:nvCxnSpPr>
        <p:spPr>
          <a:xfrm>
            <a:off x="7010400" y="24130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17052476-0F18-C180-9F04-E7E8572E880C}"/>
              </a:ext>
            </a:extLst>
          </p:cNvPr>
          <p:cNvSpPr/>
          <p:nvPr/>
        </p:nvSpPr>
        <p:spPr>
          <a:xfrm>
            <a:off x="7315200" y="1854200"/>
            <a:ext cx="1930400" cy="11176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PROVE IT
fresh orders complete; nothing waiting in the queue</a:t>
            </a:r>
          </a:p>
        </p:txBody>
      </p:sp>
      <p:cxnSp>
        <p:nvCxnSpPr>
          <p:cNvPr id="14" name="Straight Arrow Connector 13">
            <a:extLst>
              <a:ext uri="{FF2B5EF4-FFF2-40B4-BE49-F238E27FC236}">
                <a16:creationId xmlns:a16="http://schemas.microsoft.com/office/drawing/2014/main" id="{C62FED92-7050-DEF7-46B2-E43F83F85FDD}"/>
              </a:ext>
            </a:extLst>
          </p:cNvPr>
          <p:cNvCxnSpPr/>
          <p:nvPr/>
        </p:nvCxnSpPr>
        <p:spPr>
          <a:xfrm>
            <a:off x="9245600" y="24130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60089F35-92F5-85AC-5153-47673375E7C3}"/>
              </a:ext>
            </a:extLst>
          </p:cNvPr>
          <p:cNvSpPr/>
          <p:nvPr/>
        </p:nvSpPr>
        <p:spPr>
          <a:xfrm>
            <a:off x="9550400" y="1854200"/>
            <a:ext cx="1930400" cy="11176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WATCH IT CATCH UP
the model and the alert recover later</a:t>
            </a:r>
          </a:p>
        </p:txBody>
      </p:sp>
      <p:sp>
        <p:nvSpPr>
          <p:cNvPr id="16" name="TextBox 15">
            <a:extLst>
              <a:ext uri="{FF2B5EF4-FFF2-40B4-BE49-F238E27FC236}">
                <a16:creationId xmlns:a16="http://schemas.microsoft.com/office/drawing/2014/main" id="{5CF14614-85CD-BE9E-29D7-F7625F0782AF}"/>
              </a:ext>
            </a:extLst>
          </p:cNvPr>
          <p:cNvSpPr txBox="1"/>
          <p:nvPr/>
        </p:nvSpPr>
        <p:spPr>
          <a:xfrm>
            <a:off x="609600" y="3251200"/>
            <a:ext cx="508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FOUR CLOCKS · they do not move together</a:t>
            </a:r>
          </a:p>
        </p:txBody>
      </p:sp>
      <p:cxnSp>
        <p:nvCxnSpPr>
          <p:cNvPr id="17" name="Straight Arrow Connector 16">
            <a:extLst>
              <a:ext uri="{FF2B5EF4-FFF2-40B4-BE49-F238E27FC236}">
                <a16:creationId xmlns:a16="http://schemas.microsoft.com/office/drawing/2014/main" id="{83776BCA-92F3-699D-B2DE-4F782A84EEA6}"/>
              </a:ext>
            </a:extLst>
          </p:cNvPr>
          <p:cNvCxnSpPr/>
          <p:nvPr/>
        </p:nvCxnSpPr>
        <p:spPr>
          <a:xfrm>
            <a:off x="762000" y="3759200"/>
            <a:ext cx="108204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52F68FA-D996-99A6-CA24-1C6E18230CE4}"/>
              </a:ext>
            </a:extLst>
          </p:cNvPr>
          <p:cNvCxnSpPr/>
          <p:nvPr/>
        </p:nvCxnSpPr>
        <p:spPr>
          <a:xfrm>
            <a:off x="1905000" y="3759200"/>
            <a:ext cx="0" cy="15240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99F3B54F-07EF-C41E-9326-CDA76862CBD1}"/>
              </a:ext>
            </a:extLst>
          </p:cNvPr>
          <p:cNvSpPr/>
          <p:nvPr/>
        </p:nvSpPr>
        <p:spPr>
          <a:xfrm>
            <a:off x="762000" y="3911600"/>
            <a:ext cx="2286000" cy="6604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ORDER RESULT
T0</a:t>
            </a:r>
          </a:p>
        </p:txBody>
      </p:sp>
      <p:cxnSp>
        <p:nvCxnSpPr>
          <p:cNvPr id="20" name="Straight Arrow Connector 19">
            <a:extLst>
              <a:ext uri="{FF2B5EF4-FFF2-40B4-BE49-F238E27FC236}">
                <a16:creationId xmlns:a16="http://schemas.microsoft.com/office/drawing/2014/main" id="{DAF71838-5DCD-9BA5-B680-319A338A1051}"/>
              </a:ext>
            </a:extLst>
          </p:cNvPr>
          <p:cNvCxnSpPr/>
          <p:nvPr/>
        </p:nvCxnSpPr>
        <p:spPr>
          <a:xfrm>
            <a:off x="4724400" y="3759200"/>
            <a:ext cx="0" cy="152400"/>
          </a:xfrm>
          <a:prstGeom prst="straightConnector1">
            <a:avLst/>
          </a:prstGeom>
          <a:ln w="28575">
            <a:solidFill>
              <a:srgbClr val="6EE7B7"/>
            </a:solidFill>
            <a:tailEnd type="non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ADE3E05A-64D7-DCDD-78E4-1C3DD207538D}"/>
              </a:ext>
            </a:extLst>
          </p:cNvPr>
          <p:cNvSpPr/>
          <p:nvPr/>
        </p:nvSpPr>
        <p:spPr>
          <a:xfrm>
            <a:off x="3581400" y="3911600"/>
            <a:ext cx="2286000" cy="6604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RECORD ARRIVES
T0 + 30 s to 2 min (agent route)</a:t>
            </a:r>
          </a:p>
        </p:txBody>
      </p:sp>
      <p:cxnSp>
        <p:nvCxnSpPr>
          <p:cNvPr id="22" name="Straight Arrow Connector 21">
            <a:extLst>
              <a:ext uri="{FF2B5EF4-FFF2-40B4-BE49-F238E27FC236}">
                <a16:creationId xmlns:a16="http://schemas.microsoft.com/office/drawing/2014/main" id="{19391BB5-D8CD-12AB-6269-39C5B2B080D7}"/>
              </a:ext>
            </a:extLst>
          </p:cNvPr>
          <p:cNvCxnSpPr/>
          <p:nvPr/>
        </p:nvCxnSpPr>
        <p:spPr>
          <a:xfrm>
            <a:off x="7543800" y="3759200"/>
            <a:ext cx="0" cy="152400"/>
          </a:xfrm>
          <a:prstGeom prst="straightConnector1">
            <a:avLst/>
          </a:prstGeom>
          <a:ln w="28575">
            <a:solidFill>
              <a:srgbClr val="D0B6FF"/>
            </a:solidFill>
            <a:tailEnd type="none"/>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4CD9CBAE-2DF0-04F2-9456-9722674DF211}"/>
              </a:ext>
            </a:extLst>
          </p:cNvPr>
          <p:cNvSpPr/>
          <p:nvPr/>
        </p:nvSpPr>
        <p:spPr>
          <a:xfrm>
            <a:off x="6400800" y="3911600"/>
            <a:ext cx="2286000" cy="6604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MODEL RE-EVALUATES
T0 + its window</a:t>
            </a:r>
          </a:p>
        </p:txBody>
      </p:sp>
      <p:cxnSp>
        <p:nvCxnSpPr>
          <p:cNvPr id="24" name="Straight Arrow Connector 23">
            <a:extLst>
              <a:ext uri="{FF2B5EF4-FFF2-40B4-BE49-F238E27FC236}">
                <a16:creationId xmlns:a16="http://schemas.microsoft.com/office/drawing/2014/main" id="{DC22558F-2F44-D160-4D9F-4A75B3B44678}"/>
              </a:ext>
            </a:extLst>
          </p:cNvPr>
          <p:cNvCxnSpPr/>
          <p:nvPr/>
        </p:nvCxnSpPr>
        <p:spPr>
          <a:xfrm>
            <a:off x="10363200" y="3759200"/>
            <a:ext cx="0" cy="152400"/>
          </a:xfrm>
          <a:prstGeom prst="straightConnector1">
            <a:avLst/>
          </a:prstGeom>
          <a:ln w="28575">
            <a:solidFill>
              <a:srgbClr val="FACC15"/>
            </a:solidFill>
            <a:tailEnd type="none"/>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30C56589-6094-D4D9-D171-632C48471EE6}"/>
              </a:ext>
            </a:extLst>
          </p:cNvPr>
          <p:cNvSpPr/>
          <p:nvPr/>
        </p:nvSpPr>
        <p:spPr>
          <a:xfrm>
            <a:off x="9220200" y="3911600"/>
            <a:ext cx="2286000" cy="6604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ALERT RESOLVES
T0 + its frequency</a:t>
            </a:r>
          </a:p>
        </p:txBody>
      </p:sp>
      <p:sp>
        <p:nvSpPr>
          <p:cNvPr id="26" name="TextBox 25">
            <a:extLst>
              <a:ext uri="{FF2B5EF4-FFF2-40B4-BE49-F238E27FC236}">
                <a16:creationId xmlns:a16="http://schemas.microsoft.com/office/drawing/2014/main" id="{B9624E0F-098B-E0E2-8781-1142795BB487}"/>
              </a:ext>
            </a:extLst>
          </p:cNvPr>
          <p:cNvSpPr txBox="1"/>
          <p:nvPr/>
        </p:nvSpPr>
        <p:spPr>
          <a:xfrm>
            <a:off x="609600" y="4775200"/>
            <a:ext cx="10972800" cy="292388"/>
          </a:xfrm>
          <a:prstGeom prst="rect">
            <a:avLst/>
          </a:prstGeom>
          <a:noFill/>
        </p:spPr>
        <p:txBody>
          <a:bodyPr vert="horz" wrap="square" lIns="25400" rIns="25400" rtlCol="0">
            <a:spAutoFit/>
          </a:bodyPr>
          <a:lstStyle/>
          <a:p>
            <a:r>
              <a:rPr lang="en-US" sz="1300" b="1">
                <a:solidFill>
                  <a:srgbClr val="7DD3FC"/>
                </a:solidFill>
                <a:latin typeface="Calibri" panose="020F0502020204030204" pitchFamily="34" charset="0"/>
              </a:rPr>
              <a:t>Capture a timestamp at every layer. Recovery is proven by new customer evidence; the dashboards catch up afterwards.</a:t>
            </a:r>
          </a:p>
        </p:txBody>
      </p:sp>
      <p:sp>
        <p:nvSpPr>
          <p:cNvPr id="27" name="TextBox 26">
            <a:extLst>
              <a:ext uri="{FF2B5EF4-FFF2-40B4-BE49-F238E27FC236}">
                <a16:creationId xmlns:a16="http://schemas.microsoft.com/office/drawing/2014/main" id="{C99D106A-55FF-BA63-C67C-AC038171255A}"/>
              </a:ext>
            </a:extLst>
          </p:cNvPr>
          <p:cNvSpPr txBox="1"/>
          <p:nvPr/>
        </p:nvSpPr>
        <p:spPr>
          <a:xfrm>
            <a:off x="609600" y="5105400"/>
            <a:ext cx="10972800" cy="292388"/>
          </a:xfrm>
          <a:prstGeom prst="rect">
            <a:avLst/>
          </a:prstGeom>
          <a:noFill/>
        </p:spPr>
        <p:txBody>
          <a:bodyPr vert="horz" wrap="square" lIns="25400" rIns="25400" rtlCol="0">
            <a:spAutoFit/>
          </a:bodyPr>
          <a:lstStyle/>
          <a:p>
            <a:r>
              <a:rPr lang="en-US" sz="1300">
                <a:solidFill>
                  <a:srgbClr val="F1F5FB"/>
                </a:solidFill>
                <a:latin typeface="Calibri" panose="020F0502020204030204" pitchFamily="34" charset="0"/>
              </a:rPr>
              <a:t>Roles: the fulfillment owner makes the change; the service owner declares the service recovered.</a:t>
            </a:r>
          </a:p>
        </p:txBody>
      </p:sp>
      <p:sp>
        <p:nvSpPr>
          <p:cNvPr id="28" name="Rectangle 27">
            <a:extLst>
              <a:ext uri="{FF2B5EF4-FFF2-40B4-BE49-F238E27FC236}">
                <a16:creationId xmlns:a16="http://schemas.microsoft.com/office/drawing/2014/main" id="{0C13727D-66EE-41FF-B41E-913845A6D629}"/>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ADDA003-1471-7802-2269-C83FF0258106}"/>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A successful command proves execution, not customer recovery.</a:t>
            </a:r>
          </a:p>
        </p:txBody>
      </p:sp>
      <p:pic>
        <p:nvPicPr>
          <p:cNvPr id="31" name="SponsorBar" descr="CAS 2026 sponsors and #CloudAISummit2026">
            <a:extLst>
              <a:ext uri="{FF2B5EF4-FFF2-40B4-BE49-F238E27FC236}">
                <a16:creationId xmlns:a16="http://schemas.microsoft.com/office/drawing/2014/main" id="{5649DE8A-DE5A-0E3C-B7C6-202CB10244C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561599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3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3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00"/>
                                        <p:tgtEl>
                                          <p:spTgt spid="21"/>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3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300"/>
                                        <p:tgtEl>
                                          <p:spTgt spid="23"/>
                                        </p:tgtEl>
                                      </p:cBhvr>
                                    </p:animEffect>
                                  </p:childTnLst>
                                </p:cTn>
                              </p:par>
                              <p:par>
                                <p:cTn id="66" presetID="10" presetClass="entr" presetSubtype="0"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3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00"/>
                                        <p:tgtEl>
                                          <p:spTgt spid="2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3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6" grpId="0"/>
      <p:bldP spid="19" grpId="0" animBg="1"/>
      <p:bldP spid="21" grpId="0" animBg="1"/>
      <p:bldP spid="23" grpId="0" animBg="1"/>
      <p:bldP spid="25" grpId="0" animBg="1"/>
      <p:bldP spid="26" grpId="0"/>
      <p:bldP spid="27" grpId="0"/>
    </p:bldLst>
  </p:timing>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574C73-5BE7-7D4C-5960-4DBC1B400B5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4A905F9-BB88-C41B-0A7D-B2A3379565AB}"/>
              </a:ext>
            </a:extLst>
          </p:cNvPr>
          <p:cNvSpPr/>
          <p:nvPr/>
        </p:nvSpPr>
        <p:spPr>
          <a:xfrm>
            <a:off x="0" y="1549400"/>
            <a:ext cx="12192000" cy="50800"/>
          </a:xfrm>
          <a:prstGeom prst="rect">
            <a:avLst/>
          </a:prstGeom>
          <a:solidFill>
            <a:srgbClr val="FD9A9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665EE75-76F3-069F-4C8D-0FF1B7C4539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Recovery</a:t>
            </a:r>
          </a:p>
        </p:txBody>
      </p:sp>
      <p:sp>
        <p:nvSpPr>
          <p:cNvPr id="5" name="Rectangle 4">
            <a:extLst>
              <a:ext uri="{FF2B5EF4-FFF2-40B4-BE49-F238E27FC236}">
                <a16:creationId xmlns:a16="http://schemas.microsoft.com/office/drawing/2014/main" id="{FD109D81-A033-CF18-9DE0-E2401F9A2CD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C46DA013-B5D6-80BF-05F7-69EC204ED11D}"/>
              </a:ext>
            </a:extLst>
          </p:cNvPr>
          <p:cNvSpPr/>
          <p:nvPr/>
        </p:nvSpPr>
        <p:spPr>
          <a:xfrm>
            <a:off x="9042400" y="330200"/>
            <a:ext cx="2540000" cy="330200"/>
          </a:xfrm>
          <a:prstGeom prst="roundRect">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5 · RESPOND + RECOVER</a:t>
            </a:r>
          </a:p>
        </p:txBody>
      </p:sp>
      <p:sp>
        <p:nvSpPr>
          <p:cNvPr id="7" name="TextBox 6">
            <a:extLst>
              <a:ext uri="{FF2B5EF4-FFF2-40B4-BE49-F238E27FC236}">
                <a16:creationId xmlns:a16="http://schemas.microsoft.com/office/drawing/2014/main" id="{739B8EF4-1ABE-0D1F-7520-722D9F190F87}"/>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5A2E76EA-DD08-78AA-83B1-6B85AE61FABA}"/>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BD4178BB-CEAD-7C3A-99DD-98078DB055A8}"/>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DE0B4123-29B7-77C2-BAC9-A18A5BDAE178}"/>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Set the AWS worker back to Healthy</a:t>
            </a:r>
          </a:p>
        </p:txBody>
      </p:sp>
      <p:sp>
        <p:nvSpPr>
          <p:cNvPr id="11" name="Rectangle: Rounded Corners 10">
            <a:extLst>
              <a:ext uri="{FF2B5EF4-FFF2-40B4-BE49-F238E27FC236}">
                <a16:creationId xmlns:a16="http://schemas.microsoft.com/office/drawing/2014/main" id="{8F3F6408-0BB9-C620-A922-137A0BC44BE4}"/>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5FD453D2-73F6-40F5-067C-1BCAB04C7ABD}"/>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Place a few new demo-tagged orders</a:t>
            </a:r>
          </a:p>
        </p:txBody>
      </p:sp>
      <p:sp>
        <p:nvSpPr>
          <p:cNvPr id="13" name="Rectangle: Rounded Corners 12">
            <a:extLst>
              <a:ext uri="{FF2B5EF4-FFF2-40B4-BE49-F238E27FC236}">
                <a16:creationId xmlns:a16="http://schemas.microsoft.com/office/drawing/2014/main" id="{2C323712-BD0B-F1A2-A2EE-44DA723616E2}"/>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A311770D-738B-7DC4-1285-BAA212FFA951}"/>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Confirm every stage and every order completed</a:t>
            </a:r>
          </a:p>
        </p:txBody>
      </p:sp>
      <p:sp>
        <p:nvSpPr>
          <p:cNvPr id="15" name="Rectangle: Rounded Corners 14">
            <a:extLst>
              <a:ext uri="{FF2B5EF4-FFF2-40B4-BE49-F238E27FC236}">
                <a16:creationId xmlns:a16="http://schemas.microsoft.com/office/drawing/2014/main" id="{52475131-A8AB-E527-887C-DBC8194AA59D}"/>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3765CE09-84C3-A6DB-126D-C67B6D8E0272}"/>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Watch the model and alert catch up</a:t>
            </a:r>
          </a:p>
        </p:txBody>
      </p:sp>
      <p:sp>
        <p:nvSpPr>
          <p:cNvPr id="17" name="Rectangle: Rounded Corners 16">
            <a:extLst>
              <a:ext uri="{FF2B5EF4-FFF2-40B4-BE49-F238E27FC236}">
                <a16:creationId xmlns:a16="http://schemas.microsoft.com/office/drawing/2014/main" id="{167D1414-A110-FE43-34F9-E7A999092141}"/>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F26B23C-95A9-70BA-B4A5-D02EFDBE834E}"/>
              </a:ext>
            </a:extLst>
          </p:cNvPr>
          <p:cNvSpPr txBox="1"/>
          <p:nvPr/>
        </p:nvSpPr>
        <p:spPr>
          <a:xfrm>
            <a:off x="6781800" y="2540000"/>
            <a:ext cx="4521200" cy="1754326"/>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New correlation IDs: several orders complete
Nothing left waiting in the queue
Model and alert recover later,
with their timestamps</a:t>
            </a:r>
          </a:p>
        </p:txBody>
      </p:sp>
      <p:sp>
        <p:nvSpPr>
          <p:cNvPr id="19" name="Rectangle 18">
            <a:extLst>
              <a:ext uri="{FF2B5EF4-FFF2-40B4-BE49-F238E27FC236}">
                <a16:creationId xmlns:a16="http://schemas.microsoft.com/office/drawing/2014/main" id="{77513FD1-8F85-D26B-605F-DDC6CE7BB8D5}"/>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4648A3E-3ECB-1E41-BB62-63272BCD6B4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M03, stage 2 of 2. Recovery is a new observation, not a recycled screenshot.</a:t>
            </a:r>
          </a:p>
        </p:txBody>
      </p:sp>
      <p:pic>
        <p:nvPicPr>
          <p:cNvPr id="22" name="SponsorBar" descr="CAS 2026 sponsors and #CloudAISummit2026">
            <a:extLst>
              <a:ext uri="{FF2B5EF4-FFF2-40B4-BE49-F238E27FC236}">
                <a16:creationId xmlns:a16="http://schemas.microsoft.com/office/drawing/2014/main" id="{035F0774-D2AD-8350-FA47-1532C75A83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D8D30E6F-515C-71C8-41E7-E9DB1BCD9429}"/>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D2BBBE96-2225-AF3E-EA76-3BB8C9CB5098}"/>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4170951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30463-16F4-9AF4-DE54-75DE28BA28D7}"/>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A8847C4-C6F2-AEE4-3C48-E76771D7686A}"/>
              </a:ext>
            </a:extLst>
          </p:cNvPr>
          <p:cNvSpPr/>
          <p:nvPr/>
        </p:nvSpPr>
        <p:spPr>
          <a:xfrm>
            <a:off x="0" y="1549400"/>
            <a:ext cx="12192000" cy="50800"/>
          </a:xfrm>
          <a:prstGeom prst="rect">
            <a:avLst/>
          </a:prstGeom>
          <a:solidFill>
            <a:srgbClr val="BEF26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2CBA874-7861-6663-ACBD-8ECDDCDA579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6 · Keep it affordable and useful</a:t>
            </a:r>
          </a:p>
        </p:txBody>
      </p:sp>
      <p:sp>
        <p:nvSpPr>
          <p:cNvPr id="5" name="Rectangle 4">
            <a:extLst>
              <a:ext uri="{FF2B5EF4-FFF2-40B4-BE49-F238E27FC236}">
                <a16:creationId xmlns:a16="http://schemas.microsoft.com/office/drawing/2014/main" id="{39DCEAFA-FA66-5809-8CFF-11CD44A77E4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F7BEB706-67C9-342E-72C4-5A6850771A6E}"/>
              </a:ext>
            </a:extLst>
          </p:cNvPr>
          <p:cNvSpPr/>
          <p:nvPr/>
        </p:nvSpPr>
        <p:spPr>
          <a:xfrm>
            <a:off x="9042400" y="330200"/>
            <a:ext cx="2540000" cy="330200"/>
          </a:xfrm>
          <a:prstGeom prst="roundRect">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6 · AFFORDABLE + USEFUL</a:t>
            </a:r>
          </a:p>
        </p:txBody>
      </p:sp>
      <p:sp>
        <p:nvSpPr>
          <p:cNvPr id="7" name="TextBox 6">
            <a:extLst>
              <a:ext uri="{FF2B5EF4-FFF2-40B4-BE49-F238E27FC236}">
                <a16:creationId xmlns:a16="http://schemas.microsoft.com/office/drawing/2014/main" id="{9EB5C131-D409-2FDC-C7FC-E13A185409DB}"/>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BEF264"/>
                </a:solidFill>
                <a:latin typeface="Calibri" panose="020F0502020204030204" pitchFamily="34" charset="0"/>
              </a:rPr>
              <a:t>6</a:t>
            </a:r>
          </a:p>
        </p:txBody>
      </p:sp>
      <p:sp>
        <p:nvSpPr>
          <p:cNvPr id="8" name="TextBox 7">
            <a:extLst>
              <a:ext uri="{FF2B5EF4-FFF2-40B4-BE49-F238E27FC236}">
                <a16:creationId xmlns:a16="http://schemas.microsoft.com/office/drawing/2014/main" id="{9FA9BB5F-811C-28B1-6AEF-29410681D92B}"/>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0F1D0623-A1F4-388F-82C4-F66F663364BB}"/>
              </a:ext>
            </a:extLst>
          </p:cNvPr>
          <p:cNvSpPr txBox="1"/>
          <p:nvPr/>
        </p:nvSpPr>
        <p:spPr>
          <a:xfrm>
            <a:off x="2413000" y="1778000"/>
            <a:ext cx="9169400" cy="461665"/>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What does the evidence cost, and how do we keep the view useful?</a:t>
            </a:r>
          </a:p>
        </p:txBody>
      </p:sp>
      <p:sp>
        <p:nvSpPr>
          <p:cNvPr id="10" name="TextBox 9">
            <a:extLst>
              <a:ext uri="{FF2B5EF4-FFF2-40B4-BE49-F238E27FC236}">
                <a16:creationId xmlns:a16="http://schemas.microsoft.com/office/drawing/2014/main" id="{D2D158E5-627F-EB73-26BF-D02430E63FBD}"/>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C7CE7DDF-D16A-971F-25A0-9AF0851079C6}"/>
              </a:ext>
            </a:extLst>
          </p:cNvPr>
          <p:cNvSpPr txBox="1"/>
          <p:nvPr/>
        </p:nvSpPr>
        <p:spPr>
          <a:xfrm>
            <a:off x="2413000" y="3048000"/>
            <a:ext cx="9169400" cy="523220"/>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Coverage, volume and retention trade-offs with real lab numbers; the freshness-and-cost demo; the operating cycle, including collecting the same thing twice.</a:t>
            </a:r>
          </a:p>
        </p:txBody>
      </p:sp>
      <p:sp>
        <p:nvSpPr>
          <p:cNvPr id="12" name="TextBox 11">
            <a:extLst>
              <a:ext uri="{FF2B5EF4-FFF2-40B4-BE49-F238E27FC236}">
                <a16:creationId xmlns:a16="http://schemas.microsoft.com/office/drawing/2014/main" id="{3FEC7D18-A57E-BACB-2832-E59C836229B1}"/>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216D55B0-78DD-1FA1-CC5B-F3645E09D000}"/>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Observability nobody can afford or maintain decays; every signal needs a question and an owner.</a:t>
            </a:r>
          </a:p>
        </p:txBody>
      </p:sp>
      <p:sp>
        <p:nvSpPr>
          <p:cNvPr id="14" name="TextBox 13">
            <a:extLst>
              <a:ext uri="{FF2B5EF4-FFF2-40B4-BE49-F238E27FC236}">
                <a16:creationId xmlns:a16="http://schemas.microsoft.com/office/drawing/2014/main" id="{F48F0703-1D56-680C-2B62-8379771D5AA8}"/>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E099582D-F46E-E299-AD35-FA6BF65CE65C}"/>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keeping it true over time</a:t>
            </a:r>
          </a:p>
        </p:txBody>
      </p:sp>
      <p:sp>
        <p:nvSpPr>
          <p:cNvPr id="16" name="Rectangle: Rounded Corners 15">
            <a:extLst>
              <a:ext uri="{FF2B5EF4-FFF2-40B4-BE49-F238E27FC236}">
                <a16:creationId xmlns:a16="http://schemas.microsoft.com/office/drawing/2014/main" id="{DB9806A2-0465-8DC1-9B0E-6B591D9FFFE4}"/>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49BAEF1F-2DEF-DEE1-BE8D-CF6A2115767B}"/>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57FFB79E-2397-7980-F0C2-268D3AD82AFD}"/>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6A41564D-B400-66E8-8635-EC7C441F1F41}"/>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C5D3D42C-57CC-57F0-3DA3-D7B401755A50}"/>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319E6676-0387-2D86-F8C8-1D372AEF1948}"/>
              </a:ext>
            </a:extLst>
          </p:cNvPr>
          <p:cNvSpPr/>
          <p:nvPr/>
        </p:nvSpPr>
        <p:spPr>
          <a:xfrm>
            <a:off x="9880600" y="5334000"/>
            <a:ext cx="1752600" cy="508000"/>
          </a:xfrm>
          <a:prstGeom prst="roundRect">
            <a:avLst/>
          </a:prstGeom>
          <a:solidFill>
            <a:srgbClr val="BEF264"/>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04A2A489-F7BF-F8EE-1B37-1B30D0B727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3198078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53B32D-11DC-4964-188E-C2AEA5E7DC19}"/>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08608FE-8872-9911-220B-E5BE4821B23C}"/>
              </a:ext>
            </a:extLst>
          </p:cNvPr>
          <p:cNvSpPr/>
          <p:nvPr/>
        </p:nvSpPr>
        <p:spPr>
          <a:xfrm>
            <a:off x="0" y="1549400"/>
            <a:ext cx="12192000" cy="50800"/>
          </a:xfrm>
          <a:prstGeom prst="rect">
            <a:avLst/>
          </a:prstGeom>
          <a:solidFill>
            <a:srgbClr val="BEF26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ACDF0CC-A641-5371-B591-AFA3C6250F75}"/>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Evidence trade-offs</a:t>
            </a:r>
          </a:p>
        </p:txBody>
      </p:sp>
      <p:sp>
        <p:nvSpPr>
          <p:cNvPr id="5" name="Rectangle 4">
            <a:extLst>
              <a:ext uri="{FF2B5EF4-FFF2-40B4-BE49-F238E27FC236}">
                <a16:creationId xmlns:a16="http://schemas.microsoft.com/office/drawing/2014/main" id="{A7B5CB74-2665-C6FC-4341-9B707F4AC6F8}"/>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3C28D718-9EFD-7BBF-621E-0700A9F7825D}"/>
              </a:ext>
            </a:extLst>
          </p:cNvPr>
          <p:cNvSpPr/>
          <p:nvPr/>
        </p:nvSpPr>
        <p:spPr>
          <a:xfrm>
            <a:off x="9042400" y="330200"/>
            <a:ext cx="2540000" cy="330200"/>
          </a:xfrm>
          <a:prstGeom prst="roundRect">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6 · AFFORDABLE + USEFUL</a:t>
            </a:r>
          </a:p>
        </p:txBody>
      </p:sp>
      <p:sp>
        <p:nvSpPr>
          <p:cNvPr id="7" name="Rectangle: Rounded Corners 6">
            <a:extLst>
              <a:ext uri="{FF2B5EF4-FFF2-40B4-BE49-F238E27FC236}">
                <a16:creationId xmlns:a16="http://schemas.microsoft.com/office/drawing/2014/main" id="{1AD91B7A-8941-0F72-23CA-A984E3DA2885}"/>
              </a:ext>
            </a:extLst>
          </p:cNvPr>
          <p:cNvSpPr/>
          <p:nvPr/>
        </p:nvSpPr>
        <p:spPr>
          <a:xfrm>
            <a:off x="4826000" y="1727200"/>
            <a:ext cx="2540000" cy="7620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COVERAGE
questions we can answer</a:t>
            </a:r>
          </a:p>
        </p:txBody>
      </p:sp>
      <p:sp>
        <p:nvSpPr>
          <p:cNvPr id="8" name="Rectangle: Rounded Corners 7">
            <a:extLst>
              <a:ext uri="{FF2B5EF4-FFF2-40B4-BE49-F238E27FC236}">
                <a16:creationId xmlns:a16="http://schemas.microsoft.com/office/drawing/2014/main" id="{74B5A0BA-90EC-8B10-7FC6-B9E3EFDCB77E}"/>
              </a:ext>
            </a:extLst>
          </p:cNvPr>
          <p:cNvSpPr/>
          <p:nvPr/>
        </p:nvSpPr>
        <p:spPr>
          <a:xfrm>
            <a:off x="2159000" y="3378200"/>
            <a:ext cx="25400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VOLUME + COST</a:t>
            </a:r>
          </a:p>
        </p:txBody>
      </p:sp>
      <p:sp>
        <p:nvSpPr>
          <p:cNvPr id="9" name="Rectangle: Rounded Corners 8">
            <a:extLst>
              <a:ext uri="{FF2B5EF4-FFF2-40B4-BE49-F238E27FC236}">
                <a16:creationId xmlns:a16="http://schemas.microsoft.com/office/drawing/2014/main" id="{240299EF-323C-2A08-588A-9E626669E439}"/>
              </a:ext>
            </a:extLst>
          </p:cNvPr>
          <p:cNvSpPr/>
          <p:nvPr/>
        </p:nvSpPr>
        <p:spPr>
          <a:xfrm>
            <a:off x="7493000" y="3378200"/>
            <a:ext cx="2540000" cy="711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RETENTION
how far back</a:t>
            </a:r>
          </a:p>
        </p:txBody>
      </p:sp>
      <p:cxnSp>
        <p:nvCxnSpPr>
          <p:cNvPr id="10" name="Straight Arrow Connector 9">
            <a:extLst>
              <a:ext uri="{FF2B5EF4-FFF2-40B4-BE49-F238E27FC236}">
                <a16:creationId xmlns:a16="http://schemas.microsoft.com/office/drawing/2014/main" id="{DE4C6A01-5420-158E-B841-24A4DC248409}"/>
              </a:ext>
            </a:extLst>
          </p:cNvPr>
          <p:cNvCxnSpPr/>
          <p:nvPr/>
        </p:nvCxnSpPr>
        <p:spPr>
          <a:xfrm flipH="1">
            <a:off x="3810000" y="2489200"/>
            <a:ext cx="1524000" cy="88900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AFA6AF6-1AB0-5659-3C1C-EC4BFE0BEF03}"/>
              </a:ext>
            </a:extLst>
          </p:cNvPr>
          <p:cNvCxnSpPr/>
          <p:nvPr/>
        </p:nvCxnSpPr>
        <p:spPr>
          <a:xfrm>
            <a:off x="6858000" y="2489200"/>
            <a:ext cx="1524000" cy="8890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BFC24EB3-D073-C322-A7B5-AE05139573D0}"/>
              </a:ext>
            </a:extLst>
          </p:cNvPr>
          <p:cNvCxnSpPr/>
          <p:nvPr/>
        </p:nvCxnSpPr>
        <p:spPr>
          <a:xfrm>
            <a:off x="4699000" y="3733800"/>
            <a:ext cx="27940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B2C9D6C-D4B4-88D5-5EB3-3866990FA068}"/>
              </a:ext>
            </a:extLst>
          </p:cNvPr>
          <p:cNvSpPr txBox="1"/>
          <p:nvPr/>
        </p:nvSpPr>
        <p:spPr>
          <a:xfrm>
            <a:off x="5753100" y="3606800"/>
            <a:ext cx="685800" cy="194925"/>
          </a:xfrm>
          <a:prstGeom prst="rect">
            <a:avLst/>
          </a:prstGeom>
          <a:solidFill>
            <a:srgbClr val="172554"/>
          </a:solidFill>
        </p:spPr>
        <p:txBody>
          <a:bodyPr vert="horz" wrap="square" lIns="25400" tIns="12700" rIns="25400" bIns="12700" rtlCol="0">
            <a:spAutoFit/>
          </a:bodyPr>
          <a:lstStyle/>
          <a:p>
            <a:pPr algn="ctr"/>
            <a:r>
              <a:rPr lang="en-US" sz="1100" b="1">
                <a:solidFill>
                  <a:srgbClr val="7DD3FC"/>
                </a:solidFill>
                <a:latin typeface="Calibri" panose="020F0502020204030204" pitchFamily="34" charset="0"/>
              </a:rPr>
              <a:t>balance</a:t>
            </a:r>
          </a:p>
        </p:txBody>
      </p:sp>
      <p:sp>
        <p:nvSpPr>
          <p:cNvPr id="14" name="Rectangle: Rounded Corners 13">
            <a:extLst>
              <a:ext uri="{FF2B5EF4-FFF2-40B4-BE49-F238E27FC236}">
                <a16:creationId xmlns:a16="http://schemas.microsoft.com/office/drawing/2014/main" id="{A593B019-DA40-C9B1-0BCE-70600EFEAD1C}"/>
              </a:ext>
            </a:extLst>
          </p:cNvPr>
          <p:cNvSpPr/>
          <p:nvPr/>
        </p:nvSpPr>
        <p:spPr>
          <a:xfrm>
            <a:off x="762000" y="4368800"/>
            <a:ext cx="10668000" cy="8382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Meters to name: Log Analytics ingestion per GB by table plan (Analytics, Basic, Auxiliary) · retention beyond the included period · Azure Monitor workspace samples ingested and queried · alert rules and time series monitored</a:t>
            </a:r>
          </a:p>
        </p:txBody>
      </p:sp>
      <p:sp>
        <p:nvSpPr>
          <p:cNvPr id="15" name="TextBox 14">
            <a:extLst>
              <a:ext uri="{FF2B5EF4-FFF2-40B4-BE49-F238E27FC236}">
                <a16:creationId xmlns:a16="http://schemas.microsoft.com/office/drawing/2014/main" id="{4EFA8B52-D054-CD21-42A4-8E98F1C3468A}"/>
              </a:ext>
            </a:extLst>
          </p:cNvPr>
          <p:cNvSpPr txBox="1"/>
          <p:nvPr/>
        </p:nvSpPr>
        <p:spPr>
          <a:xfrm>
            <a:off x="762000" y="5308600"/>
            <a:ext cx="10668000" cy="292388"/>
          </a:xfrm>
          <a:prstGeom prst="rect">
            <a:avLst/>
          </a:prstGeom>
          <a:noFill/>
        </p:spPr>
        <p:txBody>
          <a:bodyPr vert="horz" wrap="square" lIns="25400" rIns="25400" rtlCol="0">
            <a:spAutoFit/>
          </a:bodyPr>
          <a:lstStyle/>
          <a:p>
            <a:r>
              <a:rPr lang="en-US" sz="1300" b="1">
                <a:solidFill>
                  <a:srgbClr val="FACC15"/>
                </a:solidFill>
                <a:latin typeface="Calibri" panose="020F0502020204030204" pitchFamily="34" charset="0"/>
              </a:rPr>
              <a:t>This lab, whole estate, 7 days: 8.1 GB billable (Perf 1.41, AppTraces 1.25, ContainerInventory 1.21 GB). Order stage records: 0.011 GB.</a:t>
            </a:r>
          </a:p>
        </p:txBody>
      </p:sp>
      <p:sp>
        <p:nvSpPr>
          <p:cNvPr id="16" name="Rectangle 15">
            <a:extLst>
              <a:ext uri="{FF2B5EF4-FFF2-40B4-BE49-F238E27FC236}">
                <a16:creationId xmlns:a16="http://schemas.microsoft.com/office/drawing/2014/main" id="{2E267CE5-A4C1-6B84-5544-6ECC2834FC99}"/>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E2112CB-5734-7CDF-81DC-A749C1BB52A1}"/>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Decision record: signal → question → owner → grain → retention → meter → accepted blind spot.</a:t>
            </a:r>
          </a:p>
        </p:txBody>
      </p:sp>
      <p:pic>
        <p:nvPicPr>
          <p:cNvPr id="19" name="SponsorBar" descr="CAS 2026 sponsors and #CloudAISummit2026">
            <a:extLst>
              <a:ext uri="{FF2B5EF4-FFF2-40B4-BE49-F238E27FC236}">
                <a16:creationId xmlns:a16="http://schemas.microsoft.com/office/drawing/2014/main" id="{61C27F60-7D85-E0F4-2834-70DF9ED004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7765889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BF3803-B914-6AD9-1256-55F359368DCA}"/>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DF75475-3A2B-CEA6-111A-AB6BD90C140B}"/>
              </a:ext>
            </a:extLst>
          </p:cNvPr>
          <p:cNvSpPr/>
          <p:nvPr/>
        </p:nvSpPr>
        <p:spPr>
          <a:xfrm>
            <a:off x="0" y="1549400"/>
            <a:ext cx="12192000" cy="50800"/>
          </a:xfrm>
          <a:prstGeom prst="rect">
            <a:avLst/>
          </a:prstGeom>
          <a:solidFill>
            <a:srgbClr val="BEF26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59DD541-2D9D-E332-E501-F548B0BAB0F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Keeping it useful</a:t>
            </a:r>
          </a:p>
        </p:txBody>
      </p:sp>
      <p:sp>
        <p:nvSpPr>
          <p:cNvPr id="5" name="Rectangle 4">
            <a:extLst>
              <a:ext uri="{FF2B5EF4-FFF2-40B4-BE49-F238E27FC236}">
                <a16:creationId xmlns:a16="http://schemas.microsoft.com/office/drawing/2014/main" id="{6AC82061-10B0-504E-48F2-D26B8A81BA75}"/>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677145D0-2F97-A8D7-0CF8-6E01C8F8495A}"/>
              </a:ext>
            </a:extLst>
          </p:cNvPr>
          <p:cNvSpPr/>
          <p:nvPr/>
        </p:nvSpPr>
        <p:spPr>
          <a:xfrm>
            <a:off x="9042400" y="330200"/>
            <a:ext cx="2540000" cy="330200"/>
          </a:xfrm>
          <a:prstGeom prst="roundRect">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6 · AFFORDABLE + USEFUL</a:t>
            </a:r>
          </a:p>
        </p:txBody>
      </p:sp>
      <p:sp>
        <p:nvSpPr>
          <p:cNvPr id="7" name="Rectangle: Rounded Corners 6">
            <a:extLst>
              <a:ext uri="{FF2B5EF4-FFF2-40B4-BE49-F238E27FC236}">
                <a16:creationId xmlns:a16="http://schemas.microsoft.com/office/drawing/2014/main" id="{C09E3A2D-D782-938F-CD4E-CC44EB369035}"/>
              </a:ext>
            </a:extLst>
          </p:cNvPr>
          <p:cNvSpPr/>
          <p:nvPr/>
        </p:nvSpPr>
        <p:spPr>
          <a:xfrm>
            <a:off x="609600" y="2286000"/>
            <a:ext cx="1930400" cy="1066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INVENTORY
expected sources</a:t>
            </a:r>
          </a:p>
        </p:txBody>
      </p:sp>
      <p:cxnSp>
        <p:nvCxnSpPr>
          <p:cNvPr id="8" name="Straight Arrow Connector 7">
            <a:extLst>
              <a:ext uri="{FF2B5EF4-FFF2-40B4-BE49-F238E27FC236}">
                <a16:creationId xmlns:a16="http://schemas.microsoft.com/office/drawing/2014/main" id="{522D7835-496B-F286-7A36-438EC5E564B6}"/>
              </a:ext>
            </a:extLst>
          </p:cNvPr>
          <p:cNvCxnSpPr/>
          <p:nvPr/>
        </p:nvCxnSpPr>
        <p:spPr>
          <a:xfrm>
            <a:off x="2540000" y="28194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6DAB91A8-6C06-CE8D-CC78-2D9157946040}"/>
              </a:ext>
            </a:extLst>
          </p:cNvPr>
          <p:cNvSpPr/>
          <p:nvPr/>
        </p:nvSpPr>
        <p:spPr>
          <a:xfrm>
            <a:off x="2844800" y="2286000"/>
            <a:ext cx="1930400" cy="1066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MEASURE
volume + freshness</a:t>
            </a:r>
          </a:p>
        </p:txBody>
      </p:sp>
      <p:cxnSp>
        <p:nvCxnSpPr>
          <p:cNvPr id="10" name="Straight Arrow Connector 9">
            <a:extLst>
              <a:ext uri="{FF2B5EF4-FFF2-40B4-BE49-F238E27FC236}">
                <a16:creationId xmlns:a16="http://schemas.microsoft.com/office/drawing/2014/main" id="{F26C4B1E-B741-F4E5-1DC9-4247E532D248}"/>
              </a:ext>
            </a:extLst>
          </p:cNvPr>
          <p:cNvCxnSpPr/>
          <p:nvPr/>
        </p:nvCxnSpPr>
        <p:spPr>
          <a:xfrm>
            <a:off x="4775200" y="28194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AF1D1464-447A-01C5-8D44-097246E76823}"/>
              </a:ext>
            </a:extLst>
          </p:cNvPr>
          <p:cNvSpPr/>
          <p:nvPr/>
        </p:nvSpPr>
        <p:spPr>
          <a:xfrm>
            <a:off x="5080000" y="2286000"/>
            <a:ext cx="1930400" cy="10668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TUNE
signal · window · route</a:t>
            </a:r>
          </a:p>
        </p:txBody>
      </p:sp>
      <p:cxnSp>
        <p:nvCxnSpPr>
          <p:cNvPr id="12" name="Straight Arrow Connector 11">
            <a:extLst>
              <a:ext uri="{FF2B5EF4-FFF2-40B4-BE49-F238E27FC236}">
                <a16:creationId xmlns:a16="http://schemas.microsoft.com/office/drawing/2014/main" id="{7D334FE2-E7DC-F099-B10B-3EF560DD375B}"/>
              </a:ext>
            </a:extLst>
          </p:cNvPr>
          <p:cNvCxnSpPr/>
          <p:nvPr/>
        </p:nvCxnSpPr>
        <p:spPr>
          <a:xfrm>
            <a:off x="7010400" y="28194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FE092601-5694-2EC8-9216-DD098FA4D073}"/>
              </a:ext>
            </a:extLst>
          </p:cNvPr>
          <p:cNvSpPr/>
          <p:nvPr/>
        </p:nvSpPr>
        <p:spPr>
          <a:xfrm>
            <a:off x="7315200" y="2286000"/>
            <a:ext cx="1930400" cy="1066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REVIEW
noise + missed impact</a:t>
            </a:r>
          </a:p>
        </p:txBody>
      </p:sp>
      <p:cxnSp>
        <p:nvCxnSpPr>
          <p:cNvPr id="14" name="Straight Arrow Connector 13">
            <a:extLst>
              <a:ext uri="{FF2B5EF4-FFF2-40B4-BE49-F238E27FC236}">
                <a16:creationId xmlns:a16="http://schemas.microsoft.com/office/drawing/2014/main" id="{3E23E4DD-AEDB-15BF-27CE-F18555E38688}"/>
              </a:ext>
            </a:extLst>
          </p:cNvPr>
          <p:cNvCxnSpPr/>
          <p:nvPr/>
        </p:nvCxnSpPr>
        <p:spPr>
          <a:xfrm>
            <a:off x="9245600" y="28194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8E47B1CA-C360-C2DC-8C85-C96E6F798E6B}"/>
              </a:ext>
            </a:extLst>
          </p:cNvPr>
          <p:cNvSpPr/>
          <p:nvPr/>
        </p:nvSpPr>
        <p:spPr>
          <a:xfrm>
            <a:off x="9550400" y="2286000"/>
            <a:ext cx="1930400" cy="1066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OWN
runbook + escalation</a:t>
            </a:r>
          </a:p>
        </p:txBody>
      </p:sp>
      <p:cxnSp>
        <p:nvCxnSpPr>
          <p:cNvPr id="16" name="Straight Arrow Connector 15">
            <a:extLst>
              <a:ext uri="{FF2B5EF4-FFF2-40B4-BE49-F238E27FC236}">
                <a16:creationId xmlns:a16="http://schemas.microsoft.com/office/drawing/2014/main" id="{7A609285-1A8C-CBB1-C0A6-9450E5765265}"/>
              </a:ext>
            </a:extLst>
          </p:cNvPr>
          <p:cNvCxnSpPr/>
          <p:nvPr/>
        </p:nvCxnSpPr>
        <p:spPr>
          <a:xfrm>
            <a:off x="10515600" y="3352800"/>
            <a:ext cx="0" cy="533400"/>
          </a:xfrm>
          <a:prstGeom prst="straightConnector1">
            <a:avLst/>
          </a:prstGeom>
          <a:ln w="28575">
            <a:solidFill>
              <a:srgbClr val="6EE7B7"/>
            </a:solidFill>
            <a:prstDash val="dash"/>
            <a:tailEnd type="non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AEB2C99-1B78-4728-1A43-65EFFBED0DB5}"/>
              </a:ext>
            </a:extLst>
          </p:cNvPr>
          <p:cNvCxnSpPr/>
          <p:nvPr/>
        </p:nvCxnSpPr>
        <p:spPr>
          <a:xfrm flipH="1">
            <a:off x="1574800" y="3886200"/>
            <a:ext cx="8940800" cy="0"/>
          </a:xfrm>
          <a:prstGeom prst="straightConnector1">
            <a:avLst/>
          </a:prstGeom>
          <a:ln w="28575">
            <a:solidFill>
              <a:srgbClr val="6EE7B7"/>
            </a:solidFill>
            <a:prstDash val="dash"/>
            <a:tailEnd type="non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79DD237-A7AB-2E77-406E-DC3EFF2D7497}"/>
              </a:ext>
            </a:extLst>
          </p:cNvPr>
          <p:cNvSpPr txBox="1"/>
          <p:nvPr/>
        </p:nvSpPr>
        <p:spPr>
          <a:xfrm>
            <a:off x="3873500" y="3759200"/>
            <a:ext cx="4343400" cy="194925"/>
          </a:xfrm>
          <a:prstGeom prst="rect">
            <a:avLst/>
          </a:prstGeom>
          <a:solidFill>
            <a:srgbClr val="172554"/>
          </a:solidFill>
        </p:spPr>
        <p:txBody>
          <a:bodyPr vert="horz" wrap="square" lIns="25400" tIns="12700" rIns="25400" bIns="12700" rtlCol="0">
            <a:spAutoFit/>
          </a:bodyPr>
          <a:lstStyle/>
          <a:p>
            <a:pPr algn="ctr"/>
            <a:r>
              <a:rPr lang="en-US" sz="1100" b="1">
                <a:solidFill>
                  <a:srgbClr val="6EE7B7"/>
                </a:solidFill>
                <a:latin typeface="Calibri" panose="020F0502020204030204" pitchFamily="34" charset="0"/>
              </a:rPr>
              <a:t>repeat when architecture, owners or expectations change</a:t>
            </a:r>
          </a:p>
        </p:txBody>
      </p:sp>
      <p:cxnSp>
        <p:nvCxnSpPr>
          <p:cNvPr id="19" name="Straight Arrow Connector 18">
            <a:extLst>
              <a:ext uri="{FF2B5EF4-FFF2-40B4-BE49-F238E27FC236}">
                <a16:creationId xmlns:a16="http://schemas.microsoft.com/office/drawing/2014/main" id="{EB7CCFDF-A4FF-A27B-98A8-5E8E352D942D}"/>
              </a:ext>
            </a:extLst>
          </p:cNvPr>
          <p:cNvCxnSpPr/>
          <p:nvPr/>
        </p:nvCxnSpPr>
        <p:spPr>
          <a:xfrm flipV="1">
            <a:off x="1574800" y="3352800"/>
            <a:ext cx="0" cy="533400"/>
          </a:xfrm>
          <a:prstGeom prst="straightConnector1">
            <a:avLst/>
          </a:prstGeom>
          <a:ln w="28575">
            <a:solidFill>
              <a:srgbClr val="6EE7B7"/>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F8AE362-A8A6-77F1-5C99-387D8E029663}"/>
              </a:ext>
            </a:extLst>
          </p:cNvPr>
          <p:cNvSpPr txBox="1"/>
          <p:nvPr/>
        </p:nvSpPr>
        <p:spPr>
          <a:xfrm>
            <a:off x="609600" y="4165600"/>
            <a:ext cx="109728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The most common waste: one source collected by two overlapping routes into duplicated records, charts and alerts. Inventory routes before adding another.</a:t>
            </a:r>
          </a:p>
        </p:txBody>
      </p:sp>
      <p:sp>
        <p:nvSpPr>
          <p:cNvPr id="21" name="Rectangle: Rounded Corners 20">
            <a:extLst>
              <a:ext uri="{FF2B5EF4-FFF2-40B4-BE49-F238E27FC236}">
                <a16:creationId xmlns:a16="http://schemas.microsoft.com/office/drawing/2014/main" id="{1341DF6F-3A4D-6210-49F5-BA92344DEA6F}"/>
              </a:ext>
            </a:extLst>
          </p:cNvPr>
          <p:cNvSpPr/>
          <p:nvPr/>
        </p:nvSpPr>
        <p:spPr>
          <a:xfrm>
            <a:off x="1397000" y="4546600"/>
            <a:ext cx="9398000" cy="8382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Retire: alerts nobody acts on · orphaned dashboards · collection with no named question. Resolve: unexplained states. Reassign: stale owners.</a:t>
            </a:r>
          </a:p>
        </p:txBody>
      </p:sp>
      <p:sp>
        <p:nvSpPr>
          <p:cNvPr id="22" name="Rectangle 21">
            <a:extLst>
              <a:ext uri="{FF2B5EF4-FFF2-40B4-BE49-F238E27FC236}">
                <a16:creationId xmlns:a16="http://schemas.microsoft.com/office/drawing/2014/main" id="{E7855AAA-6EA8-2CE1-3278-5F7C9F380C62}"/>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703FCF1-4576-325B-5DAF-F5DC0476DE3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Coverage, tuning and ownership are maintenance work.</a:t>
            </a:r>
          </a:p>
        </p:txBody>
      </p:sp>
      <p:pic>
        <p:nvPicPr>
          <p:cNvPr id="25" name="SponsorBar" descr="CAS 2026 sponsors and #CloudAISummit2026">
            <a:extLst>
              <a:ext uri="{FF2B5EF4-FFF2-40B4-BE49-F238E27FC236}">
                <a16:creationId xmlns:a16="http://schemas.microsoft.com/office/drawing/2014/main" id="{4A9FAD51-8D43-DB9D-2575-27D035D561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78714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0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3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3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8" grpId="0" animBg="1"/>
      <p:bldP spid="20" grpId="0"/>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AA8E9B-C643-BBCC-0554-DEF0B3A6110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B18C9B0-0D39-9BF9-03F0-36A123F27D9D}"/>
              </a:ext>
            </a:extLst>
          </p:cNvPr>
          <p:cNvSpPr/>
          <p:nvPr/>
        </p:nvSpPr>
        <p:spPr>
          <a:xfrm>
            <a:off x="0" y="1549400"/>
            <a:ext cx="12192000" cy="50800"/>
          </a:xfrm>
          <a:prstGeom prst="rect">
            <a:avLst/>
          </a:prstGeom>
          <a:solidFill>
            <a:srgbClr val="BEF26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0D6FC00-1E96-F153-5481-BB88237E2E6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Freshness and cost</a:t>
            </a:r>
          </a:p>
        </p:txBody>
      </p:sp>
      <p:sp>
        <p:nvSpPr>
          <p:cNvPr id="5" name="Rectangle 4">
            <a:extLst>
              <a:ext uri="{FF2B5EF4-FFF2-40B4-BE49-F238E27FC236}">
                <a16:creationId xmlns:a16="http://schemas.microsoft.com/office/drawing/2014/main" id="{7B5401B3-7475-1591-8280-25216E58B08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60AAF736-2E17-9245-C272-2ED26045B536}"/>
              </a:ext>
            </a:extLst>
          </p:cNvPr>
          <p:cNvSpPr/>
          <p:nvPr/>
        </p:nvSpPr>
        <p:spPr>
          <a:xfrm>
            <a:off x="9042400" y="330200"/>
            <a:ext cx="2540000" cy="330200"/>
          </a:xfrm>
          <a:prstGeom prst="roundRect">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6 · AFFORDABLE + USEFUL</a:t>
            </a:r>
          </a:p>
        </p:txBody>
      </p:sp>
      <p:sp>
        <p:nvSpPr>
          <p:cNvPr id="7" name="TextBox 6">
            <a:extLst>
              <a:ext uri="{FF2B5EF4-FFF2-40B4-BE49-F238E27FC236}">
                <a16:creationId xmlns:a16="http://schemas.microsoft.com/office/drawing/2014/main" id="{40B591B5-5891-A90F-1CC4-C683601F370C}"/>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31141B93-68EB-5BD2-AB82-051A4A935B1D}"/>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7DC6B0D2-06A7-FB31-B1B1-E5E1D8B77097}"/>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CC20B825-00C4-056B-001E-EC3E09102EDF}"/>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Query the last timestamp per source and stage</a:t>
            </a:r>
          </a:p>
        </p:txBody>
      </p:sp>
      <p:sp>
        <p:nvSpPr>
          <p:cNvPr id="11" name="Rectangle: Rounded Corners 10">
            <a:extLst>
              <a:ext uri="{FF2B5EF4-FFF2-40B4-BE49-F238E27FC236}">
                <a16:creationId xmlns:a16="http://schemas.microsoft.com/office/drawing/2014/main" id="{B2C79470-3129-839E-5CD0-AF5A033AA624}"/>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E50B6B96-3549-CBDC-610E-BCFCC26F208A}"/>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Compare with the expected cadence</a:t>
            </a:r>
          </a:p>
        </p:txBody>
      </p:sp>
      <p:sp>
        <p:nvSpPr>
          <p:cNvPr id="13" name="Rectangle: Rounded Corners 12">
            <a:extLst>
              <a:ext uri="{FF2B5EF4-FFF2-40B4-BE49-F238E27FC236}">
                <a16:creationId xmlns:a16="http://schemas.microsoft.com/office/drawing/2014/main" id="{503345B0-3A55-AADC-69C5-84B0E238B809}"/>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FABB5065-B77C-1852-300A-FF21DC981B77}"/>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Run billable volume by table</a:t>
            </a:r>
          </a:p>
        </p:txBody>
      </p:sp>
      <p:sp>
        <p:nvSpPr>
          <p:cNvPr id="15" name="Rectangle: Rounded Corners 14">
            <a:extLst>
              <a:ext uri="{FF2B5EF4-FFF2-40B4-BE49-F238E27FC236}">
                <a16:creationId xmlns:a16="http://schemas.microsoft.com/office/drawing/2014/main" id="{AF516F71-4C3A-A8DB-6342-2A43676FE118}"/>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66B8EC8E-6324-293C-D9E8-40DF9A7B7077}"/>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Name one reduction and the question it loses</a:t>
            </a:r>
          </a:p>
        </p:txBody>
      </p:sp>
      <p:sp>
        <p:nvSpPr>
          <p:cNvPr id="17" name="Rectangle: Rounded Corners 16">
            <a:extLst>
              <a:ext uri="{FF2B5EF4-FFF2-40B4-BE49-F238E27FC236}">
                <a16:creationId xmlns:a16="http://schemas.microsoft.com/office/drawing/2014/main" id="{0E20128C-CBA5-FAB9-08FE-002A9E567FD0}"/>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A3F06F0-06A4-EE75-8164-090F12790A86}"/>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Freshness per source
Volume by table, priced at current rates
One decision recorded</a:t>
            </a:r>
          </a:p>
        </p:txBody>
      </p:sp>
      <p:sp>
        <p:nvSpPr>
          <p:cNvPr id="19" name="Rectangle 18">
            <a:extLst>
              <a:ext uri="{FF2B5EF4-FFF2-40B4-BE49-F238E27FC236}">
                <a16:creationId xmlns:a16="http://schemas.microsoft.com/office/drawing/2014/main" id="{8CA033B0-6C1F-E8A9-F1EB-1884628E6BC7}"/>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0E88928-3C6C-7C73-443B-307F34803FC7}"/>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M05. The decision structure from the last two slides, on real data.</a:t>
            </a:r>
          </a:p>
        </p:txBody>
      </p:sp>
      <p:pic>
        <p:nvPicPr>
          <p:cNvPr id="22" name="SponsorBar" descr="CAS 2026 sponsors and #CloudAISummit2026">
            <a:extLst>
              <a:ext uri="{FF2B5EF4-FFF2-40B4-BE49-F238E27FC236}">
                <a16:creationId xmlns:a16="http://schemas.microsoft.com/office/drawing/2014/main" id="{C173E13B-7811-240B-9CAC-32508E81ED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E7E82460-4CE8-011E-C300-8381069B0B47}"/>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5479771E-1368-56BF-6458-A5B86165FBCC}"/>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22930462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B2C9C4-AD0E-D4A4-A0C0-E75C5A83B7C2}"/>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72101AC-2E41-BE66-56B7-3E937BD95BED}"/>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2A0ADE9-4170-C349-7513-42E1EDDD9F6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Back to that meeting</a:t>
            </a:r>
          </a:p>
        </p:txBody>
      </p:sp>
      <p:sp>
        <p:nvSpPr>
          <p:cNvPr id="5" name="Rectangle 4">
            <a:extLst>
              <a:ext uri="{FF2B5EF4-FFF2-40B4-BE49-F238E27FC236}">
                <a16:creationId xmlns:a16="http://schemas.microsoft.com/office/drawing/2014/main" id="{E3BF6685-DDC1-347B-DC26-DA578D4EC66D}"/>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8A959DA-8B16-2722-8D89-A1CA4EB9FC5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625600"/>
            <a:ext cx="3403600" cy="1397000"/>
          </a:xfrm>
          <a:prstGeom prst="rect">
            <a:avLst/>
          </a:prstGeom>
        </p:spPr>
      </p:pic>
      <p:sp>
        <p:nvSpPr>
          <p:cNvPr id="8" name="TextBox 7">
            <a:extLst>
              <a:ext uri="{FF2B5EF4-FFF2-40B4-BE49-F238E27FC236}">
                <a16:creationId xmlns:a16="http://schemas.microsoft.com/office/drawing/2014/main" id="{1F6DDBBE-4AED-8D61-53C8-48FD94B60E17}"/>
              </a:ext>
            </a:extLst>
          </p:cNvPr>
          <p:cNvSpPr txBox="1"/>
          <p:nvPr/>
        </p:nvSpPr>
        <p:spPr>
          <a:xfrm>
            <a:off x="609600" y="3175000"/>
            <a:ext cx="3403600" cy="261610"/>
          </a:xfrm>
          <a:prstGeom prst="rect">
            <a:avLst/>
          </a:prstGeom>
          <a:noFill/>
        </p:spPr>
        <p:txBody>
          <a:bodyPr vert="horz" wrap="square" lIns="25400" rIns="25400" rtlCol="0">
            <a:spAutoFit/>
          </a:bodyPr>
          <a:lstStyle/>
          <a:p>
            <a:r>
              <a:rPr lang="en-US" sz="1100" b="1">
                <a:solidFill>
                  <a:srgbClr val="FACC15"/>
                </a:solidFill>
                <a:latin typeface="Calibri" panose="020F0502020204030204" pitchFamily="34" charset="0"/>
              </a:rPr>
              <a:t>WHAT WAS PROPOSED</a:t>
            </a:r>
          </a:p>
        </p:txBody>
      </p:sp>
      <p:sp>
        <p:nvSpPr>
          <p:cNvPr id="9" name="Rectangle: Rounded Corners 8">
            <a:extLst>
              <a:ext uri="{FF2B5EF4-FFF2-40B4-BE49-F238E27FC236}">
                <a16:creationId xmlns:a16="http://schemas.microsoft.com/office/drawing/2014/main" id="{F9D3830A-AC07-2BB1-0B34-8AF289DA7E34}"/>
              </a:ext>
            </a:extLst>
          </p:cNvPr>
          <p:cNvSpPr/>
          <p:nvPr/>
        </p:nvSpPr>
        <p:spPr>
          <a:xfrm>
            <a:off x="609600" y="3454400"/>
            <a:ext cx="34036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"A new monitoring tool, just for our labs"</a:t>
            </a:r>
          </a:p>
        </p:txBody>
      </p:sp>
      <p:sp>
        <p:nvSpPr>
          <p:cNvPr id="10" name="Rectangle: Rounded Corners 9">
            <a:extLst>
              <a:ext uri="{FF2B5EF4-FFF2-40B4-BE49-F238E27FC236}">
                <a16:creationId xmlns:a16="http://schemas.microsoft.com/office/drawing/2014/main" id="{2E2998FF-9433-0814-CC79-65F3128499D3}"/>
              </a:ext>
            </a:extLst>
          </p:cNvPr>
          <p:cNvSpPr/>
          <p:nvPr/>
        </p:nvSpPr>
        <p:spPr>
          <a:xfrm>
            <a:off x="609600" y="4318000"/>
            <a:ext cx="34036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"On-premises first: our two datacenters"</a:t>
            </a:r>
          </a:p>
        </p:txBody>
      </p:sp>
      <p:sp>
        <p:nvSpPr>
          <p:cNvPr id="11" name="TextBox 10">
            <a:extLst>
              <a:ext uri="{FF2B5EF4-FFF2-40B4-BE49-F238E27FC236}">
                <a16:creationId xmlns:a16="http://schemas.microsoft.com/office/drawing/2014/main" id="{2C951795-0073-261D-546E-1E742379967B}"/>
              </a:ext>
            </a:extLst>
          </p:cNvPr>
          <p:cNvSpPr txBox="1"/>
          <p:nvPr/>
        </p:nvSpPr>
        <p:spPr>
          <a:xfrm>
            <a:off x="4419600" y="1625600"/>
            <a:ext cx="71628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WHAT I WOULD SAY NOW</a:t>
            </a:r>
          </a:p>
        </p:txBody>
      </p:sp>
      <p:sp>
        <p:nvSpPr>
          <p:cNvPr id="12" name="Rectangle: Rounded Corners 11">
            <a:extLst>
              <a:ext uri="{FF2B5EF4-FFF2-40B4-BE49-F238E27FC236}">
                <a16:creationId xmlns:a16="http://schemas.microsoft.com/office/drawing/2014/main" id="{1711284A-5091-F3FC-D952-9A65BBD64582}"/>
              </a:ext>
            </a:extLst>
          </p:cNvPr>
          <p:cNvSpPr/>
          <p:nvPr/>
        </p:nvSpPr>
        <p:spPr>
          <a:xfrm>
            <a:off x="4419600" y="1905000"/>
            <a:ext cx="7162800" cy="711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Define the service first
a lab, like an order, needs parts in more than one place</a:t>
            </a:r>
          </a:p>
        </p:txBody>
      </p:sp>
      <p:sp>
        <p:nvSpPr>
          <p:cNvPr id="13" name="Rectangle: Rounded Corners 12">
            <a:extLst>
              <a:ext uri="{FF2B5EF4-FFF2-40B4-BE49-F238E27FC236}">
                <a16:creationId xmlns:a16="http://schemas.microsoft.com/office/drawing/2014/main" id="{21F2166C-F530-F8FF-4CF3-D926F074E59A}"/>
              </a:ext>
            </a:extLst>
          </p:cNvPr>
          <p:cNvSpPr/>
          <p:nvPr/>
        </p:nvSpPr>
        <p:spPr>
          <a:xfrm>
            <a:off x="4419600" y="2743200"/>
            <a:ext cx="7162800" cy="7112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See every part
Arc put the AWS and on-premises workers in the same workspace as Azure: one single pane of glass</a:t>
            </a:r>
          </a:p>
        </p:txBody>
      </p:sp>
      <p:sp>
        <p:nvSpPr>
          <p:cNvPr id="14" name="Rectangle: Rounded Corners 13">
            <a:extLst>
              <a:ext uri="{FF2B5EF4-FFF2-40B4-BE49-F238E27FC236}">
                <a16:creationId xmlns:a16="http://schemas.microsoft.com/office/drawing/2014/main" id="{D34B6566-D986-3BBD-5714-BC5E334BC667}"/>
              </a:ext>
            </a:extLst>
          </p:cNvPr>
          <p:cNvSpPr/>
          <p:nvPr/>
        </p:nvSpPr>
        <p:spPr>
          <a:xfrm>
            <a:off x="4419600" y="3581400"/>
            <a:ext cx="7162800" cy="7112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Read impact from the people using it down
the machines were healthy while every order failed</a:t>
            </a:r>
          </a:p>
        </p:txBody>
      </p:sp>
      <p:sp>
        <p:nvSpPr>
          <p:cNvPr id="15" name="Rectangle: Rounded Corners 14">
            <a:extLst>
              <a:ext uri="{FF2B5EF4-FFF2-40B4-BE49-F238E27FC236}">
                <a16:creationId xmlns:a16="http://schemas.microsoft.com/office/drawing/2014/main" id="{A5595378-5A5E-C330-CF7D-B985ECC2C26B}"/>
              </a:ext>
            </a:extLst>
          </p:cNvPr>
          <p:cNvSpPr/>
          <p:nvPr/>
        </p:nvSpPr>
        <p:spPr>
          <a:xfrm>
            <a:off x="4419600" y="4419600"/>
            <a:ext cx="7162800" cy="7112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Prove recovery with fresh evidence
and let the dashboards catch up</a:t>
            </a:r>
          </a:p>
        </p:txBody>
      </p:sp>
      <p:sp>
        <p:nvSpPr>
          <p:cNvPr id="16" name="TextBox 15">
            <a:extLst>
              <a:ext uri="{FF2B5EF4-FFF2-40B4-BE49-F238E27FC236}">
                <a16:creationId xmlns:a16="http://schemas.microsoft.com/office/drawing/2014/main" id="{A23E9045-6EE2-057C-BD21-AC6930509835}"/>
              </a:ext>
            </a:extLst>
          </p:cNvPr>
          <p:cNvSpPr txBox="1"/>
          <p:nvPr/>
        </p:nvSpPr>
        <p:spPr>
          <a:xfrm>
            <a:off x="4419600" y="5308600"/>
            <a:ext cx="71628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Same data. Bigger question.</a:t>
            </a:r>
          </a:p>
        </p:txBody>
      </p:sp>
      <p:sp>
        <p:nvSpPr>
          <p:cNvPr id="17" name="Rectangle 16">
            <a:extLst>
              <a:ext uri="{FF2B5EF4-FFF2-40B4-BE49-F238E27FC236}">
                <a16:creationId xmlns:a16="http://schemas.microsoft.com/office/drawing/2014/main" id="{F0798402-BF67-9D69-582B-526F5D74DEAF}"/>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6BB2EC9-2EF9-2E9C-304F-E638783CCC94}"/>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Monitoring tells you a server is up. Observability tells you whether the customer was served, wherever the service runs.</a:t>
            </a:r>
          </a:p>
        </p:txBody>
      </p:sp>
      <p:pic>
        <p:nvPicPr>
          <p:cNvPr id="20" name="SponsorBar" descr="CAS 2026 sponsors and #CloudAISummit2026">
            <a:extLst>
              <a:ext uri="{FF2B5EF4-FFF2-40B4-BE49-F238E27FC236}">
                <a16:creationId xmlns:a16="http://schemas.microsoft.com/office/drawing/2014/main" id="{F9FBB292-4ECF-56E8-D326-CD33B051A60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64040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3" name="TextBox 2"/>
          <p:cNvSpPr txBox="1"/>
          <p:nvPr/>
        </p:nvSpPr>
        <p:spPr>
          <a:xfrm>
            <a:off x="822960" y="1600200"/>
            <a:ext cx="10545775" cy="771750"/>
          </a:xfrm>
          <a:prstGeom prst="rect">
            <a:avLst/>
          </a:prstGeom>
          <a:noFill/>
        </p:spPr>
        <p:txBody>
          <a:bodyPr wrap="square" anchor="t">
            <a:spAutoFit/>
          </a:bodyPr>
          <a:lstStyle/>
          <a:p>
            <a:pPr algn="l">
              <a:lnSpc>
                <a:spcPct val="115000"/>
              </a:lnSpc>
            </a:pPr>
            <a:r>
              <a:rPr sz="4200" b="1">
                <a:solidFill>
                  <a:srgbClr val="F1F5FB"/>
                </a:solidFill>
                <a:latin typeface="Segoe UI"/>
              </a:rPr>
              <a:t>Let's keep the conversation going.</a:t>
            </a:r>
          </a:p>
        </p:txBody>
      </p:sp>
      <p:sp>
        <p:nvSpPr>
          <p:cNvPr id="4" name="Rectangle 3"/>
          <p:cNvSpPr/>
          <p:nvPr/>
        </p:nvSpPr>
        <p:spPr>
          <a:xfrm>
            <a:off x="822960" y="2670048"/>
            <a:ext cx="1005840" cy="50800"/>
          </a:xfrm>
          <a:prstGeom prst="rect">
            <a:avLst/>
          </a:prstGeom>
          <a:solidFill>
            <a:srgbClr val="7DD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907792"/>
            <a:ext cx="10545775" cy="448200"/>
          </a:xfrm>
          <a:prstGeom prst="rect">
            <a:avLst/>
          </a:prstGeom>
          <a:noFill/>
        </p:spPr>
        <p:txBody>
          <a:bodyPr wrap="square" anchor="t">
            <a:spAutoFit/>
          </a:bodyPr>
          <a:lstStyle/>
          <a:p>
            <a:pPr algn="l">
              <a:lnSpc>
                <a:spcPct val="115000"/>
              </a:lnSpc>
            </a:pPr>
            <a:r>
              <a:rPr sz="2200" b="0">
                <a:solidFill>
                  <a:srgbClr val="7DD3FC"/>
                </a:solidFill>
                <a:latin typeface="Segoe UI"/>
              </a:rPr>
              <a:t>Kristopher Turner · This Is My Demo</a:t>
            </a:r>
          </a:p>
        </p:txBody>
      </p:sp>
      <p:sp>
        <p:nvSpPr>
          <p:cNvPr id="6" name="Rounded Rectangle 5"/>
          <p:cNvSpPr/>
          <p:nvPr/>
        </p:nvSpPr>
        <p:spPr>
          <a:xfrm>
            <a:off x="822960" y="3794760"/>
            <a:ext cx="4937760" cy="566928"/>
          </a:xfrm>
          <a:prstGeom prst="roundRect">
            <a:avLst/>
          </a:prstGeom>
          <a:solidFill>
            <a:srgbClr val="20326C"/>
          </a:solidFill>
          <a:ln w="12700">
            <a:solidFill>
              <a:srgbClr val="7DD3FC"/>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900" b="1">
                <a:solidFill>
                  <a:srgbClr val="F1F5FB"/>
                </a:solidFill>
                <a:latin typeface="Segoe UI"/>
              </a:rPr>
              <a:t>thisismydemo.cloud</a:t>
            </a:r>
          </a:p>
        </p:txBody>
      </p:sp>
      <p:sp>
        <p:nvSpPr>
          <p:cNvPr id="7" name="Rounded Rectangle 6"/>
          <p:cNvSpPr/>
          <p:nvPr/>
        </p:nvSpPr>
        <p:spPr>
          <a:xfrm>
            <a:off x="822960" y="4507992"/>
            <a:ext cx="4937760" cy="566928"/>
          </a:xfrm>
          <a:prstGeom prst="roundRect">
            <a:avLst/>
          </a:prstGeom>
          <a:solidFill>
            <a:srgbClr val="20326C"/>
          </a:solidFill>
          <a:ln w="12700">
            <a:solidFill>
              <a:srgbClr val="7DD3FC"/>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900" b="1">
                <a:solidFill>
                  <a:srgbClr val="F1F5FB"/>
                </a:solidFill>
                <a:latin typeface="Segoe UI"/>
              </a:rPr>
              <a:t>github.com/thisismydemo/cas26</a:t>
            </a:r>
          </a:p>
        </p:txBody>
      </p:sp>
      <p:sp>
        <p:nvSpPr>
          <p:cNvPr id="8" name="TextBox 7"/>
          <p:cNvSpPr txBox="1"/>
          <p:nvPr/>
        </p:nvSpPr>
        <p:spPr>
          <a:xfrm>
            <a:off x="822960" y="5312664"/>
            <a:ext cx="10545775" cy="367345"/>
          </a:xfrm>
          <a:prstGeom prst="rect">
            <a:avLst/>
          </a:prstGeom>
          <a:noFill/>
        </p:spPr>
        <p:txBody>
          <a:bodyPr wrap="square" anchor="t">
            <a:spAutoFit/>
          </a:bodyPr>
          <a:lstStyle/>
          <a:p>
            <a:pPr algn="l">
              <a:lnSpc>
                <a:spcPct val="115000"/>
              </a:lnSpc>
            </a:pPr>
            <a:r>
              <a:rPr lang="en-US" sz="1700" b="0">
                <a:solidFill>
                  <a:srgbClr val="F1F5FB"/>
                </a:solidFill>
                <a:latin typeface="Segoe UI"/>
              </a:rPr>
              <a:t>Session materials, commands and implementation notes are in the repository.</a:t>
            </a:r>
            <a:endParaRPr sz="1700" b="0">
              <a:solidFill>
                <a:srgbClr val="F1F5FB"/>
              </a:solidFill>
              <a:latin typeface="Segoe UI"/>
            </a:endParaRPr>
          </a:p>
        </p:txBody>
      </p:sp>
      <p:pic>
        <p:nvPicPr>
          <p:cNvPr id="9" name="SponsorBar" descr="CAS 2026 sponsors and #CloudAISummit2026">
            <a:extLst>
              <a:ext uri="{FF2B5EF4-FFF2-40B4-BE49-F238E27FC236}">
                <a16:creationId xmlns:a16="http://schemas.microsoft.com/office/drawing/2014/main" id="{90AA280B-B24F-8CE3-A741-DC31FA5CAFA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custDataLst>
      <p:tags r:id="rId1"/>
    </p:custDataLst>
    <p:extLst>
      <p:ext uri="{BB962C8B-B14F-4D97-AF65-F5344CB8AC3E}">
        <p14:creationId xmlns:p14="http://schemas.microsoft.com/office/powerpoint/2010/main" val="13505921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D27D93-5987-25E2-E955-544D91A39FBF}"/>
              </a:ext>
            </a:extLst>
          </p:cNvPr>
          <p:cNvSpPr txBox="1"/>
          <p:nvPr/>
        </p:nvSpPr>
        <p:spPr>
          <a:xfrm>
            <a:off x="685800" y="457200"/>
            <a:ext cx="10820400" cy="523220"/>
          </a:xfrm>
          <a:prstGeom prst="rect">
            <a:avLst/>
          </a:prstGeom>
          <a:noFill/>
        </p:spPr>
        <p:txBody>
          <a:bodyPr vert="horz" wrap="square" lIns="0" tIns="0" rIns="0" bIns="0" rtlCol="0">
            <a:spAutoFit/>
          </a:bodyPr>
          <a:lstStyle/>
          <a:p>
            <a:r>
              <a:rPr lang="en-US" sz="3400" b="1">
                <a:solidFill>
                  <a:srgbClr val="F1F5FB"/>
                </a:solidFill>
                <a:latin typeface="Calibri" panose="020F0502020204030204" pitchFamily="34" charset="0"/>
              </a:rPr>
              <a:t>Other sessions worth attending</a:t>
            </a:r>
          </a:p>
        </p:txBody>
      </p:sp>
      <p:sp>
        <p:nvSpPr>
          <p:cNvPr id="3" name="TextBox 2">
            <a:extLst>
              <a:ext uri="{FF2B5EF4-FFF2-40B4-BE49-F238E27FC236}">
                <a16:creationId xmlns:a16="http://schemas.microsoft.com/office/drawing/2014/main" id="{CE36BAE0-AE6E-2E96-9D61-AE251081B027}"/>
              </a:ext>
            </a:extLst>
          </p:cNvPr>
          <p:cNvSpPr txBox="1"/>
          <p:nvPr/>
        </p:nvSpPr>
        <p:spPr>
          <a:xfrm>
            <a:off x="685800" y="1193800"/>
            <a:ext cx="10820400" cy="276999"/>
          </a:xfrm>
          <a:prstGeom prst="rect">
            <a:avLst/>
          </a:prstGeom>
          <a:noFill/>
        </p:spPr>
        <p:txBody>
          <a:bodyPr vert="horz" wrap="square" lIns="0" tIns="0" rIns="0" bIns="0" rtlCol="0">
            <a:spAutoFit/>
          </a:bodyPr>
          <a:lstStyle/>
          <a:p>
            <a:r>
              <a:rPr lang="en-US">
                <a:solidFill>
                  <a:srgbClr val="F1F5FB"/>
                </a:solidFill>
                <a:latin typeface="Calibri" panose="020F0502020204030204" pitchFamily="34" charset="0"/>
              </a:rPr>
              <a:t>Optional next sessions | All times Central (CT)</a:t>
            </a:r>
          </a:p>
        </p:txBody>
      </p:sp>
      <p:sp>
        <p:nvSpPr>
          <p:cNvPr id="4" name="Rectangle 3">
            <a:extLst>
              <a:ext uri="{FF2B5EF4-FFF2-40B4-BE49-F238E27FC236}">
                <a16:creationId xmlns:a16="http://schemas.microsoft.com/office/drawing/2014/main" id="{30BF76E8-F994-3081-9F45-BC916AF20C28}"/>
              </a:ext>
            </a:extLst>
          </p:cNvPr>
          <p:cNvSpPr/>
          <p:nvPr/>
        </p:nvSpPr>
        <p:spPr>
          <a:xfrm>
            <a:off x="685800" y="1816100"/>
            <a:ext cx="10820400" cy="1371600"/>
          </a:xfrm>
          <a:prstGeom prst="rect">
            <a:avLst/>
          </a:prstGeom>
          <a:solidFill>
            <a:srgbClr val="20326C"/>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CFDF134-C376-D273-689F-1F62011A275E}"/>
              </a:ext>
            </a:extLst>
          </p:cNvPr>
          <p:cNvSpPr txBox="1"/>
          <p:nvPr/>
        </p:nvSpPr>
        <p:spPr>
          <a:xfrm>
            <a:off x="889000" y="1930400"/>
            <a:ext cx="10414000" cy="677108"/>
          </a:xfrm>
          <a:prstGeom prst="rect">
            <a:avLst/>
          </a:prstGeom>
          <a:noFill/>
        </p:spPr>
        <p:txBody>
          <a:bodyPr vert="horz" wrap="square" lIns="0" tIns="0" rIns="0" bIns="0" rtlCol="0">
            <a:spAutoFit/>
          </a:bodyPr>
          <a:lstStyle/>
          <a:p>
            <a:r>
              <a:rPr lang="en-US" sz="2200" b="1">
                <a:solidFill>
                  <a:srgbClr val="F1F5FB"/>
                </a:solidFill>
                <a:latin typeface="Calibri" panose="020F0502020204030204" pitchFamily="34" charset="0"/>
              </a:rPr>
              <a:t>From On-Prem to Cloud-Native: A 20-Year Journey in Architecture, Security, and Modernization</a:t>
            </a:r>
          </a:p>
        </p:txBody>
      </p:sp>
      <p:sp>
        <p:nvSpPr>
          <p:cNvPr id="6" name="TextBox 5">
            <a:extLst>
              <a:ext uri="{FF2B5EF4-FFF2-40B4-BE49-F238E27FC236}">
                <a16:creationId xmlns:a16="http://schemas.microsoft.com/office/drawing/2014/main" id="{B8EC4A22-CF4B-C3FF-7493-ED9897C2EDFF}"/>
              </a:ext>
            </a:extLst>
          </p:cNvPr>
          <p:cNvSpPr txBox="1"/>
          <p:nvPr/>
        </p:nvSpPr>
        <p:spPr>
          <a:xfrm>
            <a:off x="889000" y="2679700"/>
            <a:ext cx="10414000" cy="276999"/>
          </a:xfrm>
          <a:prstGeom prst="rect">
            <a:avLst/>
          </a:prstGeom>
          <a:noFill/>
        </p:spPr>
        <p:txBody>
          <a:bodyPr vert="horz" wrap="square" lIns="0" tIns="0" rIns="0" bIns="0" rtlCol="0">
            <a:spAutoFit/>
          </a:bodyPr>
          <a:lstStyle/>
          <a:p>
            <a:r>
              <a:rPr lang="en-US">
                <a:solidFill>
                  <a:srgbClr val="7DD3FC"/>
                </a:solidFill>
                <a:latin typeface="Calibri" panose="020F0502020204030204" pitchFamily="34" charset="0"/>
              </a:rPr>
              <a:t>John Smith | Thu Oct 1 • 1:15 PM • Clarity</a:t>
            </a:r>
          </a:p>
        </p:txBody>
      </p:sp>
      <p:sp>
        <p:nvSpPr>
          <p:cNvPr id="7" name="Rectangle 6">
            <a:extLst>
              <a:ext uri="{FF2B5EF4-FFF2-40B4-BE49-F238E27FC236}">
                <a16:creationId xmlns:a16="http://schemas.microsoft.com/office/drawing/2014/main" id="{22C9F4EA-BBC0-F730-B715-8B7E6862CD34}"/>
              </a:ext>
            </a:extLst>
          </p:cNvPr>
          <p:cNvSpPr/>
          <p:nvPr/>
        </p:nvSpPr>
        <p:spPr>
          <a:xfrm>
            <a:off x="685800" y="3314700"/>
            <a:ext cx="10820400" cy="1371600"/>
          </a:xfrm>
          <a:prstGeom prst="rect">
            <a:avLst/>
          </a:prstGeom>
          <a:solidFill>
            <a:srgbClr val="20326C"/>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68D8C77-140C-570F-9A92-F55DD146EE2E}"/>
              </a:ext>
            </a:extLst>
          </p:cNvPr>
          <p:cNvSpPr txBox="1"/>
          <p:nvPr/>
        </p:nvSpPr>
        <p:spPr>
          <a:xfrm>
            <a:off x="889000" y="3429000"/>
            <a:ext cx="10414000" cy="338554"/>
          </a:xfrm>
          <a:prstGeom prst="rect">
            <a:avLst/>
          </a:prstGeom>
          <a:noFill/>
        </p:spPr>
        <p:txBody>
          <a:bodyPr vert="horz" wrap="square" lIns="0" tIns="0" rIns="0" bIns="0" rtlCol="0">
            <a:spAutoFit/>
          </a:bodyPr>
          <a:lstStyle/>
          <a:p>
            <a:r>
              <a:rPr lang="en-US" sz="2200" b="1">
                <a:solidFill>
                  <a:srgbClr val="F1F5FB"/>
                </a:solidFill>
                <a:latin typeface="Calibri" panose="020F0502020204030204" pitchFamily="34" charset="0"/>
              </a:rPr>
              <a:t>Engineering for Reliability and Stability in the Azure Messaging Services</a:t>
            </a:r>
          </a:p>
        </p:txBody>
      </p:sp>
      <p:sp>
        <p:nvSpPr>
          <p:cNvPr id="9" name="TextBox 8">
            <a:extLst>
              <a:ext uri="{FF2B5EF4-FFF2-40B4-BE49-F238E27FC236}">
                <a16:creationId xmlns:a16="http://schemas.microsoft.com/office/drawing/2014/main" id="{C13989B2-C89D-223A-81AD-112915D01A3A}"/>
              </a:ext>
            </a:extLst>
          </p:cNvPr>
          <p:cNvSpPr txBox="1"/>
          <p:nvPr/>
        </p:nvSpPr>
        <p:spPr>
          <a:xfrm>
            <a:off x="889000" y="4178300"/>
            <a:ext cx="10414000" cy="276999"/>
          </a:xfrm>
          <a:prstGeom prst="rect">
            <a:avLst/>
          </a:prstGeom>
          <a:noFill/>
        </p:spPr>
        <p:txBody>
          <a:bodyPr vert="horz" wrap="square" lIns="0" tIns="0" rIns="0" bIns="0" rtlCol="0">
            <a:spAutoFit/>
          </a:bodyPr>
          <a:lstStyle/>
          <a:p>
            <a:r>
              <a:rPr lang="nl-NL">
                <a:solidFill>
                  <a:srgbClr val="7DD3FC"/>
                </a:solidFill>
                <a:latin typeface="Calibri" panose="020F0502020204030204" pitchFamily="34" charset="0"/>
              </a:rPr>
              <a:t>Eldert Grootenboer | Thu Oct 1 • 3:00 PM • Clarity</a:t>
            </a:r>
            <a:endParaRPr lang="en-US">
              <a:solidFill>
                <a:srgbClr val="7DD3FC"/>
              </a:solidFill>
              <a:latin typeface="Calibri" panose="020F0502020204030204" pitchFamily="34" charset="0"/>
            </a:endParaRPr>
          </a:p>
        </p:txBody>
      </p:sp>
      <p:sp>
        <p:nvSpPr>
          <p:cNvPr id="10" name="Rectangle 9">
            <a:extLst>
              <a:ext uri="{FF2B5EF4-FFF2-40B4-BE49-F238E27FC236}">
                <a16:creationId xmlns:a16="http://schemas.microsoft.com/office/drawing/2014/main" id="{12BB548F-09F9-E514-42F5-87EDA85D477B}"/>
              </a:ext>
            </a:extLst>
          </p:cNvPr>
          <p:cNvSpPr/>
          <p:nvPr/>
        </p:nvSpPr>
        <p:spPr>
          <a:xfrm>
            <a:off x="685800" y="4813300"/>
            <a:ext cx="10820400" cy="1371600"/>
          </a:xfrm>
          <a:prstGeom prst="rect">
            <a:avLst/>
          </a:prstGeom>
          <a:solidFill>
            <a:srgbClr val="20326C"/>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03CA3B8-A614-E4BD-DC12-25EEE93B30F5}"/>
              </a:ext>
            </a:extLst>
          </p:cNvPr>
          <p:cNvSpPr txBox="1"/>
          <p:nvPr/>
        </p:nvSpPr>
        <p:spPr>
          <a:xfrm>
            <a:off x="889000" y="4927600"/>
            <a:ext cx="10414000" cy="338554"/>
          </a:xfrm>
          <a:prstGeom prst="rect">
            <a:avLst/>
          </a:prstGeom>
          <a:noFill/>
        </p:spPr>
        <p:txBody>
          <a:bodyPr vert="horz" wrap="square" lIns="0" tIns="0" rIns="0" bIns="0" rtlCol="0">
            <a:spAutoFit/>
          </a:bodyPr>
          <a:lstStyle/>
          <a:p>
            <a:r>
              <a:rPr lang="en-US" sz="2200" b="1">
                <a:solidFill>
                  <a:srgbClr val="F1F5FB"/>
                </a:solidFill>
                <a:latin typeface="Calibri" panose="020F0502020204030204" pitchFamily="34" charset="0"/>
              </a:rPr>
              <a:t>Integrate Azure Monitor alerts from servers with your ITSM system</a:t>
            </a:r>
          </a:p>
        </p:txBody>
      </p:sp>
      <p:sp>
        <p:nvSpPr>
          <p:cNvPr id="12" name="TextBox 11">
            <a:extLst>
              <a:ext uri="{FF2B5EF4-FFF2-40B4-BE49-F238E27FC236}">
                <a16:creationId xmlns:a16="http://schemas.microsoft.com/office/drawing/2014/main" id="{BF96AD8B-EEAB-3D88-2C5D-2B415DF20291}"/>
              </a:ext>
            </a:extLst>
          </p:cNvPr>
          <p:cNvSpPr txBox="1"/>
          <p:nvPr/>
        </p:nvSpPr>
        <p:spPr>
          <a:xfrm>
            <a:off x="889000" y="5676900"/>
            <a:ext cx="10414000" cy="276999"/>
          </a:xfrm>
          <a:prstGeom prst="rect">
            <a:avLst/>
          </a:prstGeom>
          <a:noFill/>
        </p:spPr>
        <p:txBody>
          <a:bodyPr vert="horz" wrap="square" lIns="0" tIns="0" rIns="0" bIns="0" rtlCol="0">
            <a:spAutoFit/>
          </a:bodyPr>
          <a:lstStyle/>
          <a:p>
            <a:r>
              <a:rPr lang="en-US">
                <a:solidFill>
                  <a:srgbClr val="7DD3FC"/>
                </a:solidFill>
                <a:latin typeface="Calibri" panose="020F0502020204030204" pitchFamily="34" charset="0"/>
              </a:rPr>
              <a:t>John Joyner | Fri Oct 2 • 3:00 PM • Clarity</a:t>
            </a:r>
          </a:p>
        </p:txBody>
      </p:sp>
      <p:pic>
        <p:nvPicPr>
          <p:cNvPr id="14" name="SponsorBar" descr="CAS 2026 sponsors and #CloudAISummit2026">
            <a:extLst>
              <a:ext uri="{FF2B5EF4-FFF2-40B4-BE49-F238E27FC236}">
                <a16:creationId xmlns:a16="http://schemas.microsoft.com/office/drawing/2014/main" id="{4DCC6E75-C4A1-6A75-9A52-35A4C8E7E2B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custDataLst>
      <p:tags r:id="rId1"/>
    </p:custDataLst>
    <p:extLst>
      <p:ext uri="{BB962C8B-B14F-4D97-AF65-F5344CB8AC3E}">
        <p14:creationId xmlns:p14="http://schemas.microsoft.com/office/powerpoint/2010/main" val="40042885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39E4AE-ECD5-0543-4C3D-D6124698369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4EC12E0-EC1C-50F8-A0A2-8ECB6D0A62C2}"/>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1F82E0E-0942-503B-EE76-7A9D7B1291BB}"/>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A sponsor worth a visit: StratoLens</a:t>
            </a:r>
          </a:p>
        </p:txBody>
      </p:sp>
      <p:sp>
        <p:nvSpPr>
          <p:cNvPr id="5" name="Rectangle 4">
            <a:extLst>
              <a:ext uri="{FF2B5EF4-FFF2-40B4-BE49-F238E27FC236}">
                <a16:creationId xmlns:a16="http://schemas.microsoft.com/office/drawing/2014/main" id="{99B635EE-6A9E-DAC0-24E3-B2720499B413}"/>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763213E-2E94-0CD0-DBAC-1D295EA8EE8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3429000" cy="1981200"/>
          </a:xfrm>
          <a:prstGeom prst="rect">
            <a:avLst/>
          </a:prstGeom>
        </p:spPr>
      </p:pic>
      <p:sp>
        <p:nvSpPr>
          <p:cNvPr id="8" name="Rectangle: Rounded Corners 7">
            <a:extLst>
              <a:ext uri="{FF2B5EF4-FFF2-40B4-BE49-F238E27FC236}">
                <a16:creationId xmlns:a16="http://schemas.microsoft.com/office/drawing/2014/main" id="{DBA3FD0E-FF09-FF21-7CDC-49C2047D71CF}"/>
              </a:ext>
            </a:extLst>
          </p:cNvPr>
          <p:cNvSpPr/>
          <p:nvPr/>
        </p:nvSpPr>
        <p:spPr>
          <a:xfrm>
            <a:off x="609600" y="3860800"/>
            <a:ext cx="3429000" cy="812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"See your whole Azure estate. Your data never leaves it."</a:t>
            </a:r>
          </a:p>
        </p:txBody>
      </p:sp>
      <p:sp>
        <p:nvSpPr>
          <p:cNvPr id="9" name="TextBox 8">
            <a:extLst>
              <a:ext uri="{FF2B5EF4-FFF2-40B4-BE49-F238E27FC236}">
                <a16:creationId xmlns:a16="http://schemas.microsoft.com/office/drawing/2014/main" id="{76277043-1168-BF44-695C-E164704AE34C}"/>
              </a:ext>
            </a:extLst>
          </p:cNvPr>
          <p:cNvSpPr txBox="1"/>
          <p:nvPr/>
        </p:nvSpPr>
        <p:spPr>
          <a:xfrm>
            <a:off x="609600" y="4800600"/>
            <a:ext cx="3429000" cy="461665"/>
          </a:xfrm>
          <a:prstGeom prst="rect">
            <a:avLst/>
          </a:prstGeom>
          <a:noFill/>
        </p:spPr>
        <p:txBody>
          <a:bodyPr vert="horz" wrap="square" lIns="25400" rIns="25400" rtlCol="0">
            <a:spAutoFit/>
          </a:bodyPr>
          <a:lstStyle/>
          <a:p>
            <a:r>
              <a:rPr lang="en-US" sz="1200">
                <a:solidFill>
                  <a:srgbClr val="B8C6DE"/>
                </a:solidFill>
                <a:latin typeface="Calibri" panose="020F0502020204030204" pitchFamily="34" charset="0"/>
              </a:rPr>
              <a:t>getstratolens.com · sponsor of Cloud &amp; AI Summit 2026</a:t>
            </a:r>
          </a:p>
        </p:txBody>
      </p:sp>
      <p:sp>
        <p:nvSpPr>
          <p:cNvPr id="10" name="TextBox 9">
            <a:extLst>
              <a:ext uri="{FF2B5EF4-FFF2-40B4-BE49-F238E27FC236}">
                <a16:creationId xmlns:a16="http://schemas.microsoft.com/office/drawing/2014/main" id="{A517C7A1-E6D1-C4B2-F37A-9B0E36013170}"/>
              </a:ext>
            </a:extLst>
          </p:cNvPr>
          <p:cNvSpPr txBox="1"/>
          <p:nvPr/>
        </p:nvSpPr>
        <p:spPr>
          <a:xfrm>
            <a:off x="4445000" y="1625600"/>
            <a:ext cx="71374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WHAT THEY DO (in their words)</a:t>
            </a:r>
          </a:p>
        </p:txBody>
      </p:sp>
      <p:sp>
        <p:nvSpPr>
          <p:cNvPr id="11" name="Rectangle: Rounded Corners 10">
            <a:extLst>
              <a:ext uri="{FF2B5EF4-FFF2-40B4-BE49-F238E27FC236}">
                <a16:creationId xmlns:a16="http://schemas.microsoft.com/office/drawing/2014/main" id="{97BA6499-4511-7F41-4326-5DDBBBF3A269}"/>
              </a:ext>
            </a:extLst>
          </p:cNvPr>
          <p:cNvSpPr/>
          <p:nvPr/>
        </p:nvSpPr>
        <p:spPr>
          <a:xfrm>
            <a:off x="4445000" y="1905000"/>
            <a:ext cx="7137400" cy="5080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Change observability for Azure, self-hosted in your own tenant; deployed from the Azure Marketplace in under 15 minutes</a:t>
            </a:r>
          </a:p>
        </p:txBody>
      </p:sp>
      <p:sp>
        <p:nvSpPr>
          <p:cNvPr id="12" name="Rectangle: Rounded Corners 11">
            <a:extLst>
              <a:ext uri="{FF2B5EF4-FFF2-40B4-BE49-F238E27FC236}">
                <a16:creationId xmlns:a16="http://schemas.microsoft.com/office/drawing/2014/main" id="{9D00F290-8A6D-44CF-76CF-8B804F13F8C8}"/>
              </a:ext>
            </a:extLst>
          </p:cNvPr>
          <p:cNvSpPr/>
          <p:nvPr/>
        </p:nvSpPr>
        <p:spPr>
          <a:xfrm>
            <a:off x="4445000" y="2514600"/>
            <a:ext cx="7137400" cy="508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Change tracking: what changed, who changed it, and when</a:t>
            </a:r>
          </a:p>
        </p:txBody>
      </p:sp>
      <p:sp>
        <p:nvSpPr>
          <p:cNvPr id="13" name="Rectangle: Rounded Corners 12">
            <a:extLst>
              <a:ext uri="{FF2B5EF4-FFF2-40B4-BE49-F238E27FC236}">
                <a16:creationId xmlns:a16="http://schemas.microsoft.com/office/drawing/2014/main" id="{C64C28C5-CFF2-1C7E-7169-6003B8D7B267}"/>
              </a:ext>
            </a:extLst>
          </p:cNvPr>
          <p:cNvSpPr/>
          <p:nvPr/>
        </p:nvSpPr>
        <p:spPr>
          <a:xfrm>
            <a:off x="4445000" y="3124200"/>
            <a:ext cx="7137400" cy="508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Cost anomaly detection and orphaned resources</a:t>
            </a:r>
          </a:p>
        </p:txBody>
      </p:sp>
      <p:sp>
        <p:nvSpPr>
          <p:cNvPr id="14" name="Rectangle: Rounded Corners 13">
            <a:extLst>
              <a:ext uri="{FF2B5EF4-FFF2-40B4-BE49-F238E27FC236}">
                <a16:creationId xmlns:a16="http://schemas.microsoft.com/office/drawing/2014/main" id="{FB2A7191-34B6-3D0F-880A-2E6899B80758}"/>
              </a:ext>
            </a:extLst>
          </p:cNvPr>
          <p:cNvSpPr/>
          <p:nvPr/>
        </p:nvSpPr>
        <p:spPr>
          <a:xfrm>
            <a:off x="4445000" y="3733800"/>
            <a:ext cx="7137400" cy="508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Access: stale and over-privileged role assignments</a:t>
            </a:r>
          </a:p>
        </p:txBody>
      </p:sp>
      <p:sp>
        <p:nvSpPr>
          <p:cNvPr id="15" name="Rectangle: Rounded Corners 14">
            <a:extLst>
              <a:ext uri="{FF2B5EF4-FFF2-40B4-BE49-F238E27FC236}">
                <a16:creationId xmlns:a16="http://schemas.microsoft.com/office/drawing/2014/main" id="{9CF3ACE0-2DE4-0545-3813-C130B00880DD}"/>
              </a:ext>
            </a:extLst>
          </p:cNvPr>
          <p:cNvSpPr/>
          <p:nvPr/>
        </p:nvSpPr>
        <p:spPr>
          <a:xfrm>
            <a:off x="4445000" y="4343400"/>
            <a:ext cx="7137400" cy="508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Network topology and Azure Policy change tracking</a:t>
            </a:r>
          </a:p>
        </p:txBody>
      </p:sp>
      <p:sp>
        <p:nvSpPr>
          <p:cNvPr id="16" name="TextBox 15">
            <a:extLst>
              <a:ext uri="{FF2B5EF4-FFF2-40B4-BE49-F238E27FC236}">
                <a16:creationId xmlns:a16="http://schemas.microsoft.com/office/drawing/2014/main" id="{9E3BBA5F-4492-E415-CF3B-99FD24527138}"/>
              </a:ext>
            </a:extLst>
          </p:cNvPr>
          <p:cNvSpPr txBox="1"/>
          <p:nvPr/>
        </p:nvSpPr>
        <p:spPr>
          <a:xfrm>
            <a:off x="4445000" y="5029200"/>
            <a:ext cx="7137400" cy="461665"/>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WHERE IT FITS THIS SESSION: the change, cost and access half of the evidence on the Azure side. Azure only today.</a:t>
            </a:r>
          </a:p>
        </p:txBody>
      </p:sp>
      <p:sp>
        <p:nvSpPr>
          <p:cNvPr id="17" name="Rectangle 16">
            <a:extLst>
              <a:ext uri="{FF2B5EF4-FFF2-40B4-BE49-F238E27FC236}">
                <a16:creationId xmlns:a16="http://schemas.microsoft.com/office/drawing/2014/main" id="{5E9A554F-81E2-BC57-7E80-1E8B72562587}"/>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579F3C6-D825-6DC9-384D-D34CF5318ED1}"/>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Observability is a practice, not one product. Go and ask them how they see change.</a:t>
            </a:r>
          </a:p>
        </p:txBody>
      </p:sp>
      <p:pic>
        <p:nvPicPr>
          <p:cNvPr id="20" name="SponsorBar" descr="CAS 2026 sponsors and #CloudAISummit2026">
            <a:extLst>
              <a:ext uri="{FF2B5EF4-FFF2-40B4-BE49-F238E27FC236}">
                <a16:creationId xmlns:a16="http://schemas.microsoft.com/office/drawing/2014/main" id="{F656526C-CEF4-F2BA-903D-8D43C4D7DFD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866420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p:cNvSpPr/>
          <p:nvPr/>
        </p:nvSpPr>
        <p:spPr>
          <a:xfrm>
            <a:off x="822960" y="2377440"/>
            <a:ext cx="1005840" cy="50800"/>
          </a:xfrm>
          <a:prstGeom prst="rect">
            <a:avLst/>
          </a:prstGeom>
          <a:solidFill>
            <a:srgbClr val="7DD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0545775" cy="965905"/>
          </a:xfrm>
          <a:prstGeom prst="rect">
            <a:avLst/>
          </a:prstGeom>
          <a:noFill/>
        </p:spPr>
        <p:txBody>
          <a:bodyPr wrap="square" anchor="t">
            <a:spAutoFit/>
          </a:bodyPr>
          <a:lstStyle/>
          <a:p>
            <a:pPr algn="l">
              <a:lnSpc>
                <a:spcPct val="115000"/>
              </a:lnSpc>
            </a:pPr>
            <a:r>
              <a:rPr sz="5400" b="1">
                <a:solidFill>
                  <a:srgbClr val="F1F5FB"/>
                </a:solidFill>
                <a:latin typeface="Segoe UI"/>
              </a:rPr>
              <a:t>Questions?</a:t>
            </a:r>
          </a:p>
        </p:txBody>
      </p:sp>
      <p:pic>
        <p:nvPicPr>
          <p:cNvPr id="6" name="SponsorBar" descr="CAS 2026 sponsors and #CloudAISummit2026">
            <a:extLst>
              <a:ext uri="{FF2B5EF4-FFF2-40B4-BE49-F238E27FC236}">
                <a16:creationId xmlns:a16="http://schemas.microsoft.com/office/drawing/2014/main" id="{6923DD20-4A37-12A9-CA88-389DF0F646A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custDataLst>
      <p:tags r:id="rId1"/>
    </p:custDataLst>
    <p:extLst>
      <p:ext uri="{BB962C8B-B14F-4D97-AF65-F5344CB8AC3E}">
        <p14:creationId xmlns:p14="http://schemas.microsoft.com/office/powerpoint/2010/main" val="36952116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556094-9F78-96DA-0C7F-BAC64033F277}"/>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20C28AB-44C9-3041-71AA-451C588BD01D}"/>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BEFCD75-B231-E68A-1E4E-0C42EAE394C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Thank you — feedback &amp; resources</a:t>
            </a:r>
          </a:p>
        </p:txBody>
      </p:sp>
      <p:sp>
        <p:nvSpPr>
          <p:cNvPr id="5" name="Rectangle 4">
            <a:extLst>
              <a:ext uri="{FF2B5EF4-FFF2-40B4-BE49-F238E27FC236}">
                <a16:creationId xmlns:a16="http://schemas.microsoft.com/office/drawing/2014/main" id="{FA91EE4E-6C92-478C-3986-1CA5F4EAF60C}"/>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0ADD1A0-6C6E-84BF-D9DB-E54D8163906B}"/>
              </a:ext>
            </a:extLst>
          </p:cNvPr>
          <p:cNvSpPr txBox="1"/>
          <p:nvPr/>
        </p:nvSpPr>
        <p:spPr>
          <a:xfrm>
            <a:off x="609600" y="1016000"/>
            <a:ext cx="10972800" cy="307777"/>
          </a:xfrm>
          <a:prstGeom prst="rect">
            <a:avLst/>
          </a:prstGeom>
          <a:noFill/>
        </p:spPr>
        <p:txBody>
          <a:bodyPr vert="horz" wrap="square" lIns="25400" rIns="25400" rtlCol="0">
            <a:spAutoFit/>
          </a:bodyPr>
          <a:lstStyle/>
          <a:p>
            <a:r>
              <a:rPr lang="en-US" sz="1400">
                <a:solidFill>
                  <a:srgbClr val="B8C6DE"/>
                </a:solidFill>
                <a:latin typeface="Calibri" panose="020F0502020204030204" pitchFamily="34" charset="0"/>
              </a:rPr>
              <a:t>Monitoring What Microsoft Doesn't Host · Whole-Service Observability</a:t>
            </a:r>
          </a:p>
        </p:txBody>
      </p:sp>
      <p:sp>
        <p:nvSpPr>
          <p:cNvPr id="7" name="Rectangle: Rounded Corners 6">
            <a:extLst>
              <a:ext uri="{FF2B5EF4-FFF2-40B4-BE49-F238E27FC236}">
                <a16:creationId xmlns:a16="http://schemas.microsoft.com/office/drawing/2014/main" id="{1696495D-F952-1552-F3B6-151C67043CD4}"/>
              </a:ext>
            </a:extLst>
          </p:cNvPr>
          <p:cNvSpPr/>
          <p:nvPr/>
        </p:nvSpPr>
        <p:spPr>
          <a:xfrm>
            <a:off x="609600" y="1701800"/>
            <a:ext cx="3810000" cy="44196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F1F5FB"/>
              </a:solidFill>
              <a:latin typeface="Calibri" panose="020F0502020204030204" pitchFamily="34" charset="0"/>
            </a:endParaRPr>
          </a:p>
        </p:txBody>
      </p:sp>
      <p:sp>
        <p:nvSpPr>
          <p:cNvPr id="8" name="TextBox 7">
            <a:extLst>
              <a:ext uri="{FF2B5EF4-FFF2-40B4-BE49-F238E27FC236}">
                <a16:creationId xmlns:a16="http://schemas.microsoft.com/office/drawing/2014/main" id="{EAAC3AA0-C826-5A7D-C625-F7B3F6321CBE}"/>
              </a:ext>
            </a:extLst>
          </p:cNvPr>
          <p:cNvSpPr txBox="1"/>
          <p:nvPr/>
        </p:nvSpPr>
        <p:spPr>
          <a:xfrm>
            <a:off x="762000" y="1803400"/>
            <a:ext cx="3505200" cy="381000"/>
          </a:xfrm>
          <a:prstGeom prst="rect">
            <a:avLst/>
          </a:prstGeom>
          <a:noFill/>
        </p:spPr>
        <p:txBody>
          <a:bodyPr vert="horz" wrap="square" lIns="25400" rIns="25400" rtlCol="0">
            <a:spAutoFit/>
          </a:bodyPr>
          <a:lstStyle/>
          <a:p>
            <a:pPr algn="ctr"/>
            <a:r>
              <a:rPr lang="en-US" b="1">
                <a:solidFill>
                  <a:srgbClr val="F1F5FB"/>
                </a:solidFill>
                <a:latin typeface="Calibri" panose="020F0502020204030204" pitchFamily="34" charset="0"/>
              </a:rPr>
              <a:t>Help shape the next session</a:t>
            </a:r>
          </a:p>
        </p:txBody>
      </p:sp>
      <p:pic>
        <p:nvPicPr>
          <p:cNvPr id="10" name="Picture 9">
            <a:extLst>
              <a:ext uri="{FF2B5EF4-FFF2-40B4-BE49-F238E27FC236}">
                <a16:creationId xmlns:a16="http://schemas.microsoft.com/office/drawing/2014/main" id="{9C3B1041-A651-59E5-80EA-2CF6687372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44600" y="2311400"/>
            <a:ext cx="2540000" cy="2540000"/>
          </a:xfrm>
          <a:prstGeom prst="rect">
            <a:avLst/>
          </a:prstGeom>
        </p:spPr>
      </p:pic>
      <p:sp>
        <p:nvSpPr>
          <p:cNvPr id="11" name="TextBox 10">
            <a:extLst>
              <a:ext uri="{FF2B5EF4-FFF2-40B4-BE49-F238E27FC236}">
                <a16:creationId xmlns:a16="http://schemas.microsoft.com/office/drawing/2014/main" id="{B41C127E-9825-40DD-7FC0-ED18AACC08B5}"/>
              </a:ext>
            </a:extLst>
          </p:cNvPr>
          <p:cNvSpPr txBox="1"/>
          <p:nvPr/>
        </p:nvSpPr>
        <p:spPr>
          <a:xfrm>
            <a:off x="762000" y="5003800"/>
            <a:ext cx="3505200" cy="523220"/>
          </a:xfrm>
          <a:prstGeom prst="rect">
            <a:avLst/>
          </a:prstGeom>
          <a:noFill/>
        </p:spPr>
        <p:txBody>
          <a:bodyPr vert="horz" wrap="square" lIns="25400" rIns="25400" rtlCol="0">
            <a:spAutoFit/>
          </a:bodyPr>
          <a:lstStyle/>
          <a:p>
            <a:pPr algn="ctr"/>
            <a:r>
              <a:rPr lang="en-US" sz="1400" b="1">
                <a:solidFill>
                  <a:srgbClr val="F1F5FB"/>
                </a:solidFill>
                <a:latin typeface="Calibri" panose="020F0502020204030204" pitchFamily="34" charset="0"/>
              </a:rPr>
              <a:t>Feedback: Monitoring What Microsoft Doesn't Host</a:t>
            </a:r>
          </a:p>
        </p:txBody>
      </p:sp>
      <p:sp>
        <p:nvSpPr>
          <p:cNvPr id="12" name="TextBox 11">
            <a:extLst>
              <a:ext uri="{FF2B5EF4-FFF2-40B4-BE49-F238E27FC236}">
                <a16:creationId xmlns:a16="http://schemas.microsoft.com/office/drawing/2014/main" id="{07E75D59-35DC-53B8-BA3C-BC09C6D1AA1B}"/>
              </a:ext>
            </a:extLst>
          </p:cNvPr>
          <p:cNvSpPr txBox="1"/>
          <p:nvPr/>
        </p:nvSpPr>
        <p:spPr>
          <a:xfrm>
            <a:off x="762000" y="5588000"/>
            <a:ext cx="3505200" cy="261610"/>
          </a:xfrm>
          <a:prstGeom prst="rect">
            <a:avLst/>
          </a:prstGeom>
          <a:noFill/>
        </p:spPr>
        <p:txBody>
          <a:bodyPr vert="horz" wrap="square" lIns="25400" rIns="25400" rtlCol="0">
            <a:spAutoFit/>
          </a:bodyPr>
          <a:lstStyle/>
          <a:p>
            <a:pPr algn="ctr"/>
            <a:r>
              <a:rPr lang="en-US" sz="1100">
                <a:solidFill>
                  <a:srgbClr val="F1F5FB"/>
                </a:solidFill>
                <a:latin typeface="Calibri" panose="020F0502020204030204" pitchFamily="34" charset="0"/>
              </a:rPr>
              <a:t>Scan while the slide is visible.</a:t>
            </a:r>
          </a:p>
        </p:txBody>
      </p:sp>
      <p:sp>
        <p:nvSpPr>
          <p:cNvPr id="13" name="Rectangle: Rounded Corners 12">
            <a:extLst>
              <a:ext uri="{FF2B5EF4-FFF2-40B4-BE49-F238E27FC236}">
                <a16:creationId xmlns:a16="http://schemas.microsoft.com/office/drawing/2014/main" id="{99EB465F-0A35-05AE-B194-9F8D20D6361B}"/>
              </a:ext>
            </a:extLst>
          </p:cNvPr>
          <p:cNvSpPr/>
          <p:nvPr/>
        </p:nvSpPr>
        <p:spPr>
          <a:xfrm>
            <a:off x="4826000" y="1701800"/>
            <a:ext cx="6756400" cy="44196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F1F5FB"/>
              </a:solidFill>
              <a:latin typeface="Calibri" panose="020F0502020204030204" pitchFamily="34" charset="0"/>
            </a:endParaRPr>
          </a:p>
        </p:txBody>
      </p:sp>
      <p:sp>
        <p:nvSpPr>
          <p:cNvPr id="14" name="TextBox 13">
            <a:extLst>
              <a:ext uri="{FF2B5EF4-FFF2-40B4-BE49-F238E27FC236}">
                <a16:creationId xmlns:a16="http://schemas.microsoft.com/office/drawing/2014/main" id="{0CA8F0A6-5B45-6852-5764-B46C04DC556C}"/>
              </a:ext>
            </a:extLst>
          </p:cNvPr>
          <p:cNvSpPr txBox="1"/>
          <p:nvPr/>
        </p:nvSpPr>
        <p:spPr>
          <a:xfrm>
            <a:off x="5130800" y="1854200"/>
            <a:ext cx="6096000" cy="415498"/>
          </a:xfrm>
          <a:prstGeom prst="rect">
            <a:avLst/>
          </a:prstGeom>
          <a:noFill/>
        </p:spPr>
        <p:txBody>
          <a:bodyPr vert="horz" wrap="square" lIns="25400" rIns="25400" rtlCol="0">
            <a:spAutoFit/>
          </a:bodyPr>
          <a:lstStyle/>
          <a:p>
            <a:r>
              <a:rPr lang="en-US" sz="2100" b="1">
                <a:solidFill>
                  <a:srgbClr val="F1F5FB"/>
                </a:solidFill>
                <a:latin typeface="Calibri" panose="020F0502020204030204" pitchFamily="34" charset="0"/>
              </a:rPr>
              <a:t>Take the resources with you</a:t>
            </a:r>
          </a:p>
        </p:txBody>
      </p:sp>
      <p:sp>
        <p:nvSpPr>
          <p:cNvPr id="15" name="TextBox 14">
            <a:extLst>
              <a:ext uri="{FF2B5EF4-FFF2-40B4-BE49-F238E27FC236}">
                <a16:creationId xmlns:a16="http://schemas.microsoft.com/office/drawing/2014/main" id="{74A8F1DC-23B3-6A7F-F9A2-3E2A39A1D97B}"/>
              </a:ext>
            </a:extLst>
          </p:cNvPr>
          <p:cNvSpPr txBox="1"/>
          <p:nvPr/>
        </p:nvSpPr>
        <p:spPr>
          <a:xfrm>
            <a:off x="5130800" y="2438400"/>
            <a:ext cx="6096000" cy="1569660"/>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The public repository includes:
•  session storyboard and decks
•  attendee notes and the companion handout
•  demo runbooks, queries and fixtures
•  the IIC Hybrid Orders design and health model</a:t>
            </a:r>
          </a:p>
        </p:txBody>
      </p:sp>
      <p:sp>
        <p:nvSpPr>
          <p:cNvPr id="16" name="TextBox 15">
            <a:hlinkClick r:id="rId4"/>
            <a:extLst>
              <a:ext uri="{FF2B5EF4-FFF2-40B4-BE49-F238E27FC236}">
                <a16:creationId xmlns:a16="http://schemas.microsoft.com/office/drawing/2014/main" id="{4FB110A7-2FD1-ECCE-F114-9E057840009F}"/>
              </a:ext>
            </a:extLst>
          </p:cNvPr>
          <p:cNvSpPr txBox="1"/>
          <p:nvPr/>
        </p:nvSpPr>
        <p:spPr>
          <a:xfrm>
            <a:off x="5130800" y="4826000"/>
            <a:ext cx="6096000" cy="381000"/>
          </a:xfrm>
          <a:prstGeom prst="rect">
            <a:avLst/>
          </a:prstGeom>
          <a:noFill/>
        </p:spPr>
        <p:txBody>
          <a:bodyPr vert="horz" wrap="square" lIns="25400" rIns="25400" rtlCol="0">
            <a:spAutoFit/>
          </a:bodyPr>
          <a:lstStyle/>
          <a:p>
            <a:r>
              <a:rPr lang="en-US" b="1">
                <a:solidFill>
                  <a:srgbClr val="7DD3FC"/>
                </a:solidFill>
                <a:latin typeface="Calibri" panose="020F0502020204030204" pitchFamily="34" charset="0"/>
              </a:rPr>
              <a:t>github.com/thisismydemo/cas26</a:t>
            </a:r>
          </a:p>
        </p:txBody>
      </p:sp>
      <p:sp>
        <p:nvSpPr>
          <p:cNvPr id="17" name="TextBox 16">
            <a:extLst>
              <a:ext uri="{FF2B5EF4-FFF2-40B4-BE49-F238E27FC236}">
                <a16:creationId xmlns:a16="http://schemas.microsoft.com/office/drawing/2014/main" id="{F194879B-A459-D512-6865-2E575D8579B0}"/>
              </a:ext>
            </a:extLst>
          </p:cNvPr>
          <p:cNvSpPr txBox="1"/>
          <p:nvPr/>
        </p:nvSpPr>
        <p:spPr>
          <a:xfrm>
            <a:off x="5130800" y="5334000"/>
            <a:ext cx="6096000" cy="461665"/>
          </a:xfrm>
          <a:prstGeom prst="rect">
            <a:avLst/>
          </a:prstGeom>
          <a:noFill/>
        </p:spPr>
        <p:txBody>
          <a:bodyPr vert="horz" wrap="square" lIns="25400" rIns="25400" rtlCol="0">
            <a:spAutoFit/>
          </a:bodyPr>
          <a:lstStyle/>
          <a:p>
            <a:r>
              <a:rPr lang="en-US" sz="1200">
                <a:solidFill>
                  <a:srgbClr val="B8C6DE"/>
                </a:solidFill>
                <a:latin typeface="Calibri" panose="020F0502020204030204" pitchFamily="34" charset="0"/>
              </a:rPr>
              <a:t>Private credentials and environment-specific configuration are not included. Questions, feedback and follow-up are welcome.</a:t>
            </a:r>
          </a:p>
        </p:txBody>
      </p:sp>
      <p:pic>
        <p:nvPicPr>
          <p:cNvPr id="19" name="SponsorBar" descr="CAS 2026 sponsors and #CloudAISummit2026">
            <a:extLst>
              <a:ext uri="{FF2B5EF4-FFF2-40B4-BE49-F238E27FC236}">
                <a16:creationId xmlns:a16="http://schemas.microsoft.com/office/drawing/2014/main" id="{E6498306-587B-C3EE-9EEF-C2D13FB9B43E}"/>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8848297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NTENT_ID" val="M10"/>
</p:tagLst>
</file>

<file path=ppt/tags/tag2.xml><?xml version="1.0" encoding="utf-8"?>
<p:tagLst xmlns:a="http://schemas.openxmlformats.org/drawingml/2006/main" xmlns:r="http://schemas.openxmlformats.org/officeDocument/2006/relationships" xmlns:p="http://schemas.openxmlformats.org/presentationml/2006/main">
  <p:tag name="CONTENT_ID" val="M10b"/>
</p:tagLst>
</file>

<file path=ppt/tags/tag3.xml><?xml version="1.0" encoding="utf-8"?>
<p:tagLst xmlns:a="http://schemas.openxmlformats.org/drawingml/2006/main" xmlns:r="http://schemas.openxmlformats.org/officeDocument/2006/relationships" xmlns:p="http://schemas.openxmlformats.org/presentationml/2006/main">
  <p:tag name="CONTENT_ID" val="M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24009</Words>
  <Application>Microsoft Office PowerPoint</Application>
  <PresentationFormat>Custom</PresentationFormat>
  <Paragraphs>841</Paragraphs>
  <Slides>44</Slides>
  <Notes>44</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Aptos Display</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Kristopher Turner</dc:creator>
  <cp:lastModifiedBy>Kristopher Turner</cp:lastModifiedBy>
  <cp:revision>1</cp:revision>
  <dcterms:created xsi:type="dcterms:W3CDTF">2026-10-01T14:16:41Z</dcterms:created>
  <dcterms:modified xsi:type="dcterms:W3CDTF">2026-10-01T14:16:41Z</dcterms:modified>
</cp:coreProperties>
</file>