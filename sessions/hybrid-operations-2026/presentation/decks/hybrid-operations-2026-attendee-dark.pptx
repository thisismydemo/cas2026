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4.xml" ContentType="application/vnd.openxmlformats-officedocument.presentationml.tags+xml"/>
  <Override PartName="/ppt/notesSlides/notesSlide60.xml" ContentType="application/vnd.openxmlformats-officedocument.presentationml.notesSlide+xml"/>
  <Override PartName="/ppt/tags/tag5.xml" ContentType="application/vnd.openxmlformats-officedocument.presentationml.tags+xml"/>
  <Override PartName="/ppt/notesSlides/notesSlide61.xml" ContentType="application/vnd.openxmlformats-officedocument.presentationml.notesSlide+xml"/>
  <Override PartName="/ppt/tags/tag6.xml" ContentType="application/vnd.openxmlformats-officedocument.presentationml.tags+xml"/>
  <Override PartName="/ppt/notesSlides/notesSlide62.xml" ContentType="application/vnd.openxmlformats-officedocument.presentationml.notesSlide+xml"/>
  <Override PartName="/ppt/tags/tag7.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147483556" r:id="rId2"/>
    <p:sldId id="257" r:id="rId3"/>
    <p:sldId id="2147483522" r:id="rId4"/>
    <p:sldId id="2147483557" r:id="rId5"/>
    <p:sldId id="259" r:id="rId6"/>
    <p:sldId id="2147483523" r:id="rId7"/>
    <p:sldId id="2147483558" r:id="rId8"/>
    <p:sldId id="2147483525" r:id="rId9"/>
    <p:sldId id="2147483559" r:id="rId10"/>
    <p:sldId id="2147483560" r:id="rId11"/>
    <p:sldId id="2147483561" r:id="rId12"/>
    <p:sldId id="2147483562" r:id="rId13"/>
    <p:sldId id="2147483563" r:id="rId14"/>
    <p:sldId id="2147483564" r:id="rId15"/>
    <p:sldId id="2147483530" r:id="rId16"/>
    <p:sldId id="2147483531" r:id="rId17"/>
    <p:sldId id="2147483526" r:id="rId18"/>
    <p:sldId id="2147483565" r:id="rId19"/>
    <p:sldId id="2147483566" r:id="rId20"/>
    <p:sldId id="2147483532" r:id="rId21"/>
    <p:sldId id="2147483567" r:id="rId22"/>
    <p:sldId id="2147483568" r:id="rId23"/>
    <p:sldId id="2147483569" r:id="rId24"/>
    <p:sldId id="2147483570" r:id="rId25"/>
    <p:sldId id="2147483571" r:id="rId26"/>
    <p:sldId id="2147483572" r:id="rId27"/>
    <p:sldId id="2147483573" r:id="rId28"/>
    <p:sldId id="2147483574" r:id="rId29"/>
    <p:sldId id="2147483575" r:id="rId30"/>
    <p:sldId id="2147483576" r:id="rId31"/>
    <p:sldId id="2147483577" r:id="rId32"/>
    <p:sldId id="2147483578" r:id="rId33"/>
    <p:sldId id="2147483579" r:id="rId34"/>
    <p:sldId id="2147483580" r:id="rId35"/>
    <p:sldId id="2147483581" r:id="rId36"/>
    <p:sldId id="2147483582" r:id="rId37"/>
    <p:sldId id="2147483583" r:id="rId38"/>
    <p:sldId id="2147483584" r:id="rId39"/>
    <p:sldId id="2147483585" r:id="rId40"/>
    <p:sldId id="2147483586" r:id="rId41"/>
    <p:sldId id="2147483587" r:id="rId42"/>
    <p:sldId id="2147483588" r:id="rId43"/>
    <p:sldId id="2147483589" r:id="rId44"/>
    <p:sldId id="2147483590" r:id="rId45"/>
    <p:sldId id="2147483591" r:id="rId46"/>
    <p:sldId id="2147483592" r:id="rId47"/>
    <p:sldId id="2147483593" r:id="rId48"/>
    <p:sldId id="2147483594" r:id="rId49"/>
    <p:sldId id="2147483545" r:id="rId50"/>
    <p:sldId id="2147483595" r:id="rId51"/>
    <p:sldId id="2147483596" r:id="rId52"/>
    <p:sldId id="2147483597" r:id="rId53"/>
    <p:sldId id="2147483598" r:id="rId54"/>
    <p:sldId id="2147483599" r:id="rId55"/>
    <p:sldId id="2147483600" r:id="rId56"/>
    <p:sldId id="2147483601" r:id="rId57"/>
    <p:sldId id="2147483602" r:id="rId58"/>
    <p:sldId id="2147483603" r:id="rId59"/>
    <p:sldId id="2147483604" r:id="rId60"/>
    <p:sldId id="272" r:id="rId61"/>
    <p:sldId id="274" r:id="rId62"/>
    <p:sldId id="275" r:id="rId63"/>
    <p:sldId id="273" r:id="rId64"/>
    <p:sldId id="2147483605"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98B31D-F927-4E22-9052-F6C50732AEDE}"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D88662-271E-4EAF-8921-76C7B6633C96}" type="slidenum">
              <a:rPr lang="en-US" smtClean="0"/>
              <a:t>‹#›</a:t>
            </a:fld>
            <a:endParaRPr lang="en-US"/>
          </a:p>
        </p:txBody>
      </p:sp>
    </p:spTree>
    <p:extLst>
      <p:ext uri="{BB962C8B-B14F-4D97-AF65-F5344CB8AC3E}">
        <p14:creationId xmlns:p14="http://schemas.microsoft.com/office/powerpoint/2010/main" val="3600138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Hybrid Operations in 2026 examines how to operate workloads across Azure, on-premises infrastructure, and other clouds with consistent ownership and evidence. Azure Arc supplies a management connection for supported resources outside Azure. Monitoring, security, governance, cost management, and automation then build on that connection.
The session follows the same resources through several operating questions. This makes it possible to distinguish connecting a resource from proving that it is monitored, protected, compliant, and delivering its intended service. The complementary observability session provides deeper implementation guidance for telemetry and service health.</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1</a:t>
            </a:fld>
            <a:endParaRPr lang="en-US"/>
          </a:p>
        </p:txBody>
      </p:sp>
    </p:spTree>
    <p:extLst>
      <p:ext uri="{BB962C8B-B14F-4D97-AF65-F5344CB8AC3E}">
        <p14:creationId xmlns:p14="http://schemas.microsoft.com/office/powerpoint/2010/main" val="2992564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acknowledges the event sponsors. Sponsor artwork is supplied by the event and does not establish which products are deployed in the demonstration environment. Technical claims and implementation references appear with the relevant session material.</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07710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Font typeface="Symbol" panose="05050102010706020507" pitchFamily="18" charset="2"/>
              <a:buNone/>
            </a:pPr>
            <a:r>
              <a:rPr lang="en-US" sz="1100">
                <a:effectLst/>
                <a:latin typeface="Calibri" panose="020F0502020204030204" pitchFamily="34" charset="0"/>
                <a:ea typeface="Calibri" panose="020F0502020204030204" pitchFamily="34" charset="0"/>
              </a:rPr>
              <a:t>Kristopher Turner presents the session from an IT operations perspective. The central concern is how teams establish ownership, access, useful evidence, and repeatable action across a hybrid estate. Contact: kris@hybridsolutions.cloud. Use the accompanying repository and attendee materials for technical references and the demonstration context.</a:t>
            </a:r>
          </a:p>
          <a:p>
            <a:pPr marL="0" marR="0" lvl="0" indent="0">
              <a:spcBef>
                <a:spcPts val="0"/>
              </a:spcBef>
              <a:spcAft>
                <a:spcPts val="0"/>
              </a:spcAft>
              <a:buFont typeface="Symbol" panose="05050102010706020507" pitchFamily="18" charset="2"/>
              <a:buNone/>
            </a:pPr>
            <a:endParaRPr lang="en-US" sz="1100">
              <a:effectLst/>
              <a:latin typeface="Calibri" panose="020F0502020204030204" pitchFamily="34" charset="0"/>
              <a:ea typeface="Calibri" panose="020F0502020204030204" pitchFamily="34" charset="0"/>
            </a:endParaRPr>
          </a:p>
          <a:p>
            <a:pPr marL="0" marR="0" lvl="0" indent="0">
              <a:spcBef>
                <a:spcPts val="0"/>
              </a:spcBef>
              <a:spcAft>
                <a:spcPts val="0"/>
              </a:spcAft>
              <a:buFont typeface="Symbol" panose="05050102010706020507" pitchFamily="18" charset="2"/>
              <a:buNone/>
            </a:pPr>
            <a:r>
              <a:rPr lang="en-US" sz="1100">
                <a:effectLst/>
                <a:latin typeface="Calibri" panose="020F0502020204030204" pitchFamily="34" charset="0"/>
                <a:ea typeface="Calibri" panose="020F0502020204030204" pitchFamily="34" charset="0"/>
              </a:rPr>
              <a:t>[Sources]</a:t>
            </a:r>
          </a:p>
          <a:p>
            <a:pPr marL="0" marR="0" lvl="0" indent="0">
              <a:spcBef>
                <a:spcPts val="0"/>
              </a:spcBef>
              <a:spcAft>
                <a:spcPts val="0"/>
              </a:spcAft>
              <a:buFont typeface="Symbol" panose="05050102010706020507" pitchFamily="18" charset="2"/>
              <a:buNone/>
            </a:pPr>
            <a:r>
              <a:rPr lang="en-US" sz="1100">
                <a:effectLst/>
                <a:latin typeface="Calibri" panose="020F0502020204030204" pitchFamily="34" charset="0"/>
                <a:ea typeface="Calibri" panose="020F0502020204030204" pitchFamily="34" charset="0"/>
              </a:rPr>
              <a:t>- Presenter contract and repository implementation.</a:t>
            </a:r>
            <a:endParaRPr lang="en-US" sz="11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442B38-9057-46BE-B0E2-374C33A04D4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7178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Hybrid is the normal operating condition, not a temporary phase. Most organizations run workloads in Azure, in their own datacenters, in at least one other public cloud, at edge or remote sites, and on older systems that are hard to change.
Each location is operated differently, so each operating question has several answers. Which team owns it? Different teams per location. Is it working, and where do you look? Azure Monitor, System Center or VMware consoles, CloudWatch, local tools, or old agents. Who is allowed to change it? Azure RBAC, Active Directory groups and hypervisor roles, AWS IAM, or local administrator accounts. What does it cost? Different invoices and budgets.
Each of these questions is answered by a section of the session (Govern, Observe, Secure and Cost); a fifth section asks whether the fix worked. The session builds one consistent way to answer each across the estate.</a:t>
            </a:r>
          </a:p>
          <a:p>
            <a:endParaRPr lang="en-US"/>
          </a:p>
          <a:p>
            <a:r>
              <a:rPr lang="en-US"/>
              <a:t>[Sources]</a:t>
            </a:r>
          </a:p>
          <a:p>
            <a:r>
              <a:rPr lang="en-US"/>
              <a:t>- https://learn.microsoft.com/en-us/azure/azure-arc/overview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4</a:t>
            </a:fld>
            <a:endParaRPr lang="en-US"/>
          </a:p>
        </p:txBody>
      </p:sp>
    </p:spTree>
    <p:extLst>
      <p:ext uri="{BB962C8B-B14F-4D97-AF65-F5344CB8AC3E}">
        <p14:creationId xmlns:p14="http://schemas.microsoft.com/office/powerpoint/2010/main" val="42548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 session connects five operating outcomes: monitoring, security, governance and identity, cost and impact, and practical operations patterns. Azure Arc provides the management foundation that lets these outcomes be applied to supported resources running outside Azure.
Demonstrations follow a deliberate progression. Server onboarding establishes a resource representation. Arc-enabled SCVMM-hosted workloads illustrate on-premises operations. AWS onboarding is followed later by management of the same EC2 and EKS resources. Monitoring, access, security, and Policy examples use this shared context rather than a different unexplained environment for each product.
Both sessions share one Azure landing-zone placement and security baseline. The SCVMM platform is already connected to Azure Arc, so its onboarding is explained as architecture rather than demonstrated live. Health Models is covered at overview level here, with implementation depth reserved for the observability session. Governing and managing efficiently includes one update process for Azure, on-premises and AWS servers, with Azure Update Manager and Extended Security Updates for end-of-support Windows Server.</a:t>
            </a:r>
          </a:p>
          <a:p>
            <a:endParaRPr lang="en-US"/>
          </a:p>
          <a:p>
            <a:r>
              <a:rPr lang="en-US"/>
              <a:t>[Sources]</a:t>
            </a:r>
          </a:p>
          <a:p>
            <a:r>
              <a:rPr lang="en-US"/>
              <a:t>- Presenter contract and repository implementation.</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54851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 Arc extends Azure management to supported infrastructure and applications outside Azure. The managed workload remains where it already runs. Its Azure representation gives Azure services a resource identity and a supported management target.
For a server, Arc can provide the foundation for Azure-based inventory, role assignments, extensions, and selected monitoring, security, and governance capabilities. Those capabilities require their own configuration. A visible Arc resource does not prove that logs are collected, Defender coverage is active, Policy requirements are satisfied, or the application is healthy.
Arc also supports resource types beyond individual servers, including integrations with virtualization platforms and Kubernetes clusters. These use different onboarding mechanisms. The shared idea is an Azure management representation; the technical path depends on the resource type. Application traffic continues to use the application's network routes rather than flowing through Arc.</a:t>
            </a:r>
          </a:p>
          <a:p>
            <a:endParaRPr lang="en-US"/>
          </a:p>
          <a:p>
            <a:r>
              <a:rPr lang="en-US"/>
              <a:t>[Sources]</a:t>
            </a:r>
          </a:p>
          <a:p>
            <a:r>
              <a:rPr lang="en-US"/>
              <a:t>- https://learn.microsoft.com/en-us/azure/azure-arc/overview</a:t>
            </a:r>
          </a:p>
          <a:p>
            <a:r>
              <a:rPr lang="en-US"/>
              <a:t>- https://learn.microsoft.com/en-us/azure/azure-arc/servers/overview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6</a:t>
            </a:fld>
            <a:endParaRPr lang="en-US"/>
          </a:p>
        </p:txBody>
      </p:sp>
    </p:spTree>
    <p:extLst>
      <p:ext uri="{BB962C8B-B14F-4D97-AF65-F5344CB8AC3E}">
        <p14:creationId xmlns:p14="http://schemas.microsoft.com/office/powerpoint/2010/main" val="2628866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Connecting a server to Azure Arc installs the Azure Connected Machine agent on the machine. The agent makes a single outbound HTTPS connection (TCP 443) to Azure; no inbound ports or VPN are required, and application traffic does not use this connection.
The server appears as an Azure resource (Microsoft.HybridCompute/machines) in the subscription and resource group chosen at onboarding. That placement determines which Azure Policy assignments and role assignments it inherits.
Verify onboarding on both sides: azcmagent show on the machine reports Connected, and the matching resource appears in Azure in the intended scope. Monitoring, Defender for Cloud, Azure Policy and Update Manager are configured separately afterwards.</a:t>
            </a:r>
          </a:p>
          <a:p>
            <a:endParaRPr lang="en-US"/>
          </a:p>
          <a:p>
            <a:r>
              <a:rPr lang="en-US"/>
              <a:t>[Sources]</a:t>
            </a:r>
          </a:p>
          <a:p>
            <a:r>
              <a:rPr lang="en-US"/>
              <a:t>- https://learn.microsoft.com/en-us/azure/azure-arc/servers/overview</a:t>
            </a:r>
          </a:p>
          <a:p>
            <a:r>
              <a:rPr lang="en-US"/>
              <a:t>- https://learn.microsoft.com/en-us/azure/azure-arc/servers/network-requirements</a:t>
            </a:r>
          </a:p>
        </p:txBody>
      </p:sp>
      <p:sp>
        <p:nvSpPr>
          <p:cNvPr id="4" name="Slide Number Placeholder 3"/>
          <p:cNvSpPr>
            <a:spLocks noGrp="1"/>
          </p:cNvSpPr>
          <p:nvPr>
            <p:ph type="sldNum" sz="quarter" idx="5"/>
          </p:nvPr>
        </p:nvSpPr>
        <p:spPr/>
        <p:txBody>
          <a:bodyPr/>
          <a:lstStyle/>
          <a:p>
            <a:fld id="{B1D88662-271E-4EAF-8921-76C7B6633C96}" type="slidenum">
              <a:rPr lang="en-US" smtClean="0"/>
              <a:t>7</a:t>
            </a:fld>
            <a:endParaRPr lang="en-US"/>
          </a:p>
        </p:txBody>
      </p:sp>
    </p:spTree>
    <p:extLst>
      <p:ext uri="{BB962C8B-B14F-4D97-AF65-F5344CB8AC3E}">
        <p14:creationId xmlns:p14="http://schemas.microsoft.com/office/powerpoint/2010/main" val="1526419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establishes the Arc-enabled server connection for an owned machine. The intended result is agreement between local agent status and the Azure resource in the correct subscription and resource group. The relevant evidence includes the machine identity, Azure resource ID, placement, tags, and connection status.
The onboarding identity needs permission for the chosen scope. Credentials are not part of the attendee material. Production adoption should use the documented onboarding method and an appropriately scoped identity rather than copying an unrestricted administrator workflow.
The demonstration proves connection, not complete operational readiness. Monitoring data collection, security coverage, and Policy behavior must be verified independently. A command that returns successfully is weaker evidence than the paired local and Azure checks.</a:t>
            </a:r>
          </a:p>
          <a:p>
            <a:endParaRPr lang="en-US"/>
          </a:p>
          <a:p>
            <a:r>
              <a:rPr lang="en-US"/>
              <a:t>[Sources]</a:t>
            </a:r>
          </a:p>
          <a:p>
            <a:r>
              <a:rPr lang="en-US"/>
              <a:t>- https://learn.microsoft.com/en-us/azure/azure-arc/servers/overview</a:t>
            </a:r>
          </a:p>
          <a:p>
            <a:r>
              <a:rPr lang="en-US"/>
              <a:t>- https://learn.microsoft.com/en-us/azure/azure-arc/servers/security-identity-authorization</a:t>
            </a:r>
          </a:p>
        </p:txBody>
      </p:sp>
      <p:sp>
        <p:nvSpPr>
          <p:cNvPr id="4" name="Slide Number Placeholder 3"/>
          <p:cNvSpPr>
            <a:spLocks noGrp="1"/>
          </p:cNvSpPr>
          <p:nvPr>
            <p:ph type="sldNum" sz="quarter" idx="5"/>
          </p:nvPr>
        </p:nvSpPr>
        <p:spPr/>
        <p:txBody>
          <a:bodyPr/>
          <a:lstStyle/>
          <a:p>
            <a:fld id="{B1D88662-271E-4EAF-8921-76C7B6633C96}" type="slidenum">
              <a:rPr lang="en-US" smtClean="0"/>
              <a:t>8</a:t>
            </a:fld>
            <a:endParaRPr lang="en-US"/>
          </a:p>
        </p:txBody>
      </p:sp>
    </p:spTree>
    <p:extLst>
      <p:ext uri="{BB962C8B-B14F-4D97-AF65-F5344CB8AC3E}">
        <p14:creationId xmlns:p14="http://schemas.microsoft.com/office/powerpoint/2010/main" val="1279574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Virtual machines are created and run by a virtualization manager: System Center Virtual Machine Manager (SCVMM) for Hyper-V, or VMware vCenter Server for vSphere. The manager creates, starts, stops and moves VMs and keeps an inventory of every VM, template and network on its hosts and clusters.
The Connected Machine agent connects one machine from inside its operating system. SCVMM or vCenter sees every VM from underneath, including VMs without an agent and VMs that are powered off. Azure Arc can connect to SCVMM (Arc-enabled SCVMM) or vCenter (Arc-enabled VMware vSphere) once, rather than to each VM.</a:t>
            </a:r>
          </a:p>
          <a:p>
            <a:endParaRPr lang="en-US"/>
          </a:p>
          <a:p>
            <a:r>
              <a:rPr lang="en-US"/>
              <a:t>[Sources]</a:t>
            </a:r>
          </a:p>
          <a:p>
            <a:r>
              <a:rPr lang="en-US"/>
              <a:t>- https://learn.microsoft.com/en-us/azure/azure-arc/system-center-virtual-machine-manager/overview</a:t>
            </a:r>
          </a:p>
          <a:p>
            <a:r>
              <a:rPr lang="en-US"/>
              <a:t>- https://learn.microsoft.com/en-us/azure/azure-arc/vmware-vsphere/overview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9</a:t>
            </a:fld>
            <a:endParaRPr lang="en-US"/>
          </a:p>
        </p:txBody>
      </p:sp>
    </p:spTree>
    <p:extLst>
      <p:ext uri="{BB962C8B-B14F-4D97-AF65-F5344CB8AC3E}">
        <p14:creationId xmlns:p14="http://schemas.microsoft.com/office/powerpoint/2010/main" val="2915527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Arc-enabled SCVMM and Arc-enabled VMware vSphere share one architecture. An on-premises Arc resource bridge connects the management server (SCVMM or vCenter Server) to Azure. Requests from Azure, such as create, start, stop, resize or enable guest management, reach the platform through a custom location and the bridge; the bridge discovers the platform's inventory, and administrators enable the resources Azure should manage. Enabling guest management installs the Connected Machine agent in a running VM. VMware Cloud Director tenant access is not equivalent to the vCenter access this integration needs.
Arc-enabled SCVMM is retiring: new onboarding stops in October 2026 and the service ends in September 2029. Management-only use moves to Arc-enabled servers; VM lifecycle use should be discussed with Microsoft. Arc-enabled VMware vSphere is not affected.</a:t>
            </a:r>
          </a:p>
          <a:p>
            <a:endParaRPr lang="en-US"/>
          </a:p>
          <a:p>
            <a:r>
              <a:rPr lang="en-US"/>
              <a:t>[Sources]</a:t>
            </a:r>
          </a:p>
          <a:p>
            <a:r>
              <a:rPr lang="en-US"/>
              <a:t>- https://learn.microsoft.com/en-us/azure/azure-arc/system-center-virtual-machine-manager/overview</a:t>
            </a:r>
          </a:p>
          <a:p>
            <a:r>
              <a:rPr lang="en-US"/>
              <a:t>- https://learn.microsoft.com/en-us/azure/azure-arc/system-center-virtual-machine-manager/quickstart-connect-system-center-virtual-machine-manager-to-arc</a:t>
            </a:r>
          </a:p>
          <a:p>
            <a:r>
              <a:rPr lang="en-US"/>
              <a:t>- https://learn.microsoft.com/en-us/azure/azure-arc/resource-bridge/overview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10</a:t>
            </a:fld>
            <a:endParaRPr lang="en-US"/>
          </a:p>
        </p:txBody>
      </p:sp>
    </p:spTree>
    <p:extLst>
      <p:ext uri="{BB962C8B-B14F-4D97-AF65-F5344CB8AC3E}">
        <p14:creationId xmlns:p14="http://schemas.microsoft.com/office/powerpoint/2010/main" val="1257140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virtual machine can be brought into Azure Arc in two ways. Inside the VM, the Connected Machine agent makes it an Arc-enabled server, which provides guest services such as monitoring, security and update management. Through the virtualization manager, Arc-enabled SCVMM or Arc-enabled VMware vSphere provides VM lifecycle operations (start, stop, create) through the Arc resource bridge and sees every VM in the managed environment.
Both can be used together; each VM remains a single Azure resource. Installing the agent on the SCVMM server connects only that server, not the VMs it manages.</a:t>
            </a:r>
          </a:p>
          <a:p>
            <a:endParaRPr lang="en-US"/>
          </a:p>
          <a:p>
            <a:r>
              <a:rPr lang="en-US"/>
              <a:t>[Sources]</a:t>
            </a:r>
          </a:p>
          <a:p>
            <a:r>
              <a:rPr lang="en-US"/>
              <a:t>- https://learn.microsoft.com/en-us/azure/azure-arc/system-center-virtual-machine-manager/overview</a:t>
            </a:r>
          </a:p>
          <a:p>
            <a:r>
              <a:rPr lang="en-US"/>
              <a:t>- https://learn.microsoft.com/en-us/azure/azure-arc/vmware-vsphere/overview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11</a:t>
            </a:fld>
            <a:endParaRPr lang="en-US"/>
          </a:p>
        </p:txBody>
      </p:sp>
    </p:spTree>
    <p:extLst>
      <p:ext uri="{BB962C8B-B14F-4D97-AF65-F5344CB8AC3E}">
        <p14:creationId xmlns:p14="http://schemas.microsoft.com/office/powerpoint/2010/main" val="3971146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multicloud connector enabled by Azure Arc is an Azure resource that connects an AWS account or a GCP project to Azure. After read access is granted in the source cloud, it scans the account on a schedule; the connector itself is free, while services used with it are billed normally.
It offers three solutions. Inventory lists the source cloud's resources in Azure, where they can be queried with Azure Resource Graph and tagged. Arc onboarding for servers discovers EC2 instances or GCP VMs and installs the Connected Machine agent. Arc onboarding for Amazon EKS (preview) connects EKS clusters as Arc-enabled Kubernetes clusters. AWS support is generally available; GCP support is in preview.</a:t>
            </a:r>
          </a:p>
          <a:p>
            <a:endParaRPr lang="en-US"/>
          </a:p>
          <a:p>
            <a:r>
              <a:rPr lang="en-US"/>
              <a:t>[Sources]</a:t>
            </a:r>
          </a:p>
          <a:p>
            <a:r>
              <a:rPr lang="en-US"/>
              <a:t>- https://learn.microsoft.com/en-us/azure/azure-arc/multicloud-connector/overview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12</a:t>
            </a:fld>
            <a:endParaRPr lang="en-US"/>
          </a:p>
        </p:txBody>
      </p:sp>
    </p:spTree>
    <p:extLst>
      <p:ext uri="{BB962C8B-B14F-4D97-AF65-F5344CB8AC3E}">
        <p14:creationId xmlns:p14="http://schemas.microsoft.com/office/powerpoint/2010/main" val="2221886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multicloud connector works in four steps. First, grant Azure access to the other cloud: in AWS, a CloudFormation template creates an IAM role the connector uses; for GCP (preview), a Terraform script grants access. Second, the connector is an Azure resource that uses that access. Third, it brings resources in: the Inventory solution adds a read-only list of resources, server onboarding installs the Azure Connected Machine agent on EC2 instances through AWS Systems Manager (and on GCP VMs through OS Config, in preview), and EKS onboarding (preview) installs the Azure Arc Kubernetes agents. Fourth, each management service, such as Azure Policy, Azure Monitor, Update Manager or GitOps with Flux, is configured separately. A resource listed in Azure is not yet managed.</a:t>
            </a:r>
          </a:p>
          <a:p>
            <a:endParaRPr lang="en-US"/>
          </a:p>
          <a:p>
            <a:r>
              <a:rPr lang="en-US"/>
              <a:t>[Sources]</a:t>
            </a:r>
          </a:p>
          <a:p>
            <a:r>
              <a:rPr lang="en-US"/>
              <a:t>- https://learn.microsoft.com/en-us/azure/azure-arc/multicloud-connector/overview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13</a:t>
            </a:fld>
            <a:endParaRPr lang="en-US"/>
          </a:p>
        </p:txBody>
      </p:sp>
    </p:spTree>
    <p:extLst>
      <p:ext uri="{BB962C8B-B14F-4D97-AF65-F5344CB8AC3E}">
        <p14:creationId xmlns:p14="http://schemas.microsoft.com/office/powerpoint/2010/main" val="1672204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the multicloud connector onboards AWS resources, an EC2 instance and an EKS cluster become different Azure resources. For EC2, the connector installs the Azure Connected Machine agent through AWS Systems Manager, producing an Arc-enabled server (Microsoft.HybridCompute/machines) that can use services such as Azure Policy, Azure Monitor, Defender for Cloud and Update Manager. For EKS (preview), the connector installs the Azure Arc Kubernetes agents, producing an Arc-enabled Kubernetes cluster (Microsoft.Kubernetes/connectedClusters) that can use GitOps with Flux, Azure Policy and supported Kubernetes extensions. Each service is added separately; Arc does not convert EKS into AKS or take over AWS lifecycle management.</a:t>
            </a:r>
          </a:p>
          <a:p>
            <a:endParaRPr lang="en-US"/>
          </a:p>
          <a:p>
            <a:r>
              <a:rPr lang="en-US"/>
              <a:t>[Sources]</a:t>
            </a:r>
          </a:p>
          <a:p>
            <a:r>
              <a:rPr lang="en-US"/>
              <a:t>- https://learn.microsoft.com/en-us/azure/azure-arc/multicloud-connector/overview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14</a:t>
            </a:fld>
            <a:endParaRPr lang="en-US"/>
          </a:p>
        </p:txBody>
      </p:sp>
    </p:spTree>
    <p:extLst>
      <p:ext uri="{BB962C8B-B14F-4D97-AF65-F5344CB8AC3E}">
        <p14:creationId xmlns:p14="http://schemas.microsoft.com/office/powerpoint/2010/main" val="148863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AWS connector demonstration follows resources through authorization, discovery, and Arc onboarding. Each stage has its own evidence. A discovered item establishes inventory visibility; an operational Arc server or cluster connection establishes a different result.
For EC2, retain the source instance ID and matching Arc-enabled server resource ID. For EKS, retain the source cluster ARN and matching Arc-connected cluster ID. These mappings are reused in the later management demonstrations. They keep unrelated resources from being mistaken for the ones onboarded through the connector.
The shared landing-zone design must cover actual Azure placement, including connector-created resource groups, with the intended Policy, access, monitoring, and security configuration. AWS continues hosting the workloads. Onboarding is asynchronous, so each resource's state is read from current evidence rather than assumed from the connector's success.</a:t>
            </a:r>
          </a:p>
          <a:p>
            <a:endParaRPr lang="en-US"/>
          </a:p>
          <a:p>
            <a:r>
              <a:rPr lang="en-US"/>
              <a:t>[Sources]</a:t>
            </a:r>
          </a:p>
          <a:p>
            <a:r>
              <a:rPr lang="en-US"/>
              <a:t>- https://learn.microsoft.com/en-us/azure/azure-arc/multicloud-connector/add-public-cloud</a:t>
            </a:r>
          </a:p>
          <a:p>
            <a:r>
              <a:rPr lang="en-US"/>
              <a:t>- https://learn.microsoft.com/en-us/azure/azure-arc/multicloud-connector/onboard-multicloud-vms-arc</a:t>
            </a:r>
          </a:p>
          <a:p>
            <a:r>
              <a:rPr lang="en-US"/>
              <a:t>- https://learn.microsoft.com/en-us/azure/azure-arc/multicloud-connector/onboard-elastic-kubernetes-service-clusters-arc</a:t>
            </a:r>
          </a:p>
        </p:txBody>
      </p:sp>
      <p:sp>
        <p:nvSpPr>
          <p:cNvPr id="4" name="Slide Number Placeholder 3"/>
          <p:cNvSpPr>
            <a:spLocks noGrp="1"/>
          </p:cNvSpPr>
          <p:nvPr>
            <p:ph type="sldNum" sz="quarter" idx="5"/>
          </p:nvPr>
        </p:nvSpPr>
        <p:spPr/>
        <p:txBody>
          <a:bodyPr/>
          <a:lstStyle/>
          <a:p>
            <a:fld id="{B1D88662-271E-4EAF-8921-76C7B6633C96}" type="slidenum">
              <a:rPr lang="en-US" smtClean="0"/>
              <a:t>15</a:t>
            </a:fld>
            <a:endParaRPr lang="en-US"/>
          </a:p>
        </p:txBody>
      </p:sp>
    </p:spTree>
    <p:extLst>
      <p:ext uri="{BB962C8B-B14F-4D97-AF65-F5344CB8AC3E}">
        <p14:creationId xmlns:p14="http://schemas.microsoft.com/office/powerpoint/2010/main" val="1491577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Edge sites keep running locally, but Azure Arc is not a disconnected management product: an Arc-enabled server needs outbound connectivity to Azure, directly, through a proxy, or through an Arc gateway, which reduces the endpoints to allow. If the connection is lost, the workload continues, but the status and evidence shown in Azure become stale until it reconnects.
For older servers, check the operating system version, agent requirements and outbound access before onboarding, and start with one machine. End-of-support Windows Server can receive Extended Security Updates enabled by Azure Arc.</a:t>
            </a:r>
          </a:p>
          <a:p>
            <a:endParaRPr lang="en-US"/>
          </a:p>
          <a:p>
            <a:r>
              <a:rPr lang="en-US"/>
              <a:t>[Sources]</a:t>
            </a:r>
          </a:p>
          <a:p>
            <a:r>
              <a:rPr lang="en-US"/>
              <a:t>- https://learn.microsoft.com/en-us/azure/azure-arc/servers/network-requirements</a:t>
            </a:r>
          </a:p>
        </p:txBody>
      </p:sp>
      <p:sp>
        <p:nvSpPr>
          <p:cNvPr id="4" name="Slide Number Placeholder 3"/>
          <p:cNvSpPr>
            <a:spLocks noGrp="1"/>
          </p:cNvSpPr>
          <p:nvPr>
            <p:ph type="sldNum" sz="quarter" idx="5"/>
          </p:nvPr>
        </p:nvSpPr>
        <p:spPr/>
        <p:txBody>
          <a:bodyPr/>
          <a:lstStyle/>
          <a:p>
            <a:fld id="{B1D88662-271E-4EAF-8921-76C7B6633C96}" type="slidenum">
              <a:rPr lang="en-US" smtClean="0"/>
              <a:t>16</a:t>
            </a:fld>
            <a:endParaRPr lang="en-US"/>
          </a:p>
        </p:txBody>
      </p:sp>
    </p:spTree>
    <p:extLst>
      <p:ext uri="{BB962C8B-B14F-4D97-AF65-F5344CB8AC3E}">
        <p14:creationId xmlns:p14="http://schemas.microsoft.com/office/powerpoint/2010/main" val="4041428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 Arc uses the same pattern for every source: an agent is installed and an Azure resource represents the machine or cluster. What differs is who installs the agent. On-premises and edge servers are onboarded by installing the Connected Machine agent; the multicloud connector installs it on AWS EC2 through AWS Systems Manager and on GCP VMs through GCP OS Config (preview), and installs the Arc Kubernetes agents on Amazon EKS clusters (preview). Servers become Microsoft.HybridCompute/machines resources; EKS clusters become Microsoft.Kubernetes/connectedClusters resources.
The connector's Inventory solution alone creates read-only representations; only onboarding creates an Arc resource that can be managed.</a:t>
            </a:r>
          </a:p>
          <a:p>
            <a:endParaRPr lang="en-US"/>
          </a:p>
          <a:p>
            <a:r>
              <a:rPr lang="en-US"/>
              <a:t>[Sources]</a:t>
            </a:r>
          </a:p>
          <a:p>
            <a:r>
              <a:rPr lang="en-US"/>
              <a:t>- https://learn.microsoft.com/en-us/azure/azure-arc/servers/overview</a:t>
            </a:r>
          </a:p>
          <a:p>
            <a:r>
              <a:rPr lang="en-US"/>
              <a:t>- https://learn.microsoft.com/en-us/azure/azure-arc/multicloud-connector/overview</a:t>
            </a:r>
          </a:p>
          <a:p>
            <a:r>
              <a:rPr lang="en-US"/>
              <a:t>- https://learn.microsoft.com/en-us/azure/azure-arc/multicloud-connector/onboard-elastic-kubernetes-service-clusters-arc</a:t>
            </a:r>
          </a:p>
        </p:txBody>
      </p:sp>
      <p:sp>
        <p:nvSpPr>
          <p:cNvPr id="4" name="Slide Number Placeholder 3"/>
          <p:cNvSpPr>
            <a:spLocks noGrp="1"/>
          </p:cNvSpPr>
          <p:nvPr>
            <p:ph type="sldNum" sz="quarter" idx="5"/>
          </p:nvPr>
        </p:nvSpPr>
        <p:spPr/>
        <p:txBody>
          <a:bodyPr/>
          <a:lstStyle/>
          <a:p>
            <a:fld id="{B1D88662-271E-4EAF-8921-76C7B6633C96}" type="slidenum">
              <a:rPr lang="en-US" smtClean="0"/>
              <a:t>17</a:t>
            </a:fld>
            <a:endParaRPr lang="en-US"/>
          </a:p>
        </p:txBody>
      </p:sp>
    </p:spTree>
    <p:extLst>
      <p:ext uri="{BB962C8B-B14F-4D97-AF65-F5344CB8AC3E}">
        <p14:creationId xmlns:p14="http://schemas.microsoft.com/office/powerpoint/2010/main" val="1162397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part of the session made the estate manageable: on-premises servers, SCVMM-hosted VMs, AWS servers and an EKS cluster are connected to Azure and can be seen and managed in one place. The rest of the session is about operating the service that runs on that estate: keeping it working, protected, governed, affordable and improving, in five sections: Observe, Secure, Govern, Cost and Adopt. Managing the estate is not the same as running the service.</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18</a:t>
            </a:fld>
            <a:endParaRPr lang="en-US"/>
          </a:p>
        </p:txBody>
      </p:sp>
    </p:spTree>
    <p:extLst>
      <p:ext uri="{BB962C8B-B14F-4D97-AF65-F5344CB8AC3E}">
        <p14:creationId xmlns:p14="http://schemas.microsoft.com/office/powerpoint/2010/main" val="1833350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Infinite Improbability Corp (IIC) is a fictional company used throughout the session; its IIC Hybrid Orders service is real and runs in the lab. A customer places an order in a web portal; the order is validated against a private enterprise system on-premises, fulfilled and priced in AWS, and completes only when both results arrive.
The pieces run in all three estates. Azure: Azure Front Door as the single public entry, the portal on Azure Container Apps, a coordinator on Azure Functions with Azure Service Bus queues, and Application Insights with Log Analytics. On-premises: the validation worker cas26-lnx01 on the SCVMM-managed hvcl-ral-t1 Hyper-V cluster. AWS: a second copy of the portal on Amazon EKS and the fulfillment and pricing worker on Amazon EC2. The remaining sections ask their operating questions about this service.</a:t>
            </a:r>
          </a:p>
          <a:p>
            <a:endParaRPr lang="en-US"/>
          </a:p>
          <a:p>
            <a:r>
              <a:rPr lang="en-US"/>
              <a:t>[Sources]</a:t>
            </a:r>
          </a:p>
          <a:p>
            <a:r>
              <a:rPr lang="en-US"/>
              <a:t>- lab/design/HYBRID-APPLICATION-HEALTH-DESIGN.md</a:t>
            </a:r>
          </a:p>
        </p:txBody>
      </p:sp>
      <p:sp>
        <p:nvSpPr>
          <p:cNvPr id="4" name="Slide Number Placeholder 3"/>
          <p:cNvSpPr>
            <a:spLocks noGrp="1"/>
          </p:cNvSpPr>
          <p:nvPr>
            <p:ph type="sldNum" sz="quarter" idx="5"/>
          </p:nvPr>
        </p:nvSpPr>
        <p:spPr/>
        <p:txBody>
          <a:bodyPr/>
          <a:lstStyle/>
          <a:p>
            <a:fld id="{B1D88662-271E-4EAF-8921-76C7B6633C96}" type="slidenum">
              <a:rPr lang="en-US" smtClean="0"/>
              <a:t>19</a:t>
            </a:fld>
            <a:endParaRPr lang="en-US"/>
          </a:p>
        </p:txBody>
      </p:sp>
    </p:spTree>
    <p:extLst>
      <p:ext uri="{BB962C8B-B14F-4D97-AF65-F5344CB8AC3E}">
        <p14:creationId xmlns:p14="http://schemas.microsoft.com/office/powerpoint/2010/main" val="1146099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Arc-enabled resource is a management target; a working service is an operational outcome. The IIC Hybrid Orders application makes that distinction concrete. A customer places an order through a portal served from Azure or AWS; an Azure coordinator gives it a correlation ID; a worker in the on-premises private cloud validates it and a worker in AWS fulfills it. The order succeeds only when both answer inside the time target.
The correlation ID and timing matter because an old success or a connected machine cannot prove that the current operation works. Infinite Improbability Corp is fictional; the architecture uses real Azure, AWS and on-premises services. The companion Whole-Service Observability session models the same order with an Azure Monitor Health Model.
The remaining sections use this service context to connect monitoring, access, security, governance, cost, and action. The SCVMM-hosted workloads and the AWS resource representations remain part of the shared estate. Their individual health and configuration contribute evidence, while the user operation supplies the outcome against which that evidence is interpreted.</a:t>
            </a:r>
          </a:p>
          <a:p>
            <a:endParaRPr lang="en-US"/>
          </a:p>
          <a:p>
            <a:r>
              <a:rPr lang="en-US"/>
              <a:t>[Sources]</a:t>
            </a:r>
          </a:p>
          <a:p>
            <a:r>
              <a:rPr lang="en-US"/>
              <a:t>- https://learn.microsoft.com/en-us/azure/azure-arc/servers/overview</a:t>
            </a:r>
          </a:p>
          <a:p>
            <a:r>
              <a:rPr lang="en-US"/>
              <a:t>- https://learn.microsoft.com/en-us/azure/azure-monitor/health-models/overview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20</a:t>
            </a:fld>
            <a:endParaRPr lang="en-US"/>
          </a:p>
        </p:txBody>
      </p:sp>
    </p:spTree>
    <p:extLst>
      <p:ext uri="{BB962C8B-B14F-4D97-AF65-F5344CB8AC3E}">
        <p14:creationId xmlns:p14="http://schemas.microsoft.com/office/powerpoint/2010/main" val="25239187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one of five: Observe. The question: is it working, and where do you look? This section covers Azure Monitor (where the data comes from, where it lands and how it is used), why healthy-looking servers do not prove a working service, how machine health rolls up into service health, where to ask each kind of question, and a demonstration that reads both.</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21</a:t>
            </a:fld>
            <a:endParaRPr lang="en-US"/>
          </a:p>
        </p:txBody>
      </p:sp>
    </p:spTree>
    <p:extLst>
      <p:ext uri="{BB962C8B-B14F-4D97-AF65-F5344CB8AC3E}">
        <p14:creationId xmlns:p14="http://schemas.microsoft.com/office/powerpoint/2010/main" val="7703097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 Monitor is the one place to look across the estate. Data comes from three kinds of source: servers, where the Azure Monitor agent sends logs and performance counters; Azure services, which emit their own metrics automatically; and the application, which reports its operations through Application Insights. The data is stored as logs (Log Analytics) and metrics, and used for dashboards and alerts, health models, and security analytics in Microsoft Sentinel. Each use requires its own configuration; collecting data does not enable it automatically.</a:t>
            </a:r>
          </a:p>
          <a:p>
            <a:endParaRPr lang="en-US"/>
          </a:p>
          <a:p>
            <a:r>
              <a:rPr lang="en-US"/>
              <a:t>[Sources]</a:t>
            </a:r>
          </a:p>
          <a:p>
            <a:r>
              <a:rPr lang="en-US"/>
              <a:t>- https://learn.microsoft.com/en-us/azure/azure-monitor/overview</a:t>
            </a:r>
          </a:p>
          <a:p>
            <a:r>
              <a:rPr lang="en-US"/>
              <a:t>- https://learn.microsoft.com/en-us/azure/azure-monitor/logs/log-analytics-workspace-overview</a:t>
            </a:r>
          </a:p>
          <a:p>
            <a:r>
              <a:rPr lang="en-US"/>
              <a:t>- https://learn.microsoft.com/en-us/azure/azure-monitor/metrics/azure-monitor-workspace-overview</a:t>
            </a:r>
          </a:p>
          <a:p>
            <a:r>
              <a:rPr lang="en-US"/>
              <a:t>- https://learn.microsoft.com/en-gb/azure/azure-monitor/metrics/data-platform-metrics</a:t>
            </a:r>
          </a:p>
          <a:p>
            <a:r>
              <a:rPr lang="en-US"/>
              <a:t>- https://learn.microsoft.com/en-us/azure/azure-monitor/vm/metrics-opentelemetry-guest</a:t>
            </a:r>
          </a:p>
        </p:txBody>
      </p:sp>
      <p:sp>
        <p:nvSpPr>
          <p:cNvPr id="4" name="Slide Number Placeholder 3"/>
          <p:cNvSpPr>
            <a:spLocks noGrp="1"/>
          </p:cNvSpPr>
          <p:nvPr>
            <p:ph type="sldNum" sz="quarter" idx="5"/>
          </p:nvPr>
        </p:nvSpPr>
        <p:spPr/>
        <p:txBody>
          <a:bodyPr/>
          <a:lstStyle/>
          <a:p>
            <a:fld id="{B1D88662-271E-4EAF-8921-76C7B6633C96}" type="slidenum">
              <a:rPr lang="en-US" smtClean="0"/>
              <a:t>22</a:t>
            </a:fld>
            <a:endParaRPr lang="en-US"/>
          </a:p>
        </p:txBody>
      </p:sp>
    </p:spTree>
    <p:extLst>
      <p:ext uri="{BB962C8B-B14F-4D97-AF65-F5344CB8AC3E}">
        <p14:creationId xmlns:p14="http://schemas.microsoft.com/office/powerpoint/2010/main" val="2253571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Azure Monitor agent collects nothing until a data collection rule (DCR) tells it what to collect and where to send it. A DCR association links the rule to a specific machine, which configures the agent on that machine. Logs and performance counters go to a Log Analytics workspace; OpenTelemetry metrics through the agent (preview) go to an Azure Monitor workspace. In the portal these appear as Data collection rules. When expected data is missing, check the DCR and its association first.</a:t>
            </a:r>
          </a:p>
          <a:p>
            <a:endParaRPr lang="en-US"/>
          </a:p>
          <a:p>
            <a:r>
              <a:rPr lang="en-US"/>
              <a:t>[Sources]</a:t>
            </a:r>
          </a:p>
          <a:p>
            <a:r>
              <a:rPr lang="en-US"/>
              <a:t>- https://learn.microsoft.com/en-us/azure/azure-monitor/agents/azure-monitor-agent-overview</a:t>
            </a:r>
          </a:p>
          <a:p>
            <a:r>
              <a:rPr lang="en-US"/>
              <a:t>- https://learn.microsoft.com/en-us/azure/azure-monitor/data-collection/data-collection-rule-overview</a:t>
            </a:r>
          </a:p>
          <a:p>
            <a:r>
              <a:rPr lang="en-US"/>
              <a:t>- https://learn.microsoft.com/en-gb/azure/azure-monitor/metrics/data-platform-metrics</a:t>
            </a:r>
          </a:p>
          <a:p>
            <a:r>
              <a:rPr lang="en-US"/>
              <a:t>- https://learn.microsoft.com/en-us/azure/azure-monitor/vm/metrics-opentelemetry-guest</a:t>
            </a:r>
          </a:p>
        </p:txBody>
      </p:sp>
      <p:sp>
        <p:nvSpPr>
          <p:cNvPr id="4" name="Slide Number Placeholder 3"/>
          <p:cNvSpPr>
            <a:spLocks noGrp="1"/>
          </p:cNvSpPr>
          <p:nvPr>
            <p:ph type="sldNum" sz="quarter" idx="5"/>
          </p:nvPr>
        </p:nvSpPr>
        <p:spPr/>
        <p:txBody>
          <a:bodyPr/>
          <a:lstStyle/>
          <a:p>
            <a:fld id="{B1D88662-271E-4EAF-8921-76C7B6633C96}" type="slidenum">
              <a:rPr lang="en-US" smtClean="0"/>
              <a:t>23</a:t>
            </a:fld>
            <a:endParaRPr lang="en-US"/>
          </a:p>
        </p:txBody>
      </p:sp>
    </p:spTree>
    <p:extLst>
      <p:ext uri="{BB962C8B-B14F-4D97-AF65-F5344CB8AC3E}">
        <p14:creationId xmlns:p14="http://schemas.microsoft.com/office/powerpoint/2010/main" val="1999750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connected Arc resource, fresh monitoring data and a working service are three separate checks. A server can report Connected while the service it hosts fails; monitoring data can stop arriving while the service keeps working. Only a check of the service itself, such as a fresh transaction completing end to end, proves that the service works. Healthy-looking servers are supporting evidence, not proof of the service outcome.</a:t>
            </a:r>
          </a:p>
          <a:p>
            <a:endParaRPr lang="en-US"/>
          </a:p>
          <a:p>
            <a:r>
              <a:rPr lang="en-US"/>
              <a:t>[Sources]</a:t>
            </a:r>
          </a:p>
          <a:p>
            <a:r>
              <a:rPr lang="en-US"/>
              <a:t>- https://learn.microsoft.com/en-us/azure/azure-arc/servers/overview</a:t>
            </a:r>
          </a:p>
          <a:p>
            <a:r>
              <a:rPr lang="en-US"/>
              <a:t>- https://learn.microsoft.com/en-us/azure/azure-monitor/agents/azure-monitor-agent-overview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24</a:t>
            </a:fld>
            <a:endParaRPr lang="en-US"/>
          </a:p>
        </p:txBody>
      </p:sp>
    </p:spTree>
    <p:extLst>
      <p:ext uri="{BB962C8B-B14F-4D97-AF65-F5344CB8AC3E}">
        <p14:creationId xmlns:p14="http://schemas.microsoft.com/office/powerpoint/2010/main" val="1801941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Machine health and service health are related but different. In the example, the commitment is that customers can complete an IIC order, and it has three required branches: Azure coordination, on-premises validation and AWS fulfillment. Inventory establishes expected resources, telemetry supplies observations, and a health interpretation connects those observations to each branch and then to the order.
A heartbeat or CPU value is useful supporting evidence, but neither alone establishes that the application request succeeds. Missing or stale observations create uncertainty that should be visible rather than silently treated as healthy.
The historical SCOM connection is the practice of modeling services, components, and dependencies to understand impact. Three SCOM-era habits should not carry forward: alert fatigue (many device alerts, few that name the affected service), duplicated collection (the same signal gathered twice, paid for twice) and blind spots (missing data displayed as healthy). Azure Monitor Health Models is introduced here at that operational level, with applicable preview boundaries. The separate observability session covers model construction and deeper configuration. The practical takeaway is to ask what a displayed state means, which evidence supports it, how fresh that evidence is, and which user operation could be affected.
Freshness and aggregation require configuration. A missing component does not universally force the same parent state; operators must inspect the model's actual roll-up behavior.</a:t>
            </a:r>
          </a:p>
          <a:p>
            <a:endParaRPr lang="en-US"/>
          </a:p>
          <a:p>
            <a:r>
              <a:rPr lang="en-US"/>
              <a:t>[Sources]</a:t>
            </a:r>
          </a:p>
          <a:p>
            <a:r>
              <a:rPr lang="en-US"/>
              <a:t>- https://learn.microsoft.com/en-us/azure/azure-monitor/health-models/overview</a:t>
            </a:r>
          </a:p>
          <a:p>
            <a:r>
              <a:rPr lang="en-US"/>
              <a:t>- https://learn.microsoft.com/en-us/azure/azure-monitor/health-models/rollup</a:t>
            </a:r>
          </a:p>
        </p:txBody>
      </p:sp>
      <p:sp>
        <p:nvSpPr>
          <p:cNvPr id="4" name="Slide Number Placeholder 3"/>
          <p:cNvSpPr>
            <a:spLocks noGrp="1"/>
          </p:cNvSpPr>
          <p:nvPr>
            <p:ph type="sldNum" sz="quarter" idx="5"/>
          </p:nvPr>
        </p:nvSpPr>
        <p:spPr/>
        <p:txBody>
          <a:bodyPr/>
          <a:lstStyle/>
          <a:p>
            <a:fld id="{B1D88662-271E-4EAF-8921-76C7B6633C96}" type="slidenum">
              <a:rPr lang="en-US" smtClean="0"/>
              <a:t>25</a:t>
            </a:fld>
            <a:endParaRPr lang="en-US"/>
          </a:p>
        </p:txBody>
      </p:sp>
    </p:spTree>
    <p:extLst>
      <p:ext uri="{BB962C8B-B14F-4D97-AF65-F5344CB8AC3E}">
        <p14:creationId xmlns:p14="http://schemas.microsoft.com/office/powerpoint/2010/main" val="1415777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Resource inventory and monitoring history answer different questions. Azure Resource Graph can identify resources, placement, tags, extensions, and exposed configuration or status properties. Its query language uses a supported subset of KQL. Log Analytics also uses KQL, but queries telemetry records in its own tables.
Historical guest activity and application behavior require the appropriate monitoring data. Examples include event records, Syslog, request failures, dependency timing, and fresh machine signals. Prometheus metrics use their metric query path, while Azure platform metrics use the platform-metrics experience.
A practical investigation first identifies the expected resources and then checks their available telemetry within a defined time window. The comparison exposes missing coverage as well as observed faults. Similar query syntax does not mean Resource Graph contains the same evidence as Log Analytics. Every result should be interpreted with its source, resource scope, and time context.</a:t>
            </a:r>
          </a:p>
          <a:p>
            <a:endParaRPr lang="en-US"/>
          </a:p>
          <a:p>
            <a:r>
              <a:rPr lang="en-US"/>
              <a:t>[Sources]</a:t>
            </a:r>
          </a:p>
          <a:p>
            <a:r>
              <a:rPr lang="en-US"/>
              <a:t>- https://learn.microsoft.com/en-us/azure/governance/resource-graph/overview</a:t>
            </a:r>
          </a:p>
          <a:p>
            <a:r>
              <a:rPr lang="en-US"/>
              <a:t>- https://learn.microsoft.com/en-us/azure/governance/resource-graph/concepts/query-language</a:t>
            </a:r>
          </a:p>
          <a:p>
            <a:r>
              <a:rPr lang="en-US"/>
              <a:t>- https://learn.microsoft.com/en-us/azure/azure-monitor/logs/log-analytics-workspace-overview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26</a:t>
            </a:fld>
            <a:endParaRPr lang="en-US"/>
          </a:p>
        </p:txBody>
      </p:sp>
    </p:spTree>
    <p:extLst>
      <p:ext uri="{BB962C8B-B14F-4D97-AF65-F5344CB8AC3E}">
        <p14:creationId xmlns:p14="http://schemas.microsoft.com/office/powerpoint/2010/main" val="34302601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demonstration combines resource inventory with monitoring evidence. Resource Graph establishes which Azure and Arc representations are in scope and how they are configured. Monitoring queries then establish what those resources reported during a defined time range.
A useful health view identifies the underlying store, query, resource, and latest evidence time. It connects machine observations to component condition and then to the outcome of an IIC order. A color alone is insufficient without that context, particularly when a panel contains stale data or a model has missing signals.
The operating handoff includes more than an alert name. It should state likely impact, the evidence supporting that interpretation, the responsible owner, the next permitted action, and the condition that will prove recovery. A newly placed order is stronger evidence than an older success. The next section explains the authorization boundaries around those actions.</a:t>
            </a:r>
          </a:p>
          <a:p>
            <a:endParaRPr lang="en-US"/>
          </a:p>
          <a:p>
            <a:r>
              <a:rPr lang="en-US"/>
              <a:t>[Sources]</a:t>
            </a:r>
          </a:p>
          <a:p>
            <a:r>
              <a:rPr lang="en-US"/>
              <a:t>- https://learn.microsoft.com/en-us/azure/governance/resource-graph/overview</a:t>
            </a:r>
          </a:p>
          <a:p>
            <a:r>
              <a:rPr lang="en-US"/>
              <a:t>- https://learn.microsoft.com/en-us/azure/azure-monitor/overview</a:t>
            </a:r>
          </a:p>
          <a:p>
            <a:r>
              <a:rPr lang="en-US"/>
              <a:t>- https://learn.microsoft.com/en-us/azure/azure-monitor/health-models/overview</a:t>
            </a:r>
          </a:p>
          <a:p>
            <a:r>
              <a:rPr lang="en-US"/>
              <a:t>- https://learn.microsoft.com/en-us/azure/azure-monitor/health-models/rollup</a:t>
            </a:r>
          </a:p>
        </p:txBody>
      </p:sp>
      <p:sp>
        <p:nvSpPr>
          <p:cNvPr id="4" name="Slide Number Placeholder 3"/>
          <p:cNvSpPr>
            <a:spLocks noGrp="1"/>
          </p:cNvSpPr>
          <p:nvPr>
            <p:ph type="sldNum" sz="quarter" idx="5"/>
          </p:nvPr>
        </p:nvSpPr>
        <p:spPr/>
        <p:txBody>
          <a:bodyPr/>
          <a:lstStyle/>
          <a:p>
            <a:fld id="{B1D88662-271E-4EAF-8921-76C7B6633C96}" type="slidenum">
              <a:rPr lang="en-US" smtClean="0"/>
              <a:t>27</a:t>
            </a:fld>
            <a:endParaRPr lang="en-US"/>
          </a:p>
        </p:txBody>
      </p:sp>
    </p:spTree>
    <p:extLst>
      <p:ext uri="{BB962C8B-B14F-4D97-AF65-F5344CB8AC3E}">
        <p14:creationId xmlns:p14="http://schemas.microsoft.com/office/powerpoint/2010/main" val="2636535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two of five: Secure. The question: who is allowed to change it, and how is it protected? This section covers access (the separate doors into a hybrid server and who holds which key), protection with Microsoft Defender for Cloud, and detection with Microsoft Sentinel.</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28</a:t>
            </a:fld>
            <a:endParaRPr lang="en-US"/>
          </a:p>
        </p:txBody>
      </p:sp>
    </p:spTree>
    <p:extLst>
      <p:ext uri="{BB962C8B-B14F-4D97-AF65-F5344CB8AC3E}">
        <p14:creationId xmlns:p14="http://schemas.microsoft.com/office/powerpoint/2010/main" val="42608024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Access to a hybrid server is not one permission. Think of four separate doors, each with its own key. Azure: an Azure role (RBAC) lets someone see or change the server as an Azure resource. Sign in: the server's own accounts, over RDP or SSH, let someone log on to Windows or Linux. Hosting: admin rights in SCVMM or in the AWS account let someone stop, move or delete the VM. Application and data: the application's own permissions decide who can use it or read its data.
A key to one door does not open the others. An Azure administrator cannot log on to the server just because of the Azure role, and a local administrator on the server has no rights in Azure. Arc adds the Azure door; it does not merge the doors.
One important exception: an Azure role that can run commands or install extensions on an Arc-enabled server can run code on it as an administrator without logging on. Treat such roles as administrative access to the server.</a:t>
            </a:r>
          </a:p>
          <a:p>
            <a:endParaRPr lang="en-US"/>
          </a:p>
          <a:p>
            <a:r>
              <a:rPr lang="en-US"/>
              <a:t>[Sources]</a:t>
            </a:r>
          </a:p>
          <a:p>
            <a:r>
              <a:rPr lang="en-US"/>
              <a:t>- https://learn.microsoft.com/en-us/azure/role-based-access-control/overview</a:t>
            </a:r>
          </a:p>
          <a:p>
            <a:r>
              <a:rPr lang="en-US"/>
              <a:t>- https://learn.microsoft.com/en-us/azure/azure-arc/servers/security-identity-authorization</a:t>
            </a:r>
          </a:p>
          <a:p>
            <a:r>
              <a:rPr lang="en-US"/>
              <a:t>- https://learn.microsoft.com/en-us/azure/azure-arc/servers/security-extensions</a:t>
            </a:r>
          </a:p>
        </p:txBody>
      </p:sp>
      <p:sp>
        <p:nvSpPr>
          <p:cNvPr id="4" name="Slide Number Placeholder 3"/>
          <p:cNvSpPr>
            <a:spLocks noGrp="1"/>
          </p:cNvSpPr>
          <p:nvPr>
            <p:ph type="sldNum" sz="quarter" idx="5"/>
          </p:nvPr>
        </p:nvSpPr>
        <p:spPr/>
        <p:txBody>
          <a:bodyPr/>
          <a:lstStyle/>
          <a:p>
            <a:fld id="{B1D88662-271E-4EAF-8921-76C7B6633C96}" type="slidenum">
              <a:rPr lang="en-US" smtClean="0"/>
              <a:t>29</a:t>
            </a:fld>
            <a:endParaRPr lang="en-US"/>
          </a:p>
        </p:txBody>
      </p:sp>
    </p:spTree>
    <p:extLst>
      <p:ext uri="{BB962C8B-B14F-4D97-AF65-F5344CB8AC3E}">
        <p14:creationId xmlns:p14="http://schemas.microsoft.com/office/powerpoint/2010/main" val="2501815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Least privilege can be applied with three rules. People: read-only by default, with administrative rights activated through Privileged Identity Management for a limited time after multifactor authentication. Machines and applications: each has its own identity (for example an Arc machine managed identity), only the permissions it needs, and no stored secrets. Tools that make changes: each can change one thing in one scope, and every change is recorded in the Activity Log.
In the IIC Hybrid Orders application, the operator is read-only by default, each worker can only receive from its own Service Bus queue and send results, and the Policy remediation identity can change tags in one resource group. A practical first step is to list every identity that can change a server and check it against these rules.</a:t>
            </a:r>
          </a:p>
          <a:p>
            <a:endParaRPr lang="en-US"/>
          </a:p>
          <a:p>
            <a:r>
              <a:rPr lang="en-US"/>
              <a:t>[Sources]</a:t>
            </a:r>
          </a:p>
          <a:p>
            <a:r>
              <a:rPr lang="en-US"/>
              <a:t>- https://learn.microsoft.com/en-us/azure/role-based-access-control/overview</a:t>
            </a:r>
          </a:p>
          <a:p>
            <a:r>
              <a:rPr lang="en-US"/>
              <a:t>- https://learn.microsoft.com/en-us/azure/azure-arc/servers/security-identity-authorization</a:t>
            </a:r>
          </a:p>
          <a:p>
            <a:r>
              <a:rPr lang="en-US"/>
              <a:t>- https://learn.microsoft.com/en-us/azure/azure-arc/servers/security-extensions</a:t>
            </a:r>
          </a:p>
          <a:p>
            <a:r>
              <a:rPr lang="en-US"/>
              <a:t>- https://learn.microsoft.com/en-us/entra/id-governance/privileged-identity-management/pim-configure</a:t>
            </a:r>
          </a:p>
        </p:txBody>
      </p:sp>
      <p:sp>
        <p:nvSpPr>
          <p:cNvPr id="4" name="Slide Number Placeholder 3"/>
          <p:cNvSpPr>
            <a:spLocks noGrp="1"/>
          </p:cNvSpPr>
          <p:nvPr>
            <p:ph type="sldNum" sz="quarter" idx="5"/>
          </p:nvPr>
        </p:nvSpPr>
        <p:spPr/>
        <p:txBody>
          <a:bodyPr/>
          <a:lstStyle/>
          <a:p>
            <a:fld id="{B1D88662-271E-4EAF-8921-76C7B6633C96}" type="slidenum">
              <a:rPr lang="en-US" smtClean="0"/>
              <a:t>30</a:t>
            </a:fld>
            <a:endParaRPr lang="en-US"/>
          </a:p>
        </p:txBody>
      </p:sp>
    </p:spTree>
    <p:extLst>
      <p:ext uri="{BB962C8B-B14F-4D97-AF65-F5344CB8AC3E}">
        <p14:creationId xmlns:p14="http://schemas.microsoft.com/office/powerpoint/2010/main" val="24992982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tests Azure resource authorization using the same Arc resource and two approved permission contexts. The reader context should allow observation while denying the selected management operation. The management context should permit that operation within its intended scope.
The useful evidence is the effective identity, role, target resource, denied or allowed operation, resulting resource state, and audit record. A role assignment screenshot alone is weaker than observing the expected behavior. Permission propagation can affect timing and should be distinguished from the final effective state.
The action is reversible and limited to CAS26-owned resources and temporary assignments. It does not demonstrate unrestricted guest access. If a guest sign-in is included, that requires a separate authorization explanation and verification. The example shows how least-privilege delegation can be tested rather than merely asserted.
Some Azure management permissions, including powerful extension or Run Command actions, can enable privileged execution inside the guest. They must be treated as sensitive authority even without interactive sign-in rights.</a:t>
            </a:r>
          </a:p>
          <a:p>
            <a:endParaRPr lang="en-US"/>
          </a:p>
          <a:p>
            <a:r>
              <a:rPr lang="en-US"/>
              <a:t>[Sources]</a:t>
            </a:r>
          </a:p>
          <a:p>
            <a:r>
              <a:rPr lang="en-US"/>
              <a:t>- https://learn.microsoft.com/en-us/azure/role-based-access-control/overview</a:t>
            </a:r>
          </a:p>
          <a:p>
            <a:r>
              <a:rPr lang="en-US"/>
              <a:t>- https://learn.microsoft.com/en-us/azure/azure-arc/servers/security-identity-authorization</a:t>
            </a:r>
          </a:p>
          <a:p>
            <a:r>
              <a:rPr lang="en-US"/>
              <a:t>- https://learn.microsoft.com/en-us/azure/azure-arc/servers/security-extensions</a:t>
            </a:r>
          </a:p>
        </p:txBody>
      </p:sp>
      <p:sp>
        <p:nvSpPr>
          <p:cNvPr id="4" name="Slide Number Placeholder 3"/>
          <p:cNvSpPr>
            <a:spLocks noGrp="1"/>
          </p:cNvSpPr>
          <p:nvPr>
            <p:ph type="sldNum" sz="quarter" idx="5"/>
          </p:nvPr>
        </p:nvSpPr>
        <p:spPr/>
        <p:txBody>
          <a:bodyPr/>
          <a:lstStyle/>
          <a:p>
            <a:fld id="{B1D88662-271E-4EAF-8921-76C7B6633C96}" type="slidenum">
              <a:rPr lang="en-US" smtClean="0"/>
              <a:t>31</a:t>
            </a:fld>
            <a:endParaRPr lang="en-US"/>
          </a:p>
        </p:txBody>
      </p:sp>
    </p:spTree>
    <p:extLst>
      <p:ext uri="{BB962C8B-B14F-4D97-AF65-F5344CB8AC3E}">
        <p14:creationId xmlns:p14="http://schemas.microsoft.com/office/powerpoint/2010/main" val="27749830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Microsoft Defender for Cloud is the security dashboard in Azure. For an Arc-enabled server, turning on the Defender for Servers plan installs Microsoft Defender for Endpoint, the sensor on the machine. Results come back to Defender for Cloud in two kinds: posture (what is weak: security recommendations and vulnerability findings) and protection (what is under attack: security alerts). An owner either fixes the weakness or responds to the alert. Without the plan and the sensor, no vulnerability findings or alerts come from this path; free foundational CSPM recommendations still appear.</a:t>
            </a:r>
          </a:p>
          <a:p>
            <a:endParaRPr lang="en-US"/>
          </a:p>
          <a:p>
            <a:r>
              <a:rPr lang="en-US"/>
              <a:t>[Sources]</a:t>
            </a:r>
          </a:p>
          <a:p>
            <a:r>
              <a:rPr lang="en-US"/>
              <a:t>- https://learn.microsoft.com/en-us/azure/defender-for-cloud/defender-for-cloud-introduction</a:t>
            </a:r>
          </a:p>
          <a:p>
            <a:r>
              <a:rPr lang="en-US"/>
              <a:t>- https://learn.microsoft.com/en-us/azure/defender-for-cloud/defender-for-servers-overview</a:t>
            </a:r>
          </a:p>
          <a:p>
            <a:r>
              <a:rPr lang="en-US"/>
              <a:t>- https://learn.microsoft.com/azure/defender-for-cloud/concept-cloud-security-posture-management</a:t>
            </a:r>
          </a:p>
        </p:txBody>
      </p:sp>
      <p:sp>
        <p:nvSpPr>
          <p:cNvPr id="4" name="Slide Number Placeholder 3"/>
          <p:cNvSpPr>
            <a:spLocks noGrp="1"/>
          </p:cNvSpPr>
          <p:nvPr>
            <p:ph type="sldNum" sz="quarter" idx="5"/>
          </p:nvPr>
        </p:nvSpPr>
        <p:spPr/>
        <p:txBody>
          <a:bodyPr/>
          <a:lstStyle/>
          <a:p>
            <a:fld id="{B1D88662-271E-4EAF-8921-76C7B6633C96}" type="slidenum">
              <a:rPr lang="en-US" smtClean="0"/>
              <a:t>32</a:t>
            </a:fld>
            <a:endParaRPr lang="en-US"/>
          </a:p>
        </p:txBody>
      </p:sp>
    </p:spTree>
    <p:extLst>
      <p:ext uri="{BB962C8B-B14F-4D97-AF65-F5344CB8AC3E}">
        <p14:creationId xmlns:p14="http://schemas.microsoft.com/office/powerpoint/2010/main" val="21144957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Defender demonstration follows a finding back to its resource and forward to a remediation decision. Coverage and evidence recency are checked first. The finding must belong to the intended Arc workload rather than merely a similarly named resource.
Interpretation depends on the finding type. A recommendation describes posture work; a vulnerability observation supplies assessment evidence; an alert indicates a protection signal requiring investigation. The appropriate action and verification differ accordingly.
The operating result is a clear owner, a justified response, and a definition of successful remediation. Closing or dismissing a finding is not equivalent to correcting the underlying condition. This resource-level reasoning prepares the audience for Sentinel's broader incident and correlation workflow.</a:t>
            </a:r>
          </a:p>
          <a:p>
            <a:endParaRPr lang="en-US"/>
          </a:p>
          <a:p>
            <a:r>
              <a:rPr lang="en-US"/>
              <a:t>[Sources]</a:t>
            </a:r>
          </a:p>
          <a:p>
            <a:r>
              <a:rPr lang="en-US"/>
              <a:t>- https://learn.microsoft.com/en-us/azure/defender-for-cloud/defender-for-cloud-introduction</a:t>
            </a:r>
          </a:p>
          <a:p>
            <a:r>
              <a:rPr lang="en-US"/>
              <a:t>- https://learn.microsoft.com/en-us/azure/defender-for-cloud/defender-for-servers-overview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33</a:t>
            </a:fld>
            <a:endParaRPr lang="en-US"/>
          </a:p>
        </p:txBody>
      </p:sp>
    </p:spTree>
    <p:extLst>
      <p:ext uri="{BB962C8B-B14F-4D97-AF65-F5344CB8AC3E}">
        <p14:creationId xmlns:p14="http://schemas.microsoft.com/office/powerpoint/2010/main" val="14706290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Microsoft Sentinel runs on a Log Analytics workspace. Server security events reach it through the Azure Monitor agent and a data collection rule; cloud services such as Microsoft Entra ID, Azure activity, Microsoft 365 and other SaaS applications reach it through data connectors. Scheduled analytics rules query that data and, when configured to, create incidents with entities and evidence for an owner to investigate and respond to. Without the data and the rule, no incident is created. Sentinel does not replace Defender for Cloud posture management or Azure RBAC.</a:t>
            </a:r>
          </a:p>
          <a:p>
            <a:endParaRPr lang="en-US"/>
          </a:p>
          <a:p>
            <a:r>
              <a:rPr lang="en-US"/>
              <a:t>[Sources]</a:t>
            </a:r>
          </a:p>
          <a:p>
            <a:r>
              <a:rPr lang="en-US"/>
              <a:t>- https://learn.microsoft.com/en-us/azure/sentinel/overview</a:t>
            </a:r>
          </a:p>
          <a:p>
            <a:r>
              <a:rPr lang="en-US"/>
              <a:t>- https://learn.microsoft.com/azure/sentinel/microsoft-sentinel-defender-portal</a:t>
            </a:r>
          </a:p>
        </p:txBody>
      </p:sp>
      <p:sp>
        <p:nvSpPr>
          <p:cNvPr id="4" name="Slide Number Placeholder 3"/>
          <p:cNvSpPr>
            <a:spLocks noGrp="1"/>
          </p:cNvSpPr>
          <p:nvPr>
            <p:ph type="sldNum" sz="quarter" idx="5"/>
          </p:nvPr>
        </p:nvSpPr>
        <p:spPr/>
        <p:txBody>
          <a:bodyPr/>
          <a:lstStyle/>
          <a:p>
            <a:fld id="{B1D88662-271E-4EAF-8921-76C7B6633C96}" type="slidenum">
              <a:rPr lang="en-US" smtClean="0"/>
              <a:t>34</a:t>
            </a:fld>
            <a:endParaRPr lang="en-US"/>
          </a:p>
        </p:txBody>
      </p:sp>
    </p:spTree>
    <p:extLst>
      <p:ext uri="{BB962C8B-B14F-4D97-AF65-F5344CB8AC3E}">
        <p14:creationId xmlns:p14="http://schemas.microsoft.com/office/powerpoint/2010/main" val="19767780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Sentinel demonstration uses a labelled training incident to explain investigation. Incidents are investigated in the Microsoft Defender portal; Sentinel's Azure-portal experience retires after 31 March 2027. The analyst checks the environment and time range, reads the triggering evidence, identifies the involved entities, and follows the activity sequence before choosing a response.
A training incident demonstrates the workflow; it is not evidence of a real compromise. Similarly, an investigation hypothesis should be distinguished from the records that support or contradict it. Resource and account identifiers help connect the incident to the correct workload.
The intended result is an assigned owner, a documented response or escalation decision, and a clear closure condition. Automated response requires its own authorized identity and scope. Reset activities are limited to the training artifact. The next governance section explains how landing-zone placement and Policy establish the repeatable operating boundaries within which these decisions occur.</a:t>
            </a:r>
          </a:p>
          <a:p>
            <a:endParaRPr lang="en-US"/>
          </a:p>
          <a:p>
            <a:r>
              <a:rPr lang="en-US"/>
              <a:t>[Sources]</a:t>
            </a:r>
          </a:p>
          <a:p>
            <a:r>
              <a:rPr lang="en-US"/>
              <a:t>- https://learn.microsoft.com/en-us/azure/sentinel/overview</a:t>
            </a:r>
          </a:p>
          <a:p>
            <a:r>
              <a:rPr lang="en-US"/>
              <a:t>- https://learn.microsoft.com/en-us/azure/sentinel/investigate-cases</a:t>
            </a:r>
          </a:p>
          <a:p>
            <a:r>
              <a:rPr lang="en-US"/>
              <a:t>- https://learn.microsoft.com/azure/sentinel/microsoft-sentinel-defender-portal</a:t>
            </a:r>
          </a:p>
        </p:txBody>
      </p:sp>
      <p:sp>
        <p:nvSpPr>
          <p:cNvPr id="4" name="Slide Number Placeholder 3"/>
          <p:cNvSpPr>
            <a:spLocks noGrp="1"/>
          </p:cNvSpPr>
          <p:nvPr>
            <p:ph type="sldNum" sz="quarter" idx="5"/>
          </p:nvPr>
        </p:nvSpPr>
        <p:spPr/>
        <p:txBody>
          <a:bodyPr/>
          <a:lstStyle/>
          <a:p>
            <a:fld id="{B1D88662-271E-4EAF-8921-76C7B6633C96}" type="slidenum">
              <a:rPr lang="en-US" smtClean="0"/>
              <a:t>35</a:t>
            </a:fld>
            <a:endParaRPr lang="en-US"/>
          </a:p>
        </p:txBody>
      </p:sp>
    </p:spTree>
    <p:extLst>
      <p:ext uri="{BB962C8B-B14F-4D97-AF65-F5344CB8AC3E}">
        <p14:creationId xmlns:p14="http://schemas.microsoft.com/office/powerpoint/2010/main" val="33926435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three of five: Govern. The question: which team owns it, and does it stay the way we agreed? This section covers ownership through landing zones, rules through Azure Policy, regulatory compliance against a standard, keeping every estate patched with one process (including Extended Security Updates), and keeping the EKS cluster as designed with Flux.</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36</a:t>
            </a:fld>
            <a:endParaRPr lang="en-US"/>
          </a:p>
        </p:txBody>
      </p:sp>
    </p:spTree>
    <p:extLst>
      <p:ext uri="{BB962C8B-B14F-4D97-AF65-F5344CB8AC3E}">
        <p14:creationId xmlns:p14="http://schemas.microsoft.com/office/powerpoint/2010/main" val="31638852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Microsoft defines an Azure landing zone as a proven and flexible architecture for governing, securing, and scaling a multi-subscription Azure environment. It has two parts. The platform landing zone is the centralized foundation: a management group hierarchy and shared services such as connectivity, identity, security monitoring and management; most organizations have one per Microsoft Entra tenant. Application landing zones host workloads: each workload gets one, containing all of its environments (for example development, test and production), each of one or more subscriptions. Azure Policy assigned on management groups is inherited by every subscription below. Landing zones can be deployed with Microsoft accelerators or built custom.
The design is organized into eight design areas: billing and tenant, identity and access, resource organization, network topology and connectivity, security, management, governance, and platform automation and DevOps.</a:t>
            </a:r>
          </a:p>
          <a:p>
            <a:endParaRPr lang="en-US"/>
          </a:p>
          <a:p>
            <a:r>
              <a:rPr lang="en-US"/>
              <a:t>[Sources]</a:t>
            </a:r>
          </a:p>
          <a:p>
            <a:r>
              <a:rPr lang="en-US"/>
              <a:t>- https://learn.microsoft.com/en-us/azure/cloud-adoption-framework/ready/landing-zone/</a:t>
            </a:r>
          </a:p>
        </p:txBody>
      </p:sp>
      <p:sp>
        <p:nvSpPr>
          <p:cNvPr id="4" name="Slide Number Placeholder 3"/>
          <p:cNvSpPr>
            <a:spLocks noGrp="1"/>
          </p:cNvSpPr>
          <p:nvPr>
            <p:ph type="sldNum" sz="quarter" idx="5"/>
          </p:nvPr>
        </p:nvSpPr>
        <p:spPr/>
        <p:txBody>
          <a:bodyPr/>
          <a:lstStyle/>
          <a:p>
            <a:fld id="{B1D88662-271E-4EAF-8921-76C7B6633C96}" type="slidenum">
              <a:rPr lang="en-US" smtClean="0"/>
              <a:t>37</a:t>
            </a:fld>
            <a:endParaRPr lang="en-US"/>
          </a:p>
        </p:txBody>
      </p:sp>
    </p:spTree>
    <p:extLst>
      <p:ext uri="{BB962C8B-B14F-4D97-AF65-F5344CB8AC3E}">
        <p14:creationId xmlns:p14="http://schemas.microsoft.com/office/powerpoint/2010/main" val="41531327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Azure Arc landing zone accelerator for hybrid and multicloud is Microsoft guidance for operating Arc-enabled resources within the Azure landing zone. Arc resources are placed in application landing zone subscriptions and resource groups, where they inherit Azure Policy and access; the multicloud connector creates its own resource group for AWS resources. The Arc-enabled servers guidance covers identity, network, resource organization, governance and security, monitoring, cost and automation.
For Arc, the network design area is about how the Connected Machine agent reaches Azure: directly over HTTPS (TCP 443), through a proxy or firewall (Azure Arc gateway reduces the required endpoints to about eight), or privately through Azure Private Link over ExpressRoute or VPN, which requires a private endpoint in an Azure virtual network. The accelerator does not move workloads.</a:t>
            </a:r>
          </a:p>
          <a:p>
            <a:endParaRPr lang="en-US"/>
          </a:p>
          <a:p>
            <a:r>
              <a:rPr lang="en-US"/>
              <a:t>[Sources]</a:t>
            </a:r>
          </a:p>
          <a:p>
            <a:r>
              <a:rPr lang="en-US"/>
              <a:t>- https://learn.microsoft.com/en-us/azure/cloud-adoption-framework/ready/landing-zone/</a:t>
            </a:r>
          </a:p>
          <a:p>
            <a:r>
              <a:rPr lang="en-US"/>
              <a:t>- https://learn.microsoft.com/en-us/azure/cloud-adoption-framework/scenarios/hybrid/arc-enabled-servers/eslz-arc-servers-connectivity</a:t>
            </a:r>
          </a:p>
        </p:txBody>
      </p:sp>
      <p:sp>
        <p:nvSpPr>
          <p:cNvPr id="4" name="Slide Number Placeholder 3"/>
          <p:cNvSpPr>
            <a:spLocks noGrp="1"/>
          </p:cNvSpPr>
          <p:nvPr>
            <p:ph type="sldNum" sz="quarter" idx="5"/>
          </p:nvPr>
        </p:nvSpPr>
        <p:spPr/>
        <p:txBody>
          <a:bodyPr/>
          <a:lstStyle/>
          <a:p>
            <a:fld id="{B1D88662-271E-4EAF-8921-76C7B6633C96}" type="slidenum">
              <a:rPr lang="en-US" smtClean="0"/>
              <a:t>38</a:t>
            </a:fld>
            <a:endParaRPr lang="en-US"/>
          </a:p>
        </p:txBody>
      </p:sp>
    </p:spTree>
    <p:extLst>
      <p:ext uri="{BB962C8B-B14F-4D97-AF65-F5344CB8AC3E}">
        <p14:creationId xmlns:p14="http://schemas.microsoft.com/office/powerpoint/2010/main" val="3619250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 Policy evaluates Azure resources against rules. A policy is assigned at a management group, subscription or resource group scope and is inherited by everything below it, including Azure Arc-enabled servers on-premises and in other clouds. Azure Policy reports compliance and, depending on the effect, can deny non-compliant requests or remediate resources.
Compared with Group Policy: both assign rules at a scope that are inherited, but Group Policy configures settings inside Windows on domain-joined machines, while Azure Policy governs properties of the Azure resource itself, such as tags, location, size or enabled features. Azure Machine Configuration (formerly guest configuration) audits and configures settings inside the operating system of Windows and Linux machines, on Azure VMs and Arc-enabled servers, and is assigned through Azure Policy.
Examples: require a tag (Modify adds it if missing), allowed locations (Deny blocks resources in other regions), deploy the Azure Monitor agent if missing (AuditIfNotExists or DeployIfNotExists), and machine configuration baselines such as password or TLS settings.</a:t>
            </a:r>
          </a:p>
          <a:p>
            <a:endParaRPr lang="en-US"/>
          </a:p>
          <a:p>
            <a:r>
              <a:rPr lang="en-US"/>
              <a:t>[Sources]</a:t>
            </a:r>
          </a:p>
          <a:p>
            <a:r>
              <a:rPr lang="en-US"/>
              <a:t>- https://learn.microsoft.com/en-us/azure/governance/policy/overview</a:t>
            </a:r>
          </a:p>
          <a:p>
            <a:r>
              <a:rPr lang="en-US"/>
              <a:t>- https://learn.microsoft.com/en-us/azure/governance/machine-configuration/overview/01-overview-concepts</a:t>
            </a:r>
          </a:p>
        </p:txBody>
      </p:sp>
      <p:sp>
        <p:nvSpPr>
          <p:cNvPr id="4" name="Slide Number Placeholder 3"/>
          <p:cNvSpPr>
            <a:spLocks noGrp="1"/>
          </p:cNvSpPr>
          <p:nvPr>
            <p:ph type="sldNum" sz="quarter" idx="5"/>
          </p:nvPr>
        </p:nvSpPr>
        <p:spPr/>
        <p:txBody>
          <a:bodyPr/>
          <a:lstStyle/>
          <a:p>
            <a:fld id="{B1D88662-271E-4EAF-8921-76C7B6633C96}" type="slidenum">
              <a:rPr lang="en-US" smtClean="0"/>
              <a:t>39</a:t>
            </a:fld>
            <a:endParaRPr lang="en-US"/>
          </a:p>
        </p:txBody>
      </p:sp>
    </p:spTree>
    <p:extLst>
      <p:ext uri="{BB962C8B-B14F-4D97-AF65-F5344CB8AC3E}">
        <p14:creationId xmlns:p14="http://schemas.microsoft.com/office/powerpoint/2010/main" val="29144442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 Policy separates policy intent, assignment, evaluation, and enforcement or remediation. Definitions contain conditions and effects; initiatives group definitions; assignments apply them with parameters at a chosen scope. Exclusions and exemptions affect the applicable result and should remain visible in an assessment.
Effects differ. Audit reports, Deny can block supported noncompliant requests, and applicable Modify or DeployIfNotExists policies can change or deploy supported resource state. Existing resources may require a remediation task. The associated managed identity needs appropriate permissions for that work.
An assignment is therefore not proof of compliance. Operators should inspect the evaluated resource, reason, effect, identity, and observation time. Resource-level requirements and guest-configuration requirements also have different prerequisites. The demonstration verifies the actual resource state alongside a fresh Policy result so that a task status is not mistaken for the intended outcome.
Enforcement mode matters as much as the effect. In Default mode the effect applies on every matching create or update; existing resources with missing tags are corrected only by a remediation task. DoNotEnforce keeps compliance evaluation and manual remediation tasks but suppresses on-write enforcement; it is the recommended first stage for Modify and DeployIfNotExists rollouts.</a:t>
            </a:r>
          </a:p>
          <a:p>
            <a:endParaRPr lang="en-US"/>
          </a:p>
          <a:p>
            <a:r>
              <a:rPr lang="en-US"/>
              <a:t>[Sources]</a:t>
            </a:r>
          </a:p>
          <a:p>
            <a:r>
              <a:rPr lang="en-US"/>
              <a:t>- https://learn.microsoft.com/en-us/azure/governance/policy/overview</a:t>
            </a:r>
          </a:p>
          <a:p>
            <a:r>
              <a:rPr lang="en-US"/>
              <a:t>- https://learn.microsoft.com/en-us/azure/governance/policy/how-to/remediate-resources</a:t>
            </a:r>
          </a:p>
          <a:p>
            <a:r>
              <a:rPr lang="en-US"/>
              <a:t>- https://learn.microsoft.com/en-us/azure/governance/policy/concepts/assignment-structure#enforcement-mode</a:t>
            </a:r>
          </a:p>
        </p:txBody>
      </p:sp>
      <p:sp>
        <p:nvSpPr>
          <p:cNvPr id="4" name="Slide Number Placeholder 3"/>
          <p:cNvSpPr>
            <a:spLocks noGrp="1"/>
          </p:cNvSpPr>
          <p:nvPr>
            <p:ph type="sldNum" sz="quarter" idx="5"/>
          </p:nvPr>
        </p:nvSpPr>
        <p:spPr/>
        <p:txBody>
          <a:bodyPr/>
          <a:lstStyle/>
          <a:p>
            <a:fld id="{B1D88662-271E-4EAF-8921-76C7B6633C96}" type="slidenum">
              <a:rPr lang="en-US" smtClean="0"/>
              <a:t>40</a:t>
            </a:fld>
            <a:endParaRPr lang="en-US"/>
          </a:p>
        </p:txBody>
      </p:sp>
    </p:spTree>
    <p:extLst>
      <p:ext uri="{BB962C8B-B14F-4D97-AF65-F5344CB8AC3E}">
        <p14:creationId xmlns:p14="http://schemas.microsoft.com/office/powerpoint/2010/main" val="3034378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Regulatory compliance for Azure and hybrid resources does not require Microsoft Purview. Azure Policy provides built-in regulatory compliance initiatives that apply to Azure resources and Azure Arc-enabled servers, including in-guest settings through machine configuration. Microsoft Defender for Cloud assesses Azure subscriptions, Arc-enabled servers, AWS accounts and GCP projects against assigned standards in its Regulatory compliance dashboard. The Microsoft cloud security benchmark is included at no cost; assigning other standards requires a paid Defender for Cloud plan other than Defender for Servers Plan 1 or Defender for APIs Plan 1.
Microsoft Purview Compliance Manager is optional and organization-wide: it receives Defender for Cloud results automatically, combines them with Microsoft 365, and provides improvement actions and auditor reporting. It is available with Microsoft 365 and Office 365 licences; the Microsoft Data Protection Baseline is included, E5/A5/G5 customers can use three premium regulatory templates, and other premium templates are purchased as add-ons.
Standards available include NIST SP 800-53, NIST CSF 2.0, CIS, PCI DSS 4.0, ISO 27001, SOC 2, HITRUST, NIS2 and GDPR. A compliance score is evidence for auditors, not a certification. From October 27, 2026, Foundational CSPM is opt-in for new Azure subscriptions.</a:t>
            </a:r>
          </a:p>
          <a:p>
            <a:endParaRPr lang="en-US"/>
          </a:p>
          <a:p>
            <a:r>
              <a:rPr lang="en-US"/>
              <a:t>[Sources]</a:t>
            </a:r>
          </a:p>
          <a:p>
            <a:r>
              <a:rPr lang="en-US"/>
              <a:t>- https://learn.microsoft.com/en-us/azure/defender-for-cloud/regulatory-compliance-dashboard</a:t>
            </a:r>
          </a:p>
          <a:p>
            <a:r>
              <a:rPr lang="en-US"/>
              <a:t>- https://learn.microsoft.com/en-us/azure/defender-for-cloud/assign-regulatory-compliance-standards</a:t>
            </a:r>
          </a:p>
          <a:p>
            <a:r>
              <a:rPr lang="en-US"/>
              <a:t>- https://learn.microsoft.com/en-us/purview/compliance-manager-regulations</a:t>
            </a:r>
          </a:p>
        </p:txBody>
      </p:sp>
      <p:sp>
        <p:nvSpPr>
          <p:cNvPr id="4" name="Slide Number Placeholder 3"/>
          <p:cNvSpPr>
            <a:spLocks noGrp="1"/>
          </p:cNvSpPr>
          <p:nvPr>
            <p:ph type="sldNum" sz="quarter" idx="5"/>
          </p:nvPr>
        </p:nvSpPr>
        <p:spPr/>
        <p:txBody>
          <a:bodyPr/>
          <a:lstStyle/>
          <a:p>
            <a:fld id="{B1D88662-271E-4EAF-8921-76C7B6633C96}" type="slidenum">
              <a:rPr lang="en-US" smtClean="0"/>
              <a:t>41</a:t>
            </a:fld>
            <a:endParaRPr lang="en-US"/>
          </a:p>
        </p:txBody>
      </p:sp>
    </p:spTree>
    <p:extLst>
      <p:ext uri="{BB962C8B-B14F-4D97-AF65-F5344CB8AC3E}">
        <p14:creationId xmlns:p14="http://schemas.microsoft.com/office/powerpoint/2010/main" val="3995989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later AWS demonstrations reuse the resources introduced during connector onboarding. They answer a new question: what useful management result is available after connection? The source instance ID or cluster ARN remains linked to the corresponding Azure resource ID.
This demonstration runs the full Policy compliance cycle twice with one procedure: identify the exact Arc resource and its applicable assignment, read the definition and its defaults, check the remediation identity's permissions, inspect the NonCompliant reason, create one resource-scoped remediation task, and verify both the changed resource and a fresh Policy assessment.
Pass 1 targets an on-premises guest under the operations resource-group assignment. Pass 2 targets an AWS EC2 server's Azure Arc representation under a second assignment scoped to the connector-created AWS resource group with an explicit machine allowlist. The second assignment exists because scope and tag filters that fit on-premises machines do not reach connector-created resources.
Both assignments use enforcement mode DoNotEnforce. Compliance is still evaluated and remediation tasks still work, but the Modify effect does not fire on every resource update; in Default mode the tag would be corrected on a resource write or the next periodic evaluation (typically about every 24 hours). The Owner tag on the AWS Arc representation is Azure metadata; the native EC2 tag and AWS lifecycle are unchanged.
Evidence to keep: exact resource IDs, assignment and definition IDs, acting identity, before/after tag values, remediation task result, and the timestamp of the fresh Policy evaluation. A task result alone is not compliance, and a tag alone is not accepted ownership.</a:t>
            </a:r>
          </a:p>
          <a:p>
            <a:endParaRPr lang="en-US"/>
          </a:p>
          <a:p>
            <a:r>
              <a:rPr lang="en-US"/>
              <a:t>[Sources]</a:t>
            </a:r>
          </a:p>
          <a:p>
            <a:r>
              <a:rPr lang="en-US"/>
              <a:t>- https://learn.microsoft.com/en-us/azure/governance/policy/overview</a:t>
            </a:r>
          </a:p>
          <a:p>
            <a:r>
              <a:rPr lang="en-US"/>
              <a:t>- https://learn.microsoft.com/en-us/azure/governance/policy/how-to/remediate-resources</a:t>
            </a:r>
          </a:p>
          <a:p>
            <a:r>
              <a:rPr lang="en-US"/>
              <a:t>- https://learn.microsoft.com/en-us/azure/governance/policy/concepts/assignment-structure#enforcement-mode</a:t>
            </a:r>
          </a:p>
          <a:p>
            <a:r>
              <a:rPr lang="en-US"/>
              <a:t>- https://learn.microsoft.com/en-us/azure/azure-arc/multicloud-connector/onboard-multicloud-vms-arc</a:t>
            </a:r>
          </a:p>
        </p:txBody>
      </p:sp>
      <p:sp>
        <p:nvSpPr>
          <p:cNvPr id="4" name="Slide Number Placeholder 3"/>
          <p:cNvSpPr>
            <a:spLocks noGrp="1"/>
          </p:cNvSpPr>
          <p:nvPr>
            <p:ph type="sldNum" sz="quarter" idx="5"/>
          </p:nvPr>
        </p:nvSpPr>
        <p:spPr/>
        <p:txBody>
          <a:bodyPr/>
          <a:lstStyle/>
          <a:p>
            <a:fld id="{B1D88662-271E-4EAF-8921-76C7B6633C96}" type="slidenum">
              <a:rPr lang="en-US" smtClean="0"/>
              <a:t>42</a:t>
            </a:fld>
            <a:endParaRPr lang="en-US"/>
          </a:p>
        </p:txBody>
      </p:sp>
    </p:spTree>
    <p:extLst>
      <p:ext uri="{BB962C8B-B14F-4D97-AF65-F5344CB8AC3E}">
        <p14:creationId xmlns:p14="http://schemas.microsoft.com/office/powerpoint/2010/main" val="1922446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Policy demonstration applied one policy definition through two scoped assignments to two machines, one on-premises and one in AWS. Each noncompliant resource was identified, a bounded remediation task ran, and fresh compliance evidence verified the result. The same discipline applies to every operational change: identity, scope, bounded action, fresh outcome.</a:t>
            </a:r>
          </a:p>
          <a:p>
            <a:endParaRPr lang="en-US"/>
          </a:p>
          <a:p>
            <a:r>
              <a:rPr lang="en-US"/>
              <a:t>[Sources]</a:t>
            </a:r>
          </a:p>
          <a:p>
            <a:r>
              <a:rPr lang="en-US"/>
              <a:t>- https://learn.microsoft.com/en-us/azure/governance/policy/overview</a:t>
            </a:r>
          </a:p>
          <a:p>
            <a:r>
              <a:rPr lang="en-US"/>
              <a:t>- https://learn.microsoft.com/en-us/azure/governance/policy/how-to/remediate-resources</a:t>
            </a:r>
          </a:p>
          <a:p>
            <a:r>
              <a:rPr lang="en-US"/>
              <a:t>- https://learn.microsoft.com/en-us/azure/azure-arc/system-center-virtual-machine-manager/overview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43</a:t>
            </a:fld>
            <a:endParaRPr lang="en-US"/>
          </a:p>
        </p:txBody>
      </p:sp>
    </p:spTree>
    <p:extLst>
      <p:ext uri="{BB962C8B-B14F-4D97-AF65-F5344CB8AC3E}">
        <p14:creationId xmlns:p14="http://schemas.microsoft.com/office/powerpoint/2010/main" val="42925178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Hybrid estates usually patch each environment with its own tool: Azure virtual machines in Azure, on-premises servers with WSUS or Configuration Manager, and AWS instances with Systems Manager Patch Manager. That means separate schedules, reports and permission models, and no single place to answer whether everything is patched.
Azure Update Manager assesses, schedules and reports updates for Azure virtual machines and for Arc-enabled servers anywhere, Windows and Linux, from one view. Arc supplies the Azure identity that lets one service reach on-premises and other-cloud servers. Platform services such as Azure Functions are patched by Microsoft, and clustered Hyper-V hosts normally keep cluster-aware updating for the actual patching.
For a service that depends on several environments, patching is a service decision: plan windows so the service keeps working, and prove each window with a real transaction afterwards.</a:t>
            </a:r>
          </a:p>
          <a:p>
            <a:endParaRPr lang="en-US"/>
          </a:p>
          <a:p>
            <a:r>
              <a:rPr lang="en-US"/>
              <a:t>[Sources]</a:t>
            </a:r>
          </a:p>
          <a:p>
            <a:r>
              <a:rPr lang="en-US"/>
              <a:t>- https://learn.microsoft.com/en-us/azure/update-manager/overview</a:t>
            </a:r>
          </a:p>
          <a:p>
            <a:r>
              <a:rPr lang="en-US"/>
              <a:t>- https://learn.microsoft.com/en-us/azure/update-manager/support-matrix</a:t>
            </a:r>
          </a:p>
        </p:txBody>
      </p:sp>
      <p:sp>
        <p:nvSpPr>
          <p:cNvPr id="4" name="Slide Number Placeholder 3"/>
          <p:cNvSpPr>
            <a:spLocks noGrp="1"/>
          </p:cNvSpPr>
          <p:nvPr>
            <p:ph type="sldNum" sz="quarter" idx="5"/>
          </p:nvPr>
        </p:nvSpPr>
        <p:spPr/>
        <p:txBody>
          <a:bodyPr/>
          <a:lstStyle/>
          <a:p>
            <a:fld id="{B1D88662-271E-4EAF-8921-76C7B6633C96}" type="slidenum">
              <a:rPr lang="en-US" smtClean="0"/>
              <a:t>44</a:t>
            </a:fld>
            <a:endParaRPr lang="en-US"/>
          </a:p>
        </p:txBody>
      </p:sp>
    </p:spTree>
    <p:extLst>
      <p:ext uri="{BB962C8B-B14F-4D97-AF65-F5344CB8AC3E}">
        <p14:creationId xmlns:p14="http://schemas.microsoft.com/office/powerpoint/2010/main" val="23506070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 Update Manager works in five stages. Periodic assessment checks machines for missing updates roughly every 24 hours and can be enabled at scale with a built-in Azure Policy. A maintenance configuration defines the window, classifications and reboot behaviour. A dynamic scope attaches machines to that window by filters such as resource group, location, operating system and tags, so correctly tagged new machines join automatically. Rolling out in rings, from canary machines to production, limits the blast radius, and pre and post events can run automation around each window.
Proof comes from fresh compliance data, for example in Azure Resource Graph, and from a working service after the window; a completed patch run alone does not show recovery. Clustered hosts can be assessed and reported in the same view while cluster-aware updating performs their patching.</a:t>
            </a:r>
          </a:p>
          <a:p>
            <a:endParaRPr lang="en-US"/>
          </a:p>
          <a:p>
            <a:r>
              <a:rPr lang="en-US"/>
              <a:t>[Sources]</a:t>
            </a:r>
          </a:p>
          <a:p>
            <a:r>
              <a:rPr lang="en-US"/>
              <a:t>- https://learn.microsoft.com/en-us/azure/update-manager/scheduled-patching</a:t>
            </a:r>
          </a:p>
          <a:p>
            <a:r>
              <a:rPr lang="en-US"/>
              <a:t>- https://learn.microsoft.com/en-us/azure/update-manager/dynamic-scope-overview</a:t>
            </a:r>
          </a:p>
          <a:p>
            <a:r>
              <a:rPr lang="en-US"/>
              <a:t>- https://learn.microsoft.com/en-us/azure/update-manager/periodic-assessment-at-scale</a:t>
            </a:r>
          </a:p>
          <a:p>
            <a:r>
              <a:rPr lang="en-US"/>
              <a:t>- https://learn.microsoft.com/en-us/azure/update-manager/pre-post-scripts-overview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45</a:t>
            </a:fld>
            <a:endParaRPr lang="en-US"/>
          </a:p>
        </p:txBody>
      </p:sp>
    </p:spTree>
    <p:extLst>
      <p:ext uri="{BB962C8B-B14F-4D97-AF65-F5344CB8AC3E}">
        <p14:creationId xmlns:p14="http://schemas.microsoft.com/office/powerpoint/2010/main" val="3596108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Extended Security Updates (ESUs) can be delivered to end-of-support Windows Server machines through Azure Arc, billed monthly through Azure and patched with the same tools, including Azure Update Manager. They are licensed by core, with a minimum of eight virtual cores per VM or sixteen physical cores per server, and require Software Assurance or an equivalent subscription.
For Windows Server 2012 and 2012 R2, ESUs end on October 13, 2026. As an illustration at US list price ($0.00648 per core-hour), an eight-core Standard VM costs about $38 a month, and late enrolment is back-billed to the start of the ESU term. After that date no further security updates are available, so these servers must be upgraded or migrated.
For Windows Server 2016, extended support ends on January 12, 2027. ESUs through Arc can be configured now and are billed from January 13, 2027; the same VM at $0.007132 per core-hour costs about $42 a month for up to three years. ESU-enrolled servers receive Update Manager at no extra charge; otherwise it costs $5 per Arc server per month. Prices are illustrative and should be checked against your agreement.</a:t>
            </a:r>
          </a:p>
          <a:p>
            <a:endParaRPr lang="en-US"/>
          </a:p>
          <a:p>
            <a:r>
              <a:rPr lang="en-US"/>
              <a:t>[Sources]</a:t>
            </a:r>
          </a:p>
          <a:p>
            <a:r>
              <a:rPr lang="en-US"/>
              <a:t>- https://learn.microsoft.com/en-us/windows-server/get-started/extended-security-updates-overview</a:t>
            </a:r>
          </a:p>
          <a:p>
            <a:r>
              <a:rPr lang="en-US"/>
              <a:t>- https://learn.microsoft.com/en-us/lifecycle/faq/extended-security-updates</a:t>
            </a:r>
          </a:p>
          <a:p>
            <a:r>
              <a:rPr lang="en-US"/>
              <a:t>- https://learn.microsoft.com/en-us/azure/azure-arc/servers/license-extended-security-updates</a:t>
            </a:r>
          </a:p>
          <a:p>
            <a:r>
              <a:rPr lang="en-US"/>
              <a:t>- https://learn.microsoft.com/en-us/azure/update-manager/update-manager-faq</a:t>
            </a:r>
          </a:p>
          <a:p>
            <a:r>
              <a:rPr lang="en-US"/>
              <a:t>- https://prices.azure.com/api/retail/prices</a:t>
            </a:r>
          </a:p>
        </p:txBody>
      </p:sp>
      <p:sp>
        <p:nvSpPr>
          <p:cNvPr id="4" name="Slide Number Placeholder 3"/>
          <p:cNvSpPr>
            <a:spLocks noGrp="1"/>
          </p:cNvSpPr>
          <p:nvPr>
            <p:ph type="sldNum" sz="quarter" idx="5"/>
          </p:nvPr>
        </p:nvSpPr>
        <p:spPr/>
        <p:txBody>
          <a:bodyPr/>
          <a:lstStyle/>
          <a:p>
            <a:fld id="{B1D88662-271E-4EAF-8921-76C7B6633C96}" type="slidenum">
              <a:rPr lang="en-US" smtClean="0"/>
              <a:t>46</a:t>
            </a:fld>
            <a:endParaRPr lang="en-US"/>
          </a:p>
        </p:txBody>
      </p:sp>
    </p:spTree>
    <p:extLst>
      <p:ext uri="{BB962C8B-B14F-4D97-AF65-F5344CB8AC3E}">
        <p14:creationId xmlns:p14="http://schemas.microsoft.com/office/powerpoint/2010/main" val="40202006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shows one update process working across two hosting locations. A single Azure Resource Graph query lists pending updates for on-premises and AWS Arc-enabled servers with their assessment times. A maintenance configuration's dynamic scope selects machines by tags from both environments, and changing a machine's tag moves it between schedules without editing any list.
A one-time update limited to security updates is then applied to two canary machines, one on-premises and one in AWS, followed by the run result for each and a fresh assessment. The run result shows that patching ran; fresh compliance and a working service show the outcome. Production workers are patched in their own planned windows, never ad hoc during a demonstration.</a:t>
            </a:r>
          </a:p>
          <a:p>
            <a:endParaRPr lang="en-US"/>
          </a:p>
          <a:p>
            <a:r>
              <a:rPr lang="en-US"/>
              <a:t>[Sources]</a:t>
            </a:r>
          </a:p>
          <a:p>
            <a:r>
              <a:rPr lang="en-US"/>
              <a:t>- https://learn.microsoft.com/en-us/azure/update-manager/query-logs</a:t>
            </a:r>
          </a:p>
          <a:p>
            <a:r>
              <a:rPr lang="en-US"/>
              <a:t>- https://learn.microsoft.com/en-us/azure/update-manager/deploy-updates</a:t>
            </a:r>
          </a:p>
          <a:p>
            <a:r>
              <a:rPr lang="en-US"/>
              <a:t>- https://learn.microsoft.com/en-us/azure/update-manager/dynamic-scope-overview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47</a:t>
            </a:fld>
            <a:endParaRPr lang="en-US"/>
          </a:p>
        </p:txBody>
      </p:sp>
    </p:spTree>
    <p:extLst>
      <p:ext uri="{BB962C8B-B14F-4D97-AF65-F5344CB8AC3E}">
        <p14:creationId xmlns:p14="http://schemas.microsoft.com/office/powerpoint/2010/main" val="26561062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Arc-enabled Kubernetes onboarding, an EKS cluster can use supported Azure management capabilities such as GitOps with Flux. The cluster remains EKS, with its AWS lifecycle and platform responsibilities intact.
Flux applies declared configuration from a source repository and reconciles the target cluster toward that state. The example uses a bounded namespaced object so that the source and resulting configuration can be inspected clearly. This management action is different from discovering the cluster or creating its Arc connection.
Prerequisites include the connected cluster, required agents and extension, source access, Azure authorization, and the intended Kubernetes scope. Verification should connect the EKS ARN, Azure cluster ID, source revision, Flux status, and actual Kubernetes object. A successful Azure configuration submission alone is weaker evidence than observing reconciliation in the cluster.</a:t>
            </a:r>
          </a:p>
          <a:p>
            <a:endParaRPr lang="en-US"/>
          </a:p>
          <a:p>
            <a:r>
              <a:rPr lang="en-US"/>
              <a:t>[Sources]</a:t>
            </a:r>
          </a:p>
          <a:p>
            <a:r>
              <a:rPr lang="en-US"/>
              <a:t>- https://learn.microsoft.com/en-us/azure/azure-arc/multicloud-connector/onboard-elastic-kubernetes-service-clusters-arc</a:t>
            </a:r>
          </a:p>
          <a:p>
            <a:r>
              <a:rPr lang="en-US"/>
              <a:t>- https://learn.microsoft.com/en-us/azure/azure-arc/kubernetes/conceptual-gitops-flux2</a:t>
            </a:r>
          </a:p>
        </p:txBody>
      </p:sp>
      <p:sp>
        <p:nvSpPr>
          <p:cNvPr id="4" name="Slide Number Placeholder 3"/>
          <p:cNvSpPr>
            <a:spLocks noGrp="1"/>
          </p:cNvSpPr>
          <p:nvPr>
            <p:ph type="sldNum" sz="quarter" idx="5"/>
          </p:nvPr>
        </p:nvSpPr>
        <p:spPr/>
        <p:txBody>
          <a:bodyPr/>
          <a:lstStyle/>
          <a:p>
            <a:fld id="{B1D88662-271E-4EAF-8921-76C7B6633C96}" type="slidenum">
              <a:rPr lang="en-US" smtClean="0"/>
              <a:t>48</a:t>
            </a:fld>
            <a:endParaRPr lang="en-US"/>
          </a:p>
        </p:txBody>
      </p:sp>
    </p:spTree>
    <p:extLst>
      <p:ext uri="{BB962C8B-B14F-4D97-AF65-F5344CB8AC3E}">
        <p14:creationId xmlns:p14="http://schemas.microsoft.com/office/powerpoint/2010/main" val="36419745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Flux demonstration proves a configuration result on the already-connected EKS cluster. It maps the source cluster to its Azure representation, inspects the GitOps configuration and source revision, and checks the resulting CAS26 object inside the intended namespace.
Reconciliation is asynchronous. A submitted configuration and a completed reconciliation are different states. The strongest evidence combines the relevant Azure status with the actual Kubernetes object and its expected content. A similarly named existing object alone does not prove that the demonstrated source revision was applied.
The example is bounded to CAS26-owned configuration. Reset follows its defined cleanup behavior rather than assuming that deleting a management configuration reverses every cluster change. This completes the progression from discovery through onboarding to management proof, while AWS continues to own the EKS platform lifecycle.</a:t>
            </a:r>
          </a:p>
          <a:p>
            <a:endParaRPr lang="en-US"/>
          </a:p>
          <a:p>
            <a:r>
              <a:rPr lang="en-US"/>
              <a:t>[Sources]</a:t>
            </a:r>
          </a:p>
          <a:p>
            <a:r>
              <a:rPr lang="en-US"/>
              <a:t>- https://learn.microsoft.com/en-us/azure/azure-arc/kubernetes/conceptual-gitops-flux2</a:t>
            </a:r>
          </a:p>
          <a:p>
            <a:r>
              <a:rPr lang="en-US"/>
              <a:t>- https://learn.microsoft.com/en-us/azure/azure-arc/kubernetes/tutorial-use-gitops-flux2</a:t>
            </a:r>
          </a:p>
        </p:txBody>
      </p:sp>
      <p:sp>
        <p:nvSpPr>
          <p:cNvPr id="4" name="Slide Number Placeholder 3"/>
          <p:cNvSpPr>
            <a:spLocks noGrp="1"/>
          </p:cNvSpPr>
          <p:nvPr>
            <p:ph type="sldNum" sz="quarter" idx="5"/>
          </p:nvPr>
        </p:nvSpPr>
        <p:spPr/>
        <p:txBody>
          <a:bodyPr/>
          <a:lstStyle/>
          <a:p>
            <a:fld id="{B1D88662-271E-4EAF-8921-76C7B6633C96}" type="slidenum">
              <a:rPr lang="en-US" smtClean="0"/>
              <a:t>49</a:t>
            </a:fld>
            <a:endParaRPr lang="en-US"/>
          </a:p>
        </p:txBody>
      </p:sp>
    </p:spTree>
    <p:extLst>
      <p:ext uri="{BB962C8B-B14F-4D97-AF65-F5344CB8AC3E}">
        <p14:creationId xmlns:p14="http://schemas.microsoft.com/office/powerpoint/2010/main" val="40109788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four of five: Cost. The question: what does it cost, and how do we keep it in check? This section covers what Azure Arc costs, how to see and control hybrid cost, log transformations that filter monitoring data before it is stored, and the full cost of a hybrid service.</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50</a:t>
            </a:fld>
            <a:endParaRPr lang="en-US"/>
          </a:p>
        </p:txBody>
      </p:sp>
    </p:spTree>
    <p:extLst>
      <p:ext uri="{BB962C8B-B14F-4D97-AF65-F5344CB8AC3E}">
        <p14:creationId xmlns:p14="http://schemas.microsoft.com/office/powerpoint/2010/main" val="3737872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 Arc control plane capabilities are free: resource organization with management groups and tags, Azure Resource Graph, Azure RBAC, and templates and extensions, as well as inventory and VM operations for Arc-enabled SCVMM and VMware vSphere. Azure services used with Arc are billed at their own rates: for example Azure Monitor data ingestion and retention, Microsoft Defender for Servers, Microsoft Sentinel, Azure Update Manager (per Arc-enabled server per month, prorated daily), machine configuration, change tracking and Extended Security Updates.
Windows Server Management enabled by Azure Arc provides Azure Update Manager, Change Tracking and Inventory, machine configuration and Windows Admin Center at no extra cost for servers with active Software Assurance or subscription licences, after attestation, or enrolled in Windows Server pay-as-you-go. Update Manager is also free for servers enrolled in Extended Security Updates through Arc and for subscriptions with Defender for Servers Plan 2.</a:t>
            </a:r>
          </a:p>
          <a:p>
            <a:endParaRPr lang="en-US"/>
          </a:p>
          <a:p>
            <a:r>
              <a:rPr lang="en-US"/>
              <a:t>[Sources]</a:t>
            </a:r>
          </a:p>
          <a:p>
            <a:r>
              <a:rPr lang="en-US"/>
              <a:t>- https://learn.microsoft.com/en-us/azure/azure-arc/overview#pricing</a:t>
            </a:r>
          </a:p>
          <a:p>
            <a:r>
              <a:rPr lang="en-US"/>
              <a:t>- https://learn.microsoft.com/en-us/azure/azure-arc/servers/windows-server-management-overview</a:t>
            </a:r>
          </a:p>
          <a:p>
            <a:r>
              <a:rPr lang="en-US"/>
              <a:t>- https://learn.microsoft.com/en-us/azure/update-manager/update-manager-faq#pricing</a:t>
            </a:r>
          </a:p>
        </p:txBody>
      </p:sp>
      <p:sp>
        <p:nvSpPr>
          <p:cNvPr id="4" name="Slide Number Placeholder 3"/>
          <p:cNvSpPr>
            <a:spLocks noGrp="1"/>
          </p:cNvSpPr>
          <p:nvPr>
            <p:ph type="sldNum" sz="quarter" idx="5"/>
          </p:nvPr>
        </p:nvSpPr>
        <p:spPr/>
        <p:txBody>
          <a:bodyPr/>
          <a:lstStyle/>
          <a:p>
            <a:fld id="{B1D88662-271E-4EAF-8921-76C7B6633C96}" type="slidenum">
              <a:rPr lang="en-US" smtClean="0"/>
              <a:t>51</a:t>
            </a:fld>
            <a:endParaRPr lang="en-US"/>
          </a:p>
        </p:txBody>
      </p:sp>
    </p:spTree>
    <p:extLst>
      <p:ext uri="{BB962C8B-B14F-4D97-AF65-F5344CB8AC3E}">
        <p14:creationId xmlns:p14="http://schemas.microsoft.com/office/powerpoint/2010/main" val="974245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Managing cost in a hybrid operating model has two parts. Visibility: Microsoft Cost Management reports Microsoft cloud spend; consistent tags, enforced with Azure Policy, let costs roll up by service and owner; budgets and anomaly alerts give early warning; and costs from AWS and on-premises tools can be joined using the same tags, for example with FOCUS-format exports. Control: five levers are telemetry (collect only what answers an operating question), licensing (Software Assurance benefits, Azure Hybrid Benefit, pay-as-you-go), commitments (reservations and savings plans for Azure resources), right-sizing and clean-up (Azure Advisor), and guardrails (Policy that requires tags and restricts expensive choices).</a:t>
            </a:r>
          </a:p>
          <a:p>
            <a:endParaRPr lang="en-US"/>
          </a:p>
          <a:p>
            <a:r>
              <a:rPr lang="en-US"/>
              <a:t>[Sources]</a:t>
            </a:r>
          </a:p>
          <a:p>
            <a:r>
              <a:rPr lang="en-US"/>
              <a:t>- https://learn.microsoft.com/en-us/azure/cost-management-billing/costs/overview-cost-management</a:t>
            </a:r>
          </a:p>
        </p:txBody>
      </p:sp>
      <p:sp>
        <p:nvSpPr>
          <p:cNvPr id="4" name="Slide Number Placeholder 3"/>
          <p:cNvSpPr>
            <a:spLocks noGrp="1"/>
          </p:cNvSpPr>
          <p:nvPr>
            <p:ph type="sldNum" sz="quarter" idx="5"/>
          </p:nvPr>
        </p:nvSpPr>
        <p:spPr/>
        <p:txBody>
          <a:bodyPr/>
          <a:lstStyle/>
          <a:p>
            <a:fld id="{B1D88662-271E-4EAF-8921-76C7B6633C96}" type="slidenum">
              <a:rPr lang="en-US" smtClean="0"/>
              <a:t>52</a:t>
            </a:fld>
            <a:endParaRPr lang="en-US"/>
          </a:p>
        </p:txBody>
      </p:sp>
    </p:spTree>
    <p:extLst>
      <p:ext uri="{BB962C8B-B14F-4D97-AF65-F5344CB8AC3E}">
        <p14:creationId xmlns:p14="http://schemas.microsoft.com/office/powerpoint/2010/main" val="40055452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Transformations in Azure Monitor are KQL queries in a data collection rule (DCR) that run on each incoming record before it is stored in a Log Analytics workspace. Filtering rows (for example with where) and removing unneeded columns (with project-away) reduces billable ingestion; transformations can also mask or remove sensitive data. Multi-stage transformations (preview) can run on the Azure Monitor agent, before data leaves the machine.
If a transformation drops more than 50% of the incoming data sent to Analytics or Basic tables, the dropped data beyond 50% incurs a data processing charge (for example, 20 GB in with 12 GB dropped is billed as 8 GB ingestion and 2 GB processing). This charge does not apply to Analytics tables in a workspace with Microsoft Sentinel enabled.
Table plans are a related cost control: Analytics (full features), Basic (reduced ingestion price, query charges, for troubleshooting) and Auxiliary (lowest ingestion price, for low-touch audit data).</a:t>
            </a:r>
          </a:p>
          <a:p>
            <a:endParaRPr lang="en-US"/>
          </a:p>
          <a:p>
            <a:r>
              <a:rPr lang="en-US"/>
              <a:t>[Sources]</a:t>
            </a:r>
          </a:p>
          <a:p>
            <a:r>
              <a:rPr lang="en-US"/>
              <a:t>- https://learn.microsoft.com/en-us/azure/azure-monitor/data-collection/data-collection-transformations</a:t>
            </a:r>
          </a:p>
          <a:p>
            <a:r>
              <a:rPr lang="en-US"/>
              <a:t>- https://learn.microsoft.com/en-us/azure/azure-monitor/data-collection/data-collection-transformations-samples</a:t>
            </a:r>
          </a:p>
          <a:p>
            <a:r>
              <a:rPr lang="en-US"/>
              <a:t>- https://learn.microsoft.com/en-us/azure/azure-monitor/logs/data-platform-logs#table-plans</a:t>
            </a:r>
          </a:p>
        </p:txBody>
      </p:sp>
      <p:sp>
        <p:nvSpPr>
          <p:cNvPr id="4" name="Slide Number Placeholder 3"/>
          <p:cNvSpPr>
            <a:spLocks noGrp="1"/>
          </p:cNvSpPr>
          <p:nvPr>
            <p:ph type="sldNum" sz="quarter" idx="5"/>
          </p:nvPr>
        </p:nvSpPr>
        <p:spPr/>
        <p:txBody>
          <a:bodyPr/>
          <a:lstStyle/>
          <a:p>
            <a:fld id="{B1D88662-271E-4EAF-8921-76C7B6633C96}" type="slidenum">
              <a:rPr lang="en-US" smtClean="0"/>
              <a:t>53</a:t>
            </a:fld>
            <a:endParaRPr lang="en-US"/>
          </a:p>
        </p:txBody>
      </p:sp>
    </p:spTree>
    <p:extLst>
      <p:ext uri="{BB962C8B-B14F-4D97-AF65-F5344CB8AC3E}">
        <p14:creationId xmlns:p14="http://schemas.microsoft.com/office/powerpoint/2010/main" val="35496632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Total hybrid operating cost includes more than Azure service charges. A useful model separates capability and entitlement, metered Azure usage and allocation, source-environment infrastructure or transfer, and people and tooling effort.
A workload hosted on SCVMM or AWS continues consuming resources there even when Azure manages its representation. Monitoring, protection, and analytics can add further service costs. Shared platforms may require an explicit allocation method because resource tags alone do not divide every charge accurately.
Current entitlements and prices must be checked against the applicable plan and agreement. The session supplies a way to explain cost, not a universal quotation or an observed invoice. The resulting review should connect usage to a workload owner and a decision: retain, tune, replace, or retire a capability based on its operating value.</a:t>
            </a:r>
          </a:p>
          <a:p>
            <a:endParaRPr lang="en-US"/>
          </a:p>
          <a:p>
            <a:r>
              <a:rPr lang="en-US"/>
              <a:t>[Sources]</a:t>
            </a:r>
          </a:p>
          <a:p>
            <a:r>
              <a:rPr lang="en-US"/>
              <a:t>- https://learn.microsoft.com/en-us/azure/azure-monitor/logs/cost-logs</a:t>
            </a:r>
          </a:p>
          <a:p>
            <a:r>
              <a:rPr lang="en-US"/>
              <a:t>- https://learn.microsoft.com/en-us/azure/cost-management-billing/costs/understand-work-scopes</a:t>
            </a:r>
          </a:p>
        </p:txBody>
      </p:sp>
      <p:sp>
        <p:nvSpPr>
          <p:cNvPr id="4" name="Slide Number Placeholder 3"/>
          <p:cNvSpPr>
            <a:spLocks noGrp="1"/>
          </p:cNvSpPr>
          <p:nvPr>
            <p:ph type="sldNum" sz="quarter" idx="5"/>
          </p:nvPr>
        </p:nvSpPr>
        <p:spPr/>
        <p:txBody>
          <a:bodyPr/>
          <a:lstStyle/>
          <a:p>
            <a:fld id="{B1D88662-271E-4EAF-8921-76C7B6633C96}" type="slidenum">
              <a:rPr lang="en-US" smtClean="0"/>
              <a:t>54</a:t>
            </a:fld>
            <a:endParaRPr lang="en-US"/>
          </a:p>
        </p:txBody>
      </p:sp>
    </p:spTree>
    <p:extLst>
      <p:ext uri="{BB962C8B-B14F-4D97-AF65-F5344CB8AC3E}">
        <p14:creationId xmlns:p14="http://schemas.microsoft.com/office/powerpoint/2010/main" val="25025306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five of five: Adopt the patterns. The question: did the fix work, and what do we keep doing? This section covers letting systems make fixes safely, the playbook, what to unlearn, and a first thirty days.</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55</a:t>
            </a:fld>
            <a:endParaRPr lang="en-US"/>
          </a:p>
        </p:txBody>
      </p:sp>
    </p:spTree>
    <p:extLst>
      <p:ext uri="{BB962C8B-B14F-4D97-AF65-F5344CB8AC3E}">
        <p14:creationId xmlns:p14="http://schemas.microsoft.com/office/powerpoint/2010/main" val="33268513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the topic is fixes that systems make on your behalf, such as Azure Policy remediation, scheduled patching with Azure Update Manager, and Flux reconciliation, rather than CI/CD pipelines. There are three levels: report only, where a person reviews and nothing changes on its own; fix with approval, where the system proposes a change and a person approves it; and continuous correction, where the system corrects drift on its own. Every level should end with verification of the resource and the service outcome, with a defined response when the check fails. Before allowing a system to make fixes, define the owner, permissions, blast radius, stop conditions and the evidence that proves the fix worked.</a:t>
            </a:r>
          </a:p>
          <a:p>
            <a:endParaRPr lang="en-US"/>
          </a:p>
          <a:p>
            <a:r>
              <a:rPr lang="en-US"/>
              <a:t>[Sources]</a:t>
            </a:r>
          </a:p>
          <a:p>
            <a:r>
              <a:rPr lang="en-US"/>
              <a:t>- https://learn.microsoft.com/en-us/azure/governance/policy/overview</a:t>
            </a:r>
          </a:p>
          <a:p>
            <a:r>
              <a:rPr lang="en-US"/>
              <a:t>- https://learn.microsoft.com/en-us/azure/governance/policy/how-to/remediate-resources</a:t>
            </a:r>
          </a:p>
          <a:p>
            <a:r>
              <a:rPr lang="en-US"/>
              <a:t>- https://learn.microsoft.com/en-us/azure/azure-arc/kubernetes/conceptual-gitops-flux2</a:t>
            </a:r>
          </a:p>
        </p:txBody>
      </p:sp>
      <p:sp>
        <p:nvSpPr>
          <p:cNvPr id="4" name="Slide Number Placeholder 3"/>
          <p:cNvSpPr>
            <a:spLocks noGrp="1"/>
          </p:cNvSpPr>
          <p:nvPr>
            <p:ph type="sldNum" sz="quarter" idx="5"/>
          </p:nvPr>
        </p:nvSpPr>
        <p:spPr/>
        <p:txBody>
          <a:bodyPr/>
          <a:lstStyle/>
          <a:p>
            <a:fld id="{B1D88662-271E-4EAF-8921-76C7B6633C96}" type="slidenum">
              <a:rPr lang="en-US" smtClean="0"/>
              <a:t>56</a:t>
            </a:fld>
            <a:endParaRPr lang="en-US"/>
          </a:p>
        </p:txBody>
      </p:sp>
    </p:spTree>
    <p:extLst>
      <p:ext uri="{BB962C8B-B14F-4D97-AF65-F5344CB8AC3E}">
        <p14:creationId xmlns:p14="http://schemas.microsoft.com/office/powerpoint/2010/main" val="36627495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playbook turns each section into a practice with an owner, a next action and evidence. Observe: one place to look and one alert on the service outcome. Secure: apply least-privilege rules to people, machines and tools that make changes, and confirm Defender coverage. Govern: place resources in the designed landing zone, assign a compliance standard with Azure Policy, and use one patch process. Cost: enforce tags, attest Software Assurance benefits and set budgets per service. Adopt: allow systems to make fixes only where a verification step proves the outcome.</a:t>
            </a:r>
          </a:p>
          <a:p>
            <a:endParaRPr lang="en-US"/>
          </a:p>
          <a:p>
            <a:r>
              <a:rPr lang="en-US"/>
              <a:t>[Sources]</a:t>
            </a:r>
          </a:p>
          <a:p>
            <a:r>
              <a:rPr lang="en-US"/>
              <a:t>- https://learn.microsoft.com/en-us/azure/cloud-adoption-framework/scenarios/hybrid/arc-enabled-servers/eslz-management-and-monitoring-arc-server</a:t>
            </a:r>
          </a:p>
          <a:p>
            <a:r>
              <a:rPr lang="en-US"/>
              <a:t>- https://learn.microsoft.com/en-us/azure/governance/policy/overview</a:t>
            </a:r>
          </a:p>
          <a:p>
            <a:r>
              <a:rPr lang="en-US"/>
              <a:t>- https://learn.microsoft.com/en-us/azure/update-manager/overview</a:t>
            </a:r>
          </a:p>
          <a:p>
            <a:r>
              <a:rPr lang="en-US"/>
              <a:t>- https://learn.microsoft.com/en-us/azure/azure-monitor/logs/cost-logs</a:t>
            </a:r>
          </a:p>
        </p:txBody>
      </p:sp>
      <p:sp>
        <p:nvSpPr>
          <p:cNvPr id="4" name="Slide Number Placeholder 3"/>
          <p:cNvSpPr>
            <a:spLocks noGrp="1"/>
          </p:cNvSpPr>
          <p:nvPr>
            <p:ph type="sldNum" sz="quarter" idx="5"/>
          </p:nvPr>
        </p:nvSpPr>
        <p:spPr/>
        <p:txBody>
          <a:bodyPr/>
          <a:lstStyle/>
          <a:p>
            <a:fld id="{B1D88662-271E-4EAF-8921-76C7B6633C96}" type="slidenum">
              <a:rPr lang="en-US" smtClean="0"/>
              <a:t>57</a:t>
            </a:fld>
            <a:endParaRPr lang="en-US"/>
          </a:p>
        </p:txBody>
      </p:sp>
    </p:spTree>
    <p:extLst>
      <p:ext uri="{BB962C8B-B14F-4D97-AF65-F5344CB8AC3E}">
        <p14:creationId xmlns:p14="http://schemas.microsoft.com/office/powerpoint/2010/main" val="36141731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assumptions are worth retiring. A heartbeat does not prove the service works. A connected resource is not necessarily secured. A policy assignment is not the same as compliance. A missing cost line does not mean a service is free. A completed task does not prove recovery. Each has a check: a fresh transaction, access and coverage review, evaluation results, the meter and licence benefit, and outcome verification.</a:t>
            </a:r>
          </a:p>
          <a:p>
            <a:endParaRPr lang="en-US"/>
          </a:p>
          <a:p>
            <a:r>
              <a:rPr lang="en-US"/>
              <a:t>[Sources]</a:t>
            </a:r>
          </a:p>
          <a:p>
            <a:r>
              <a:rPr lang="en-US"/>
              <a:t>- https://learn.microsoft.com/en-us/azure/azure-arc/servers/overview</a:t>
            </a:r>
          </a:p>
          <a:p>
            <a:r>
              <a:rPr lang="en-US"/>
              <a:t>- https://learn.microsoft.com/en-us/azure/governance/policy/how-to/get-compliance-data</a:t>
            </a:r>
          </a:p>
          <a:p>
            <a:r>
              <a:rPr lang="en-US"/>
              <a:t>- https://learn.microsoft.com/en-us/azure/azure-monitor/health-models/overview</a:t>
            </a:r>
          </a:p>
          <a:p>
            <a:r>
              <a:rPr lang="en-US"/>
              <a:t>- https://learn.microsoft.com/en-us/azure/azure-monitor/logs/cost-logs</a:t>
            </a:r>
          </a:p>
        </p:txBody>
      </p:sp>
      <p:sp>
        <p:nvSpPr>
          <p:cNvPr id="4" name="Slide Number Placeholder 3"/>
          <p:cNvSpPr>
            <a:spLocks noGrp="1"/>
          </p:cNvSpPr>
          <p:nvPr>
            <p:ph type="sldNum" sz="quarter" idx="5"/>
          </p:nvPr>
        </p:nvSpPr>
        <p:spPr/>
        <p:txBody>
          <a:bodyPr/>
          <a:lstStyle/>
          <a:p>
            <a:fld id="{B1D88662-271E-4EAF-8921-76C7B6633C96}" type="slidenum">
              <a:rPr lang="en-US" smtClean="0"/>
              <a:t>58</a:t>
            </a:fld>
            <a:endParaRPr lang="en-US"/>
          </a:p>
        </p:txBody>
      </p:sp>
    </p:spTree>
    <p:extLst>
      <p:ext uri="{BB962C8B-B14F-4D97-AF65-F5344CB8AC3E}">
        <p14:creationId xmlns:p14="http://schemas.microsoft.com/office/powerpoint/2010/main" val="26628652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practical first month: in week one, inventory resources and name owners; in week two, review access against least-privilege rules, place resources in the landing zone and assign a compliance standard; in week three, build one service view and one alert on the service outcome; in week four, enforce tags and budgets and introduce one system-made fix that is verified by a fresh transaction. Start with one service and repeat the pattern.</a:t>
            </a:r>
          </a:p>
          <a:p>
            <a:endParaRPr lang="en-US"/>
          </a:p>
          <a:p>
            <a:r>
              <a:rPr lang="en-US"/>
              <a:t>[Sources]</a:t>
            </a:r>
          </a:p>
          <a:p>
            <a:r>
              <a:rPr lang="en-US"/>
              <a:t>- https://learn.microsoft.com/en-us/azure/cloud-adoption-framework/scenarios/hybrid/arc-enabled-servers/landing-zone-accelerator</a:t>
            </a:r>
          </a:p>
          <a:p>
            <a:r>
              <a:rPr lang="en-US"/>
              <a:t>- https://learn.microsoft.com/en-us/azure/cloud-adoption-framework/scenarios/hybrid/arc-enabled-servers/eslz-identity-and-access-management</a:t>
            </a:r>
          </a:p>
        </p:txBody>
      </p:sp>
      <p:sp>
        <p:nvSpPr>
          <p:cNvPr id="4" name="Slide Number Placeholder 3"/>
          <p:cNvSpPr>
            <a:spLocks noGrp="1"/>
          </p:cNvSpPr>
          <p:nvPr>
            <p:ph type="sldNum" sz="quarter" idx="5"/>
          </p:nvPr>
        </p:nvSpPr>
        <p:spPr/>
        <p:txBody>
          <a:bodyPr/>
          <a:lstStyle/>
          <a:p>
            <a:fld id="{B1D88662-271E-4EAF-8921-76C7B6633C96}" type="slidenum">
              <a:rPr lang="en-US" smtClean="0"/>
              <a:t>59</a:t>
            </a:fld>
            <a:endParaRPr lang="en-US"/>
          </a:p>
        </p:txBody>
      </p:sp>
    </p:spTree>
    <p:extLst>
      <p:ext uri="{BB962C8B-B14F-4D97-AF65-F5344CB8AC3E}">
        <p14:creationId xmlns:p14="http://schemas.microsoft.com/office/powerpoint/2010/main" val="31474640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Contact Kristopher Turner at kris@hybridsolutions.cloud for follow-up. The accompanying repository and attendee material provide the slide explanations, technical references, and demonstration context.
Examples must be adapted to the reader's own identities, permissions, supported platforms, and resource scopes. Demonstration configuration is not a universal production baseline. Use the material to preserve the operating questions and verification approach while designing the appropriate implementation for your environment.</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19923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Whole-Service Observability complements this session with implementation depth in telemetry collection, correlation, dependencies, Health Models, investigation, and recovery verification. Hybrid Operations establishes the broader management, security, governance, cost, and operating context.
The sessions share the environment and workload identities, but each has its own teaching purpose. Health-model authoring and detailed signal configuration belong in the observability session. The overview here is sufficient to distinguish machine evidence from the service outcome and understand the management decisions built around it.
Both sessions use the same example application, IIC Hybrid Orders, running in Azure, AWS and an on-premises private cloud. This session operates it; the companion session builds its Health Model, introduces a controlled fault in one cloud and proves recovery with a new order.</a:t>
            </a:r>
          </a:p>
          <a:p>
            <a:endParaRPr lang="en-US"/>
          </a:p>
          <a:p>
            <a:r>
              <a:rPr lang="en-US"/>
              <a:t>[Sources]</a:t>
            </a:r>
          </a:p>
          <a:p>
            <a:r>
              <a:rPr lang="en-US"/>
              <a:t>- Presenter contract and repository implementation.</a:t>
            </a:r>
          </a:p>
        </p:txBody>
      </p:sp>
    </p:spTree>
    <p:extLst>
      <p:ext uri="{BB962C8B-B14F-4D97-AF65-F5344CB8AC3E}">
        <p14:creationId xmlns:p14="http://schemas.microsoft.com/office/powerpoint/2010/main" val="19864864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The recommended conference sessions extend the themes of hybrid management, security, governance, and observability. Consult the current event programme for final titles, speakers, times, and locations. Recommendations are intended to help select a relevant next topic rather than imply that another session is required to understand this one.</a:t>
            </a:r>
          </a:p>
          <a:p>
            <a:endParaRPr lang="en-US"/>
          </a:p>
          <a:p>
            <a:r>
              <a:rPr lang="en-US"/>
              <a:t>[Sources]</a:t>
            </a:r>
          </a:p>
          <a:p>
            <a:r>
              <a:rPr lang="en-US"/>
              <a:t>- Presenter contract and repository implementation.</a:t>
            </a:r>
          </a:p>
        </p:txBody>
      </p:sp>
    </p:spTree>
    <p:extLst>
      <p:ext uri="{BB962C8B-B14F-4D97-AF65-F5344CB8AC3E}">
        <p14:creationId xmlns:p14="http://schemas.microsoft.com/office/powerpoint/2010/main" val="10637082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Use the closing discussion to apply the operating model to a concrete workload. Useful questions identify the resource, owner, evidence source, permission boundary, intended action, and condition that would prove success.
Environment-specific answers can depend on current configuration, supported versions, service availability, licensing, and scope. The session provides a method for asking and verifying those questions rather than assuming every hybrid estate has the same capabilities or operating constraints.</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9548153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closing slide provides the feedback link for Hybrid Operations in 2026 and points to the public CAS26 repository. Use the QR code to share feedback while the slide is displayed; it tells the presenter which parts of the operating model were clear and which need more work.
The repository contains the storyboard, deck materials, demo runbooks, lab documentation, handouts and references, including the design of the IIC Hybrid Orders example application. Each demo runbook states its prerequisites, expected evidence and reset steps, so it can be adapted to your own environment. Private credentials and environment-specific configuration are not included.</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64</a:t>
            </a:fld>
            <a:endParaRPr lang="en-US"/>
          </a:p>
        </p:txBody>
      </p:sp>
    </p:spTree>
    <p:extLst>
      <p:ext uri="{BB962C8B-B14F-4D97-AF65-F5344CB8AC3E}">
        <p14:creationId xmlns:p14="http://schemas.microsoft.com/office/powerpoint/2010/main" val="3058421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DB0B4-8ABE-73C2-3191-07D291D58F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D0EEF4-A2A3-F608-5609-D096CDD7E0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259685-F163-2DC6-9085-B9A4FF055993}"/>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78F1171E-88FC-0297-AC6B-79C9C6C01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9CA40-2D92-13C4-48C0-0B6CC58009CD}"/>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2948697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F2EDE-01A8-9A87-9E41-EBFD95B442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DAA310-040A-BDEF-C2D2-A19C010523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4A2E20-0D6C-56B5-8863-DB0B7D775E07}"/>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FAB3BFDD-7BD6-E5B2-4C0B-962BE88FCA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7ACE6-2569-368B-3907-75629F38601C}"/>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3788350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F620E-8881-0846-63C8-0835B0EAB8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D9C94-4BB3-6E95-F9C4-F93DB5EB8C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9D43FD-860B-5B62-8940-FC8F2CC4DCD1}"/>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37B8E17E-4092-095A-188D-32A0D90E39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19B89-A726-EF53-4DD9-3AD70DA06893}"/>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151658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8DC77-3CA2-DA83-4146-3DA20F3511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ED9E15-4FF4-F176-1178-F1CAD4565D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983C88-015B-8ED1-1976-A4A106BF0D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0957AD-3F53-E132-24F8-072A9F11795C}"/>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6" name="Footer Placeholder 5">
            <a:extLst>
              <a:ext uri="{FF2B5EF4-FFF2-40B4-BE49-F238E27FC236}">
                <a16:creationId xmlns:a16="http://schemas.microsoft.com/office/drawing/2014/main" id="{8682D44E-7A0D-AACE-85C6-96C0F8A7C1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1AE644-E8C9-EDD3-5B16-355053843BF5}"/>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4212700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30C37-32FE-B55C-BF95-1CC335E854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A6388E-9E56-43E4-9882-AC4CCA939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32F39E-F27B-FD95-62C1-1F1744DA4D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02EE7F-839A-D7B2-47E6-11F35E1B3A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5EE924-408D-3D71-B2A5-CDFAF0C6DB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3BD49A-0EA2-754A-752A-A74D6EF27F5D}"/>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8" name="Footer Placeholder 7">
            <a:extLst>
              <a:ext uri="{FF2B5EF4-FFF2-40B4-BE49-F238E27FC236}">
                <a16:creationId xmlns:a16="http://schemas.microsoft.com/office/drawing/2014/main" id="{87A3AF4C-2285-457F-2F45-36D7DF2308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524119-ACC2-CAB9-9CC7-9DB0213D2D48}"/>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3719113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2FC37-63A2-F7E4-5FF4-047040B21A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CD4C80-61E2-E76E-F98A-EE28DCF8F06C}"/>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4" name="Footer Placeholder 3">
            <a:extLst>
              <a:ext uri="{FF2B5EF4-FFF2-40B4-BE49-F238E27FC236}">
                <a16:creationId xmlns:a16="http://schemas.microsoft.com/office/drawing/2014/main" id="{2611C1D6-F7B1-FFB5-89D9-B64280F4CD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E83915-B7B7-D65B-4690-083CC78B2281}"/>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4028760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34897A-9716-B426-8055-F3835B327C5E}"/>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3" name="Footer Placeholder 2">
            <a:extLst>
              <a:ext uri="{FF2B5EF4-FFF2-40B4-BE49-F238E27FC236}">
                <a16:creationId xmlns:a16="http://schemas.microsoft.com/office/drawing/2014/main" id="{E43C5400-3095-77B3-7A4E-16A712475C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70F825-B515-53FA-DABF-FAE6E71546AA}"/>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109228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571C7-6185-037A-EB61-1FA7A5E271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2F5558-5E55-56A3-CBA5-641C19B202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B22DB8-7809-0286-5449-9D2F5543C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FF28FA-1F4D-5CF9-EDA7-C381DACD081B}"/>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6" name="Footer Placeholder 5">
            <a:extLst>
              <a:ext uri="{FF2B5EF4-FFF2-40B4-BE49-F238E27FC236}">
                <a16:creationId xmlns:a16="http://schemas.microsoft.com/office/drawing/2014/main" id="{675BC1F3-5AFF-BFA5-285A-B32BC09588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812895-5CDD-0D3E-0B4B-203B30CD9045}"/>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2054486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CD0BD-7BB7-0471-2F41-BB4DD5654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4D9B13-0D09-D2E4-FB68-47BEA80C21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62D8DB-FB2C-3F0F-B74D-39C2D70C72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CE50E7-6B8C-D6A9-EBFF-0BDEA2A9366A}"/>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6" name="Footer Placeholder 5">
            <a:extLst>
              <a:ext uri="{FF2B5EF4-FFF2-40B4-BE49-F238E27FC236}">
                <a16:creationId xmlns:a16="http://schemas.microsoft.com/office/drawing/2014/main" id="{181CA286-9C4C-863F-F966-13EEED6153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E22492-8F78-43FA-4E9B-71EFDDFB48A6}"/>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2263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788-1AE9-B044-3ACA-756B99E18C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309EA7-8B8C-2DF5-6365-432E46A7D2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D0E9E6-120F-74A7-1D6E-6564103BE661}"/>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21F8D334-B46B-0CFC-D5AC-A47228015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4BAB03-E90B-0362-E088-0D79F6AF3CBE}"/>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3579564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C5B71-D44F-12F3-AA70-E588821274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EC8D5C-216A-794E-01C2-FCF13BDEED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457BA-E3A4-421F-4074-C7E6842F02F9}"/>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82F74DEE-C18A-A2E8-BA24-D7B0E64DBC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B6269C-16AD-C05C-8E48-FF59814A8735}"/>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331731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Blank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2D19C4D-FC4B-A84B-8442-FBAB6DF567A6}"/>
              </a:ext>
            </a:extLst>
          </p:cNvPr>
          <p:cNvSpPr>
            <a:spLocks noGrp="1"/>
          </p:cNvSpPr>
          <p:nvPr>
            <p:ph type="sldNum" sz="quarter" idx="12"/>
          </p:nvPr>
        </p:nvSpPr>
        <p:spPr/>
        <p:txBody>
          <a:bodyPr/>
          <a:lstStyle/>
          <a:p>
            <a:fld id="{67B7F124-5653-D04E-8B9D-B7EDEBDBA7AF}" type="slidenum">
              <a:rPr lang="en-US" smtClean="0"/>
              <a:t>‹#›</a:t>
            </a:fld>
            <a:endParaRPr lang="en-US"/>
          </a:p>
        </p:txBody>
      </p:sp>
      <p:sp>
        <p:nvSpPr>
          <p:cNvPr id="3" name="Title 1">
            <a:extLst>
              <a:ext uri="{FF2B5EF4-FFF2-40B4-BE49-F238E27FC236}">
                <a16:creationId xmlns:a16="http://schemas.microsoft.com/office/drawing/2014/main" id="{96A0840D-7C21-024B-A2D6-64465F1213C0}"/>
              </a:ext>
            </a:extLst>
          </p:cNvPr>
          <p:cNvSpPr>
            <a:spLocks noGrp="1"/>
          </p:cNvSpPr>
          <p:nvPr>
            <p:ph type="title"/>
          </p:nvPr>
        </p:nvSpPr>
        <p:spPr>
          <a:xfrm>
            <a:off x="1059366" y="791737"/>
            <a:ext cx="10294433" cy="898951"/>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268569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B82E0E-B6E2-F58B-AB4B-A64DAF1889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8E4FCF-3865-D6BE-57A2-A24CCCE860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1F12BF-EBFF-3329-12D8-4FDE3C3754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C93AEEAF-18D6-88A0-DDF7-35475B28B6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EC1B87-5DCA-EFB3-9513-BE0E42198B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EBF355-761F-435F-B8BF-A045D84BF2CC}" type="slidenum">
              <a:rPr lang="en-US" smtClean="0"/>
              <a:t>‹#›</a:t>
            </a:fld>
            <a:endParaRPr lang="en-US"/>
          </a:p>
        </p:txBody>
      </p:sp>
    </p:spTree>
    <p:extLst>
      <p:ext uri="{BB962C8B-B14F-4D97-AF65-F5344CB8AC3E}">
        <p14:creationId xmlns:p14="http://schemas.microsoft.com/office/powerpoint/2010/main" val="1522167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hyperlink" Target="https://github.com/thisismydemo/cas2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D15FA5-BE58-FCA8-DB30-727F1C41DF47}"/>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Block">
            <a:extLst>
              <a:ext uri="{FF2B5EF4-FFF2-40B4-BE49-F238E27FC236}">
                <a16:creationId xmlns:a16="http://schemas.microsoft.com/office/drawing/2014/main" id="{07F276D1-87BF-1089-1F7F-C7AECB9A24E8}"/>
              </a:ext>
            </a:extLst>
          </p:cNvPr>
          <p:cNvSpPr/>
          <p:nvPr/>
        </p:nvSpPr>
        <p:spPr>
          <a:xfrm>
            <a:off x="0" y="0"/>
            <a:ext cx="5461000" cy="6858000"/>
          </a:xfrm>
          <a:prstGeom prst="rect">
            <a:avLst/>
          </a:prstGeom>
          <a:solidFill>
            <a:srgbClr val="141F3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609600" rIns="355600" rtlCol="0" anchor="ctr"/>
          <a:lstStyle/>
          <a:p>
            <a:r>
              <a:rPr lang="en-US" sz="4000" b="1">
                <a:solidFill>
                  <a:srgbClr val="FFFFFF"/>
                </a:solidFill>
                <a:latin typeface="Calibri" panose="020F0502020204030204" pitchFamily="34" charset="0"/>
              </a:rPr>
              <a:t>Hybrid Operations</a:t>
            </a:r>
          </a:p>
          <a:p>
            <a:r>
              <a:rPr lang="en-US" sz="4000" b="1">
                <a:solidFill>
                  <a:srgbClr val="FFFFFF"/>
                </a:solidFill>
                <a:latin typeface="Calibri" panose="020F0502020204030204" pitchFamily="34" charset="0"/>
              </a:rPr>
              <a:t>in 2026</a:t>
            </a:r>
          </a:p>
          <a:p>
            <a:pPr>
              <a:spcBef>
                <a:spcPts val="1800"/>
              </a:spcBef>
            </a:pPr>
            <a:r>
              <a:rPr lang="en-US" sz="2200">
                <a:solidFill>
                  <a:srgbClr val="FFFFFF"/>
                </a:solidFill>
                <a:latin typeface="Calibri" panose="020F0502020204030204" pitchFamily="34" charset="0"/>
              </a:rPr>
              <a:t>What IT Pros Need to Know</a:t>
            </a:r>
          </a:p>
          <a:p>
            <a:pPr>
              <a:spcBef>
                <a:spcPts val="2200"/>
              </a:spcBef>
            </a:pPr>
            <a:r>
              <a:rPr lang="en-US" sz="1400">
                <a:solidFill>
                  <a:srgbClr val="FFFFFF"/>
                </a:solidFill>
                <a:latin typeface="Calibri" panose="020F0502020204030204" pitchFamily="34" charset="0"/>
              </a:rPr>
              <a:t>Kristopher Turner</a:t>
            </a:r>
          </a:p>
          <a:p>
            <a:r>
              <a:rPr lang="en-US" sz="1400">
                <a:solidFill>
                  <a:srgbClr val="FFFFFF"/>
                </a:solidFill>
                <a:latin typeface="Calibri" panose="020F0502020204030204" pitchFamily="34" charset="0"/>
              </a:rPr>
              <a:t>The Cloud &amp; AI Summit 2026  ·  September 30, 2026</a:t>
            </a:r>
          </a:p>
        </p:txBody>
      </p:sp>
      <p:sp>
        <p:nvSpPr>
          <p:cNvPr id="7" name="Rectangle 6">
            <a:extLst>
              <a:ext uri="{FF2B5EF4-FFF2-40B4-BE49-F238E27FC236}">
                <a16:creationId xmlns:a16="http://schemas.microsoft.com/office/drawing/2014/main" id="{5937E1B2-6C50-5866-27B3-DFC5853C711D}"/>
              </a:ext>
            </a:extLst>
          </p:cNvPr>
          <p:cNvSpPr/>
          <p:nvPr/>
        </p:nvSpPr>
        <p:spPr>
          <a:xfrm>
            <a:off x="609600" y="1905000"/>
            <a:ext cx="889000" cy="63500"/>
          </a:xfrm>
          <a:prstGeom prst="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0966DFC-6E04-BF14-5232-22F5EADA196D}"/>
              </a:ext>
            </a:extLst>
          </p:cNvPr>
          <p:cNvSpPr/>
          <p:nvPr/>
        </p:nvSpPr>
        <p:spPr>
          <a:xfrm>
            <a:off x="6223000" y="1905000"/>
            <a:ext cx="101600" cy="7112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1C88FDB-40DD-9CE2-6EC1-BFCF0AE9D574}"/>
              </a:ext>
            </a:extLst>
          </p:cNvPr>
          <p:cNvSpPr txBox="1"/>
          <p:nvPr/>
        </p:nvSpPr>
        <p:spPr>
          <a:xfrm>
            <a:off x="6502400" y="2057400"/>
            <a:ext cx="50800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AZURE</a:t>
            </a:r>
          </a:p>
        </p:txBody>
      </p:sp>
      <p:sp>
        <p:nvSpPr>
          <p:cNvPr id="10" name="Rectangle 9">
            <a:extLst>
              <a:ext uri="{FF2B5EF4-FFF2-40B4-BE49-F238E27FC236}">
                <a16:creationId xmlns:a16="http://schemas.microsoft.com/office/drawing/2014/main" id="{4E88B91F-8394-A0E7-882D-555D40E50554}"/>
              </a:ext>
            </a:extLst>
          </p:cNvPr>
          <p:cNvSpPr/>
          <p:nvPr/>
        </p:nvSpPr>
        <p:spPr>
          <a:xfrm>
            <a:off x="6223000" y="3048000"/>
            <a:ext cx="101600" cy="711200"/>
          </a:xfrm>
          <a:prstGeom prst="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3548866-D962-46A0-F5BD-C8A5E9B9EF9F}"/>
              </a:ext>
            </a:extLst>
          </p:cNvPr>
          <p:cNvSpPr txBox="1"/>
          <p:nvPr/>
        </p:nvSpPr>
        <p:spPr>
          <a:xfrm>
            <a:off x="6502400" y="3200400"/>
            <a:ext cx="50800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ON-PREMISES PRIVATE CLOUD</a:t>
            </a:r>
          </a:p>
        </p:txBody>
      </p:sp>
      <p:sp>
        <p:nvSpPr>
          <p:cNvPr id="12" name="Rectangle 11">
            <a:extLst>
              <a:ext uri="{FF2B5EF4-FFF2-40B4-BE49-F238E27FC236}">
                <a16:creationId xmlns:a16="http://schemas.microsoft.com/office/drawing/2014/main" id="{2B498597-D20A-D7CD-10C4-66808CCFDB8A}"/>
              </a:ext>
            </a:extLst>
          </p:cNvPr>
          <p:cNvSpPr/>
          <p:nvPr/>
        </p:nvSpPr>
        <p:spPr>
          <a:xfrm>
            <a:off x="6223000" y="4191000"/>
            <a:ext cx="101600" cy="711200"/>
          </a:xfrm>
          <a:prstGeom prst="rect">
            <a:avLst/>
          </a:prstGeom>
          <a:solidFill>
            <a:srgbClr val="141F3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3BB0CDF-E941-EE5C-472E-8E8F61D6EECA}"/>
              </a:ext>
            </a:extLst>
          </p:cNvPr>
          <p:cNvSpPr txBox="1"/>
          <p:nvPr/>
        </p:nvSpPr>
        <p:spPr>
          <a:xfrm>
            <a:off x="6502400" y="4343400"/>
            <a:ext cx="50800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AWS</a:t>
            </a:r>
          </a:p>
        </p:txBody>
      </p:sp>
      <p:sp>
        <p:nvSpPr>
          <p:cNvPr id="14" name="TextBox 13">
            <a:extLst>
              <a:ext uri="{FF2B5EF4-FFF2-40B4-BE49-F238E27FC236}">
                <a16:creationId xmlns:a16="http://schemas.microsoft.com/office/drawing/2014/main" id="{990008DB-ADDF-5457-B0E4-FE2FE016C7E6}"/>
              </a:ext>
            </a:extLst>
          </p:cNvPr>
          <p:cNvSpPr txBox="1"/>
          <p:nvPr/>
        </p:nvSpPr>
        <p:spPr>
          <a:xfrm>
            <a:off x="6223000" y="5461000"/>
            <a:ext cx="5334000" cy="338554"/>
          </a:xfrm>
          <a:prstGeom prst="rect">
            <a:avLst/>
          </a:prstGeom>
          <a:noFill/>
        </p:spPr>
        <p:txBody>
          <a:bodyPr vert="horz" wrap="square" lIns="25400" rIns="25400" rtlCol="0">
            <a:spAutoFit/>
          </a:bodyPr>
          <a:lstStyle/>
          <a:p>
            <a:r>
              <a:rPr lang="en-US" sz="1600" b="1">
                <a:solidFill>
                  <a:srgbClr val="EAF0F7"/>
                </a:solidFill>
                <a:latin typeface="Calibri" panose="020F0502020204030204" pitchFamily="34" charset="0"/>
              </a:rPr>
              <a:t>Three estates. One way to operate them.</a:t>
            </a:r>
          </a:p>
        </p:txBody>
      </p:sp>
    </p:spTree>
    <p:extLst>
      <p:ext uri="{BB962C8B-B14F-4D97-AF65-F5344CB8AC3E}">
        <p14:creationId xmlns:p14="http://schemas.microsoft.com/office/powerpoint/2010/main" val="3649294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921BDB0-5C99-67ED-F9DD-02386074562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618357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E72A7E9-9D3B-D17F-10AC-412AFA8ECE6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2943605849"/>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FC49CE-03DA-B1CA-874E-9B7FA5D52C45}"/>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695DBBB-0CB2-15D7-C933-C043FD9B3285}"/>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237EC18-0F2A-9671-73A2-1321FFE07ED7}"/>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Hybrid stayed. The operating model has to catch up.</a:t>
            </a:r>
          </a:p>
        </p:txBody>
      </p:sp>
      <p:sp>
        <p:nvSpPr>
          <p:cNvPr id="5" name="Rectangle 4">
            <a:extLst>
              <a:ext uri="{FF2B5EF4-FFF2-40B4-BE49-F238E27FC236}">
                <a16:creationId xmlns:a16="http://schemas.microsoft.com/office/drawing/2014/main" id="{7580E3B2-6900-11A8-E2DF-DBBA6822954E}"/>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D582BB-D9A5-9A13-1FAF-B805FCB78023}"/>
              </a:ext>
            </a:extLst>
          </p:cNvPr>
          <p:cNvSpPr txBox="1"/>
          <p:nvPr/>
        </p:nvSpPr>
        <p:spPr>
          <a:xfrm>
            <a:off x="609600" y="1041400"/>
            <a:ext cx="10972800" cy="338554"/>
          </a:xfrm>
          <a:prstGeom prst="rect">
            <a:avLst/>
          </a:prstGeom>
          <a:noFill/>
        </p:spPr>
        <p:txBody>
          <a:bodyPr vert="horz" wrap="square" lIns="25400" rIns="25400" rtlCol="0">
            <a:spAutoFit/>
          </a:bodyPr>
          <a:lstStyle/>
          <a:p>
            <a:r>
              <a:rPr lang="en-US" sz="1600">
                <a:solidFill>
                  <a:srgbClr val="A3B2C4"/>
                </a:solidFill>
                <a:latin typeface="Calibri" panose="020F0502020204030204" pitchFamily="34" charset="0"/>
              </a:rPr>
              <a:t>Your workloads live in several places, and each place is run differently.</a:t>
            </a:r>
          </a:p>
        </p:txBody>
      </p:sp>
      <p:sp>
        <p:nvSpPr>
          <p:cNvPr id="7" name="Rectangle 6">
            <a:extLst>
              <a:ext uri="{FF2B5EF4-FFF2-40B4-BE49-F238E27FC236}">
                <a16:creationId xmlns:a16="http://schemas.microsoft.com/office/drawing/2014/main" id="{1781A071-33F0-6639-5034-510312A822DD}"/>
              </a:ext>
            </a:extLst>
          </p:cNvPr>
          <p:cNvSpPr/>
          <p:nvPr/>
        </p:nvSpPr>
        <p:spPr>
          <a:xfrm>
            <a:off x="558800" y="1752600"/>
            <a:ext cx="110744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21AC720-13E5-38C6-37F5-35B31B944C6D}"/>
              </a:ext>
            </a:extLst>
          </p:cNvPr>
          <p:cNvSpPr txBox="1"/>
          <p:nvPr/>
        </p:nvSpPr>
        <p:spPr>
          <a:xfrm>
            <a:off x="609600" y="1803400"/>
            <a:ext cx="2336800" cy="323165"/>
          </a:xfrm>
          <a:prstGeom prst="rect">
            <a:avLst/>
          </a:prstGeom>
          <a:noFill/>
        </p:spPr>
        <p:txBody>
          <a:bodyPr vert="horz" wrap="square" lIns="25400" rIns="25400" rtlCol="0">
            <a:spAutoFit/>
          </a:bodyPr>
          <a:lstStyle/>
          <a:p>
            <a:endParaRPr lang="en-US" sz="1500" b="1">
              <a:solidFill>
                <a:srgbClr val="56D6E0"/>
              </a:solidFill>
              <a:latin typeface="Calibri" panose="020F0502020204030204" pitchFamily="34" charset="0"/>
            </a:endParaRPr>
          </a:p>
        </p:txBody>
      </p:sp>
      <p:sp>
        <p:nvSpPr>
          <p:cNvPr id="9" name="TextBox 8">
            <a:extLst>
              <a:ext uri="{FF2B5EF4-FFF2-40B4-BE49-F238E27FC236}">
                <a16:creationId xmlns:a16="http://schemas.microsoft.com/office/drawing/2014/main" id="{8E4AC369-9762-7F0D-F9F0-C8849B41B286}"/>
              </a:ext>
            </a:extLst>
          </p:cNvPr>
          <p:cNvSpPr txBox="1"/>
          <p:nvPr/>
        </p:nvSpPr>
        <p:spPr>
          <a:xfrm>
            <a:off x="29464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AZURE</a:t>
            </a:r>
          </a:p>
        </p:txBody>
      </p:sp>
      <p:sp>
        <p:nvSpPr>
          <p:cNvPr id="10" name="TextBox 9">
            <a:extLst>
              <a:ext uri="{FF2B5EF4-FFF2-40B4-BE49-F238E27FC236}">
                <a16:creationId xmlns:a16="http://schemas.microsoft.com/office/drawing/2014/main" id="{66EDB61B-8AF6-37C5-C347-A38DC2D8ABAE}"/>
              </a:ext>
            </a:extLst>
          </p:cNvPr>
          <p:cNvSpPr txBox="1"/>
          <p:nvPr/>
        </p:nvSpPr>
        <p:spPr>
          <a:xfrm>
            <a:off x="46736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YOUR DATACENTER</a:t>
            </a:r>
          </a:p>
        </p:txBody>
      </p:sp>
      <p:sp>
        <p:nvSpPr>
          <p:cNvPr id="11" name="TextBox 10">
            <a:extLst>
              <a:ext uri="{FF2B5EF4-FFF2-40B4-BE49-F238E27FC236}">
                <a16:creationId xmlns:a16="http://schemas.microsoft.com/office/drawing/2014/main" id="{E382F624-B743-E3E1-5165-79668DCE9FB0}"/>
              </a:ext>
            </a:extLst>
          </p:cNvPr>
          <p:cNvSpPr txBox="1"/>
          <p:nvPr/>
        </p:nvSpPr>
        <p:spPr>
          <a:xfrm>
            <a:off x="64008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OTHER CLOUDS</a:t>
            </a:r>
          </a:p>
        </p:txBody>
      </p:sp>
      <p:sp>
        <p:nvSpPr>
          <p:cNvPr id="12" name="TextBox 11">
            <a:extLst>
              <a:ext uri="{FF2B5EF4-FFF2-40B4-BE49-F238E27FC236}">
                <a16:creationId xmlns:a16="http://schemas.microsoft.com/office/drawing/2014/main" id="{D3EFF56F-554A-95E9-54F0-330775195C72}"/>
              </a:ext>
            </a:extLst>
          </p:cNvPr>
          <p:cNvSpPr txBox="1"/>
          <p:nvPr/>
        </p:nvSpPr>
        <p:spPr>
          <a:xfrm>
            <a:off x="81280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EDGE SITES</a:t>
            </a:r>
          </a:p>
        </p:txBody>
      </p:sp>
      <p:sp>
        <p:nvSpPr>
          <p:cNvPr id="13" name="TextBox 12">
            <a:extLst>
              <a:ext uri="{FF2B5EF4-FFF2-40B4-BE49-F238E27FC236}">
                <a16:creationId xmlns:a16="http://schemas.microsoft.com/office/drawing/2014/main" id="{5C3CB889-C8A9-84F6-F095-F851B650703E}"/>
              </a:ext>
            </a:extLst>
          </p:cNvPr>
          <p:cNvSpPr txBox="1"/>
          <p:nvPr/>
        </p:nvSpPr>
        <p:spPr>
          <a:xfrm>
            <a:off x="98552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OLDER SYSTEMS</a:t>
            </a:r>
          </a:p>
        </p:txBody>
      </p:sp>
      <p:sp>
        <p:nvSpPr>
          <p:cNvPr id="14" name="TextBox 13">
            <a:extLst>
              <a:ext uri="{FF2B5EF4-FFF2-40B4-BE49-F238E27FC236}">
                <a16:creationId xmlns:a16="http://schemas.microsoft.com/office/drawing/2014/main" id="{C428ECA6-C8C4-DF64-A720-FD6F84FB8A1E}"/>
              </a:ext>
            </a:extLst>
          </p:cNvPr>
          <p:cNvSpPr txBox="1"/>
          <p:nvPr/>
        </p:nvSpPr>
        <p:spPr>
          <a:xfrm>
            <a:off x="609600" y="2336800"/>
            <a:ext cx="21844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Which team owns it?</a:t>
            </a:r>
          </a:p>
        </p:txBody>
      </p:sp>
      <p:sp>
        <p:nvSpPr>
          <p:cNvPr id="15" name="TextBox 14">
            <a:extLst>
              <a:ext uri="{FF2B5EF4-FFF2-40B4-BE49-F238E27FC236}">
                <a16:creationId xmlns:a16="http://schemas.microsoft.com/office/drawing/2014/main" id="{C1607869-09CC-8B58-41FE-D000B6173F2E}"/>
              </a:ext>
            </a:extLst>
          </p:cNvPr>
          <p:cNvSpPr txBox="1"/>
          <p:nvPr/>
        </p:nvSpPr>
        <p:spPr>
          <a:xfrm>
            <a:off x="2946400" y="2336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Cloud team</a:t>
            </a:r>
          </a:p>
        </p:txBody>
      </p:sp>
      <p:sp>
        <p:nvSpPr>
          <p:cNvPr id="16" name="TextBox 15">
            <a:extLst>
              <a:ext uri="{FF2B5EF4-FFF2-40B4-BE49-F238E27FC236}">
                <a16:creationId xmlns:a16="http://schemas.microsoft.com/office/drawing/2014/main" id="{E67FB3DA-D181-FEB2-EC4C-B3E0C1B452ED}"/>
              </a:ext>
            </a:extLst>
          </p:cNvPr>
          <p:cNvSpPr txBox="1"/>
          <p:nvPr/>
        </p:nvSpPr>
        <p:spPr>
          <a:xfrm>
            <a:off x="4673600" y="2336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Infrastructure team</a:t>
            </a:r>
          </a:p>
        </p:txBody>
      </p:sp>
      <p:sp>
        <p:nvSpPr>
          <p:cNvPr id="17" name="TextBox 16">
            <a:extLst>
              <a:ext uri="{FF2B5EF4-FFF2-40B4-BE49-F238E27FC236}">
                <a16:creationId xmlns:a16="http://schemas.microsoft.com/office/drawing/2014/main" id="{80AAF027-F6FD-67D6-0B1E-5088475D3290}"/>
              </a:ext>
            </a:extLst>
          </p:cNvPr>
          <p:cNvSpPr txBox="1"/>
          <p:nvPr/>
        </p:nvSpPr>
        <p:spPr>
          <a:xfrm>
            <a:off x="6400800" y="2336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Another cloud team</a:t>
            </a:r>
          </a:p>
        </p:txBody>
      </p:sp>
      <p:sp>
        <p:nvSpPr>
          <p:cNvPr id="18" name="TextBox 17">
            <a:extLst>
              <a:ext uri="{FF2B5EF4-FFF2-40B4-BE49-F238E27FC236}">
                <a16:creationId xmlns:a16="http://schemas.microsoft.com/office/drawing/2014/main" id="{B118FEC7-2DF9-1425-427C-D0860AAACD82}"/>
              </a:ext>
            </a:extLst>
          </p:cNvPr>
          <p:cNvSpPr txBox="1"/>
          <p:nvPr/>
        </p:nvSpPr>
        <p:spPr>
          <a:xfrm>
            <a:off x="8128000" y="2336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Site staff</a:t>
            </a:r>
          </a:p>
        </p:txBody>
      </p:sp>
      <p:sp>
        <p:nvSpPr>
          <p:cNvPr id="19" name="TextBox 18">
            <a:extLst>
              <a:ext uri="{FF2B5EF4-FFF2-40B4-BE49-F238E27FC236}">
                <a16:creationId xmlns:a16="http://schemas.microsoft.com/office/drawing/2014/main" id="{600D1BB0-D60B-8535-9FE6-C1293940D92E}"/>
              </a:ext>
            </a:extLst>
          </p:cNvPr>
          <p:cNvSpPr txBox="1"/>
          <p:nvPr/>
        </p:nvSpPr>
        <p:spPr>
          <a:xfrm>
            <a:off x="9855200" y="2336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Whoever still knows it</a:t>
            </a:r>
          </a:p>
        </p:txBody>
      </p:sp>
      <p:cxnSp>
        <p:nvCxnSpPr>
          <p:cNvPr id="20" name="Straight Connector 19">
            <a:extLst>
              <a:ext uri="{FF2B5EF4-FFF2-40B4-BE49-F238E27FC236}">
                <a16:creationId xmlns:a16="http://schemas.microsoft.com/office/drawing/2014/main" id="{90171B77-7F8E-ABDD-7C02-11297F5DCF51}"/>
              </a:ext>
            </a:extLst>
          </p:cNvPr>
          <p:cNvCxnSpPr/>
          <p:nvPr/>
        </p:nvCxnSpPr>
        <p:spPr>
          <a:xfrm>
            <a:off x="558800" y="3187700"/>
            <a:ext cx="110744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42C74F0-3D5D-8622-2580-48543EBC56F9}"/>
              </a:ext>
            </a:extLst>
          </p:cNvPr>
          <p:cNvSpPr txBox="1"/>
          <p:nvPr/>
        </p:nvSpPr>
        <p:spPr>
          <a:xfrm>
            <a:off x="609600" y="3225800"/>
            <a:ext cx="21844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Is it working, and where do you look?</a:t>
            </a:r>
          </a:p>
        </p:txBody>
      </p:sp>
      <p:sp>
        <p:nvSpPr>
          <p:cNvPr id="22" name="TextBox 21">
            <a:extLst>
              <a:ext uri="{FF2B5EF4-FFF2-40B4-BE49-F238E27FC236}">
                <a16:creationId xmlns:a16="http://schemas.microsoft.com/office/drawing/2014/main" id="{698FC4FF-207D-FCC8-6321-801481BEE1D9}"/>
              </a:ext>
            </a:extLst>
          </p:cNvPr>
          <p:cNvSpPr txBox="1"/>
          <p:nvPr/>
        </p:nvSpPr>
        <p:spPr>
          <a:xfrm>
            <a:off x="2946400" y="3225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Azure Monitor</a:t>
            </a:r>
          </a:p>
        </p:txBody>
      </p:sp>
      <p:sp>
        <p:nvSpPr>
          <p:cNvPr id="23" name="TextBox 22">
            <a:extLst>
              <a:ext uri="{FF2B5EF4-FFF2-40B4-BE49-F238E27FC236}">
                <a16:creationId xmlns:a16="http://schemas.microsoft.com/office/drawing/2014/main" id="{E99998EC-3AA5-CEA3-4E74-7B2E40E6F73D}"/>
              </a:ext>
            </a:extLst>
          </p:cNvPr>
          <p:cNvSpPr txBox="1"/>
          <p:nvPr/>
        </p:nvSpPr>
        <p:spPr>
          <a:xfrm>
            <a:off x="4673600" y="3225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SCOM, VMM, vCenter</a:t>
            </a:r>
          </a:p>
        </p:txBody>
      </p:sp>
      <p:sp>
        <p:nvSpPr>
          <p:cNvPr id="24" name="TextBox 23">
            <a:extLst>
              <a:ext uri="{FF2B5EF4-FFF2-40B4-BE49-F238E27FC236}">
                <a16:creationId xmlns:a16="http://schemas.microsoft.com/office/drawing/2014/main" id="{1C240EB4-E09A-2F5D-E910-D8E45766120B}"/>
              </a:ext>
            </a:extLst>
          </p:cNvPr>
          <p:cNvSpPr txBox="1"/>
          <p:nvPr/>
        </p:nvSpPr>
        <p:spPr>
          <a:xfrm>
            <a:off x="6400800" y="3225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CloudWatch</a:t>
            </a:r>
          </a:p>
        </p:txBody>
      </p:sp>
      <p:sp>
        <p:nvSpPr>
          <p:cNvPr id="25" name="TextBox 24">
            <a:extLst>
              <a:ext uri="{FF2B5EF4-FFF2-40B4-BE49-F238E27FC236}">
                <a16:creationId xmlns:a16="http://schemas.microsoft.com/office/drawing/2014/main" id="{5D8FEC3F-F05E-AAFB-6569-CA1EC015A8DA}"/>
              </a:ext>
            </a:extLst>
          </p:cNvPr>
          <p:cNvSpPr txBox="1"/>
          <p:nvPr/>
        </p:nvSpPr>
        <p:spPr>
          <a:xfrm>
            <a:off x="8128000" y="3225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Local tools, weak links</a:t>
            </a:r>
          </a:p>
        </p:txBody>
      </p:sp>
      <p:sp>
        <p:nvSpPr>
          <p:cNvPr id="26" name="TextBox 25">
            <a:extLst>
              <a:ext uri="{FF2B5EF4-FFF2-40B4-BE49-F238E27FC236}">
                <a16:creationId xmlns:a16="http://schemas.microsoft.com/office/drawing/2014/main" id="{C2C259F6-9371-898B-CDBC-99EEC1AE4091}"/>
              </a:ext>
            </a:extLst>
          </p:cNvPr>
          <p:cNvSpPr txBox="1"/>
          <p:nvPr/>
        </p:nvSpPr>
        <p:spPr>
          <a:xfrm>
            <a:off x="9855200" y="3225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Old agents, or none</a:t>
            </a:r>
          </a:p>
        </p:txBody>
      </p:sp>
      <p:cxnSp>
        <p:nvCxnSpPr>
          <p:cNvPr id="27" name="Straight Connector 26">
            <a:extLst>
              <a:ext uri="{FF2B5EF4-FFF2-40B4-BE49-F238E27FC236}">
                <a16:creationId xmlns:a16="http://schemas.microsoft.com/office/drawing/2014/main" id="{DF3BA412-FAD3-4C47-B27B-8806998C42DE}"/>
              </a:ext>
            </a:extLst>
          </p:cNvPr>
          <p:cNvCxnSpPr/>
          <p:nvPr/>
        </p:nvCxnSpPr>
        <p:spPr>
          <a:xfrm>
            <a:off x="558800" y="4076700"/>
            <a:ext cx="110744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5A9DCEC8-BF0A-82E7-23B7-7527B967A6E5}"/>
              </a:ext>
            </a:extLst>
          </p:cNvPr>
          <p:cNvSpPr txBox="1"/>
          <p:nvPr/>
        </p:nvSpPr>
        <p:spPr>
          <a:xfrm>
            <a:off x="609600" y="4114800"/>
            <a:ext cx="21844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Who is allowed to change it?</a:t>
            </a:r>
          </a:p>
        </p:txBody>
      </p:sp>
      <p:sp>
        <p:nvSpPr>
          <p:cNvPr id="29" name="TextBox 28">
            <a:extLst>
              <a:ext uri="{FF2B5EF4-FFF2-40B4-BE49-F238E27FC236}">
                <a16:creationId xmlns:a16="http://schemas.microsoft.com/office/drawing/2014/main" id="{819D1D49-3D86-3D3F-D4B2-08F79EBB3D4E}"/>
              </a:ext>
            </a:extLst>
          </p:cNvPr>
          <p:cNvSpPr txBox="1"/>
          <p:nvPr/>
        </p:nvSpPr>
        <p:spPr>
          <a:xfrm>
            <a:off x="2946400" y="4114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Azure RBAC</a:t>
            </a:r>
          </a:p>
        </p:txBody>
      </p:sp>
      <p:sp>
        <p:nvSpPr>
          <p:cNvPr id="30" name="TextBox 29">
            <a:extLst>
              <a:ext uri="{FF2B5EF4-FFF2-40B4-BE49-F238E27FC236}">
                <a16:creationId xmlns:a16="http://schemas.microsoft.com/office/drawing/2014/main" id="{8EFB10B8-3943-7F58-B149-E00A0ECCBDCC}"/>
              </a:ext>
            </a:extLst>
          </p:cNvPr>
          <p:cNvSpPr txBox="1"/>
          <p:nvPr/>
        </p:nvSpPr>
        <p:spPr>
          <a:xfrm>
            <a:off x="4673600" y="4114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AD groups, hypervisor roles</a:t>
            </a:r>
          </a:p>
        </p:txBody>
      </p:sp>
      <p:sp>
        <p:nvSpPr>
          <p:cNvPr id="31" name="TextBox 30">
            <a:extLst>
              <a:ext uri="{FF2B5EF4-FFF2-40B4-BE49-F238E27FC236}">
                <a16:creationId xmlns:a16="http://schemas.microsoft.com/office/drawing/2014/main" id="{CEA8CF9F-D486-596E-B783-35A1659DA5F0}"/>
              </a:ext>
            </a:extLst>
          </p:cNvPr>
          <p:cNvSpPr txBox="1"/>
          <p:nvPr/>
        </p:nvSpPr>
        <p:spPr>
          <a:xfrm>
            <a:off x="6400800" y="4114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AWS IAM</a:t>
            </a:r>
          </a:p>
        </p:txBody>
      </p:sp>
      <p:sp>
        <p:nvSpPr>
          <p:cNvPr id="32" name="TextBox 31">
            <a:extLst>
              <a:ext uri="{FF2B5EF4-FFF2-40B4-BE49-F238E27FC236}">
                <a16:creationId xmlns:a16="http://schemas.microsoft.com/office/drawing/2014/main" id="{8154AB1A-DE87-C87A-4FCB-64667E075EEC}"/>
              </a:ext>
            </a:extLst>
          </p:cNvPr>
          <p:cNvSpPr txBox="1"/>
          <p:nvPr/>
        </p:nvSpPr>
        <p:spPr>
          <a:xfrm>
            <a:off x="8128000" y="4114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Local admin accounts</a:t>
            </a:r>
          </a:p>
        </p:txBody>
      </p:sp>
      <p:sp>
        <p:nvSpPr>
          <p:cNvPr id="33" name="TextBox 32">
            <a:extLst>
              <a:ext uri="{FF2B5EF4-FFF2-40B4-BE49-F238E27FC236}">
                <a16:creationId xmlns:a16="http://schemas.microsoft.com/office/drawing/2014/main" id="{ADC4C28A-D59A-4931-4A29-87185A7112B1}"/>
              </a:ext>
            </a:extLst>
          </p:cNvPr>
          <p:cNvSpPr txBox="1"/>
          <p:nvPr/>
        </p:nvSpPr>
        <p:spPr>
          <a:xfrm>
            <a:off x="9855200" y="4114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Legacy admin model</a:t>
            </a:r>
          </a:p>
        </p:txBody>
      </p:sp>
      <p:cxnSp>
        <p:nvCxnSpPr>
          <p:cNvPr id="34" name="Straight Connector 33">
            <a:extLst>
              <a:ext uri="{FF2B5EF4-FFF2-40B4-BE49-F238E27FC236}">
                <a16:creationId xmlns:a16="http://schemas.microsoft.com/office/drawing/2014/main" id="{7D1097AB-C353-0EF6-EAB2-23BD12F20D08}"/>
              </a:ext>
            </a:extLst>
          </p:cNvPr>
          <p:cNvCxnSpPr/>
          <p:nvPr/>
        </p:nvCxnSpPr>
        <p:spPr>
          <a:xfrm>
            <a:off x="558800" y="4965700"/>
            <a:ext cx="110744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F272FCDE-8A07-2CDA-5E19-6EE5A08E102E}"/>
              </a:ext>
            </a:extLst>
          </p:cNvPr>
          <p:cNvSpPr txBox="1"/>
          <p:nvPr/>
        </p:nvSpPr>
        <p:spPr>
          <a:xfrm>
            <a:off x="609600" y="5003800"/>
            <a:ext cx="21844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What does it cost?</a:t>
            </a:r>
          </a:p>
        </p:txBody>
      </p:sp>
      <p:sp>
        <p:nvSpPr>
          <p:cNvPr id="36" name="TextBox 35">
            <a:extLst>
              <a:ext uri="{FF2B5EF4-FFF2-40B4-BE49-F238E27FC236}">
                <a16:creationId xmlns:a16="http://schemas.microsoft.com/office/drawing/2014/main" id="{885C5C54-A947-A52C-810B-D88345D7B09E}"/>
              </a:ext>
            </a:extLst>
          </p:cNvPr>
          <p:cNvSpPr txBox="1"/>
          <p:nvPr/>
        </p:nvSpPr>
        <p:spPr>
          <a:xfrm>
            <a:off x="2946400" y="5003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Azure invoice</a:t>
            </a:r>
          </a:p>
        </p:txBody>
      </p:sp>
      <p:sp>
        <p:nvSpPr>
          <p:cNvPr id="37" name="TextBox 36">
            <a:extLst>
              <a:ext uri="{FF2B5EF4-FFF2-40B4-BE49-F238E27FC236}">
                <a16:creationId xmlns:a16="http://schemas.microsoft.com/office/drawing/2014/main" id="{6B30786F-D4AA-1F4B-D06C-4F778B0E80DC}"/>
              </a:ext>
            </a:extLst>
          </p:cNvPr>
          <p:cNvSpPr txBox="1"/>
          <p:nvPr/>
        </p:nvSpPr>
        <p:spPr>
          <a:xfrm>
            <a:off x="4673600" y="5003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Hardware, licences, power</a:t>
            </a:r>
          </a:p>
        </p:txBody>
      </p:sp>
      <p:sp>
        <p:nvSpPr>
          <p:cNvPr id="38" name="TextBox 37">
            <a:extLst>
              <a:ext uri="{FF2B5EF4-FFF2-40B4-BE49-F238E27FC236}">
                <a16:creationId xmlns:a16="http://schemas.microsoft.com/office/drawing/2014/main" id="{D8975FED-8697-D914-8C51-1C1DD7BC2D6D}"/>
              </a:ext>
            </a:extLst>
          </p:cNvPr>
          <p:cNvSpPr txBox="1"/>
          <p:nvPr/>
        </p:nvSpPr>
        <p:spPr>
          <a:xfrm>
            <a:off x="6400800" y="5003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AWS invoice</a:t>
            </a:r>
          </a:p>
        </p:txBody>
      </p:sp>
      <p:sp>
        <p:nvSpPr>
          <p:cNvPr id="39" name="TextBox 38">
            <a:extLst>
              <a:ext uri="{FF2B5EF4-FFF2-40B4-BE49-F238E27FC236}">
                <a16:creationId xmlns:a16="http://schemas.microsoft.com/office/drawing/2014/main" id="{6233300B-53DB-41A3-FD1B-908D1DFC2957}"/>
              </a:ext>
            </a:extLst>
          </p:cNvPr>
          <p:cNvSpPr txBox="1"/>
          <p:nvPr/>
        </p:nvSpPr>
        <p:spPr>
          <a:xfrm>
            <a:off x="8128000" y="5003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Site budget</a:t>
            </a:r>
          </a:p>
        </p:txBody>
      </p:sp>
      <p:sp>
        <p:nvSpPr>
          <p:cNvPr id="40" name="TextBox 39">
            <a:extLst>
              <a:ext uri="{FF2B5EF4-FFF2-40B4-BE49-F238E27FC236}">
                <a16:creationId xmlns:a16="http://schemas.microsoft.com/office/drawing/2014/main" id="{39913060-66EC-1119-3C89-925016926FB3}"/>
              </a:ext>
            </a:extLst>
          </p:cNvPr>
          <p:cNvSpPr txBox="1"/>
          <p:nvPr/>
        </p:nvSpPr>
        <p:spPr>
          <a:xfrm>
            <a:off x="9855200" y="5003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Extended support</a:t>
            </a:r>
          </a:p>
        </p:txBody>
      </p:sp>
      <p:cxnSp>
        <p:nvCxnSpPr>
          <p:cNvPr id="41" name="Straight Connector 40">
            <a:extLst>
              <a:ext uri="{FF2B5EF4-FFF2-40B4-BE49-F238E27FC236}">
                <a16:creationId xmlns:a16="http://schemas.microsoft.com/office/drawing/2014/main" id="{825A8DE5-89AE-4E8E-E7C8-1B0FCA2C4C02}"/>
              </a:ext>
            </a:extLst>
          </p:cNvPr>
          <p:cNvCxnSpPr/>
          <p:nvPr/>
        </p:nvCxnSpPr>
        <p:spPr>
          <a:xfrm>
            <a:off x="558800" y="5854700"/>
            <a:ext cx="110744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62150012-4994-3116-BB41-0001EB29479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AC33E328-96B3-68FE-B3A5-F09109019AF5}"/>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One service can touch all five. Four questions, five different answers each. The rest of this session builds one answer to each.</a:t>
            </a:r>
          </a:p>
        </p:txBody>
      </p:sp>
    </p:spTree>
    <p:extLst>
      <p:ext uri="{BB962C8B-B14F-4D97-AF65-F5344CB8AC3E}">
        <p14:creationId xmlns:p14="http://schemas.microsoft.com/office/powerpoint/2010/main" val="3201413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EDFCF4-807C-371E-038F-08B702090799}"/>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246FB65-BEB9-15A9-6393-EC8C5832CA2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8050B02-DFB2-C68F-4D62-3969A3B87226}"/>
              </a:ext>
            </a:extLst>
          </p:cNvPr>
          <p:cNvSpPr txBox="1"/>
          <p:nvPr/>
        </p:nvSpPr>
        <p:spPr>
          <a:xfrm>
            <a:off x="685800" y="431800"/>
            <a:ext cx="10820400" cy="430887"/>
          </a:xfrm>
          <a:prstGeom prst="rect">
            <a:avLst/>
          </a:prstGeom>
          <a:noFill/>
        </p:spPr>
        <p:txBody>
          <a:bodyPr vert="horz" wrap="square" lIns="0" tIns="0" rIns="0" bIns="0" rtlCol="0">
            <a:spAutoFit/>
          </a:bodyPr>
          <a:lstStyle/>
          <a:p>
            <a:r>
              <a:rPr lang="en-US" sz="2800" b="1">
                <a:solidFill>
                  <a:srgbClr val="EAF0F7"/>
                </a:solidFill>
                <a:latin typeface="Calibri" panose="020F0502020204030204" pitchFamily="34" charset="0"/>
              </a:rPr>
              <a:t>What we’ll cover and demonstrate</a:t>
            </a:r>
          </a:p>
        </p:txBody>
      </p:sp>
      <p:sp>
        <p:nvSpPr>
          <p:cNvPr id="10" name="TextBox 9">
            <a:extLst>
              <a:ext uri="{FF2B5EF4-FFF2-40B4-BE49-F238E27FC236}">
                <a16:creationId xmlns:a16="http://schemas.microsoft.com/office/drawing/2014/main" id="{0D0C7D9C-C52F-3498-28F7-F2E0B008F675}"/>
              </a:ext>
            </a:extLst>
          </p:cNvPr>
          <p:cNvSpPr txBox="1"/>
          <p:nvPr/>
        </p:nvSpPr>
        <p:spPr>
          <a:xfrm>
            <a:off x="685800" y="1155700"/>
            <a:ext cx="10820400" cy="323165"/>
          </a:xfrm>
          <a:prstGeom prst="rect">
            <a:avLst/>
          </a:prstGeom>
          <a:noFill/>
        </p:spPr>
        <p:txBody>
          <a:bodyPr vert="horz" wrap="square" lIns="0" tIns="0" rIns="0" bIns="0" rtlCol="0">
            <a:spAutoFit/>
          </a:bodyPr>
          <a:lstStyle/>
          <a:p>
            <a:r>
              <a:rPr lang="en-US" sz="2100">
                <a:solidFill>
                  <a:srgbClr val="EAF0F7"/>
                </a:solidFill>
                <a:latin typeface="Calibri" panose="020F0502020204030204" pitchFamily="34" charset="0"/>
              </a:rPr>
              <a:t>A practical hybrid operations playbook.</a:t>
            </a:r>
          </a:p>
        </p:txBody>
      </p:sp>
      <p:sp>
        <p:nvSpPr>
          <p:cNvPr id="11" name="Oval 10">
            <a:extLst>
              <a:ext uri="{FF2B5EF4-FFF2-40B4-BE49-F238E27FC236}">
                <a16:creationId xmlns:a16="http://schemas.microsoft.com/office/drawing/2014/main" id="{E79164E5-AA35-C7E8-75EC-563A545C2CB5}"/>
              </a:ext>
            </a:extLst>
          </p:cNvPr>
          <p:cNvSpPr/>
          <p:nvPr/>
        </p:nvSpPr>
        <p:spPr>
          <a:xfrm>
            <a:off x="685800" y="18669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088E4F0-04A4-17C9-470B-3EA57D8646E4}"/>
              </a:ext>
            </a:extLst>
          </p:cNvPr>
          <p:cNvSpPr txBox="1"/>
          <p:nvPr/>
        </p:nvSpPr>
        <p:spPr>
          <a:xfrm>
            <a:off x="685800" y="19304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1</a:t>
            </a:r>
          </a:p>
        </p:txBody>
      </p:sp>
      <p:sp>
        <p:nvSpPr>
          <p:cNvPr id="13" name="TextBox 12">
            <a:extLst>
              <a:ext uri="{FF2B5EF4-FFF2-40B4-BE49-F238E27FC236}">
                <a16:creationId xmlns:a16="http://schemas.microsoft.com/office/drawing/2014/main" id="{B2F8D118-7515-7F02-B1CD-41200E54DD2A}"/>
              </a:ext>
            </a:extLst>
          </p:cNvPr>
          <p:cNvSpPr txBox="1"/>
          <p:nvPr/>
        </p:nvSpPr>
        <p:spPr>
          <a:xfrm>
            <a:off x="1460500" y="18415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Monitor and observe everything</a:t>
            </a:r>
          </a:p>
        </p:txBody>
      </p:sp>
      <p:sp>
        <p:nvSpPr>
          <p:cNvPr id="14" name="TextBox 13">
            <a:extLst>
              <a:ext uri="{FF2B5EF4-FFF2-40B4-BE49-F238E27FC236}">
                <a16:creationId xmlns:a16="http://schemas.microsoft.com/office/drawing/2014/main" id="{5466A842-58E5-5FC8-FF48-B4954CA38C27}"/>
              </a:ext>
            </a:extLst>
          </p:cNvPr>
          <p:cNvSpPr txBox="1"/>
          <p:nvPr/>
        </p:nvSpPr>
        <p:spPr>
          <a:xfrm>
            <a:off x="1460500" y="22479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Azure Monitor, Log Analytics and Health Models support operating decisions.</a:t>
            </a:r>
          </a:p>
        </p:txBody>
      </p:sp>
      <p:sp>
        <p:nvSpPr>
          <p:cNvPr id="15" name="Oval 14">
            <a:extLst>
              <a:ext uri="{FF2B5EF4-FFF2-40B4-BE49-F238E27FC236}">
                <a16:creationId xmlns:a16="http://schemas.microsoft.com/office/drawing/2014/main" id="{FFB23B71-54F1-2E9D-7167-FFB5D0277391}"/>
              </a:ext>
            </a:extLst>
          </p:cNvPr>
          <p:cNvSpPr/>
          <p:nvPr/>
        </p:nvSpPr>
        <p:spPr>
          <a:xfrm>
            <a:off x="685800" y="27432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791273B-A2E6-FBDC-B688-8C078CDE729F}"/>
              </a:ext>
            </a:extLst>
          </p:cNvPr>
          <p:cNvSpPr txBox="1"/>
          <p:nvPr/>
        </p:nvSpPr>
        <p:spPr>
          <a:xfrm>
            <a:off x="685800" y="28067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2</a:t>
            </a:r>
          </a:p>
        </p:txBody>
      </p:sp>
      <p:sp>
        <p:nvSpPr>
          <p:cNvPr id="17" name="TextBox 16">
            <a:extLst>
              <a:ext uri="{FF2B5EF4-FFF2-40B4-BE49-F238E27FC236}">
                <a16:creationId xmlns:a16="http://schemas.microsoft.com/office/drawing/2014/main" id="{12C27654-EDBD-4DDB-9DD2-6E10E6BB741E}"/>
              </a:ext>
            </a:extLst>
          </p:cNvPr>
          <p:cNvSpPr txBox="1"/>
          <p:nvPr/>
        </p:nvSpPr>
        <p:spPr>
          <a:xfrm>
            <a:off x="1460500" y="27178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Secure the hybrid stack</a:t>
            </a:r>
          </a:p>
        </p:txBody>
      </p:sp>
      <p:sp>
        <p:nvSpPr>
          <p:cNvPr id="18" name="TextBox 17">
            <a:extLst>
              <a:ext uri="{FF2B5EF4-FFF2-40B4-BE49-F238E27FC236}">
                <a16:creationId xmlns:a16="http://schemas.microsoft.com/office/drawing/2014/main" id="{B84C9A92-7930-7567-4F77-61F1360B7EB5}"/>
              </a:ext>
            </a:extLst>
          </p:cNvPr>
          <p:cNvSpPr txBox="1"/>
          <p:nvPr/>
        </p:nvSpPr>
        <p:spPr>
          <a:xfrm>
            <a:off x="1460500" y="31242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Connect Defender, Sentinel and Zero Trust to evidence, ownership and action.</a:t>
            </a:r>
          </a:p>
        </p:txBody>
      </p:sp>
      <p:sp>
        <p:nvSpPr>
          <p:cNvPr id="19" name="Oval 18">
            <a:extLst>
              <a:ext uri="{FF2B5EF4-FFF2-40B4-BE49-F238E27FC236}">
                <a16:creationId xmlns:a16="http://schemas.microsoft.com/office/drawing/2014/main" id="{6B523994-8DFC-94FF-12BC-C041A1824026}"/>
              </a:ext>
            </a:extLst>
          </p:cNvPr>
          <p:cNvSpPr/>
          <p:nvPr/>
        </p:nvSpPr>
        <p:spPr>
          <a:xfrm>
            <a:off x="685800" y="36195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52FC816-F241-B34F-8066-16E10962FF87}"/>
              </a:ext>
            </a:extLst>
          </p:cNvPr>
          <p:cNvSpPr txBox="1"/>
          <p:nvPr/>
        </p:nvSpPr>
        <p:spPr>
          <a:xfrm>
            <a:off x="685800" y="36830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3</a:t>
            </a:r>
          </a:p>
        </p:txBody>
      </p:sp>
      <p:sp>
        <p:nvSpPr>
          <p:cNvPr id="21" name="TextBox 20">
            <a:extLst>
              <a:ext uri="{FF2B5EF4-FFF2-40B4-BE49-F238E27FC236}">
                <a16:creationId xmlns:a16="http://schemas.microsoft.com/office/drawing/2014/main" id="{2600B8F2-4C13-A0F7-5F4D-EFCD85762F87}"/>
              </a:ext>
            </a:extLst>
          </p:cNvPr>
          <p:cNvSpPr txBox="1"/>
          <p:nvPr/>
        </p:nvSpPr>
        <p:spPr>
          <a:xfrm>
            <a:off x="1460500" y="35941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Govern and manage efficiently</a:t>
            </a:r>
          </a:p>
        </p:txBody>
      </p:sp>
      <p:sp>
        <p:nvSpPr>
          <p:cNvPr id="22" name="TextBox 21">
            <a:extLst>
              <a:ext uri="{FF2B5EF4-FFF2-40B4-BE49-F238E27FC236}">
                <a16:creationId xmlns:a16="http://schemas.microsoft.com/office/drawing/2014/main" id="{FE73D9BC-BA17-133C-1F34-B6A3D8F773E5}"/>
              </a:ext>
            </a:extLst>
          </p:cNvPr>
          <p:cNvSpPr txBox="1"/>
          <p:nvPr/>
        </p:nvSpPr>
        <p:spPr>
          <a:xfrm>
            <a:off x="1460500" y="40005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Use landing zones, Policy, Entra identity and one update process across every estate.</a:t>
            </a:r>
          </a:p>
        </p:txBody>
      </p:sp>
      <p:sp>
        <p:nvSpPr>
          <p:cNvPr id="23" name="Oval 22">
            <a:extLst>
              <a:ext uri="{FF2B5EF4-FFF2-40B4-BE49-F238E27FC236}">
                <a16:creationId xmlns:a16="http://schemas.microsoft.com/office/drawing/2014/main" id="{265E16E0-F0D5-00C7-FA68-EC72BF01ACA8}"/>
              </a:ext>
            </a:extLst>
          </p:cNvPr>
          <p:cNvSpPr/>
          <p:nvPr/>
        </p:nvSpPr>
        <p:spPr>
          <a:xfrm>
            <a:off x="685800" y="44958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03EDFC0-E751-680D-9302-E51AD2964D20}"/>
              </a:ext>
            </a:extLst>
          </p:cNvPr>
          <p:cNvSpPr txBox="1"/>
          <p:nvPr/>
        </p:nvSpPr>
        <p:spPr>
          <a:xfrm>
            <a:off x="685800" y="45593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4</a:t>
            </a:r>
          </a:p>
        </p:txBody>
      </p:sp>
      <p:sp>
        <p:nvSpPr>
          <p:cNvPr id="25" name="TextBox 24">
            <a:extLst>
              <a:ext uri="{FF2B5EF4-FFF2-40B4-BE49-F238E27FC236}">
                <a16:creationId xmlns:a16="http://schemas.microsoft.com/office/drawing/2014/main" id="{7A7DB4F5-68D4-1D10-D4B0-D7CD264BE421}"/>
              </a:ext>
            </a:extLst>
          </p:cNvPr>
          <p:cNvSpPr txBox="1"/>
          <p:nvPr/>
        </p:nvSpPr>
        <p:spPr>
          <a:xfrm>
            <a:off x="1460500" y="44704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Optimize cost and operational impact</a:t>
            </a:r>
          </a:p>
        </p:txBody>
      </p:sp>
      <p:sp>
        <p:nvSpPr>
          <p:cNvPr id="26" name="TextBox 25">
            <a:extLst>
              <a:ext uri="{FF2B5EF4-FFF2-40B4-BE49-F238E27FC236}">
                <a16:creationId xmlns:a16="http://schemas.microsoft.com/office/drawing/2014/main" id="{5AA681AE-4928-FCBB-944D-5ADBDEA35353}"/>
              </a:ext>
            </a:extLst>
          </p:cNvPr>
          <p:cNvSpPr txBox="1"/>
          <p:nvPr/>
        </p:nvSpPr>
        <p:spPr>
          <a:xfrm>
            <a:off x="1460500" y="48768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Tune telemetry and account for cloud, on-premises and people costs.</a:t>
            </a:r>
          </a:p>
        </p:txBody>
      </p:sp>
      <p:sp>
        <p:nvSpPr>
          <p:cNvPr id="27" name="Oval 26">
            <a:extLst>
              <a:ext uri="{FF2B5EF4-FFF2-40B4-BE49-F238E27FC236}">
                <a16:creationId xmlns:a16="http://schemas.microsoft.com/office/drawing/2014/main" id="{3B1D39FD-25B1-D69E-26B9-BBFA7CD6E6F4}"/>
              </a:ext>
            </a:extLst>
          </p:cNvPr>
          <p:cNvSpPr/>
          <p:nvPr/>
        </p:nvSpPr>
        <p:spPr>
          <a:xfrm>
            <a:off x="685800" y="53721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0FBEA40-B192-720F-3C09-32F40DDE3E8C}"/>
              </a:ext>
            </a:extLst>
          </p:cNvPr>
          <p:cNvSpPr txBox="1"/>
          <p:nvPr/>
        </p:nvSpPr>
        <p:spPr>
          <a:xfrm>
            <a:off x="685800" y="54356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5</a:t>
            </a:r>
          </a:p>
        </p:txBody>
      </p:sp>
      <p:sp>
        <p:nvSpPr>
          <p:cNvPr id="29" name="TextBox 28">
            <a:extLst>
              <a:ext uri="{FF2B5EF4-FFF2-40B4-BE49-F238E27FC236}">
                <a16:creationId xmlns:a16="http://schemas.microsoft.com/office/drawing/2014/main" id="{AC4C4CC9-7A55-BA04-8CB1-55B61F4035FB}"/>
              </a:ext>
            </a:extLst>
          </p:cNvPr>
          <p:cNvSpPr txBox="1"/>
          <p:nvPr/>
        </p:nvSpPr>
        <p:spPr>
          <a:xfrm>
            <a:off x="1460500" y="53467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Adopt patterns, not just tools</a:t>
            </a:r>
          </a:p>
        </p:txBody>
      </p:sp>
      <p:sp>
        <p:nvSpPr>
          <p:cNvPr id="30" name="TextBox 29">
            <a:extLst>
              <a:ext uri="{FF2B5EF4-FFF2-40B4-BE49-F238E27FC236}">
                <a16:creationId xmlns:a16="http://schemas.microsoft.com/office/drawing/2014/main" id="{E031D4ED-0B44-F37B-FB5C-1A5E70A0DB59}"/>
              </a:ext>
            </a:extLst>
          </p:cNvPr>
          <p:cNvSpPr txBox="1"/>
          <p:nvPr/>
        </p:nvSpPr>
        <p:spPr>
          <a:xfrm>
            <a:off x="1460500" y="57531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Keep service health, ownership and verification; retire alert and tool sprawl.</a:t>
            </a:r>
          </a:p>
        </p:txBody>
      </p:sp>
    </p:spTree>
    <p:custDataLst>
      <p:tags r:id="rId1"/>
    </p:custDataLst>
    <p:extLst>
      <p:ext uri="{BB962C8B-B14F-4D97-AF65-F5344CB8AC3E}">
        <p14:creationId xmlns:p14="http://schemas.microsoft.com/office/powerpoint/2010/main" val="747604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767346-0CE4-1AB3-DDCF-DDBF14E55FEE}"/>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4E57057-284C-6B3F-F783-BDA8B3B03241}"/>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3CAF73-398C-6FDA-B0D3-3D70D680235A}"/>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Azure Arc extends Azure management to resources running elsewhere.</a:t>
            </a:r>
          </a:p>
        </p:txBody>
      </p:sp>
      <p:sp>
        <p:nvSpPr>
          <p:cNvPr id="5" name="Rectangle 4">
            <a:extLst>
              <a:ext uri="{FF2B5EF4-FFF2-40B4-BE49-F238E27FC236}">
                <a16:creationId xmlns:a16="http://schemas.microsoft.com/office/drawing/2014/main" id="{A20622D4-188F-DC3A-367F-F7F96EB6DFC2}"/>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919E8AC-51FE-13E3-A6CC-BBABBE5D3F33}"/>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It is the management foundation for the operating model—not a migration path or an application data path.</a:t>
            </a:r>
          </a:p>
        </p:txBody>
      </p:sp>
      <p:sp>
        <p:nvSpPr>
          <p:cNvPr id="7" name="TextBox 6">
            <a:extLst>
              <a:ext uri="{FF2B5EF4-FFF2-40B4-BE49-F238E27FC236}">
                <a16:creationId xmlns:a16="http://schemas.microsoft.com/office/drawing/2014/main" id="{01CAFD37-8F35-95C2-0AE3-99B388023D12}"/>
              </a:ext>
            </a:extLst>
          </p:cNvPr>
          <p:cNvSpPr txBox="1"/>
          <p:nvPr/>
        </p:nvSpPr>
        <p:spPr>
          <a:xfrm>
            <a:off x="609600" y="1778000"/>
            <a:ext cx="22860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THE ESTATE</a:t>
            </a:r>
          </a:p>
        </p:txBody>
      </p:sp>
      <p:sp>
        <p:nvSpPr>
          <p:cNvPr id="8" name="TextBox 7">
            <a:extLst>
              <a:ext uri="{FF2B5EF4-FFF2-40B4-BE49-F238E27FC236}">
                <a16:creationId xmlns:a16="http://schemas.microsoft.com/office/drawing/2014/main" id="{2E99C303-14BA-96C2-CD58-140EE3BA80FC}"/>
              </a:ext>
            </a:extLst>
          </p:cNvPr>
          <p:cNvSpPr txBox="1"/>
          <p:nvPr/>
        </p:nvSpPr>
        <p:spPr>
          <a:xfrm>
            <a:off x="3403600" y="1778000"/>
            <a:ext cx="24892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CONNECTS OUTBOUND THROUGH</a:t>
            </a:r>
          </a:p>
        </p:txBody>
      </p:sp>
      <p:sp>
        <p:nvSpPr>
          <p:cNvPr id="9" name="TextBox 8">
            <a:extLst>
              <a:ext uri="{FF2B5EF4-FFF2-40B4-BE49-F238E27FC236}">
                <a16:creationId xmlns:a16="http://schemas.microsoft.com/office/drawing/2014/main" id="{C0E8E84F-0D75-450C-2D4F-322BA1216755}"/>
              </a:ext>
            </a:extLst>
          </p:cNvPr>
          <p:cNvSpPr txBox="1"/>
          <p:nvPr/>
        </p:nvSpPr>
        <p:spPr>
          <a:xfrm>
            <a:off x="6400800" y="1778000"/>
            <a:ext cx="2286000" cy="261610"/>
          </a:xfrm>
          <a:prstGeom prst="rect">
            <a:avLst/>
          </a:prstGeom>
          <a:noFill/>
        </p:spPr>
        <p:txBody>
          <a:bodyPr vert="horz" wrap="square" lIns="25400" rIns="25400" rtlCol="0">
            <a:spAutoFit/>
          </a:bodyPr>
          <a:lstStyle/>
          <a:p>
            <a:pPr algn="ctr"/>
            <a:r>
              <a:rPr lang="en-US" sz="1100" b="1">
                <a:solidFill>
                  <a:srgbClr val="6EA8F0"/>
                </a:solidFill>
                <a:latin typeface="Calibri" panose="020F0502020204030204" pitchFamily="34" charset="0"/>
              </a:rPr>
              <a:t>IN AZURE</a:t>
            </a:r>
          </a:p>
        </p:txBody>
      </p:sp>
      <p:sp>
        <p:nvSpPr>
          <p:cNvPr id="10" name="TextBox 9">
            <a:extLst>
              <a:ext uri="{FF2B5EF4-FFF2-40B4-BE49-F238E27FC236}">
                <a16:creationId xmlns:a16="http://schemas.microsoft.com/office/drawing/2014/main" id="{4D2B3379-2909-B1D9-1F57-98EBA8635559}"/>
              </a:ext>
            </a:extLst>
          </p:cNvPr>
          <p:cNvSpPr txBox="1"/>
          <p:nvPr/>
        </p:nvSpPr>
        <p:spPr>
          <a:xfrm>
            <a:off x="9194800" y="1778000"/>
            <a:ext cx="23876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SERVICES YOU SET UP</a:t>
            </a:r>
          </a:p>
        </p:txBody>
      </p:sp>
      <p:sp>
        <p:nvSpPr>
          <p:cNvPr id="11" name="Rectangle: Rounded Corners 10">
            <a:extLst>
              <a:ext uri="{FF2B5EF4-FFF2-40B4-BE49-F238E27FC236}">
                <a16:creationId xmlns:a16="http://schemas.microsoft.com/office/drawing/2014/main" id="{94AB3BA4-2B1A-7376-5414-D538EAD66D1F}"/>
              </a:ext>
            </a:extLst>
          </p:cNvPr>
          <p:cNvSpPr/>
          <p:nvPr/>
        </p:nvSpPr>
        <p:spPr>
          <a:xfrm>
            <a:off x="609600" y="2159000"/>
            <a:ext cx="22860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On-premises + edge servers</a:t>
            </a:r>
          </a:p>
        </p:txBody>
      </p:sp>
      <p:sp>
        <p:nvSpPr>
          <p:cNvPr id="12" name="Rectangle: Rounded Corners 11">
            <a:extLst>
              <a:ext uri="{FF2B5EF4-FFF2-40B4-BE49-F238E27FC236}">
                <a16:creationId xmlns:a16="http://schemas.microsoft.com/office/drawing/2014/main" id="{3A6AD4DF-93EC-AA24-669A-2581F1274D7A}"/>
              </a:ext>
            </a:extLst>
          </p:cNvPr>
          <p:cNvSpPr/>
          <p:nvPr/>
        </p:nvSpPr>
        <p:spPr>
          <a:xfrm>
            <a:off x="3403600" y="2159000"/>
            <a:ext cx="2489200" cy="7112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Connected Machine agent</a:t>
            </a:r>
          </a:p>
        </p:txBody>
      </p:sp>
      <p:cxnSp>
        <p:nvCxnSpPr>
          <p:cNvPr id="13" name="Straight Arrow Connector 12">
            <a:extLst>
              <a:ext uri="{FF2B5EF4-FFF2-40B4-BE49-F238E27FC236}">
                <a16:creationId xmlns:a16="http://schemas.microsoft.com/office/drawing/2014/main" id="{75878E37-309B-D6FD-E093-54317421D7BC}"/>
              </a:ext>
            </a:extLst>
          </p:cNvPr>
          <p:cNvCxnSpPr/>
          <p:nvPr/>
        </p:nvCxnSpPr>
        <p:spPr>
          <a:xfrm>
            <a:off x="2895600" y="2514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E5C822A-AB2B-FEC9-17A4-343912B1ED4F}"/>
              </a:ext>
            </a:extLst>
          </p:cNvPr>
          <p:cNvCxnSpPr/>
          <p:nvPr/>
        </p:nvCxnSpPr>
        <p:spPr>
          <a:xfrm>
            <a:off x="5892800" y="2514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438D1D8A-F820-1A4E-C086-EE643F408B7D}"/>
              </a:ext>
            </a:extLst>
          </p:cNvPr>
          <p:cNvSpPr/>
          <p:nvPr/>
        </p:nvSpPr>
        <p:spPr>
          <a:xfrm>
            <a:off x="609600" y="3048000"/>
            <a:ext cx="22860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VMs on SCVMM or VMware</a:t>
            </a:r>
          </a:p>
        </p:txBody>
      </p:sp>
      <p:sp>
        <p:nvSpPr>
          <p:cNvPr id="16" name="Rectangle: Rounded Corners 15">
            <a:extLst>
              <a:ext uri="{FF2B5EF4-FFF2-40B4-BE49-F238E27FC236}">
                <a16:creationId xmlns:a16="http://schemas.microsoft.com/office/drawing/2014/main" id="{9B8D7041-2836-D956-0855-627B93B574B3}"/>
              </a:ext>
            </a:extLst>
          </p:cNvPr>
          <p:cNvSpPr/>
          <p:nvPr/>
        </p:nvSpPr>
        <p:spPr>
          <a:xfrm>
            <a:off x="3403600" y="3048000"/>
            <a:ext cx="2489200" cy="7112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Arc resource bridge</a:t>
            </a:r>
          </a:p>
        </p:txBody>
      </p:sp>
      <p:cxnSp>
        <p:nvCxnSpPr>
          <p:cNvPr id="17" name="Straight Arrow Connector 16">
            <a:extLst>
              <a:ext uri="{FF2B5EF4-FFF2-40B4-BE49-F238E27FC236}">
                <a16:creationId xmlns:a16="http://schemas.microsoft.com/office/drawing/2014/main" id="{E44D864F-2A42-62C4-7433-08BFF4126A11}"/>
              </a:ext>
            </a:extLst>
          </p:cNvPr>
          <p:cNvCxnSpPr/>
          <p:nvPr/>
        </p:nvCxnSpPr>
        <p:spPr>
          <a:xfrm>
            <a:off x="2895600" y="3403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0C621DD-921A-E98F-C0C5-E136A2B18C46}"/>
              </a:ext>
            </a:extLst>
          </p:cNvPr>
          <p:cNvCxnSpPr/>
          <p:nvPr/>
        </p:nvCxnSpPr>
        <p:spPr>
          <a:xfrm>
            <a:off x="5892800" y="3403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8A8B3EDA-1501-4263-E932-59DB8272A950}"/>
              </a:ext>
            </a:extLst>
          </p:cNvPr>
          <p:cNvSpPr/>
          <p:nvPr/>
        </p:nvSpPr>
        <p:spPr>
          <a:xfrm>
            <a:off x="609600" y="3937000"/>
            <a:ext cx="22860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AWS EC2 + EKS
GCP · preview</a:t>
            </a:r>
          </a:p>
        </p:txBody>
      </p:sp>
      <p:sp>
        <p:nvSpPr>
          <p:cNvPr id="20" name="Rectangle: Rounded Corners 19">
            <a:extLst>
              <a:ext uri="{FF2B5EF4-FFF2-40B4-BE49-F238E27FC236}">
                <a16:creationId xmlns:a16="http://schemas.microsoft.com/office/drawing/2014/main" id="{A0C539AB-69C0-074E-30F6-6407BBD52A2E}"/>
              </a:ext>
            </a:extLst>
          </p:cNvPr>
          <p:cNvSpPr/>
          <p:nvPr/>
        </p:nvSpPr>
        <p:spPr>
          <a:xfrm>
            <a:off x="3403600" y="3937000"/>
            <a:ext cx="2489200" cy="7112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Multicloud connector</a:t>
            </a:r>
          </a:p>
        </p:txBody>
      </p:sp>
      <p:cxnSp>
        <p:nvCxnSpPr>
          <p:cNvPr id="21" name="Straight Arrow Connector 20">
            <a:extLst>
              <a:ext uri="{FF2B5EF4-FFF2-40B4-BE49-F238E27FC236}">
                <a16:creationId xmlns:a16="http://schemas.microsoft.com/office/drawing/2014/main" id="{1EC70A96-370C-C9A7-1047-317285976974}"/>
              </a:ext>
            </a:extLst>
          </p:cNvPr>
          <p:cNvCxnSpPr/>
          <p:nvPr/>
        </p:nvCxnSpPr>
        <p:spPr>
          <a:xfrm>
            <a:off x="2895600" y="4292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F14D49E-888F-5A58-5380-77AE662E3DC3}"/>
              </a:ext>
            </a:extLst>
          </p:cNvPr>
          <p:cNvCxnSpPr/>
          <p:nvPr/>
        </p:nvCxnSpPr>
        <p:spPr>
          <a:xfrm>
            <a:off x="5892800" y="4292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B26CB831-4486-0C2F-C4AC-DE8C077003CF}"/>
              </a:ext>
            </a:extLst>
          </p:cNvPr>
          <p:cNvSpPr/>
          <p:nvPr/>
        </p:nvSpPr>
        <p:spPr>
          <a:xfrm>
            <a:off x="6400800" y="2159000"/>
            <a:ext cx="2286000" cy="2489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7E2FAB4-9A29-65EB-C66D-F4C567B0D2E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467600" y="2197100"/>
            <a:ext cx="152400" cy="152400"/>
          </a:xfrm>
          <a:prstGeom prst="rect">
            <a:avLst/>
          </a:prstGeom>
        </p:spPr>
      </p:pic>
      <p:sp>
        <p:nvSpPr>
          <p:cNvPr id="26" name="TextBox 25">
            <a:extLst>
              <a:ext uri="{FF2B5EF4-FFF2-40B4-BE49-F238E27FC236}">
                <a16:creationId xmlns:a16="http://schemas.microsoft.com/office/drawing/2014/main" id="{2B78E058-2151-D46E-38AF-B9F1F0B44D9B}"/>
              </a:ext>
            </a:extLst>
          </p:cNvPr>
          <p:cNvSpPr txBox="1"/>
          <p:nvPr/>
        </p:nvSpPr>
        <p:spPr>
          <a:xfrm>
            <a:off x="6502400" y="2362200"/>
            <a:ext cx="2082800" cy="22606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An Azure resource
resource ID · tags
managed identity
Azure RBAC scope</a:t>
            </a:r>
          </a:p>
        </p:txBody>
      </p:sp>
      <p:sp>
        <p:nvSpPr>
          <p:cNvPr id="27" name="Rectangle: Rounded Corners 26">
            <a:extLst>
              <a:ext uri="{FF2B5EF4-FFF2-40B4-BE49-F238E27FC236}">
                <a16:creationId xmlns:a16="http://schemas.microsoft.com/office/drawing/2014/main" id="{352268EE-8751-BA7D-12AF-92FC02561F81}"/>
              </a:ext>
            </a:extLst>
          </p:cNvPr>
          <p:cNvSpPr/>
          <p:nvPr/>
        </p:nvSpPr>
        <p:spPr>
          <a:xfrm>
            <a:off x="9194800" y="2159000"/>
            <a:ext cx="2387600" cy="2489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Monitor
Defender for Cloud
Policy
Update Manager
Machine configuration</a:t>
            </a:r>
          </a:p>
        </p:txBody>
      </p:sp>
      <p:cxnSp>
        <p:nvCxnSpPr>
          <p:cNvPr id="28" name="Straight Arrow Connector 27">
            <a:extLst>
              <a:ext uri="{FF2B5EF4-FFF2-40B4-BE49-F238E27FC236}">
                <a16:creationId xmlns:a16="http://schemas.microsoft.com/office/drawing/2014/main" id="{D62FE294-45E9-F8DF-A195-6BDD3C1E1266}"/>
              </a:ext>
            </a:extLst>
          </p:cNvPr>
          <p:cNvCxnSpPr/>
          <p:nvPr/>
        </p:nvCxnSpPr>
        <p:spPr>
          <a:xfrm>
            <a:off x="8686800" y="3403600"/>
            <a:ext cx="508000" cy="0"/>
          </a:xfrm>
          <a:prstGeom prst="straightConnector1">
            <a:avLst/>
          </a:prstGeom>
          <a:ln w="28575">
            <a:solidFill>
              <a:srgbClr val="A3B2C4"/>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604BB9B0-9D86-7ACC-20A8-298686F058D7}"/>
              </a:ext>
            </a:extLst>
          </p:cNvPr>
          <p:cNvSpPr txBox="1"/>
          <p:nvPr/>
        </p:nvSpPr>
        <p:spPr>
          <a:xfrm>
            <a:off x="9194800" y="4724400"/>
            <a:ext cx="2387600" cy="261610"/>
          </a:xfrm>
          <a:prstGeom prst="rect">
            <a:avLst/>
          </a:prstGeom>
          <a:noFill/>
        </p:spPr>
        <p:txBody>
          <a:bodyPr vert="horz" wrap="square" lIns="25400" rIns="25400" rtlCol="0">
            <a:spAutoFit/>
          </a:bodyPr>
          <a:lstStyle/>
          <a:p>
            <a:pPr algn="ctr"/>
            <a:r>
              <a:rPr lang="en-US" sz="1100">
                <a:solidFill>
                  <a:srgbClr val="A3B2C4"/>
                </a:solidFill>
                <a:latin typeface="Calibri" panose="020F0502020204030204" pitchFamily="34" charset="0"/>
              </a:rPr>
              <a:t>Each one is set up separately.</a:t>
            </a:r>
          </a:p>
        </p:txBody>
      </p:sp>
      <p:sp>
        <p:nvSpPr>
          <p:cNvPr id="30" name="TextBox 29">
            <a:extLst>
              <a:ext uri="{FF2B5EF4-FFF2-40B4-BE49-F238E27FC236}">
                <a16:creationId xmlns:a16="http://schemas.microsoft.com/office/drawing/2014/main" id="{60B1602C-E998-6CDB-5C58-205BE99C9C2D}"/>
              </a:ext>
            </a:extLst>
          </p:cNvPr>
          <p:cNvSpPr txBox="1"/>
          <p:nvPr/>
        </p:nvSpPr>
        <p:spPr>
          <a:xfrm>
            <a:off x="609600" y="5257800"/>
            <a:ext cx="7620000" cy="276999"/>
          </a:xfrm>
          <a:prstGeom prst="rect">
            <a:avLst/>
          </a:prstGeom>
          <a:noFill/>
        </p:spPr>
        <p:txBody>
          <a:bodyPr vert="horz" wrap="square" lIns="25400" rIns="25400" rtlCol="0">
            <a:spAutoFit/>
          </a:bodyPr>
          <a:lstStyle/>
          <a:p>
            <a:r>
              <a:rPr lang="en-US" sz="1200">
                <a:solidFill>
                  <a:srgbClr val="A3B2C4"/>
                </a:solidFill>
                <a:latin typeface="Calibri" panose="020F0502020204030204" pitchFamily="34" charset="0"/>
              </a:rPr>
              <a:t>Application traffic never goes through Arc: users keep reaching the workload over its own route.</a:t>
            </a:r>
          </a:p>
        </p:txBody>
      </p:sp>
      <p:sp>
        <p:nvSpPr>
          <p:cNvPr id="31" name="Rectangle 30">
            <a:extLst>
              <a:ext uri="{FF2B5EF4-FFF2-40B4-BE49-F238E27FC236}">
                <a16:creationId xmlns:a16="http://schemas.microsoft.com/office/drawing/2014/main" id="{4AEB4614-05D7-5982-4E66-33ED31C62B46}"/>
              </a:ext>
            </a:extLst>
          </p:cNvPr>
          <p:cNvSpPr/>
          <p:nvPr/>
        </p:nvSpPr>
        <p:spPr>
          <a:xfrm>
            <a:off x="5588000" y="5943600"/>
            <a:ext cx="1016000" cy="381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DD026F5-D171-2D6E-23B1-D5C7D6114F23}"/>
              </a:ext>
            </a:extLst>
          </p:cNvPr>
          <p:cNvSpPr txBox="1"/>
          <p:nvPr/>
        </p:nvSpPr>
        <p:spPr>
          <a:xfrm>
            <a:off x="1079500" y="6019800"/>
            <a:ext cx="10033000" cy="276999"/>
          </a:xfrm>
          <a:prstGeom prst="rect">
            <a:avLst/>
          </a:prstGeom>
          <a:noFill/>
        </p:spPr>
        <p:txBody>
          <a:bodyPr vert="horz" wrap="square" lIns="25400" rIns="25400" rtlCol="0">
            <a:spAutoFit/>
          </a:bodyPr>
          <a:lstStyle/>
          <a:p>
            <a:pPr algn="ctr"/>
            <a:r>
              <a:rPr lang="en-US" sz="1200" b="1">
                <a:solidFill>
                  <a:srgbClr val="56D6E0"/>
                </a:solidFill>
                <a:latin typeface="Calibri" panose="020F0502020204030204" pitchFamily="34" charset="0"/>
              </a:rPr>
              <a:t>Arc gives every resource outside Azure an Azure identity. Each service still needs its own configuration, evidence and permissions.</a:t>
            </a:r>
          </a:p>
        </p:txBody>
      </p:sp>
    </p:spTree>
    <p:extLst>
      <p:ext uri="{BB962C8B-B14F-4D97-AF65-F5344CB8AC3E}">
        <p14:creationId xmlns:p14="http://schemas.microsoft.com/office/powerpoint/2010/main" val="288995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A5A92B-DF42-81F9-BCFC-D21376D8BF5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DBB55A-388F-AD22-7D64-D593C998C88A}"/>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7C84DE8-C1A9-DBAB-85A9-A7F63120131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Connecting a server to Arc</a:t>
            </a:r>
          </a:p>
        </p:txBody>
      </p:sp>
      <p:sp>
        <p:nvSpPr>
          <p:cNvPr id="5" name="Rectangle 4">
            <a:extLst>
              <a:ext uri="{FF2B5EF4-FFF2-40B4-BE49-F238E27FC236}">
                <a16:creationId xmlns:a16="http://schemas.microsoft.com/office/drawing/2014/main" id="{9640EC19-598D-D0FB-C9E6-F1F03BA00EBA}"/>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3837C7F-DE33-2B69-E63B-25085100A31C}"/>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One outbound connection. It lands where your rules apply.</a:t>
            </a:r>
          </a:p>
        </p:txBody>
      </p:sp>
      <p:sp>
        <p:nvSpPr>
          <p:cNvPr id="7" name="Rectangle: Rounded Corners 6">
            <a:extLst>
              <a:ext uri="{FF2B5EF4-FFF2-40B4-BE49-F238E27FC236}">
                <a16:creationId xmlns:a16="http://schemas.microsoft.com/office/drawing/2014/main" id="{47044ACB-CDB7-8B56-AE81-23BA531D34C1}"/>
              </a:ext>
            </a:extLst>
          </p:cNvPr>
          <p:cNvSpPr/>
          <p:nvPr/>
        </p:nvSpPr>
        <p:spPr>
          <a:xfrm>
            <a:off x="609600" y="1727200"/>
            <a:ext cx="3048000" cy="965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Your server
workload + Connected Machine agent</a:t>
            </a:r>
          </a:p>
        </p:txBody>
      </p:sp>
      <p:cxnSp>
        <p:nvCxnSpPr>
          <p:cNvPr id="8" name="Straight Arrow Connector 7">
            <a:extLst>
              <a:ext uri="{FF2B5EF4-FFF2-40B4-BE49-F238E27FC236}">
                <a16:creationId xmlns:a16="http://schemas.microsoft.com/office/drawing/2014/main" id="{DC690EF1-A50F-3DCA-30D6-3FEA73DA59B6}"/>
              </a:ext>
            </a:extLst>
          </p:cNvPr>
          <p:cNvCxnSpPr/>
          <p:nvPr/>
        </p:nvCxnSpPr>
        <p:spPr>
          <a:xfrm>
            <a:off x="3657600" y="2209800"/>
            <a:ext cx="914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8562CE2-510C-A6C5-60BA-95FE9C4B8299}"/>
              </a:ext>
            </a:extLst>
          </p:cNvPr>
          <p:cNvSpPr txBox="1"/>
          <p:nvPr/>
        </p:nvSpPr>
        <p:spPr>
          <a:xfrm>
            <a:off x="3581400" y="1778000"/>
            <a:ext cx="1066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outbound 443</a:t>
            </a:r>
          </a:p>
        </p:txBody>
      </p:sp>
      <p:sp>
        <p:nvSpPr>
          <p:cNvPr id="10" name="Rectangle: Rounded Corners 9">
            <a:extLst>
              <a:ext uri="{FF2B5EF4-FFF2-40B4-BE49-F238E27FC236}">
                <a16:creationId xmlns:a16="http://schemas.microsoft.com/office/drawing/2014/main" id="{8C7FDBBA-32D5-1E14-C774-CEE106F7C6C7}"/>
              </a:ext>
            </a:extLst>
          </p:cNvPr>
          <p:cNvSpPr/>
          <p:nvPr/>
        </p:nvSpPr>
        <p:spPr>
          <a:xfrm>
            <a:off x="4572000" y="1727200"/>
            <a:ext cx="3048000" cy="965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3C0EAC83-C4AD-0965-36BF-1379E649C7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19800" y="1765300"/>
            <a:ext cx="152400" cy="152400"/>
          </a:xfrm>
          <a:prstGeom prst="rect">
            <a:avLst/>
          </a:prstGeom>
        </p:spPr>
      </p:pic>
      <p:sp>
        <p:nvSpPr>
          <p:cNvPr id="13" name="TextBox 12">
            <a:extLst>
              <a:ext uri="{FF2B5EF4-FFF2-40B4-BE49-F238E27FC236}">
                <a16:creationId xmlns:a16="http://schemas.microsoft.com/office/drawing/2014/main" id="{C836B168-46AF-B121-984A-5A6C604DCCA9}"/>
              </a:ext>
            </a:extLst>
          </p:cNvPr>
          <p:cNvSpPr txBox="1"/>
          <p:nvPr/>
        </p:nvSpPr>
        <p:spPr>
          <a:xfrm>
            <a:off x="4673600" y="1930400"/>
            <a:ext cx="2844800" cy="7366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An Azure resource
in the subscription and
resource group you chose</a:t>
            </a:r>
          </a:p>
        </p:txBody>
      </p:sp>
      <p:cxnSp>
        <p:nvCxnSpPr>
          <p:cNvPr id="14" name="Straight Arrow Connector 13">
            <a:extLst>
              <a:ext uri="{FF2B5EF4-FFF2-40B4-BE49-F238E27FC236}">
                <a16:creationId xmlns:a16="http://schemas.microsoft.com/office/drawing/2014/main" id="{89AE0382-314F-2015-22C0-A5A78CC52500}"/>
              </a:ext>
            </a:extLst>
          </p:cNvPr>
          <p:cNvCxnSpPr/>
          <p:nvPr/>
        </p:nvCxnSpPr>
        <p:spPr>
          <a:xfrm>
            <a:off x="7620000" y="2209800"/>
            <a:ext cx="914400" cy="0"/>
          </a:xfrm>
          <a:prstGeom prst="straightConnector1">
            <a:avLst/>
          </a:prstGeom>
          <a:ln w="28575">
            <a:solidFill>
              <a:srgbClr val="A3B2C4"/>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25FD9695-C969-4069-8993-E3AC8E15BF8F}"/>
              </a:ext>
            </a:extLst>
          </p:cNvPr>
          <p:cNvSpPr/>
          <p:nvPr/>
        </p:nvSpPr>
        <p:spPr>
          <a:xfrm>
            <a:off x="8534400" y="1727200"/>
            <a:ext cx="3048000" cy="965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Proof
azcmagent show says Connected;
the same machine appears in Azure</a:t>
            </a:r>
          </a:p>
        </p:txBody>
      </p:sp>
      <p:sp>
        <p:nvSpPr>
          <p:cNvPr id="16" name="Rectangle: Rounded Corners 15">
            <a:extLst>
              <a:ext uri="{FF2B5EF4-FFF2-40B4-BE49-F238E27FC236}">
                <a16:creationId xmlns:a16="http://schemas.microsoft.com/office/drawing/2014/main" id="{60C48636-8718-5F21-7F32-6E9A5F8F0F11}"/>
              </a:ext>
            </a:extLst>
          </p:cNvPr>
          <p:cNvSpPr/>
          <p:nvPr/>
        </p:nvSpPr>
        <p:spPr>
          <a:xfrm>
            <a:off x="609600" y="2946400"/>
            <a:ext cx="3048000" cy="2184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7" name="Oval 16">
            <a:extLst>
              <a:ext uri="{FF2B5EF4-FFF2-40B4-BE49-F238E27FC236}">
                <a16:creationId xmlns:a16="http://schemas.microsoft.com/office/drawing/2014/main" id="{FFF1F060-DDA3-23E9-30A8-6D888C0EDEE5}"/>
              </a:ext>
            </a:extLst>
          </p:cNvPr>
          <p:cNvSpPr/>
          <p:nvPr/>
        </p:nvSpPr>
        <p:spPr>
          <a:xfrm>
            <a:off x="762000" y="3098800"/>
            <a:ext cx="431800" cy="431800"/>
          </a:xfrm>
          <a:prstGeom prst="ellipse">
            <a:avLst/>
          </a:prstGeom>
          <a:solidFill>
            <a:srgbClr val="6ED2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1</a:t>
            </a:r>
          </a:p>
        </p:txBody>
      </p:sp>
      <p:sp>
        <p:nvSpPr>
          <p:cNvPr id="18" name="TextBox 17">
            <a:extLst>
              <a:ext uri="{FF2B5EF4-FFF2-40B4-BE49-F238E27FC236}">
                <a16:creationId xmlns:a16="http://schemas.microsoft.com/office/drawing/2014/main" id="{D698AFAE-DED6-2FFB-38A3-24C7509EACFF}"/>
              </a:ext>
            </a:extLst>
          </p:cNvPr>
          <p:cNvSpPr txBox="1"/>
          <p:nvPr/>
        </p:nvSpPr>
        <p:spPr>
          <a:xfrm>
            <a:off x="1270000" y="3073400"/>
            <a:ext cx="2286000" cy="323165"/>
          </a:xfrm>
          <a:prstGeom prst="rect">
            <a:avLst/>
          </a:prstGeom>
          <a:noFill/>
        </p:spPr>
        <p:txBody>
          <a:bodyPr vert="horz" wrap="square" lIns="25400" rIns="25400" rtlCol="0">
            <a:spAutoFit/>
          </a:bodyPr>
          <a:lstStyle/>
          <a:p>
            <a:r>
              <a:rPr lang="en-US" sz="1500" b="1">
                <a:solidFill>
                  <a:srgbClr val="EAF0F7"/>
                </a:solidFill>
                <a:latin typeface="Calibri" panose="020F0502020204030204" pitchFamily="34" charset="0"/>
              </a:rPr>
              <a:t>One outbound connection</a:t>
            </a:r>
          </a:p>
        </p:txBody>
      </p:sp>
      <p:sp>
        <p:nvSpPr>
          <p:cNvPr id="19" name="TextBox 18">
            <a:extLst>
              <a:ext uri="{FF2B5EF4-FFF2-40B4-BE49-F238E27FC236}">
                <a16:creationId xmlns:a16="http://schemas.microsoft.com/office/drawing/2014/main" id="{E9FCA311-506B-4F68-2032-5D6476717997}"/>
              </a:ext>
            </a:extLst>
          </p:cNvPr>
          <p:cNvSpPr txBox="1"/>
          <p:nvPr/>
        </p:nvSpPr>
        <p:spPr>
          <a:xfrm>
            <a:off x="787400" y="3810000"/>
            <a:ext cx="2717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No inbound ports, no VPN. The app never uses it.</a:t>
            </a:r>
          </a:p>
        </p:txBody>
      </p:sp>
      <p:sp>
        <p:nvSpPr>
          <p:cNvPr id="20" name="Rectangle: Rounded Corners 19">
            <a:extLst>
              <a:ext uri="{FF2B5EF4-FFF2-40B4-BE49-F238E27FC236}">
                <a16:creationId xmlns:a16="http://schemas.microsoft.com/office/drawing/2014/main" id="{071CB0A5-681B-69FD-DC4F-373CDA54A316}"/>
              </a:ext>
            </a:extLst>
          </p:cNvPr>
          <p:cNvSpPr/>
          <p:nvPr/>
        </p:nvSpPr>
        <p:spPr>
          <a:xfrm>
            <a:off x="4572000" y="2946400"/>
            <a:ext cx="3048000" cy="2184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21" name="Oval 20">
            <a:extLst>
              <a:ext uri="{FF2B5EF4-FFF2-40B4-BE49-F238E27FC236}">
                <a16:creationId xmlns:a16="http://schemas.microsoft.com/office/drawing/2014/main" id="{31BAB248-2D36-1DC3-36BE-361CBA365543}"/>
              </a:ext>
            </a:extLst>
          </p:cNvPr>
          <p:cNvSpPr/>
          <p:nvPr/>
        </p:nvSpPr>
        <p:spPr>
          <a:xfrm>
            <a:off x="4724400" y="3098800"/>
            <a:ext cx="431800" cy="431800"/>
          </a:xfrm>
          <a:prstGeom prst="ellipse">
            <a:avLst/>
          </a:prstGeom>
          <a:solidFill>
            <a:srgbClr val="6EA8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2</a:t>
            </a:r>
          </a:p>
        </p:txBody>
      </p:sp>
      <p:sp>
        <p:nvSpPr>
          <p:cNvPr id="22" name="TextBox 21">
            <a:extLst>
              <a:ext uri="{FF2B5EF4-FFF2-40B4-BE49-F238E27FC236}">
                <a16:creationId xmlns:a16="http://schemas.microsoft.com/office/drawing/2014/main" id="{A8D990A2-7536-5838-32EF-D680E20EDDA3}"/>
              </a:ext>
            </a:extLst>
          </p:cNvPr>
          <p:cNvSpPr txBox="1"/>
          <p:nvPr/>
        </p:nvSpPr>
        <p:spPr>
          <a:xfrm>
            <a:off x="5232400" y="3073400"/>
            <a:ext cx="2286000" cy="323165"/>
          </a:xfrm>
          <a:prstGeom prst="rect">
            <a:avLst/>
          </a:prstGeom>
          <a:noFill/>
        </p:spPr>
        <p:txBody>
          <a:bodyPr vert="horz" wrap="square" lIns="25400" rIns="25400" rtlCol="0">
            <a:spAutoFit/>
          </a:bodyPr>
          <a:lstStyle/>
          <a:p>
            <a:r>
              <a:rPr lang="en-US" sz="1500" b="1">
                <a:solidFill>
                  <a:srgbClr val="EAF0F7"/>
                </a:solidFill>
                <a:latin typeface="Calibri" panose="020F0502020204030204" pitchFamily="34" charset="0"/>
              </a:rPr>
              <a:t>Where it lands sets its rules</a:t>
            </a:r>
          </a:p>
        </p:txBody>
      </p:sp>
      <p:sp>
        <p:nvSpPr>
          <p:cNvPr id="23" name="TextBox 22">
            <a:extLst>
              <a:ext uri="{FF2B5EF4-FFF2-40B4-BE49-F238E27FC236}">
                <a16:creationId xmlns:a16="http://schemas.microsoft.com/office/drawing/2014/main" id="{4162981D-A2EF-17D2-F1D8-8D088509B1EB}"/>
              </a:ext>
            </a:extLst>
          </p:cNvPr>
          <p:cNvSpPr txBox="1"/>
          <p:nvPr/>
        </p:nvSpPr>
        <p:spPr>
          <a:xfrm>
            <a:off x="4749800" y="3810000"/>
            <a:ext cx="2717800" cy="738664"/>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The subscription and resource group you pick decide which Policy and access rules it inherits.</a:t>
            </a:r>
          </a:p>
        </p:txBody>
      </p:sp>
      <p:sp>
        <p:nvSpPr>
          <p:cNvPr id="24" name="Rectangle: Rounded Corners 23">
            <a:extLst>
              <a:ext uri="{FF2B5EF4-FFF2-40B4-BE49-F238E27FC236}">
                <a16:creationId xmlns:a16="http://schemas.microsoft.com/office/drawing/2014/main" id="{A9351940-E89F-5246-724E-49D3B0BB1597}"/>
              </a:ext>
            </a:extLst>
          </p:cNvPr>
          <p:cNvSpPr/>
          <p:nvPr/>
        </p:nvSpPr>
        <p:spPr>
          <a:xfrm>
            <a:off x="8534400" y="2946400"/>
            <a:ext cx="3048000" cy="2184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25" name="Oval 24">
            <a:extLst>
              <a:ext uri="{FF2B5EF4-FFF2-40B4-BE49-F238E27FC236}">
                <a16:creationId xmlns:a16="http://schemas.microsoft.com/office/drawing/2014/main" id="{BC4E2A53-80F9-EB5A-AC59-502EC18A4AB3}"/>
              </a:ext>
            </a:extLst>
          </p:cNvPr>
          <p:cNvSpPr/>
          <p:nvPr/>
        </p:nvSpPr>
        <p:spPr>
          <a:xfrm>
            <a:off x="8686800" y="3098800"/>
            <a:ext cx="431800" cy="431800"/>
          </a:xfrm>
          <a:prstGeom prst="ellipse">
            <a:avLst/>
          </a:prstGeom>
          <a:solidFill>
            <a:srgbClr val="6ED2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3</a:t>
            </a:r>
          </a:p>
        </p:txBody>
      </p:sp>
      <p:sp>
        <p:nvSpPr>
          <p:cNvPr id="26" name="TextBox 25">
            <a:extLst>
              <a:ext uri="{FF2B5EF4-FFF2-40B4-BE49-F238E27FC236}">
                <a16:creationId xmlns:a16="http://schemas.microsoft.com/office/drawing/2014/main" id="{1C4967C9-20AE-18E7-9E70-43498B75870D}"/>
              </a:ext>
            </a:extLst>
          </p:cNvPr>
          <p:cNvSpPr txBox="1"/>
          <p:nvPr/>
        </p:nvSpPr>
        <p:spPr>
          <a:xfrm>
            <a:off x="9194800" y="3073400"/>
            <a:ext cx="2286000" cy="323165"/>
          </a:xfrm>
          <a:prstGeom prst="rect">
            <a:avLst/>
          </a:prstGeom>
          <a:noFill/>
        </p:spPr>
        <p:txBody>
          <a:bodyPr vert="horz" wrap="square" lIns="25400" rIns="25400" rtlCol="0">
            <a:spAutoFit/>
          </a:bodyPr>
          <a:lstStyle/>
          <a:p>
            <a:r>
              <a:rPr lang="en-US" sz="1500" b="1">
                <a:solidFill>
                  <a:srgbClr val="EAF0F7"/>
                </a:solidFill>
                <a:latin typeface="Calibri" panose="020F0502020204030204" pitchFamily="34" charset="0"/>
              </a:rPr>
              <a:t>Prove it worked</a:t>
            </a:r>
          </a:p>
        </p:txBody>
      </p:sp>
      <p:sp>
        <p:nvSpPr>
          <p:cNvPr id="27" name="TextBox 26">
            <a:extLst>
              <a:ext uri="{FF2B5EF4-FFF2-40B4-BE49-F238E27FC236}">
                <a16:creationId xmlns:a16="http://schemas.microsoft.com/office/drawing/2014/main" id="{E8FE4E25-2609-5E86-28CC-E0FCE24FC3E2}"/>
              </a:ext>
            </a:extLst>
          </p:cNvPr>
          <p:cNvSpPr txBox="1"/>
          <p:nvPr/>
        </p:nvSpPr>
        <p:spPr>
          <a:xfrm>
            <a:off x="8712200" y="3810000"/>
            <a:ext cx="2717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Check it on the machine and in Azure, in the right place.</a:t>
            </a:r>
          </a:p>
        </p:txBody>
      </p:sp>
      <p:sp>
        <p:nvSpPr>
          <p:cNvPr id="28" name="TextBox 27">
            <a:extLst>
              <a:ext uri="{FF2B5EF4-FFF2-40B4-BE49-F238E27FC236}">
                <a16:creationId xmlns:a16="http://schemas.microsoft.com/office/drawing/2014/main" id="{8AB08C43-027F-3EB9-0D52-6E3D1829E04A}"/>
              </a:ext>
            </a:extLst>
          </p:cNvPr>
          <p:cNvSpPr txBox="1"/>
          <p:nvPr/>
        </p:nvSpPr>
        <p:spPr>
          <a:xfrm>
            <a:off x="609600" y="5283200"/>
            <a:ext cx="10972800" cy="292388"/>
          </a:xfrm>
          <a:prstGeom prst="rect">
            <a:avLst/>
          </a:prstGeom>
          <a:noFill/>
        </p:spPr>
        <p:txBody>
          <a:bodyPr vert="horz" wrap="square" lIns="25400" rIns="25400" rtlCol="0">
            <a:spAutoFit/>
          </a:bodyPr>
          <a:lstStyle/>
          <a:p>
            <a:r>
              <a:rPr lang="en-US" sz="1300">
                <a:solidFill>
                  <a:srgbClr val="A3B2C4"/>
                </a:solidFill>
                <a:latin typeface="Calibri" panose="020F0502020204030204" pitchFamily="34" charset="0"/>
              </a:rPr>
              <a:t>Services you add later (Monitor, Defender, Policy, Update Manager) come in the rest of the session.</a:t>
            </a:r>
          </a:p>
        </p:txBody>
      </p:sp>
      <p:sp>
        <p:nvSpPr>
          <p:cNvPr id="29" name="Rectangle 28">
            <a:extLst>
              <a:ext uri="{FF2B5EF4-FFF2-40B4-BE49-F238E27FC236}">
                <a16:creationId xmlns:a16="http://schemas.microsoft.com/office/drawing/2014/main" id="{95DD53A4-9476-F512-1B2F-E299CEE9FC91}"/>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3969654-8A71-C301-3B52-CD887817BE4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Next, we do exactly this on our own machines.</a:t>
            </a:r>
          </a:p>
        </p:txBody>
      </p:sp>
    </p:spTree>
    <p:extLst>
      <p:ext uri="{BB962C8B-B14F-4D97-AF65-F5344CB8AC3E}">
        <p14:creationId xmlns:p14="http://schemas.microsoft.com/office/powerpoint/2010/main" val="23488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66962B-A447-7EBD-8AEB-09E2AAF28F3E}"/>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5907DD5-C4FE-1D35-6656-05B902BFCC8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5C66BCE-F31A-BE6C-7756-1CC4CF26E1EE}"/>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connect the on-premises/edge machines to Azure Arc</a:t>
            </a:r>
          </a:p>
        </p:txBody>
      </p:sp>
      <p:sp>
        <p:nvSpPr>
          <p:cNvPr id="5" name="Rectangle 4">
            <a:extLst>
              <a:ext uri="{FF2B5EF4-FFF2-40B4-BE49-F238E27FC236}">
                <a16:creationId xmlns:a16="http://schemas.microsoft.com/office/drawing/2014/main" id="{AB179A1C-9065-4163-3B35-3DA8DE4AC8C2}"/>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A5FCF8F-1D3B-EDA5-F70F-1D319E12BC69}"/>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Question: how does an existing on-premises machine become an Azure resource?</a:t>
            </a:r>
          </a:p>
        </p:txBody>
      </p:sp>
      <p:sp>
        <p:nvSpPr>
          <p:cNvPr id="7" name="Rectangle: Rounded Corners 6">
            <a:extLst>
              <a:ext uri="{FF2B5EF4-FFF2-40B4-BE49-F238E27FC236}">
                <a16:creationId xmlns:a16="http://schemas.microsoft.com/office/drawing/2014/main" id="{3639C1A6-FB12-DF79-C12A-C0DB66AC63F8}"/>
              </a:ext>
            </a:extLst>
          </p:cNvPr>
          <p:cNvSpPr/>
          <p:nvPr/>
        </p:nvSpPr>
        <p:spPr>
          <a:xfrm>
            <a:off x="609600" y="2286000"/>
            <a:ext cx="2286000" cy="7366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cas26-arcwin01
Windows guest (standalone Hyper-V)</a:t>
            </a:r>
          </a:p>
        </p:txBody>
      </p:sp>
      <p:sp>
        <p:nvSpPr>
          <p:cNvPr id="8" name="Rectangle: Rounded Corners 7">
            <a:extLst>
              <a:ext uri="{FF2B5EF4-FFF2-40B4-BE49-F238E27FC236}">
                <a16:creationId xmlns:a16="http://schemas.microsoft.com/office/drawing/2014/main" id="{BC5B9366-D460-A216-9933-001A5FD7DA41}"/>
              </a:ext>
            </a:extLst>
          </p:cNvPr>
          <p:cNvSpPr/>
          <p:nvPr/>
        </p:nvSpPr>
        <p:spPr>
          <a:xfrm>
            <a:off x="609600" y="3810000"/>
            <a:ext cx="2286000" cy="736600"/>
          </a:xfrm>
          <a:prstGeom prst="roundRect">
            <a:avLst/>
          </a:prstGeom>
          <a:solidFill>
            <a:srgbClr val="232E41"/>
          </a:solidFill>
          <a:ln w="15875">
            <a:solidFill>
              <a:srgbClr val="A3B2C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cas26-lnx01
Linux worker (SCVMM cluster)</a:t>
            </a:r>
          </a:p>
        </p:txBody>
      </p:sp>
      <p:sp>
        <p:nvSpPr>
          <p:cNvPr id="9" name="Rectangle: Rounded Corners 8">
            <a:extLst>
              <a:ext uri="{FF2B5EF4-FFF2-40B4-BE49-F238E27FC236}">
                <a16:creationId xmlns:a16="http://schemas.microsoft.com/office/drawing/2014/main" id="{BC654005-035F-FD08-C485-5854657EA4A1}"/>
              </a:ext>
            </a:extLst>
          </p:cNvPr>
          <p:cNvSpPr/>
          <p:nvPr/>
        </p:nvSpPr>
        <p:spPr>
          <a:xfrm>
            <a:off x="3810000" y="2286000"/>
            <a:ext cx="1968500" cy="2260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Connect-Cas26Arc.ps1
-Target &lt;Windows|Linux&gt;
dry run first, then connect</a:t>
            </a:r>
          </a:p>
        </p:txBody>
      </p:sp>
      <p:cxnSp>
        <p:nvCxnSpPr>
          <p:cNvPr id="10" name="Straight Arrow Connector 9">
            <a:extLst>
              <a:ext uri="{FF2B5EF4-FFF2-40B4-BE49-F238E27FC236}">
                <a16:creationId xmlns:a16="http://schemas.microsoft.com/office/drawing/2014/main" id="{1798EF1D-C6A2-0A12-6120-D2177C54407B}"/>
              </a:ext>
            </a:extLst>
          </p:cNvPr>
          <p:cNvCxnSpPr/>
          <p:nvPr/>
        </p:nvCxnSpPr>
        <p:spPr>
          <a:xfrm>
            <a:off x="2895600" y="2654300"/>
            <a:ext cx="914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0E9A345-74A4-7D2D-2F44-40F3296089C2}"/>
              </a:ext>
            </a:extLst>
          </p:cNvPr>
          <p:cNvSpPr txBox="1"/>
          <p:nvPr/>
        </p:nvSpPr>
        <p:spPr>
          <a:xfrm>
            <a:off x="3009900" y="2222500"/>
            <a:ext cx="685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connect</a:t>
            </a:r>
          </a:p>
        </p:txBody>
      </p:sp>
      <p:cxnSp>
        <p:nvCxnSpPr>
          <p:cNvPr id="12" name="Straight Arrow Connector 11">
            <a:extLst>
              <a:ext uri="{FF2B5EF4-FFF2-40B4-BE49-F238E27FC236}">
                <a16:creationId xmlns:a16="http://schemas.microsoft.com/office/drawing/2014/main" id="{5A413CDE-8873-3E07-7BAA-C87FACD1122D}"/>
              </a:ext>
            </a:extLst>
          </p:cNvPr>
          <p:cNvCxnSpPr/>
          <p:nvPr/>
        </p:nvCxnSpPr>
        <p:spPr>
          <a:xfrm>
            <a:off x="2895600" y="4178300"/>
            <a:ext cx="914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F211C7C-3961-D5B4-AB03-9D5C705674BF}"/>
              </a:ext>
            </a:extLst>
          </p:cNvPr>
          <p:cNvSpPr txBox="1"/>
          <p:nvPr/>
        </p:nvSpPr>
        <p:spPr>
          <a:xfrm>
            <a:off x="3009900" y="3746500"/>
            <a:ext cx="685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connect</a:t>
            </a:r>
          </a:p>
        </p:txBody>
      </p:sp>
      <p:sp>
        <p:nvSpPr>
          <p:cNvPr id="14" name="Rectangle: Rounded Corners 13">
            <a:extLst>
              <a:ext uri="{FF2B5EF4-FFF2-40B4-BE49-F238E27FC236}">
                <a16:creationId xmlns:a16="http://schemas.microsoft.com/office/drawing/2014/main" id="{7A3FF748-D435-E599-F4DE-7D9851A4DBF4}"/>
              </a:ext>
            </a:extLst>
          </p:cNvPr>
          <p:cNvSpPr/>
          <p:nvPr/>
        </p:nvSpPr>
        <p:spPr>
          <a:xfrm>
            <a:off x="6921500" y="2286000"/>
            <a:ext cx="2159000" cy="9906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LOCAL PROOF
azcmagent show
Agent Status: Connected</a:t>
            </a:r>
          </a:p>
        </p:txBody>
      </p:sp>
      <p:sp>
        <p:nvSpPr>
          <p:cNvPr id="15" name="Rectangle: Rounded Corners 14">
            <a:extLst>
              <a:ext uri="{FF2B5EF4-FFF2-40B4-BE49-F238E27FC236}">
                <a16:creationId xmlns:a16="http://schemas.microsoft.com/office/drawing/2014/main" id="{26044E0B-4494-7F19-1D40-F9FBBB778BD8}"/>
              </a:ext>
            </a:extLst>
          </p:cNvPr>
          <p:cNvSpPr/>
          <p:nvPr/>
        </p:nvSpPr>
        <p:spPr>
          <a:xfrm>
            <a:off x="6921500" y="3556000"/>
            <a:ext cx="2159000" cy="9906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AZURE PROOF
HybridCompute/machines
identity · tags · status</a:t>
            </a:r>
          </a:p>
        </p:txBody>
      </p:sp>
      <p:cxnSp>
        <p:nvCxnSpPr>
          <p:cNvPr id="16" name="Straight Arrow Connector 15">
            <a:extLst>
              <a:ext uri="{FF2B5EF4-FFF2-40B4-BE49-F238E27FC236}">
                <a16:creationId xmlns:a16="http://schemas.microsoft.com/office/drawing/2014/main" id="{107641E0-E870-E403-B80E-B868535D9EBD}"/>
              </a:ext>
            </a:extLst>
          </p:cNvPr>
          <p:cNvCxnSpPr/>
          <p:nvPr/>
        </p:nvCxnSpPr>
        <p:spPr>
          <a:xfrm>
            <a:off x="5778500" y="2781300"/>
            <a:ext cx="1143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A63A2F1-27A3-6AC7-1EA1-43839DECB1AD}"/>
              </a:ext>
            </a:extLst>
          </p:cNvPr>
          <p:cNvSpPr txBox="1"/>
          <p:nvPr/>
        </p:nvSpPr>
        <p:spPr>
          <a:xfrm>
            <a:off x="5816600" y="2349500"/>
            <a:ext cx="1066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verify guest</a:t>
            </a:r>
          </a:p>
        </p:txBody>
      </p:sp>
      <p:cxnSp>
        <p:nvCxnSpPr>
          <p:cNvPr id="18" name="Straight Arrow Connector 17">
            <a:extLst>
              <a:ext uri="{FF2B5EF4-FFF2-40B4-BE49-F238E27FC236}">
                <a16:creationId xmlns:a16="http://schemas.microsoft.com/office/drawing/2014/main" id="{EE44AB4B-3397-F23C-36D5-2B421187C50E}"/>
              </a:ext>
            </a:extLst>
          </p:cNvPr>
          <p:cNvCxnSpPr/>
          <p:nvPr/>
        </p:nvCxnSpPr>
        <p:spPr>
          <a:xfrm>
            <a:off x="5778500" y="4051300"/>
            <a:ext cx="1143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117B49BF-A788-1CBC-418D-B95B72CE3276}"/>
              </a:ext>
            </a:extLst>
          </p:cNvPr>
          <p:cNvSpPr txBox="1"/>
          <p:nvPr/>
        </p:nvSpPr>
        <p:spPr>
          <a:xfrm>
            <a:off x="5816600" y="3619500"/>
            <a:ext cx="1066800" cy="261610"/>
          </a:xfrm>
          <a:prstGeom prst="rect">
            <a:avLst/>
          </a:prstGeom>
          <a:noFill/>
        </p:spPr>
        <p:txBody>
          <a:bodyPr vert="horz" wrap="square" lIns="25400" rIns="25400" rtlCol="0">
            <a:spAutoFit/>
          </a:bodyPr>
          <a:lstStyle/>
          <a:p>
            <a:pPr algn="ctr"/>
            <a:r>
              <a:rPr lang="en-US" sz="1100" b="1">
                <a:solidFill>
                  <a:srgbClr val="6EA8F0"/>
                </a:solidFill>
                <a:latin typeface="Calibri" panose="020F0502020204030204" pitchFamily="34" charset="0"/>
              </a:rPr>
              <a:t>verify Azure</a:t>
            </a:r>
          </a:p>
        </p:txBody>
      </p:sp>
      <p:sp>
        <p:nvSpPr>
          <p:cNvPr id="20" name="Rectangle: Rounded Corners 19">
            <a:extLst>
              <a:ext uri="{FF2B5EF4-FFF2-40B4-BE49-F238E27FC236}">
                <a16:creationId xmlns:a16="http://schemas.microsoft.com/office/drawing/2014/main" id="{9B67A0C0-7E46-B704-6E80-0E9A0CEA48FF}"/>
              </a:ext>
            </a:extLst>
          </p:cNvPr>
          <p:cNvSpPr/>
          <p:nvPr/>
        </p:nvSpPr>
        <p:spPr>
          <a:xfrm>
            <a:off x="9652000" y="2413000"/>
            <a:ext cx="1930400" cy="20066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DEBRIEF
Arc connection creates the management representation. Monitor, Defender and Policy still require separate configuration.</a:t>
            </a:r>
          </a:p>
        </p:txBody>
      </p:sp>
      <p:sp>
        <p:nvSpPr>
          <p:cNvPr id="21" name="TextBox 20">
            <a:extLst>
              <a:ext uri="{FF2B5EF4-FFF2-40B4-BE49-F238E27FC236}">
                <a16:creationId xmlns:a16="http://schemas.microsoft.com/office/drawing/2014/main" id="{B42911F2-3D43-C2F1-9570-58EE8149F3D1}"/>
              </a:ext>
            </a:extLst>
          </p:cNvPr>
          <p:cNvSpPr txBox="1"/>
          <p:nvPr/>
        </p:nvSpPr>
        <p:spPr>
          <a:xfrm>
            <a:off x="952500" y="5905500"/>
            <a:ext cx="10287000" cy="269304"/>
          </a:xfrm>
          <a:prstGeom prst="rect">
            <a:avLst/>
          </a:prstGeom>
          <a:noFill/>
        </p:spPr>
        <p:txBody>
          <a:bodyPr vert="horz" wrap="square" lIns="25400" rIns="25400" rtlCol="0">
            <a:spAutoFit/>
          </a:bodyPr>
          <a:lstStyle/>
          <a:p>
            <a:pPr algn="ctr"/>
            <a:r>
              <a:rPr lang="en-US" sz="1150">
                <a:solidFill>
                  <a:srgbClr val="A3B2C4"/>
                </a:solidFill>
                <a:latin typeface="Calibri" panose="020F0502020204030204" pitchFamily="34" charset="0"/>
              </a:rPr>
              <a:t>Onboarding uses a short-lived, scoped credential. Afterwards the machine authenticates to Azure with its own identity.</a:t>
            </a:r>
          </a:p>
        </p:txBody>
      </p:sp>
      <p:sp>
        <p:nvSpPr>
          <p:cNvPr id="22" name="DemoMarkerBar">
            <a:extLst>
              <a:ext uri="{FF2B5EF4-FFF2-40B4-BE49-F238E27FC236}">
                <a16:creationId xmlns:a16="http://schemas.microsoft.com/office/drawing/2014/main" id="{2D4C1805-B004-7B09-357C-2D98194F9DE0}"/>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emoMarkerText">
            <a:extLst>
              <a:ext uri="{FF2B5EF4-FFF2-40B4-BE49-F238E27FC236}">
                <a16:creationId xmlns:a16="http://schemas.microsoft.com/office/drawing/2014/main" id="{75488854-C963-0196-365E-A29640B59249}"/>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435149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CA5B0E-6DE0-10B9-1565-B2F681AAC5F0}"/>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44AE59D-9EA5-810C-4ECB-8176713A275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1294B31-274E-391D-4C41-9E1749A202C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SCVMM and vCenter</a:t>
            </a:r>
          </a:p>
        </p:txBody>
      </p:sp>
      <p:sp>
        <p:nvSpPr>
          <p:cNvPr id="5" name="Rectangle 4">
            <a:extLst>
              <a:ext uri="{FF2B5EF4-FFF2-40B4-BE49-F238E27FC236}">
                <a16:creationId xmlns:a16="http://schemas.microsoft.com/office/drawing/2014/main" id="{5AA75C01-1DDA-92AE-B6D6-720A0315056B}"/>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C9FDDE2-FC51-7B53-89FD-BD4E1EAE493E}"/>
              </a:ext>
            </a:extLst>
          </p:cNvPr>
          <p:cNvSpPr/>
          <p:nvPr/>
        </p:nvSpPr>
        <p:spPr>
          <a:xfrm>
            <a:off x="609600" y="1727200"/>
            <a:ext cx="5080000" cy="7366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Apps + guest OS
what the agent connected in the demo</a:t>
            </a:r>
          </a:p>
        </p:txBody>
      </p:sp>
      <p:sp>
        <p:nvSpPr>
          <p:cNvPr id="7" name="Rectangle: Rounded Corners 6">
            <a:extLst>
              <a:ext uri="{FF2B5EF4-FFF2-40B4-BE49-F238E27FC236}">
                <a16:creationId xmlns:a16="http://schemas.microsoft.com/office/drawing/2014/main" id="{CA032F28-88CD-6D9F-FD67-DC8D8AE86B03}"/>
              </a:ext>
            </a:extLst>
          </p:cNvPr>
          <p:cNvSpPr/>
          <p:nvPr/>
        </p:nvSpPr>
        <p:spPr>
          <a:xfrm>
            <a:off x="609600" y="2616200"/>
            <a:ext cx="5080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The VM</a:t>
            </a:r>
          </a:p>
        </p:txBody>
      </p:sp>
      <p:sp>
        <p:nvSpPr>
          <p:cNvPr id="8" name="Rectangle: Rounded Corners 7">
            <a:extLst>
              <a:ext uri="{FF2B5EF4-FFF2-40B4-BE49-F238E27FC236}">
                <a16:creationId xmlns:a16="http://schemas.microsoft.com/office/drawing/2014/main" id="{A4B08DC7-B312-03EF-9BE6-85BD0AA52C7C}"/>
              </a:ext>
            </a:extLst>
          </p:cNvPr>
          <p:cNvSpPr/>
          <p:nvPr/>
        </p:nvSpPr>
        <p:spPr>
          <a:xfrm>
            <a:off x="609600" y="3276600"/>
            <a:ext cx="5080000" cy="990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SCVMM (Hyper-V) or vCenter (VMware)
creates, starts, stops and moves VMs;
knows every VM, template and network</a:t>
            </a:r>
          </a:p>
        </p:txBody>
      </p:sp>
      <p:sp>
        <p:nvSpPr>
          <p:cNvPr id="9" name="Rectangle: Rounded Corners 8">
            <a:extLst>
              <a:ext uri="{FF2B5EF4-FFF2-40B4-BE49-F238E27FC236}">
                <a16:creationId xmlns:a16="http://schemas.microsoft.com/office/drawing/2014/main" id="{5DFD4D50-103F-792A-CFB5-844DD671293F}"/>
              </a:ext>
            </a:extLst>
          </p:cNvPr>
          <p:cNvSpPr/>
          <p:nvPr/>
        </p:nvSpPr>
        <p:spPr>
          <a:xfrm>
            <a:off x="609600" y="4419600"/>
            <a:ext cx="5080000" cy="6858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Hosts and clusters
our lab: hvcl-ral-t1</a:t>
            </a:r>
          </a:p>
        </p:txBody>
      </p:sp>
      <p:sp>
        <p:nvSpPr>
          <p:cNvPr id="10" name="TextBox 9">
            <a:extLst>
              <a:ext uri="{FF2B5EF4-FFF2-40B4-BE49-F238E27FC236}">
                <a16:creationId xmlns:a16="http://schemas.microsoft.com/office/drawing/2014/main" id="{CF5945B4-8D0C-DC8B-4ADA-D1AF30510E2B}"/>
              </a:ext>
            </a:extLst>
          </p:cNvPr>
          <p:cNvSpPr txBox="1"/>
          <p:nvPr/>
        </p:nvSpPr>
        <p:spPr>
          <a:xfrm>
            <a:off x="6223000" y="1905000"/>
            <a:ext cx="5359400" cy="1923604"/>
          </a:xfrm>
          <a:prstGeom prst="rect">
            <a:avLst/>
          </a:prstGeom>
          <a:noFill/>
        </p:spPr>
        <p:txBody>
          <a:bodyPr vert="horz" wrap="square" lIns="25400" rIns="25400" rtlCol="0">
            <a:spAutoFit/>
          </a:bodyPr>
          <a:lstStyle/>
          <a:p>
            <a:r>
              <a:rPr lang="en-US" sz="1700">
                <a:solidFill>
                  <a:srgbClr val="EAF0F7"/>
                </a:solidFill>
                <a:latin typeface="Calibri" panose="020F0502020204030204" pitchFamily="34" charset="0"/>
              </a:rPr>
              <a:t>•  The agent sees one machine, from the inside.
•  SCVMM or vCenter sees every VM from underneath, even VMs with no agent and VMs that are powered off.
•  Arc can connect to SCVMM or vCenter once, instead of to each VM.</a:t>
            </a:r>
          </a:p>
        </p:txBody>
      </p:sp>
      <p:sp>
        <p:nvSpPr>
          <p:cNvPr id="11" name="Rectangle 10">
            <a:extLst>
              <a:ext uri="{FF2B5EF4-FFF2-40B4-BE49-F238E27FC236}">
                <a16:creationId xmlns:a16="http://schemas.microsoft.com/office/drawing/2014/main" id="{E45F8D00-D57A-EA4C-492C-B70155AD4D57}"/>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22B3FEC-FE78-ADDA-826A-4595958E52B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Next: connecting SCVMM or vCenter to Azure Arc.</a:t>
            </a:r>
          </a:p>
        </p:txBody>
      </p:sp>
    </p:spTree>
    <p:extLst>
      <p:ext uri="{BB962C8B-B14F-4D97-AF65-F5344CB8AC3E}">
        <p14:creationId xmlns:p14="http://schemas.microsoft.com/office/powerpoint/2010/main" val="805147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7A28B0-0308-9E83-B711-EC47398FED6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CB85F4-AAC5-7FA0-C345-E5FE3C189ADE}"/>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B535E8E-20FA-6EA0-F783-58630BAA507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Connect SCVMM or vCenter to Azure Arc</a:t>
            </a:r>
          </a:p>
        </p:txBody>
      </p:sp>
      <p:sp>
        <p:nvSpPr>
          <p:cNvPr id="5" name="Rectangle 4">
            <a:extLst>
              <a:ext uri="{FF2B5EF4-FFF2-40B4-BE49-F238E27FC236}">
                <a16:creationId xmlns:a16="http://schemas.microsoft.com/office/drawing/2014/main" id="{0DE3EC7A-546E-2E4E-4B6C-F855CEF121B6}"/>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1401EE13-C80A-E481-4A39-5EFA8338C853}"/>
              </a:ext>
            </a:extLst>
          </p:cNvPr>
          <p:cNvSpPr/>
          <p:nvPr/>
        </p:nvSpPr>
        <p:spPr>
          <a:xfrm>
            <a:off x="609600" y="1778000"/>
            <a:ext cx="2997200" cy="3175000"/>
          </a:xfrm>
          <a:prstGeom prst="roundRect">
            <a:avLst>
              <a:gd name="adj" fmla="val 5932"/>
            </a:avLst>
          </a:prstGeom>
          <a:noFill/>
          <a:ln w="19050" cap="flat" cmpd="sng" algn="ctr">
            <a:solidFill>
              <a:srgbClr val="6EA8F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43206AB-26CB-9FCE-B5E8-2F63EA36BBDB}"/>
              </a:ext>
            </a:extLst>
          </p:cNvPr>
          <p:cNvSpPr txBox="1"/>
          <p:nvPr/>
        </p:nvSpPr>
        <p:spPr>
          <a:xfrm>
            <a:off x="787400" y="1854200"/>
            <a:ext cx="2641600" cy="261610"/>
          </a:xfrm>
          <a:prstGeom prst="rect">
            <a:avLst/>
          </a:prstGeom>
          <a:noFill/>
        </p:spPr>
        <p:txBody>
          <a:bodyPr vert="horz" wrap="square" lIns="25400" rIns="25400" rtlCol="0">
            <a:spAutoFit/>
          </a:bodyPr>
          <a:lstStyle/>
          <a:p>
            <a:r>
              <a:rPr lang="en-US" sz="1100" b="1">
                <a:solidFill>
                  <a:srgbClr val="6EA8F0"/>
                </a:solidFill>
                <a:latin typeface="Calibri" panose="020F0502020204030204" pitchFamily="34" charset="0"/>
              </a:rPr>
              <a:t>AZURE · SUBSCRIPTION / RG</a:t>
            </a:r>
          </a:p>
        </p:txBody>
      </p:sp>
      <p:sp>
        <p:nvSpPr>
          <p:cNvPr id="8" name="Rectangle: Rounded Corners 7">
            <a:extLst>
              <a:ext uri="{FF2B5EF4-FFF2-40B4-BE49-F238E27FC236}">
                <a16:creationId xmlns:a16="http://schemas.microsoft.com/office/drawing/2014/main" id="{90C8AC6E-9298-C8EB-5E8B-27D395C1BCAB}"/>
              </a:ext>
            </a:extLst>
          </p:cNvPr>
          <p:cNvSpPr/>
          <p:nvPr/>
        </p:nvSpPr>
        <p:spPr>
          <a:xfrm>
            <a:off x="787400" y="2235200"/>
            <a:ext cx="2641600" cy="685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SCVMM or vCenter resource</a:t>
            </a:r>
          </a:p>
        </p:txBody>
      </p:sp>
      <p:sp>
        <p:nvSpPr>
          <p:cNvPr id="9" name="Rectangle: Rounded Corners 8">
            <a:extLst>
              <a:ext uri="{FF2B5EF4-FFF2-40B4-BE49-F238E27FC236}">
                <a16:creationId xmlns:a16="http://schemas.microsoft.com/office/drawing/2014/main" id="{2CCA5B94-3FE8-8DE2-1F16-5018A339A448}"/>
              </a:ext>
            </a:extLst>
          </p:cNvPr>
          <p:cNvSpPr/>
          <p:nvPr/>
        </p:nvSpPr>
        <p:spPr>
          <a:xfrm>
            <a:off x="787400" y="3048000"/>
            <a:ext cx="2641600" cy="5588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Custom location</a:t>
            </a:r>
          </a:p>
        </p:txBody>
      </p:sp>
      <p:sp>
        <p:nvSpPr>
          <p:cNvPr id="10" name="Rectangle: Rounded Corners 9">
            <a:extLst>
              <a:ext uri="{FF2B5EF4-FFF2-40B4-BE49-F238E27FC236}">
                <a16:creationId xmlns:a16="http://schemas.microsoft.com/office/drawing/2014/main" id="{9FDE7610-8E2F-C7C2-EF25-BF4D7AC341B4}"/>
              </a:ext>
            </a:extLst>
          </p:cNvPr>
          <p:cNvSpPr/>
          <p:nvPr/>
        </p:nvSpPr>
        <p:spPr>
          <a:xfrm>
            <a:off x="787400" y="3733800"/>
            <a:ext cx="2641600" cy="88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Enabled VMs, clouds,
templates, networks</a:t>
            </a:r>
          </a:p>
        </p:txBody>
      </p:sp>
      <p:sp>
        <p:nvSpPr>
          <p:cNvPr id="11" name="Rectangle: Rounded Corners 10">
            <a:extLst>
              <a:ext uri="{FF2B5EF4-FFF2-40B4-BE49-F238E27FC236}">
                <a16:creationId xmlns:a16="http://schemas.microsoft.com/office/drawing/2014/main" id="{7431637D-C4AC-F072-3E0B-902B0B15F40B}"/>
              </a:ext>
            </a:extLst>
          </p:cNvPr>
          <p:cNvSpPr/>
          <p:nvPr/>
        </p:nvSpPr>
        <p:spPr>
          <a:xfrm>
            <a:off x="4038600" y="2489200"/>
            <a:ext cx="2032000" cy="20828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Arc resource bridge
appliance VM
on-premises
SCVMM or VMware
extension
outbound to Azure</a:t>
            </a:r>
          </a:p>
        </p:txBody>
      </p:sp>
      <p:sp>
        <p:nvSpPr>
          <p:cNvPr id="12" name="Rectangle: Rounded Corners 11">
            <a:extLst>
              <a:ext uri="{FF2B5EF4-FFF2-40B4-BE49-F238E27FC236}">
                <a16:creationId xmlns:a16="http://schemas.microsoft.com/office/drawing/2014/main" id="{30F5AF15-0224-20CC-518A-4B8FB81FE4E3}"/>
              </a:ext>
            </a:extLst>
          </p:cNvPr>
          <p:cNvSpPr/>
          <p:nvPr/>
        </p:nvSpPr>
        <p:spPr>
          <a:xfrm>
            <a:off x="6502400" y="2489200"/>
            <a:ext cx="2032000" cy="20828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SCVMM server
or
vCenter Server</a:t>
            </a:r>
          </a:p>
        </p:txBody>
      </p:sp>
      <p:sp>
        <p:nvSpPr>
          <p:cNvPr id="13" name="Rectangle: Rounded Corners 12">
            <a:extLst>
              <a:ext uri="{FF2B5EF4-FFF2-40B4-BE49-F238E27FC236}">
                <a16:creationId xmlns:a16="http://schemas.microsoft.com/office/drawing/2014/main" id="{057FB751-8855-2C70-0B38-395C928F260C}"/>
              </a:ext>
            </a:extLst>
          </p:cNvPr>
          <p:cNvSpPr/>
          <p:nvPr/>
        </p:nvSpPr>
        <p:spPr>
          <a:xfrm>
            <a:off x="8966200" y="2489200"/>
            <a:ext cx="2616200" cy="2082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Hyper-V clusters
(our lab: hvcl-ral-t1)
or vSphere clusters
VMs · templates · networks</a:t>
            </a:r>
          </a:p>
        </p:txBody>
      </p:sp>
      <p:cxnSp>
        <p:nvCxnSpPr>
          <p:cNvPr id="14" name="Straight Arrow Connector 13">
            <a:extLst>
              <a:ext uri="{FF2B5EF4-FFF2-40B4-BE49-F238E27FC236}">
                <a16:creationId xmlns:a16="http://schemas.microsoft.com/office/drawing/2014/main" id="{CCD1DAD6-8FD1-8976-282C-FC182712970C}"/>
              </a:ext>
            </a:extLst>
          </p:cNvPr>
          <p:cNvCxnSpPr/>
          <p:nvPr/>
        </p:nvCxnSpPr>
        <p:spPr>
          <a:xfrm>
            <a:off x="3606800" y="3048000"/>
            <a:ext cx="431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AAD8B04-CFC4-A012-6765-5E2CFBEDEF10}"/>
              </a:ext>
            </a:extLst>
          </p:cNvPr>
          <p:cNvCxnSpPr/>
          <p:nvPr/>
        </p:nvCxnSpPr>
        <p:spPr>
          <a:xfrm flipH="1">
            <a:off x="3606800" y="4064000"/>
            <a:ext cx="4318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7434BC8-DE5D-D2E5-5BB8-053128CFE6F9}"/>
              </a:ext>
            </a:extLst>
          </p:cNvPr>
          <p:cNvCxnSpPr/>
          <p:nvPr/>
        </p:nvCxnSpPr>
        <p:spPr>
          <a:xfrm>
            <a:off x="6070600" y="3048000"/>
            <a:ext cx="431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0ADDBB4-3BC1-230A-80BF-E60A59348A2C}"/>
              </a:ext>
            </a:extLst>
          </p:cNvPr>
          <p:cNvCxnSpPr/>
          <p:nvPr/>
        </p:nvCxnSpPr>
        <p:spPr>
          <a:xfrm flipH="1">
            <a:off x="6070600" y="4064000"/>
            <a:ext cx="4318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0C53782-09BD-A57F-9FF7-BA994B673470}"/>
              </a:ext>
            </a:extLst>
          </p:cNvPr>
          <p:cNvCxnSpPr/>
          <p:nvPr/>
        </p:nvCxnSpPr>
        <p:spPr>
          <a:xfrm>
            <a:off x="8534400" y="3048000"/>
            <a:ext cx="431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CABAD4A-7EE3-6767-01E4-8F307A41AC3B}"/>
              </a:ext>
            </a:extLst>
          </p:cNvPr>
          <p:cNvCxnSpPr/>
          <p:nvPr/>
        </p:nvCxnSpPr>
        <p:spPr>
          <a:xfrm flipH="1">
            <a:off x="8534400" y="4064000"/>
            <a:ext cx="4318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EEDC2E7-B1CA-33B6-0D5B-E5EFF151CDFC}"/>
              </a:ext>
            </a:extLst>
          </p:cNvPr>
          <p:cNvSpPr txBox="1"/>
          <p:nvPr/>
        </p:nvSpPr>
        <p:spPr>
          <a:xfrm>
            <a:off x="4038600" y="2032000"/>
            <a:ext cx="75438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 REQUESTS  create · start · stop · resize · enable guest management</a:t>
            </a:r>
          </a:p>
        </p:txBody>
      </p:sp>
      <p:sp>
        <p:nvSpPr>
          <p:cNvPr id="21" name="TextBox 20">
            <a:extLst>
              <a:ext uri="{FF2B5EF4-FFF2-40B4-BE49-F238E27FC236}">
                <a16:creationId xmlns:a16="http://schemas.microsoft.com/office/drawing/2014/main" id="{73DA512B-B3E1-4B06-6275-E3E14A05BB5D}"/>
              </a:ext>
            </a:extLst>
          </p:cNvPr>
          <p:cNvSpPr txBox="1"/>
          <p:nvPr/>
        </p:nvSpPr>
        <p:spPr>
          <a:xfrm>
            <a:off x="4038600" y="4648200"/>
            <a:ext cx="75438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 INVENTORY  the bridge discovers it; you enable what Azure should manage</a:t>
            </a:r>
          </a:p>
        </p:txBody>
      </p:sp>
      <p:sp>
        <p:nvSpPr>
          <p:cNvPr id="22" name="TextBox 21">
            <a:extLst>
              <a:ext uri="{FF2B5EF4-FFF2-40B4-BE49-F238E27FC236}">
                <a16:creationId xmlns:a16="http://schemas.microsoft.com/office/drawing/2014/main" id="{3614BD1E-2B04-1D26-EEE3-D9F56C228072}"/>
              </a:ext>
            </a:extLst>
          </p:cNvPr>
          <p:cNvSpPr txBox="1"/>
          <p:nvPr/>
        </p:nvSpPr>
        <p:spPr>
          <a:xfrm>
            <a:off x="4038600" y="4978400"/>
            <a:ext cx="7543800" cy="261610"/>
          </a:xfrm>
          <a:prstGeom prst="rect">
            <a:avLst/>
          </a:prstGeom>
          <a:noFill/>
        </p:spPr>
        <p:txBody>
          <a:bodyPr vert="horz" wrap="square" lIns="25400" rIns="25400" rtlCol="0">
            <a:spAutoFit/>
          </a:bodyPr>
          <a:lstStyle/>
          <a:p>
            <a:r>
              <a:rPr lang="en-US" sz="1100">
                <a:solidFill>
                  <a:srgbClr val="A3B2C4"/>
                </a:solidFill>
                <a:latin typeface="Calibri" panose="020F0502020204030204" pitchFamily="34" charset="0"/>
              </a:rPr>
              <a:t>Enabling guest management installs the Connected Machine agent in a running VM.</a:t>
            </a:r>
          </a:p>
        </p:txBody>
      </p:sp>
      <p:sp>
        <p:nvSpPr>
          <p:cNvPr id="23" name="TextBox 22">
            <a:extLst>
              <a:ext uri="{FF2B5EF4-FFF2-40B4-BE49-F238E27FC236}">
                <a16:creationId xmlns:a16="http://schemas.microsoft.com/office/drawing/2014/main" id="{75A6A061-4512-9A16-C28C-0A31A29C86CF}"/>
              </a:ext>
            </a:extLst>
          </p:cNvPr>
          <p:cNvSpPr txBox="1"/>
          <p:nvPr/>
        </p:nvSpPr>
        <p:spPr>
          <a:xfrm>
            <a:off x="4038600" y="5283200"/>
            <a:ext cx="7543800" cy="276999"/>
          </a:xfrm>
          <a:prstGeom prst="rect">
            <a:avLst/>
          </a:prstGeom>
          <a:noFill/>
        </p:spPr>
        <p:txBody>
          <a:bodyPr vert="horz" wrap="square" lIns="25400" rIns="25400" rtlCol="0">
            <a:spAutoFit/>
          </a:bodyPr>
          <a:lstStyle/>
          <a:p>
            <a:r>
              <a:rPr lang="en-US" sz="1200" b="1">
                <a:solidFill>
                  <a:srgbClr val="EAF0F7"/>
                </a:solidFill>
                <a:latin typeface="Calibri" panose="020F0502020204030204" pitchFamily="34" charset="0"/>
              </a:rPr>
              <a:t>VMware works the same way through vCenter; our lab uses SCVMM.</a:t>
            </a:r>
          </a:p>
        </p:txBody>
      </p:sp>
      <p:sp>
        <p:nvSpPr>
          <p:cNvPr id="24" name="Rectangle 23">
            <a:extLst>
              <a:ext uri="{FF2B5EF4-FFF2-40B4-BE49-F238E27FC236}">
                <a16:creationId xmlns:a16="http://schemas.microsoft.com/office/drawing/2014/main" id="{0B24C64E-0C35-A468-2CFD-DB7133358A45}"/>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4A6AE2E-8852-C686-5D8F-FA6106F4DB4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Arc-enabled SCVMM: new onboarding stops October 2026; the service retires September 2029. Arc-enabled VMware vSphere is not affected.</a:t>
            </a:r>
          </a:p>
        </p:txBody>
      </p:sp>
    </p:spTree>
    <p:extLst>
      <p:ext uri="{BB962C8B-B14F-4D97-AF65-F5344CB8AC3E}">
        <p14:creationId xmlns:p14="http://schemas.microsoft.com/office/powerpoint/2010/main" val="86936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934509-C42D-0073-2606-915773EA907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4E09091-27B4-BC86-13EA-0C13CA643613}"/>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1F40165-5ED4-A51F-5FD1-28132E38A55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Two ways to bring a VM into Arc</a:t>
            </a:r>
          </a:p>
        </p:txBody>
      </p:sp>
      <p:sp>
        <p:nvSpPr>
          <p:cNvPr id="5" name="Rectangle 4">
            <a:extLst>
              <a:ext uri="{FF2B5EF4-FFF2-40B4-BE49-F238E27FC236}">
                <a16:creationId xmlns:a16="http://schemas.microsoft.com/office/drawing/2014/main" id="{6A31C894-2C13-23BA-76D3-AAC71036E17C}"/>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9E5EEF9-F896-06B7-B5CB-24EC0E2BABCF}"/>
              </a:ext>
            </a:extLst>
          </p:cNvPr>
          <p:cNvSpPr txBox="1"/>
          <p:nvPr/>
        </p:nvSpPr>
        <p:spPr>
          <a:xfrm>
            <a:off x="609600" y="1727200"/>
            <a:ext cx="10972800" cy="307777"/>
          </a:xfrm>
          <a:prstGeom prst="rect">
            <a:avLst/>
          </a:prstGeom>
          <a:noFill/>
        </p:spPr>
        <p:txBody>
          <a:bodyPr vert="horz" wrap="square" lIns="25400" rIns="25400" rtlCol="0">
            <a:spAutoFit/>
          </a:bodyPr>
          <a:lstStyle/>
          <a:p>
            <a:r>
              <a:rPr lang="en-US" sz="1400" b="1">
                <a:solidFill>
                  <a:srgbClr val="6ED28C"/>
                </a:solidFill>
                <a:latin typeface="Calibri" panose="020F0502020204030204" pitchFamily="34" charset="0"/>
              </a:rPr>
              <a:t>INSIDE THE VM: THE AGENT (WHAT WE DID IN THE DEMO)</a:t>
            </a:r>
          </a:p>
        </p:txBody>
      </p:sp>
      <p:sp>
        <p:nvSpPr>
          <p:cNvPr id="7" name="Rectangle: Rounded Corners 6">
            <a:extLst>
              <a:ext uri="{FF2B5EF4-FFF2-40B4-BE49-F238E27FC236}">
                <a16:creationId xmlns:a16="http://schemas.microsoft.com/office/drawing/2014/main" id="{3BBE9C9C-820B-B849-AB54-8159F4D66BE5}"/>
              </a:ext>
            </a:extLst>
          </p:cNvPr>
          <p:cNvSpPr/>
          <p:nvPr/>
        </p:nvSpPr>
        <p:spPr>
          <a:xfrm>
            <a:off x="609600" y="2133600"/>
            <a:ext cx="2984500" cy="812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Supported guest
Connected Machine agent inside</a:t>
            </a:r>
          </a:p>
        </p:txBody>
      </p:sp>
      <p:sp>
        <p:nvSpPr>
          <p:cNvPr id="8" name="Rectangle: Rounded Corners 7">
            <a:extLst>
              <a:ext uri="{FF2B5EF4-FFF2-40B4-BE49-F238E27FC236}">
                <a16:creationId xmlns:a16="http://schemas.microsoft.com/office/drawing/2014/main" id="{2FCBA826-75DF-3BE3-644D-1A3EC975EEA7}"/>
              </a:ext>
            </a:extLst>
          </p:cNvPr>
          <p:cNvSpPr/>
          <p:nvPr/>
        </p:nvSpPr>
        <p:spPr>
          <a:xfrm>
            <a:off x="4597400" y="2133600"/>
            <a:ext cx="2984500" cy="812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Arc-enabled server</a:t>
            </a:r>
          </a:p>
        </p:txBody>
      </p:sp>
      <p:sp>
        <p:nvSpPr>
          <p:cNvPr id="9" name="Rectangle: Rounded Corners 8">
            <a:extLst>
              <a:ext uri="{FF2B5EF4-FFF2-40B4-BE49-F238E27FC236}">
                <a16:creationId xmlns:a16="http://schemas.microsoft.com/office/drawing/2014/main" id="{F4481A80-288B-1601-E310-AEC6A6FE31BB}"/>
              </a:ext>
            </a:extLst>
          </p:cNvPr>
          <p:cNvSpPr/>
          <p:nvPr/>
        </p:nvSpPr>
        <p:spPr>
          <a:xfrm>
            <a:off x="8597900" y="2133600"/>
            <a:ext cx="2984500" cy="812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Monitor / security / policy</a:t>
            </a:r>
          </a:p>
        </p:txBody>
      </p:sp>
      <p:cxnSp>
        <p:nvCxnSpPr>
          <p:cNvPr id="10" name="Straight Arrow Connector 9">
            <a:extLst>
              <a:ext uri="{FF2B5EF4-FFF2-40B4-BE49-F238E27FC236}">
                <a16:creationId xmlns:a16="http://schemas.microsoft.com/office/drawing/2014/main" id="{9A8CEAEC-726D-5C28-0DEB-8518D49A9008}"/>
              </a:ext>
            </a:extLst>
          </p:cNvPr>
          <p:cNvCxnSpPr/>
          <p:nvPr/>
        </p:nvCxnSpPr>
        <p:spPr>
          <a:xfrm>
            <a:off x="3594100" y="2540000"/>
            <a:ext cx="10033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3CD1576-E81A-598A-ED66-174178DF93BA}"/>
              </a:ext>
            </a:extLst>
          </p:cNvPr>
          <p:cNvCxnSpPr/>
          <p:nvPr/>
        </p:nvCxnSpPr>
        <p:spPr>
          <a:xfrm>
            <a:off x="7581900" y="2540000"/>
            <a:ext cx="1016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B42C819-7704-2BC2-7AC3-DF6CDFEF188D}"/>
              </a:ext>
            </a:extLst>
          </p:cNvPr>
          <p:cNvSpPr txBox="1"/>
          <p:nvPr/>
        </p:nvSpPr>
        <p:spPr>
          <a:xfrm>
            <a:off x="609600" y="4191000"/>
            <a:ext cx="5334000" cy="307777"/>
          </a:xfrm>
          <a:prstGeom prst="rect">
            <a:avLst/>
          </a:prstGeom>
          <a:noFill/>
        </p:spPr>
        <p:txBody>
          <a:bodyPr vert="horz" wrap="square" lIns="25400" rIns="25400" rtlCol="0">
            <a:spAutoFit/>
          </a:bodyPr>
          <a:lstStyle/>
          <a:p>
            <a:r>
              <a:rPr lang="en-US" sz="1400" b="1">
                <a:solidFill>
                  <a:srgbClr val="F09E5A"/>
                </a:solidFill>
                <a:latin typeface="Calibri" panose="020F0502020204030204" pitchFamily="34" charset="0"/>
              </a:rPr>
              <a:t>THROUGH SCVMM OR VCENTER</a:t>
            </a:r>
          </a:p>
        </p:txBody>
      </p:sp>
      <p:sp>
        <p:nvSpPr>
          <p:cNvPr id="13" name="Rectangle: Rounded Corners 12">
            <a:extLst>
              <a:ext uri="{FF2B5EF4-FFF2-40B4-BE49-F238E27FC236}">
                <a16:creationId xmlns:a16="http://schemas.microsoft.com/office/drawing/2014/main" id="{D9D3BCE8-D4A8-4D7E-6B79-2B16FD997DD7}"/>
              </a:ext>
            </a:extLst>
          </p:cNvPr>
          <p:cNvSpPr/>
          <p:nvPr/>
        </p:nvSpPr>
        <p:spPr>
          <a:xfrm>
            <a:off x="609600" y="4597400"/>
            <a:ext cx="2984500" cy="812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Azure request
start · stop · create</a:t>
            </a:r>
          </a:p>
        </p:txBody>
      </p:sp>
      <p:sp>
        <p:nvSpPr>
          <p:cNvPr id="14" name="Rectangle: Rounded Corners 13">
            <a:extLst>
              <a:ext uri="{FF2B5EF4-FFF2-40B4-BE49-F238E27FC236}">
                <a16:creationId xmlns:a16="http://schemas.microsoft.com/office/drawing/2014/main" id="{2B801E56-7F55-C7CC-42BA-2AB401884BDD}"/>
              </a:ext>
            </a:extLst>
          </p:cNvPr>
          <p:cNvSpPr/>
          <p:nvPr/>
        </p:nvSpPr>
        <p:spPr>
          <a:xfrm>
            <a:off x="4597400" y="4597400"/>
            <a:ext cx="2984500" cy="8128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Custom location +
Arc resource bridge (on-premises)</a:t>
            </a:r>
          </a:p>
        </p:txBody>
      </p:sp>
      <p:sp>
        <p:nvSpPr>
          <p:cNvPr id="15" name="Rectangle: Rounded Corners 14">
            <a:extLst>
              <a:ext uri="{FF2B5EF4-FFF2-40B4-BE49-F238E27FC236}">
                <a16:creationId xmlns:a16="http://schemas.microsoft.com/office/drawing/2014/main" id="{5DFC80F4-05AE-6056-62C6-3048F04A26E1}"/>
              </a:ext>
            </a:extLst>
          </p:cNvPr>
          <p:cNvSpPr/>
          <p:nvPr/>
        </p:nvSpPr>
        <p:spPr>
          <a:xfrm>
            <a:off x="8597900" y="4597400"/>
            <a:ext cx="2984500" cy="812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SCVMM or vCenter
carries out the operation</a:t>
            </a:r>
          </a:p>
        </p:txBody>
      </p:sp>
      <p:cxnSp>
        <p:nvCxnSpPr>
          <p:cNvPr id="16" name="Straight Arrow Connector 15">
            <a:extLst>
              <a:ext uri="{FF2B5EF4-FFF2-40B4-BE49-F238E27FC236}">
                <a16:creationId xmlns:a16="http://schemas.microsoft.com/office/drawing/2014/main" id="{F84478FF-DFCF-0CA7-5BE9-FF7B7CB001D9}"/>
              </a:ext>
            </a:extLst>
          </p:cNvPr>
          <p:cNvCxnSpPr/>
          <p:nvPr/>
        </p:nvCxnSpPr>
        <p:spPr>
          <a:xfrm>
            <a:off x="3594100" y="5003800"/>
            <a:ext cx="10033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27C2ECE-3CC6-D1D1-A993-F21AC8648135}"/>
              </a:ext>
            </a:extLst>
          </p:cNvPr>
          <p:cNvCxnSpPr/>
          <p:nvPr/>
        </p:nvCxnSpPr>
        <p:spPr>
          <a:xfrm>
            <a:off x="7581900" y="5003800"/>
            <a:ext cx="1016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5DB8ED7-91B9-AD6D-1C0C-E51562CC9E83}"/>
              </a:ext>
            </a:extLst>
          </p:cNvPr>
          <p:cNvSpPr txBox="1"/>
          <p:nvPr/>
        </p:nvSpPr>
        <p:spPr>
          <a:xfrm>
            <a:off x="4597400" y="5461000"/>
            <a:ext cx="6985000" cy="261610"/>
          </a:xfrm>
          <a:prstGeom prst="rect">
            <a:avLst/>
          </a:prstGeom>
          <a:noFill/>
        </p:spPr>
        <p:txBody>
          <a:bodyPr vert="horz" wrap="square" lIns="25400" rIns="25400" rtlCol="0">
            <a:spAutoFit/>
          </a:bodyPr>
          <a:lstStyle/>
          <a:p>
            <a:r>
              <a:rPr lang="en-US" sz="1100">
                <a:solidFill>
                  <a:srgbClr val="A3B2C4"/>
                </a:solidFill>
                <a:latin typeface="Calibri" panose="020F0502020204030204" pitchFamily="34" charset="0"/>
              </a:rPr>
              <a:t>Inventory flows back the other way: SCVMM or vCenter → bridge → Azure.</a:t>
            </a:r>
          </a:p>
        </p:txBody>
      </p:sp>
      <p:cxnSp>
        <p:nvCxnSpPr>
          <p:cNvPr id="19" name="Straight Arrow Connector 18">
            <a:extLst>
              <a:ext uri="{FF2B5EF4-FFF2-40B4-BE49-F238E27FC236}">
                <a16:creationId xmlns:a16="http://schemas.microsoft.com/office/drawing/2014/main" id="{C905839F-9EB3-9B29-E2CB-0D4FEEB0F538}"/>
              </a:ext>
            </a:extLst>
          </p:cNvPr>
          <p:cNvCxnSpPr/>
          <p:nvPr/>
        </p:nvCxnSpPr>
        <p:spPr>
          <a:xfrm>
            <a:off x="6096000" y="2946400"/>
            <a:ext cx="0" cy="1651000"/>
          </a:xfrm>
          <a:prstGeom prst="straightConnector1">
            <a:avLst/>
          </a:prstGeom>
          <a:ln w="28575">
            <a:solidFill>
              <a:srgbClr val="56D6E0"/>
            </a:solidFill>
            <a:prstDash val="dash"/>
            <a:tailEnd type="non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B0A79CAA-42EE-E7C5-88D9-5C16106763F3}"/>
              </a:ext>
            </a:extLst>
          </p:cNvPr>
          <p:cNvSpPr txBox="1"/>
          <p:nvPr/>
        </p:nvSpPr>
        <p:spPr>
          <a:xfrm>
            <a:off x="6273800" y="3429000"/>
            <a:ext cx="53086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Use both and each VM is still one Azure resource</a:t>
            </a:r>
          </a:p>
        </p:txBody>
      </p:sp>
      <p:sp>
        <p:nvSpPr>
          <p:cNvPr id="21" name="Rectangle 20">
            <a:extLst>
              <a:ext uri="{FF2B5EF4-FFF2-40B4-BE49-F238E27FC236}">
                <a16:creationId xmlns:a16="http://schemas.microsoft.com/office/drawing/2014/main" id="{A3D149CA-BCE1-97EB-E05B-700FB4C770D5}"/>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F2439D3-7CAD-27EF-D8A6-46C687D2126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Installing an agent on the VMM server does not connect the VMM-managed estate.</a:t>
            </a:r>
          </a:p>
        </p:txBody>
      </p:sp>
    </p:spTree>
    <p:extLst>
      <p:ext uri="{BB962C8B-B14F-4D97-AF65-F5344CB8AC3E}">
        <p14:creationId xmlns:p14="http://schemas.microsoft.com/office/powerpoint/2010/main" val="2201588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692E15-C5D5-FB59-8817-6AC7D51ACCD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973C58-A0B3-2D96-0F5B-F09894502303}"/>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1A3BC41-61A3-B546-56FC-C5E9D28BE73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The multicloud connector</a:t>
            </a:r>
          </a:p>
        </p:txBody>
      </p:sp>
      <p:sp>
        <p:nvSpPr>
          <p:cNvPr id="5" name="Rectangle 4">
            <a:extLst>
              <a:ext uri="{FF2B5EF4-FFF2-40B4-BE49-F238E27FC236}">
                <a16:creationId xmlns:a16="http://schemas.microsoft.com/office/drawing/2014/main" id="{1CD564FF-E292-8786-1C97-56E97071AA36}"/>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05F9E0C-5492-A24B-1D81-D7B65E11DA58}"/>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One Azure resource, given read access to your AWS account or GCP project. It costs nothing and re-scans on a schedule.</a:t>
            </a:r>
          </a:p>
        </p:txBody>
      </p:sp>
      <p:sp>
        <p:nvSpPr>
          <p:cNvPr id="7" name="Rectangle: Rounded Corners 6">
            <a:extLst>
              <a:ext uri="{FF2B5EF4-FFF2-40B4-BE49-F238E27FC236}">
                <a16:creationId xmlns:a16="http://schemas.microsoft.com/office/drawing/2014/main" id="{E0CDB797-18D8-1298-EFCA-82403091E5F3}"/>
              </a:ext>
            </a:extLst>
          </p:cNvPr>
          <p:cNvSpPr/>
          <p:nvPr/>
        </p:nvSpPr>
        <p:spPr>
          <a:xfrm>
            <a:off x="609600" y="2540000"/>
            <a:ext cx="2413000" cy="13970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EAF0F7"/>
                </a:solidFill>
                <a:latin typeface="Calibri" panose="020F0502020204030204" pitchFamily="34" charset="0"/>
              </a:rPr>
              <a:t>Your AWS account
or GCP project</a:t>
            </a:r>
          </a:p>
        </p:txBody>
      </p:sp>
      <p:cxnSp>
        <p:nvCxnSpPr>
          <p:cNvPr id="8" name="Straight Arrow Connector 7">
            <a:extLst>
              <a:ext uri="{FF2B5EF4-FFF2-40B4-BE49-F238E27FC236}">
                <a16:creationId xmlns:a16="http://schemas.microsoft.com/office/drawing/2014/main" id="{B65B4692-2417-2545-641A-B711328D4625}"/>
              </a:ext>
            </a:extLst>
          </p:cNvPr>
          <p:cNvCxnSpPr/>
          <p:nvPr/>
        </p:nvCxnSpPr>
        <p:spPr>
          <a:xfrm>
            <a:off x="3022600" y="3238500"/>
            <a:ext cx="1016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CCE77E3-48F0-F33A-8D2C-5B32D26FEB3F}"/>
              </a:ext>
            </a:extLst>
          </p:cNvPr>
          <p:cNvSpPr txBox="1"/>
          <p:nvPr/>
        </p:nvSpPr>
        <p:spPr>
          <a:xfrm>
            <a:off x="3035300" y="2806700"/>
            <a:ext cx="9906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read access</a:t>
            </a:r>
          </a:p>
        </p:txBody>
      </p:sp>
      <p:sp>
        <p:nvSpPr>
          <p:cNvPr id="10" name="Rectangle: Rounded Corners 9">
            <a:extLst>
              <a:ext uri="{FF2B5EF4-FFF2-40B4-BE49-F238E27FC236}">
                <a16:creationId xmlns:a16="http://schemas.microsoft.com/office/drawing/2014/main" id="{2D70FA03-EB64-82CA-A153-4DA946A3D81A}"/>
              </a:ext>
            </a:extLst>
          </p:cNvPr>
          <p:cNvSpPr/>
          <p:nvPr/>
        </p:nvSpPr>
        <p:spPr>
          <a:xfrm>
            <a:off x="4038600" y="2540000"/>
            <a:ext cx="2540000" cy="1397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EAF0F7"/>
                </a:solidFill>
                <a:latin typeface="Calibri" panose="020F0502020204030204" pitchFamily="34" charset="0"/>
              </a:rPr>
              <a:t>Multicloud connector
an Azure resource</a:t>
            </a:r>
          </a:p>
        </p:txBody>
      </p:sp>
      <p:sp>
        <p:nvSpPr>
          <p:cNvPr id="11" name="Rectangle: Rounded Corners 10">
            <a:extLst>
              <a:ext uri="{FF2B5EF4-FFF2-40B4-BE49-F238E27FC236}">
                <a16:creationId xmlns:a16="http://schemas.microsoft.com/office/drawing/2014/main" id="{D97760BF-DDF3-6571-3282-DEF0A7A3E8D5}"/>
              </a:ext>
            </a:extLst>
          </p:cNvPr>
          <p:cNvSpPr/>
          <p:nvPr/>
        </p:nvSpPr>
        <p:spPr>
          <a:xfrm>
            <a:off x="7366000" y="1854200"/>
            <a:ext cx="4216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1  Inventory
your AWS and GCP resources, listed in Azure</a:t>
            </a:r>
          </a:p>
        </p:txBody>
      </p:sp>
      <p:cxnSp>
        <p:nvCxnSpPr>
          <p:cNvPr id="12" name="Straight Arrow Connector 11">
            <a:extLst>
              <a:ext uri="{FF2B5EF4-FFF2-40B4-BE49-F238E27FC236}">
                <a16:creationId xmlns:a16="http://schemas.microsoft.com/office/drawing/2014/main" id="{16101A2A-72BC-A24D-828F-114A517FB6F0}"/>
              </a:ext>
            </a:extLst>
          </p:cNvPr>
          <p:cNvCxnSpPr/>
          <p:nvPr/>
        </p:nvCxnSpPr>
        <p:spPr>
          <a:xfrm flipV="1">
            <a:off x="6578600" y="2336800"/>
            <a:ext cx="787400" cy="9017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536BDAB6-431F-1315-60F4-58BE15CA45A3}"/>
              </a:ext>
            </a:extLst>
          </p:cNvPr>
          <p:cNvSpPr/>
          <p:nvPr/>
        </p:nvSpPr>
        <p:spPr>
          <a:xfrm>
            <a:off x="7366000" y="3022600"/>
            <a:ext cx="4216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2  Arc onboarding for servers
EC2 and GCP VMs onboarded to Arc for you</a:t>
            </a:r>
          </a:p>
        </p:txBody>
      </p:sp>
      <p:cxnSp>
        <p:nvCxnSpPr>
          <p:cNvPr id="14" name="Straight Arrow Connector 13">
            <a:extLst>
              <a:ext uri="{FF2B5EF4-FFF2-40B4-BE49-F238E27FC236}">
                <a16:creationId xmlns:a16="http://schemas.microsoft.com/office/drawing/2014/main" id="{CE5B016E-DD98-0124-DBD2-6DDA29D15E14}"/>
              </a:ext>
            </a:extLst>
          </p:cNvPr>
          <p:cNvCxnSpPr/>
          <p:nvPr/>
        </p:nvCxnSpPr>
        <p:spPr>
          <a:xfrm>
            <a:off x="6578600" y="3238500"/>
            <a:ext cx="787400" cy="2667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32A7C74F-0AED-CB1D-8CDE-119C09D6C5C4}"/>
              </a:ext>
            </a:extLst>
          </p:cNvPr>
          <p:cNvSpPr/>
          <p:nvPr/>
        </p:nvSpPr>
        <p:spPr>
          <a:xfrm>
            <a:off x="7366000" y="4191000"/>
            <a:ext cx="4216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3  Arc onboarding for EKS · preview
EKS clusters become Arc Kubernetes clusters</a:t>
            </a:r>
          </a:p>
        </p:txBody>
      </p:sp>
      <p:cxnSp>
        <p:nvCxnSpPr>
          <p:cNvPr id="16" name="Straight Arrow Connector 15">
            <a:extLst>
              <a:ext uri="{FF2B5EF4-FFF2-40B4-BE49-F238E27FC236}">
                <a16:creationId xmlns:a16="http://schemas.microsoft.com/office/drawing/2014/main" id="{51BAFFAD-C82E-1C42-5461-A7BB0C702C03}"/>
              </a:ext>
            </a:extLst>
          </p:cNvPr>
          <p:cNvCxnSpPr/>
          <p:nvPr/>
        </p:nvCxnSpPr>
        <p:spPr>
          <a:xfrm>
            <a:off x="6578600" y="3238500"/>
            <a:ext cx="787400" cy="14351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D8025298-0B35-2D4F-A74F-E16FF0E85AA6}"/>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AE0B7A2-D513-58C3-21D1-8D3A3EC0001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AWS is what we demo. GCP support is in preview.</a:t>
            </a:r>
          </a:p>
        </p:txBody>
      </p:sp>
    </p:spTree>
    <p:extLst>
      <p:ext uri="{BB962C8B-B14F-4D97-AF65-F5344CB8AC3E}">
        <p14:creationId xmlns:p14="http://schemas.microsoft.com/office/powerpoint/2010/main" val="1541344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E7C7D5-2859-429C-70BB-BCC6BCD4693F}"/>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07DEAA9-44AF-2CEB-22E5-705D0C002BF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AE35EAC-8BE9-3BB6-46F2-885629D5597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How the connector works</a:t>
            </a:r>
          </a:p>
        </p:txBody>
      </p:sp>
      <p:sp>
        <p:nvSpPr>
          <p:cNvPr id="5" name="Rectangle 4">
            <a:extLst>
              <a:ext uri="{FF2B5EF4-FFF2-40B4-BE49-F238E27FC236}">
                <a16:creationId xmlns:a16="http://schemas.microsoft.com/office/drawing/2014/main" id="{4EA039F6-F7F6-8F66-378E-19F6AAF829BB}"/>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C458E94-9AB6-C0B0-8E82-9EF088BEDD26}"/>
              </a:ext>
            </a:extLst>
          </p:cNvPr>
          <p:cNvSpPr/>
          <p:nvPr/>
        </p:nvSpPr>
        <p:spPr>
          <a:xfrm>
            <a:off x="609600" y="1676400"/>
            <a:ext cx="431800" cy="4318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1</a:t>
            </a:r>
          </a:p>
        </p:txBody>
      </p:sp>
      <p:sp>
        <p:nvSpPr>
          <p:cNvPr id="7" name="TextBox 6">
            <a:extLst>
              <a:ext uri="{FF2B5EF4-FFF2-40B4-BE49-F238E27FC236}">
                <a16:creationId xmlns:a16="http://schemas.microsoft.com/office/drawing/2014/main" id="{283E4EA7-7457-F9DE-3B4E-A6EB0247B7E8}"/>
              </a:ext>
            </a:extLst>
          </p:cNvPr>
          <p:cNvSpPr txBox="1"/>
          <p:nvPr/>
        </p:nvSpPr>
        <p:spPr>
          <a:xfrm>
            <a:off x="1143000" y="1727200"/>
            <a:ext cx="1905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GIVE AZURE ACCESS</a:t>
            </a:r>
          </a:p>
        </p:txBody>
      </p:sp>
      <p:sp>
        <p:nvSpPr>
          <p:cNvPr id="8" name="Oval 7">
            <a:extLst>
              <a:ext uri="{FF2B5EF4-FFF2-40B4-BE49-F238E27FC236}">
                <a16:creationId xmlns:a16="http://schemas.microsoft.com/office/drawing/2014/main" id="{6A093117-069D-94EA-56CC-48F976874EB6}"/>
              </a:ext>
            </a:extLst>
          </p:cNvPr>
          <p:cNvSpPr/>
          <p:nvPr/>
        </p:nvSpPr>
        <p:spPr>
          <a:xfrm>
            <a:off x="3454400" y="1676400"/>
            <a:ext cx="431800" cy="4318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2</a:t>
            </a:r>
          </a:p>
        </p:txBody>
      </p:sp>
      <p:sp>
        <p:nvSpPr>
          <p:cNvPr id="9" name="TextBox 8">
            <a:extLst>
              <a:ext uri="{FF2B5EF4-FFF2-40B4-BE49-F238E27FC236}">
                <a16:creationId xmlns:a16="http://schemas.microsoft.com/office/drawing/2014/main" id="{B0109B3A-74E3-9C9A-EDE4-C44798FB3202}"/>
              </a:ext>
            </a:extLst>
          </p:cNvPr>
          <p:cNvSpPr txBox="1"/>
          <p:nvPr/>
        </p:nvSpPr>
        <p:spPr>
          <a:xfrm>
            <a:off x="3987800" y="1727200"/>
            <a:ext cx="1905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THE CONNECTOR</a:t>
            </a:r>
          </a:p>
        </p:txBody>
      </p:sp>
      <p:sp>
        <p:nvSpPr>
          <p:cNvPr id="10" name="Oval 9">
            <a:extLst>
              <a:ext uri="{FF2B5EF4-FFF2-40B4-BE49-F238E27FC236}">
                <a16:creationId xmlns:a16="http://schemas.microsoft.com/office/drawing/2014/main" id="{8CF66151-BAF5-6B4E-30D9-E0F51EEC45D4}"/>
              </a:ext>
            </a:extLst>
          </p:cNvPr>
          <p:cNvSpPr/>
          <p:nvPr/>
        </p:nvSpPr>
        <p:spPr>
          <a:xfrm>
            <a:off x="6299200" y="1676400"/>
            <a:ext cx="431800" cy="4318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3</a:t>
            </a:r>
          </a:p>
        </p:txBody>
      </p:sp>
      <p:sp>
        <p:nvSpPr>
          <p:cNvPr id="11" name="TextBox 10">
            <a:extLst>
              <a:ext uri="{FF2B5EF4-FFF2-40B4-BE49-F238E27FC236}">
                <a16:creationId xmlns:a16="http://schemas.microsoft.com/office/drawing/2014/main" id="{4220C145-928A-CF1C-0560-D371555767F9}"/>
              </a:ext>
            </a:extLst>
          </p:cNvPr>
          <p:cNvSpPr txBox="1"/>
          <p:nvPr/>
        </p:nvSpPr>
        <p:spPr>
          <a:xfrm>
            <a:off x="6832600" y="1727200"/>
            <a:ext cx="1905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IT BRINGS THINGS IN</a:t>
            </a:r>
          </a:p>
        </p:txBody>
      </p:sp>
      <p:sp>
        <p:nvSpPr>
          <p:cNvPr id="12" name="Oval 11">
            <a:extLst>
              <a:ext uri="{FF2B5EF4-FFF2-40B4-BE49-F238E27FC236}">
                <a16:creationId xmlns:a16="http://schemas.microsoft.com/office/drawing/2014/main" id="{CBDD172F-1929-4F5E-8289-74488B02C14D}"/>
              </a:ext>
            </a:extLst>
          </p:cNvPr>
          <p:cNvSpPr/>
          <p:nvPr/>
        </p:nvSpPr>
        <p:spPr>
          <a:xfrm>
            <a:off x="9144000" y="1676400"/>
            <a:ext cx="431800" cy="4318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4</a:t>
            </a:r>
          </a:p>
        </p:txBody>
      </p:sp>
      <p:sp>
        <p:nvSpPr>
          <p:cNvPr id="13" name="TextBox 12">
            <a:extLst>
              <a:ext uri="{FF2B5EF4-FFF2-40B4-BE49-F238E27FC236}">
                <a16:creationId xmlns:a16="http://schemas.microsoft.com/office/drawing/2014/main" id="{7ECFD3A6-6655-645F-0399-3138602EA88C}"/>
              </a:ext>
            </a:extLst>
          </p:cNvPr>
          <p:cNvSpPr txBox="1"/>
          <p:nvPr/>
        </p:nvSpPr>
        <p:spPr>
          <a:xfrm>
            <a:off x="9677400" y="1727200"/>
            <a:ext cx="1905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YOU MANAGE THEM</a:t>
            </a:r>
          </a:p>
        </p:txBody>
      </p:sp>
      <p:sp>
        <p:nvSpPr>
          <p:cNvPr id="14" name="Rectangle: Rounded Corners 13">
            <a:extLst>
              <a:ext uri="{FF2B5EF4-FFF2-40B4-BE49-F238E27FC236}">
                <a16:creationId xmlns:a16="http://schemas.microsoft.com/office/drawing/2014/main" id="{1A7C17EB-DE2A-BDF2-CC24-58430DFB81F4}"/>
              </a:ext>
            </a:extLst>
          </p:cNvPr>
          <p:cNvSpPr/>
          <p:nvPr/>
        </p:nvSpPr>
        <p:spPr>
          <a:xfrm>
            <a:off x="609600" y="2286000"/>
            <a:ext cx="2438400" cy="1219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AWS account
a CloudFormation template creates a role Azure can use</a:t>
            </a:r>
          </a:p>
        </p:txBody>
      </p:sp>
      <p:sp>
        <p:nvSpPr>
          <p:cNvPr id="15" name="Rectangle: Rounded Corners 14">
            <a:extLst>
              <a:ext uri="{FF2B5EF4-FFF2-40B4-BE49-F238E27FC236}">
                <a16:creationId xmlns:a16="http://schemas.microsoft.com/office/drawing/2014/main" id="{2FEB3D54-6991-2381-D5F1-7FAA18B544C9}"/>
              </a:ext>
            </a:extLst>
          </p:cNvPr>
          <p:cNvSpPr/>
          <p:nvPr/>
        </p:nvSpPr>
        <p:spPr>
          <a:xfrm>
            <a:off x="609600" y="3708400"/>
            <a:ext cx="2438400" cy="889000"/>
          </a:xfrm>
          <a:prstGeom prst="roundRect">
            <a:avLst/>
          </a:prstGeom>
          <a:solidFill>
            <a:srgbClr val="1B2434"/>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GCP project · preview
a Terraform script</a:t>
            </a:r>
          </a:p>
        </p:txBody>
      </p:sp>
      <p:sp>
        <p:nvSpPr>
          <p:cNvPr id="16" name="Rectangle: Rounded Corners 15">
            <a:extLst>
              <a:ext uri="{FF2B5EF4-FFF2-40B4-BE49-F238E27FC236}">
                <a16:creationId xmlns:a16="http://schemas.microsoft.com/office/drawing/2014/main" id="{84EC1B91-F576-BB8E-020C-56540A5E9324}"/>
              </a:ext>
            </a:extLst>
          </p:cNvPr>
          <p:cNvSpPr/>
          <p:nvPr/>
        </p:nvSpPr>
        <p:spPr>
          <a:xfrm>
            <a:off x="3454400" y="2540000"/>
            <a:ext cx="2438400" cy="1651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Multicloud connector
an Azure resource that uses that access</a:t>
            </a:r>
          </a:p>
        </p:txBody>
      </p:sp>
      <p:cxnSp>
        <p:nvCxnSpPr>
          <p:cNvPr id="17" name="Straight Arrow Connector 16">
            <a:extLst>
              <a:ext uri="{FF2B5EF4-FFF2-40B4-BE49-F238E27FC236}">
                <a16:creationId xmlns:a16="http://schemas.microsoft.com/office/drawing/2014/main" id="{7DE82AB4-9D5E-863C-C830-1DFD2E7E6FEC}"/>
              </a:ext>
            </a:extLst>
          </p:cNvPr>
          <p:cNvCxnSpPr/>
          <p:nvPr/>
        </p:nvCxnSpPr>
        <p:spPr>
          <a:xfrm>
            <a:off x="3048000" y="2895600"/>
            <a:ext cx="406400" cy="27940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F74B010-8296-90AE-2E9B-196D844CB1B0}"/>
              </a:ext>
            </a:extLst>
          </p:cNvPr>
          <p:cNvCxnSpPr/>
          <p:nvPr/>
        </p:nvCxnSpPr>
        <p:spPr>
          <a:xfrm flipV="1">
            <a:off x="3048000" y="3810000"/>
            <a:ext cx="406400" cy="34290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F2562100-5041-8071-29C8-835D95F8E058}"/>
              </a:ext>
            </a:extLst>
          </p:cNvPr>
          <p:cNvSpPr/>
          <p:nvPr/>
        </p:nvSpPr>
        <p:spPr>
          <a:xfrm>
            <a:off x="6299200" y="2133600"/>
            <a:ext cx="2438400" cy="863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Inventory
a read-only list of what is there</a:t>
            </a:r>
          </a:p>
        </p:txBody>
      </p:sp>
      <p:sp>
        <p:nvSpPr>
          <p:cNvPr id="20" name="Rectangle: Rounded Corners 19">
            <a:extLst>
              <a:ext uri="{FF2B5EF4-FFF2-40B4-BE49-F238E27FC236}">
                <a16:creationId xmlns:a16="http://schemas.microsoft.com/office/drawing/2014/main" id="{39DF74A1-739E-7673-D546-13C448D145FF}"/>
              </a:ext>
            </a:extLst>
          </p:cNvPr>
          <p:cNvSpPr/>
          <p:nvPr/>
        </p:nvSpPr>
        <p:spPr>
          <a:xfrm>
            <a:off x="6299200" y="3175000"/>
            <a:ext cx="2438400" cy="1117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Servers
the Arc agent on EC2 (AWS Systems Manager); GCP VMs via OS Config (preview)</a:t>
            </a:r>
          </a:p>
        </p:txBody>
      </p:sp>
      <p:sp>
        <p:nvSpPr>
          <p:cNvPr id="21" name="Rectangle: Rounded Corners 20">
            <a:extLst>
              <a:ext uri="{FF2B5EF4-FFF2-40B4-BE49-F238E27FC236}">
                <a16:creationId xmlns:a16="http://schemas.microsoft.com/office/drawing/2014/main" id="{A61B2EF7-FD23-6E9C-1482-E5E24ABD831C}"/>
              </a:ext>
            </a:extLst>
          </p:cNvPr>
          <p:cNvSpPr/>
          <p:nvPr/>
        </p:nvSpPr>
        <p:spPr>
          <a:xfrm>
            <a:off x="6299200" y="4470400"/>
            <a:ext cx="2438400" cy="812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EKS clusters · preview
the Arc Kubernetes agents</a:t>
            </a:r>
          </a:p>
        </p:txBody>
      </p:sp>
      <p:cxnSp>
        <p:nvCxnSpPr>
          <p:cNvPr id="22" name="Straight Arrow Connector 21">
            <a:extLst>
              <a:ext uri="{FF2B5EF4-FFF2-40B4-BE49-F238E27FC236}">
                <a16:creationId xmlns:a16="http://schemas.microsoft.com/office/drawing/2014/main" id="{1EFE2CE3-CADC-FB18-F35B-3EFE53393EAC}"/>
              </a:ext>
            </a:extLst>
          </p:cNvPr>
          <p:cNvCxnSpPr/>
          <p:nvPr/>
        </p:nvCxnSpPr>
        <p:spPr>
          <a:xfrm flipV="1">
            <a:off x="5892800" y="2565400"/>
            <a:ext cx="406400" cy="431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5EE3318-110E-4B26-0AF5-32AE44031380}"/>
              </a:ext>
            </a:extLst>
          </p:cNvPr>
          <p:cNvCxnSpPr/>
          <p:nvPr/>
        </p:nvCxnSpPr>
        <p:spPr>
          <a:xfrm>
            <a:off x="5892800" y="3365500"/>
            <a:ext cx="406400" cy="3683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B8F3C45-31E6-981C-DC93-B50B7BB6E4A8}"/>
              </a:ext>
            </a:extLst>
          </p:cNvPr>
          <p:cNvCxnSpPr/>
          <p:nvPr/>
        </p:nvCxnSpPr>
        <p:spPr>
          <a:xfrm>
            <a:off x="5892800" y="3937000"/>
            <a:ext cx="406400" cy="939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063177FD-8BB8-0956-0B6F-35BBFD2F6C43}"/>
              </a:ext>
            </a:extLst>
          </p:cNvPr>
          <p:cNvSpPr/>
          <p:nvPr/>
        </p:nvSpPr>
        <p:spPr>
          <a:xfrm>
            <a:off x="9144000" y="3175000"/>
            <a:ext cx="2438400" cy="11176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Servers
Policy · Monitor · Update Manager</a:t>
            </a:r>
          </a:p>
        </p:txBody>
      </p:sp>
      <p:sp>
        <p:nvSpPr>
          <p:cNvPr id="26" name="Rectangle: Rounded Corners 25">
            <a:extLst>
              <a:ext uri="{FF2B5EF4-FFF2-40B4-BE49-F238E27FC236}">
                <a16:creationId xmlns:a16="http://schemas.microsoft.com/office/drawing/2014/main" id="{070FBDEE-8F09-7BB3-4A07-23A0A625E66A}"/>
              </a:ext>
            </a:extLst>
          </p:cNvPr>
          <p:cNvSpPr/>
          <p:nvPr/>
        </p:nvSpPr>
        <p:spPr>
          <a:xfrm>
            <a:off x="9144000" y="4470400"/>
            <a:ext cx="2438400" cy="8128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EKS
Flux · Policy</a:t>
            </a:r>
          </a:p>
        </p:txBody>
      </p:sp>
      <p:sp>
        <p:nvSpPr>
          <p:cNvPr id="27" name="TextBox 26">
            <a:extLst>
              <a:ext uri="{FF2B5EF4-FFF2-40B4-BE49-F238E27FC236}">
                <a16:creationId xmlns:a16="http://schemas.microsoft.com/office/drawing/2014/main" id="{9DF100E1-2679-EA58-9813-45017C375F85}"/>
              </a:ext>
            </a:extLst>
          </p:cNvPr>
          <p:cNvSpPr txBox="1"/>
          <p:nvPr/>
        </p:nvSpPr>
        <p:spPr>
          <a:xfrm>
            <a:off x="9144000" y="5334000"/>
            <a:ext cx="2438400" cy="261610"/>
          </a:xfrm>
          <a:prstGeom prst="rect">
            <a:avLst/>
          </a:prstGeom>
          <a:noFill/>
        </p:spPr>
        <p:txBody>
          <a:bodyPr vert="horz" wrap="square" lIns="25400" rIns="25400" rtlCol="0">
            <a:spAutoFit/>
          </a:bodyPr>
          <a:lstStyle/>
          <a:p>
            <a:r>
              <a:rPr lang="en-US" sz="1100">
                <a:solidFill>
                  <a:srgbClr val="A3B2C4"/>
                </a:solidFill>
                <a:latin typeface="Calibri" panose="020F0502020204030204" pitchFamily="34" charset="0"/>
              </a:rPr>
              <a:t>each set up separately</a:t>
            </a:r>
          </a:p>
        </p:txBody>
      </p:sp>
      <p:cxnSp>
        <p:nvCxnSpPr>
          <p:cNvPr id="28" name="Straight Arrow Connector 27">
            <a:extLst>
              <a:ext uri="{FF2B5EF4-FFF2-40B4-BE49-F238E27FC236}">
                <a16:creationId xmlns:a16="http://schemas.microsoft.com/office/drawing/2014/main" id="{AB656F9A-3DC3-C94E-EA9D-3E4CC44D386A}"/>
              </a:ext>
            </a:extLst>
          </p:cNvPr>
          <p:cNvCxnSpPr/>
          <p:nvPr/>
        </p:nvCxnSpPr>
        <p:spPr>
          <a:xfrm>
            <a:off x="8737600" y="3733800"/>
            <a:ext cx="4064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844D534-7D5E-A1E4-7B45-84B3B7E37AEF}"/>
              </a:ext>
            </a:extLst>
          </p:cNvPr>
          <p:cNvCxnSpPr/>
          <p:nvPr/>
        </p:nvCxnSpPr>
        <p:spPr>
          <a:xfrm>
            <a:off x="8737600" y="4876800"/>
            <a:ext cx="4064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8125291E-2097-7FF0-2694-CF4EE384A8EE}"/>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EDBF1E2-857E-ACB0-DE54-CF9996633DD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Listed in Azure is not managed. Each service is turned on separately.</a:t>
            </a:r>
          </a:p>
        </p:txBody>
      </p:sp>
    </p:spTree>
    <p:extLst>
      <p:ext uri="{BB962C8B-B14F-4D97-AF65-F5344CB8AC3E}">
        <p14:creationId xmlns:p14="http://schemas.microsoft.com/office/powerpoint/2010/main" val="24754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7C2A82-12B3-A337-FCDA-718E288CE1C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86A7199-B861-8244-778A-0130DEFAACEF}"/>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EE70DAD-4C29-EA3B-9554-F46738A57DD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Onboarding EC2 and EKS</a:t>
            </a:r>
          </a:p>
        </p:txBody>
      </p:sp>
      <p:sp>
        <p:nvSpPr>
          <p:cNvPr id="5" name="Rectangle 4">
            <a:extLst>
              <a:ext uri="{FF2B5EF4-FFF2-40B4-BE49-F238E27FC236}">
                <a16:creationId xmlns:a16="http://schemas.microsoft.com/office/drawing/2014/main" id="{105493C3-4D5A-D165-F095-FFDD05E3B80B}"/>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688E3E-80CD-BC1D-D5B7-F036C8589D3E}"/>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Each becomes a different kind of Arc resource.</a:t>
            </a:r>
          </a:p>
        </p:txBody>
      </p:sp>
      <p:sp>
        <p:nvSpPr>
          <p:cNvPr id="7" name="TextBox 6">
            <a:extLst>
              <a:ext uri="{FF2B5EF4-FFF2-40B4-BE49-F238E27FC236}">
                <a16:creationId xmlns:a16="http://schemas.microsoft.com/office/drawing/2014/main" id="{A6A50271-E041-4B08-DC9E-2A499F89BB9A}"/>
              </a:ext>
            </a:extLst>
          </p:cNvPr>
          <p:cNvSpPr txBox="1"/>
          <p:nvPr/>
        </p:nvSpPr>
        <p:spPr>
          <a:xfrm>
            <a:off x="609600" y="1625600"/>
            <a:ext cx="5080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EC2 SERVER</a:t>
            </a:r>
          </a:p>
        </p:txBody>
      </p:sp>
      <p:sp>
        <p:nvSpPr>
          <p:cNvPr id="8" name="Rectangle: Rounded Corners 7">
            <a:extLst>
              <a:ext uri="{FF2B5EF4-FFF2-40B4-BE49-F238E27FC236}">
                <a16:creationId xmlns:a16="http://schemas.microsoft.com/office/drawing/2014/main" id="{F8BC0E49-3A8F-E316-508D-F3A9417440BD}"/>
              </a:ext>
            </a:extLst>
          </p:cNvPr>
          <p:cNvSpPr/>
          <p:nvPr/>
        </p:nvSpPr>
        <p:spPr>
          <a:xfrm>
            <a:off x="609600" y="1955800"/>
            <a:ext cx="3810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AWS EC2 instance</a:t>
            </a:r>
          </a:p>
        </p:txBody>
      </p:sp>
      <p:cxnSp>
        <p:nvCxnSpPr>
          <p:cNvPr id="9" name="Straight Arrow Connector 8">
            <a:extLst>
              <a:ext uri="{FF2B5EF4-FFF2-40B4-BE49-F238E27FC236}">
                <a16:creationId xmlns:a16="http://schemas.microsoft.com/office/drawing/2014/main" id="{4000E265-E61F-93EE-F5BF-5CC9E8DB2C4F}"/>
              </a:ext>
            </a:extLst>
          </p:cNvPr>
          <p:cNvCxnSpPr/>
          <p:nvPr/>
        </p:nvCxnSpPr>
        <p:spPr>
          <a:xfrm>
            <a:off x="2514600" y="2463800"/>
            <a:ext cx="0" cy="5334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7A44077-1479-1458-DDAA-A593FD522AC1}"/>
              </a:ext>
            </a:extLst>
          </p:cNvPr>
          <p:cNvSpPr txBox="1"/>
          <p:nvPr/>
        </p:nvSpPr>
        <p:spPr>
          <a:xfrm>
            <a:off x="2616200" y="2489200"/>
            <a:ext cx="3175000" cy="430887"/>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the connector installs the agent through AWS Systems Manager</a:t>
            </a:r>
          </a:p>
        </p:txBody>
      </p:sp>
      <p:sp>
        <p:nvSpPr>
          <p:cNvPr id="11" name="Rectangle: Rounded Corners 10">
            <a:extLst>
              <a:ext uri="{FF2B5EF4-FFF2-40B4-BE49-F238E27FC236}">
                <a16:creationId xmlns:a16="http://schemas.microsoft.com/office/drawing/2014/main" id="{E6740B0A-D477-2800-DB64-35D630FB942D}"/>
              </a:ext>
            </a:extLst>
          </p:cNvPr>
          <p:cNvSpPr/>
          <p:nvPr/>
        </p:nvSpPr>
        <p:spPr>
          <a:xfrm>
            <a:off x="609600" y="2997200"/>
            <a:ext cx="3810000" cy="508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Connected Machine agent</a:t>
            </a:r>
          </a:p>
        </p:txBody>
      </p:sp>
      <p:cxnSp>
        <p:nvCxnSpPr>
          <p:cNvPr id="12" name="Straight Arrow Connector 11">
            <a:extLst>
              <a:ext uri="{FF2B5EF4-FFF2-40B4-BE49-F238E27FC236}">
                <a16:creationId xmlns:a16="http://schemas.microsoft.com/office/drawing/2014/main" id="{297E8BF2-9DCA-494E-F318-CBEE368C08F6}"/>
              </a:ext>
            </a:extLst>
          </p:cNvPr>
          <p:cNvCxnSpPr/>
          <p:nvPr/>
        </p:nvCxnSpPr>
        <p:spPr>
          <a:xfrm>
            <a:off x="2514600" y="3505200"/>
            <a:ext cx="0" cy="330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A0CF78A-F9C2-7415-C173-CF6F89E38E73}"/>
              </a:ext>
            </a:extLst>
          </p:cNvPr>
          <p:cNvSpPr txBox="1"/>
          <p:nvPr/>
        </p:nvSpPr>
        <p:spPr>
          <a:xfrm>
            <a:off x="2616200" y="3530600"/>
            <a:ext cx="15240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registers</a:t>
            </a:r>
          </a:p>
        </p:txBody>
      </p:sp>
      <p:sp>
        <p:nvSpPr>
          <p:cNvPr id="14" name="Rectangle: Rounded Corners 13">
            <a:extLst>
              <a:ext uri="{FF2B5EF4-FFF2-40B4-BE49-F238E27FC236}">
                <a16:creationId xmlns:a16="http://schemas.microsoft.com/office/drawing/2014/main" id="{F24ED333-D651-BA0C-3E5B-CB23D149A7CF}"/>
              </a:ext>
            </a:extLst>
          </p:cNvPr>
          <p:cNvSpPr/>
          <p:nvPr/>
        </p:nvSpPr>
        <p:spPr>
          <a:xfrm>
            <a:off x="609600" y="3835400"/>
            <a:ext cx="3810000" cy="711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Arc-enabled server
Microsoft.HybridCompute/machines</a:t>
            </a:r>
          </a:p>
        </p:txBody>
      </p:sp>
      <p:cxnSp>
        <p:nvCxnSpPr>
          <p:cNvPr id="15" name="Straight Arrow Connector 14">
            <a:extLst>
              <a:ext uri="{FF2B5EF4-FFF2-40B4-BE49-F238E27FC236}">
                <a16:creationId xmlns:a16="http://schemas.microsoft.com/office/drawing/2014/main" id="{479093C5-5CD9-DEC9-8F6E-C6F8B379C7E5}"/>
              </a:ext>
            </a:extLst>
          </p:cNvPr>
          <p:cNvCxnSpPr/>
          <p:nvPr/>
        </p:nvCxnSpPr>
        <p:spPr>
          <a:xfrm>
            <a:off x="2514600" y="4546600"/>
            <a:ext cx="0" cy="355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6722EC0-B336-74FA-5CAB-B6EC37586534}"/>
              </a:ext>
            </a:extLst>
          </p:cNvPr>
          <p:cNvSpPr txBox="1"/>
          <p:nvPr/>
        </p:nvSpPr>
        <p:spPr>
          <a:xfrm>
            <a:off x="2616200" y="4572000"/>
            <a:ext cx="15240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then you add</a:t>
            </a:r>
          </a:p>
        </p:txBody>
      </p:sp>
      <p:sp>
        <p:nvSpPr>
          <p:cNvPr id="17" name="Rectangle: Rounded Corners 16">
            <a:extLst>
              <a:ext uri="{FF2B5EF4-FFF2-40B4-BE49-F238E27FC236}">
                <a16:creationId xmlns:a16="http://schemas.microsoft.com/office/drawing/2014/main" id="{73DBA667-360D-888A-DCA8-5662852E0E9F}"/>
              </a:ext>
            </a:extLst>
          </p:cNvPr>
          <p:cNvSpPr/>
          <p:nvPr/>
        </p:nvSpPr>
        <p:spPr>
          <a:xfrm>
            <a:off x="609600" y="4902200"/>
            <a:ext cx="3810000" cy="635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Policy · Monitor · Defender · Update Manager</a:t>
            </a:r>
          </a:p>
        </p:txBody>
      </p:sp>
      <p:sp>
        <p:nvSpPr>
          <p:cNvPr id="18" name="TextBox 17">
            <a:extLst>
              <a:ext uri="{FF2B5EF4-FFF2-40B4-BE49-F238E27FC236}">
                <a16:creationId xmlns:a16="http://schemas.microsoft.com/office/drawing/2014/main" id="{B85F3AE5-EEDC-9D37-19DF-30C1F7B2FF55}"/>
              </a:ext>
            </a:extLst>
          </p:cNvPr>
          <p:cNvSpPr txBox="1"/>
          <p:nvPr/>
        </p:nvSpPr>
        <p:spPr>
          <a:xfrm>
            <a:off x="6502400" y="1625600"/>
            <a:ext cx="50800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EKS CLUSTER · PREVIEW</a:t>
            </a:r>
          </a:p>
        </p:txBody>
      </p:sp>
      <p:sp>
        <p:nvSpPr>
          <p:cNvPr id="19" name="Rectangle: Rounded Corners 18">
            <a:extLst>
              <a:ext uri="{FF2B5EF4-FFF2-40B4-BE49-F238E27FC236}">
                <a16:creationId xmlns:a16="http://schemas.microsoft.com/office/drawing/2014/main" id="{ADFF7210-5433-D4D1-75FA-D9B16BC643DE}"/>
              </a:ext>
            </a:extLst>
          </p:cNvPr>
          <p:cNvSpPr/>
          <p:nvPr/>
        </p:nvSpPr>
        <p:spPr>
          <a:xfrm>
            <a:off x="6502400" y="1955800"/>
            <a:ext cx="3810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Amazon EKS cluster</a:t>
            </a:r>
          </a:p>
        </p:txBody>
      </p:sp>
      <p:cxnSp>
        <p:nvCxnSpPr>
          <p:cNvPr id="20" name="Straight Arrow Connector 19">
            <a:extLst>
              <a:ext uri="{FF2B5EF4-FFF2-40B4-BE49-F238E27FC236}">
                <a16:creationId xmlns:a16="http://schemas.microsoft.com/office/drawing/2014/main" id="{FF0FA860-86D6-1300-42FA-34DBC4AA10B9}"/>
              </a:ext>
            </a:extLst>
          </p:cNvPr>
          <p:cNvCxnSpPr/>
          <p:nvPr/>
        </p:nvCxnSpPr>
        <p:spPr>
          <a:xfrm>
            <a:off x="8407400" y="2463800"/>
            <a:ext cx="0" cy="5334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12B4205-7595-C50B-B98A-65844342471D}"/>
              </a:ext>
            </a:extLst>
          </p:cNvPr>
          <p:cNvSpPr txBox="1"/>
          <p:nvPr/>
        </p:nvSpPr>
        <p:spPr>
          <a:xfrm>
            <a:off x="8509000" y="2489200"/>
            <a:ext cx="31750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the connector installs the Arc agents (preview)</a:t>
            </a:r>
          </a:p>
        </p:txBody>
      </p:sp>
      <p:sp>
        <p:nvSpPr>
          <p:cNvPr id="22" name="Rectangle: Rounded Corners 21">
            <a:extLst>
              <a:ext uri="{FF2B5EF4-FFF2-40B4-BE49-F238E27FC236}">
                <a16:creationId xmlns:a16="http://schemas.microsoft.com/office/drawing/2014/main" id="{DC34AB85-BF73-B840-DD14-1A6B8990AAE8}"/>
              </a:ext>
            </a:extLst>
          </p:cNvPr>
          <p:cNvSpPr/>
          <p:nvPr/>
        </p:nvSpPr>
        <p:spPr>
          <a:xfrm>
            <a:off x="6502400" y="2997200"/>
            <a:ext cx="3810000" cy="5080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Arc Kubernetes agents</a:t>
            </a:r>
          </a:p>
        </p:txBody>
      </p:sp>
      <p:cxnSp>
        <p:nvCxnSpPr>
          <p:cNvPr id="23" name="Straight Arrow Connector 22">
            <a:extLst>
              <a:ext uri="{FF2B5EF4-FFF2-40B4-BE49-F238E27FC236}">
                <a16:creationId xmlns:a16="http://schemas.microsoft.com/office/drawing/2014/main" id="{AED7F03F-60D4-B22E-310A-24C5C510CEC3}"/>
              </a:ext>
            </a:extLst>
          </p:cNvPr>
          <p:cNvCxnSpPr/>
          <p:nvPr/>
        </p:nvCxnSpPr>
        <p:spPr>
          <a:xfrm>
            <a:off x="8407400" y="3505200"/>
            <a:ext cx="0" cy="330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FB85C479-A3AC-F9D4-A957-042E83679C3C}"/>
              </a:ext>
            </a:extLst>
          </p:cNvPr>
          <p:cNvSpPr txBox="1"/>
          <p:nvPr/>
        </p:nvSpPr>
        <p:spPr>
          <a:xfrm>
            <a:off x="8509000" y="3530600"/>
            <a:ext cx="15240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registers</a:t>
            </a:r>
          </a:p>
        </p:txBody>
      </p:sp>
      <p:sp>
        <p:nvSpPr>
          <p:cNvPr id="25" name="Rectangle: Rounded Corners 24">
            <a:extLst>
              <a:ext uri="{FF2B5EF4-FFF2-40B4-BE49-F238E27FC236}">
                <a16:creationId xmlns:a16="http://schemas.microsoft.com/office/drawing/2014/main" id="{2C47E3DE-218B-E11B-BDE0-89126DDF756A}"/>
              </a:ext>
            </a:extLst>
          </p:cNvPr>
          <p:cNvSpPr/>
          <p:nvPr/>
        </p:nvSpPr>
        <p:spPr>
          <a:xfrm>
            <a:off x="6502400" y="3835400"/>
            <a:ext cx="3810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Arc-enabled Kubernetes cluster
Microsoft.Kubernetes/connectedClusters</a:t>
            </a:r>
          </a:p>
        </p:txBody>
      </p:sp>
      <p:cxnSp>
        <p:nvCxnSpPr>
          <p:cNvPr id="26" name="Straight Arrow Connector 25">
            <a:extLst>
              <a:ext uri="{FF2B5EF4-FFF2-40B4-BE49-F238E27FC236}">
                <a16:creationId xmlns:a16="http://schemas.microsoft.com/office/drawing/2014/main" id="{9DF418F0-F26C-0AC2-EE55-9D15B60FCBE8}"/>
              </a:ext>
            </a:extLst>
          </p:cNvPr>
          <p:cNvCxnSpPr/>
          <p:nvPr/>
        </p:nvCxnSpPr>
        <p:spPr>
          <a:xfrm>
            <a:off x="8407400" y="4546600"/>
            <a:ext cx="0" cy="355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BCD8303A-6A0A-6260-2364-843638B9BEDD}"/>
              </a:ext>
            </a:extLst>
          </p:cNvPr>
          <p:cNvSpPr txBox="1"/>
          <p:nvPr/>
        </p:nvSpPr>
        <p:spPr>
          <a:xfrm>
            <a:off x="8509000" y="4572000"/>
            <a:ext cx="15240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then you add</a:t>
            </a:r>
          </a:p>
        </p:txBody>
      </p:sp>
      <p:sp>
        <p:nvSpPr>
          <p:cNvPr id="28" name="Rectangle: Rounded Corners 27">
            <a:extLst>
              <a:ext uri="{FF2B5EF4-FFF2-40B4-BE49-F238E27FC236}">
                <a16:creationId xmlns:a16="http://schemas.microsoft.com/office/drawing/2014/main" id="{EE2F9D2E-C436-664C-F41F-69E16A084E7D}"/>
              </a:ext>
            </a:extLst>
          </p:cNvPr>
          <p:cNvSpPr/>
          <p:nvPr/>
        </p:nvSpPr>
        <p:spPr>
          <a:xfrm>
            <a:off x="6502400" y="4902200"/>
            <a:ext cx="3810000" cy="635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Flux · Policy · supported Kubernetes services</a:t>
            </a:r>
          </a:p>
        </p:txBody>
      </p:sp>
      <p:sp>
        <p:nvSpPr>
          <p:cNvPr id="29" name="Rectangle 28">
            <a:extLst>
              <a:ext uri="{FF2B5EF4-FFF2-40B4-BE49-F238E27FC236}">
                <a16:creationId xmlns:a16="http://schemas.microsoft.com/office/drawing/2014/main" id="{66098AAB-40A8-AACA-7304-2083B3AEEAE6}"/>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B1F7FF1-1CCB-8A81-5B57-47A04FE3D41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Next, we do this with our AWS account.</a:t>
            </a:r>
          </a:p>
        </p:txBody>
      </p:sp>
    </p:spTree>
    <p:extLst>
      <p:ext uri="{BB962C8B-B14F-4D97-AF65-F5344CB8AC3E}">
        <p14:creationId xmlns:p14="http://schemas.microsoft.com/office/powerpoint/2010/main" val="3693696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48F275-4361-35F6-30AD-D9A46DDB8C4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887B113-7E5E-2BF5-39D6-2675C01B6FD4}"/>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986999E-EED0-8F9E-51C8-C90536BA1DC1}"/>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add AWS resources through the Arc multicloud connector</a:t>
            </a:r>
          </a:p>
        </p:txBody>
      </p:sp>
      <p:sp>
        <p:nvSpPr>
          <p:cNvPr id="5" name="Rectangle 4">
            <a:extLst>
              <a:ext uri="{FF2B5EF4-FFF2-40B4-BE49-F238E27FC236}">
                <a16:creationId xmlns:a16="http://schemas.microsoft.com/office/drawing/2014/main" id="{163470FA-D553-80DB-FC40-E4C9A00BC7FD}"/>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C6C6C7-0C8E-1210-1D48-F4B8391EE556}"/>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Question: how does the AWS account become connected, and what is discovered versus onboarded?</a:t>
            </a:r>
          </a:p>
        </p:txBody>
      </p:sp>
      <p:sp>
        <p:nvSpPr>
          <p:cNvPr id="7" name="Rectangle: Rounded Corners 6">
            <a:extLst>
              <a:ext uri="{FF2B5EF4-FFF2-40B4-BE49-F238E27FC236}">
                <a16:creationId xmlns:a16="http://schemas.microsoft.com/office/drawing/2014/main" id="{8F1506C6-C80B-8FAF-9587-EA3154F5B14F}"/>
              </a:ext>
            </a:extLst>
          </p:cNvPr>
          <p:cNvSpPr/>
          <p:nvPr/>
        </p:nvSpPr>
        <p:spPr>
          <a:xfrm>
            <a:off x="609600" y="2603500"/>
            <a:ext cx="1905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1  Open the existing
AWS connector</a:t>
            </a:r>
          </a:p>
        </p:txBody>
      </p:sp>
      <p:cxnSp>
        <p:nvCxnSpPr>
          <p:cNvPr id="8" name="Straight Arrow Connector 7">
            <a:extLst>
              <a:ext uri="{FF2B5EF4-FFF2-40B4-BE49-F238E27FC236}">
                <a16:creationId xmlns:a16="http://schemas.microsoft.com/office/drawing/2014/main" id="{2163920E-C2F3-89CA-8371-83FDE907D38A}"/>
              </a:ext>
            </a:extLst>
          </p:cNvPr>
          <p:cNvCxnSpPr/>
          <p:nvPr/>
        </p:nvCxnSpPr>
        <p:spPr>
          <a:xfrm>
            <a:off x="2514600" y="3124200"/>
            <a:ext cx="304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B7A10623-44D2-DD51-0C35-7F5A98AA8D7D}"/>
              </a:ext>
            </a:extLst>
          </p:cNvPr>
          <p:cNvSpPr/>
          <p:nvPr/>
        </p:nvSpPr>
        <p:spPr>
          <a:xfrm>
            <a:off x="2819400" y="2603500"/>
            <a:ext cx="1905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2  AWS account
region + tag filter: cas26</a:t>
            </a:r>
          </a:p>
        </p:txBody>
      </p:sp>
      <p:cxnSp>
        <p:nvCxnSpPr>
          <p:cNvPr id="10" name="Straight Arrow Connector 9">
            <a:extLst>
              <a:ext uri="{FF2B5EF4-FFF2-40B4-BE49-F238E27FC236}">
                <a16:creationId xmlns:a16="http://schemas.microsoft.com/office/drawing/2014/main" id="{EADF7960-1067-1571-F09A-FE5AEFDB99CB}"/>
              </a:ext>
            </a:extLst>
          </p:cNvPr>
          <p:cNvCxnSpPr/>
          <p:nvPr/>
        </p:nvCxnSpPr>
        <p:spPr>
          <a:xfrm>
            <a:off x="4724400" y="3124200"/>
            <a:ext cx="304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3CC73F76-793C-CEAC-B606-38D88527BEEE}"/>
              </a:ext>
            </a:extLst>
          </p:cNvPr>
          <p:cNvSpPr/>
          <p:nvPr/>
        </p:nvSpPr>
        <p:spPr>
          <a:xfrm>
            <a:off x="5029200" y="2603500"/>
            <a:ext cx="1905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3  Solutions
Inventory · server + EKS onboarding</a:t>
            </a:r>
          </a:p>
        </p:txBody>
      </p:sp>
      <p:cxnSp>
        <p:nvCxnSpPr>
          <p:cNvPr id="12" name="Straight Arrow Connector 11">
            <a:extLst>
              <a:ext uri="{FF2B5EF4-FFF2-40B4-BE49-F238E27FC236}">
                <a16:creationId xmlns:a16="http://schemas.microsoft.com/office/drawing/2014/main" id="{C5419AB7-3D88-3C6B-82D4-A6F1BBB30055}"/>
              </a:ext>
            </a:extLst>
          </p:cNvPr>
          <p:cNvCxnSpPr/>
          <p:nvPr/>
        </p:nvCxnSpPr>
        <p:spPr>
          <a:xfrm>
            <a:off x="6934200" y="3124200"/>
            <a:ext cx="304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574F4B3B-0E19-1B55-0DFF-CB0E449A2468}"/>
              </a:ext>
            </a:extLst>
          </p:cNvPr>
          <p:cNvSpPr/>
          <p:nvPr/>
        </p:nvSpPr>
        <p:spPr>
          <a:xfrm>
            <a:off x="7239000" y="2603500"/>
            <a:ext cx="1905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4  Inspect existing source
authorization (CloudFormation)</a:t>
            </a:r>
          </a:p>
        </p:txBody>
      </p:sp>
      <p:cxnSp>
        <p:nvCxnSpPr>
          <p:cNvPr id="14" name="Straight Arrow Connector 13">
            <a:extLst>
              <a:ext uri="{FF2B5EF4-FFF2-40B4-BE49-F238E27FC236}">
                <a16:creationId xmlns:a16="http://schemas.microsoft.com/office/drawing/2014/main" id="{2C8749BB-2A2E-065C-96A4-DD7457A2F89D}"/>
              </a:ext>
            </a:extLst>
          </p:cNvPr>
          <p:cNvCxnSpPr/>
          <p:nvPr/>
        </p:nvCxnSpPr>
        <p:spPr>
          <a:xfrm>
            <a:off x="9144000" y="3124200"/>
            <a:ext cx="304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B5EF9E78-4A85-BE37-30F9-75207387F15E}"/>
              </a:ext>
            </a:extLst>
          </p:cNvPr>
          <p:cNvSpPr/>
          <p:nvPr/>
        </p:nvSpPr>
        <p:spPr>
          <a:xfrm>
            <a:off x="9448800" y="2603500"/>
            <a:ext cx="1905000" cy="10414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5  Inspect Azure
representations + status</a:t>
            </a:r>
          </a:p>
        </p:txBody>
      </p:sp>
      <p:sp>
        <p:nvSpPr>
          <p:cNvPr id="16" name="Rectangle: Rounded Corners 15">
            <a:extLst>
              <a:ext uri="{FF2B5EF4-FFF2-40B4-BE49-F238E27FC236}">
                <a16:creationId xmlns:a16="http://schemas.microsoft.com/office/drawing/2014/main" id="{699C7A9C-87E2-1075-7859-38A33EEE6827}"/>
              </a:ext>
            </a:extLst>
          </p:cNvPr>
          <p:cNvSpPr/>
          <p:nvPr/>
        </p:nvSpPr>
        <p:spPr>
          <a:xfrm>
            <a:off x="698500" y="4445000"/>
            <a:ext cx="5143500" cy="812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EC2 instance ID → inventory representation → HybridCompute/machines only after server onboarding</a:t>
            </a:r>
          </a:p>
        </p:txBody>
      </p:sp>
      <p:sp>
        <p:nvSpPr>
          <p:cNvPr id="17" name="Rectangle: Rounded Corners 16">
            <a:extLst>
              <a:ext uri="{FF2B5EF4-FFF2-40B4-BE49-F238E27FC236}">
                <a16:creationId xmlns:a16="http://schemas.microsoft.com/office/drawing/2014/main" id="{7BE7CE35-3F2E-0A7C-EAA4-56CDB9D00E36}"/>
              </a:ext>
            </a:extLst>
          </p:cNvPr>
          <p:cNvSpPr/>
          <p:nvPr/>
        </p:nvSpPr>
        <p:spPr>
          <a:xfrm>
            <a:off x="6350000" y="4445000"/>
            <a:ext cx="5143500" cy="812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EKS ARN → inventory representation → Kubernetes/connectedClusters only after cluster onboarding</a:t>
            </a:r>
          </a:p>
        </p:txBody>
      </p:sp>
      <p:sp>
        <p:nvSpPr>
          <p:cNvPr id="18" name="Rectangle 17">
            <a:extLst>
              <a:ext uri="{FF2B5EF4-FFF2-40B4-BE49-F238E27FC236}">
                <a16:creationId xmlns:a16="http://schemas.microsoft.com/office/drawing/2014/main" id="{D21CBDF6-92C2-1C5E-4095-1EEB0E1E61D5}"/>
              </a:ext>
            </a:extLst>
          </p:cNvPr>
          <p:cNvSpPr/>
          <p:nvPr/>
        </p:nvSpPr>
        <p:spPr>
          <a:xfrm>
            <a:off x="5588000" y="5829300"/>
            <a:ext cx="1016000" cy="381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46B9109-B3FD-6DF6-AE33-89EB4ED3374C}"/>
              </a:ext>
            </a:extLst>
          </p:cNvPr>
          <p:cNvSpPr txBox="1"/>
          <p:nvPr/>
        </p:nvSpPr>
        <p:spPr>
          <a:xfrm>
            <a:off x="889000" y="5905500"/>
            <a:ext cx="10414000" cy="269304"/>
          </a:xfrm>
          <a:prstGeom prst="rect">
            <a:avLst/>
          </a:prstGeom>
          <a:noFill/>
        </p:spPr>
        <p:txBody>
          <a:bodyPr vert="horz" wrap="square" lIns="25400" rIns="25400" rtlCol="0">
            <a:spAutoFit/>
          </a:bodyPr>
          <a:lstStyle/>
          <a:p>
            <a:pPr algn="ctr"/>
            <a:r>
              <a:rPr lang="en-US" sz="1150" b="1">
                <a:solidFill>
                  <a:srgbClr val="56D6E0"/>
                </a:solidFill>
                <a:latin typeface="Calibri" panose="020F0502020204030204" pitchFamily="34" charset="0"/>
              </a:rPr>
              <a:t>Debrief: discovery ≠ onboarding ≠ management proof. Preserve the AWS source ID, Azure resource ID, solution state and timestamp.</a:t>
            </a:r>
          </a:p>
        </p:txBody>
      </p:sp>
      <p:sp>
        <p:nvSpPr>
          <p:cNvPr id="20" name="DemoMarkerBar">
            <a:extLst>
              <a:ext uri="{FF2B5EF4-FFF2-40B4-BE49-F238E27FC236}">
                <a16:creationId xmlns:a16="http://schemas.microsoft.com/office/drawing/2014/main" id="{60004B14-C280-93FB-D378-91F14DA5C025}"/>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AD514E76-C30B-5953-BDB5-C58DAA1F5111}"/>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3199553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199473-683F-028D-2E57-E7A988A88E0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79F7393-B8E1-C2F7-D362-234B457CAF7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EBFD7FC-3E74-83D6-CA58-E553D7A3D623}"/>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Edge and legacy: Arc management still requires Azure connectivity</a:t>
            </a:r>
          </a:p>
        </p:txBody>
      </p:sp>
      <p:sp>
        <p:nvSpPr>
          <p:cNvPr id="5" name="Rectangle 4">
            <a:extLst>
              <a:ext uri="{FF2B5EF4-FFF2-40B4-BE49-F238E27FC236}">
                <a16:creationId xmlns:a16="http://schemas.microsoft.com/office/drawing/2014/main" id="{70128A37-1CCE-4403-BE3B-252646A5E183}"/>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EE767D1-3E00-3A27-C0CC-FA1418586BBD}"/>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Arc-enabled servers do not provide fully disconnected management.</a:t>
            </a:r>
          </a:p>
        </p:txBody>
      </p:sp>
      <p:sp>
        <p:nvSpPr>
          <p:cNvPr id="7" name="Rectangle: Rounded Corners 6">
            <a:extLst>
              <a:ext uri="{FF2B5EF4-FFF2-40B4-BE49-F238E27FC236}">
                <a16:creationId xmlns:a16="http://schemas.microsoft.com/office/drawing/2014/main" id="{BF4DEF7D-286D-11CD-4ADB-110D8F3B16F7}"/>
              </a:ext>
            </a:extLst>
          </p:cNvPr>
          <p:cNvSpPr/>
          <p:nvPr/>
        </p:nvSpPr>
        <p:spPr>
          <a:xfrm>
            <a:off x="609600" y="1778000"/>
            <a:ext cx="5334000" cy="38100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8B32D068-F820-DB61-823E-624B15A9E242}"/>
              </a:ext>
            </a:extLst>
          </p:cNvPr>
          <p:cNvSpPr txBox="1"/>
          <p:nvPr/>
        </p:nvSpPr>
        <p:spPr>
          <a:xfrm>
            <a:off x="863600" y="1930400"/>
            <a:ext cx="4826000" cy="307777"/>
          </a:xfrm>
          <a:prstGeom prst="rect">
            <a:avLst/>
          </a:prstGeom>
          <a:noFill/>
        </p:spPr>
        <p:txBody>
          <a:bodyPr vert="horz" wrap="square" lIns="25400" rIns="25400" rtlCol="0">
            <a:spAutoFit/>
          </a:bodyPr>
          <a:lstStyle/>
          <a:p>
            <a:r>
              <a:rPr lang="en-US" sz="1400" b="1">
                <a:solidFill>
                  <a:srgbClr val="F09E5A"/>
                </a:solidFill>
                <a:latin typeface="Calibri" panose="020F0502020204030204" pitchFamily="34" charset="0"/>
              </a:rPr>
              <a:t>EDGE SITES</a:t>
            </a:r>
          </a:p>
        </p:txBody>
      </p:sp>
      <p:sp>
        <p:nvSpPr>
          <p:cNvPr id="9" name="TextBox 8">
            <a:extLst>
              <a:ext uri="{FF2B5EF4-FFF2-40B4-BE49-F238E27FC236}">
                <a16:creationId xmlns:a16="http://schemas.microsoft.com/office/drawing/2014/main" id="{8606D2F7-B903-C1A7-7CE8-5C15F7C1EAC3}"/>
              </a:ext>
            </a:extLst>
          </p:cNvPr>
          <p:cNvSpPr txBox="1"/>
          <p:nvPr/>
        </p:nvSpPr>
        <p:spPr>
          <a:xfrm>
            <a:off x="863600" y="2438400"/>
            <a:ext cx="4876800" cy="1938992"/>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  The site keeps working locally.
•  Arc needs one outbound connection to Azure: direct, through a proxy, or through an Arc gateway, so you allow one endpoint instead of many.
•  If the link drops, the workload keeps running, but what Azure shows goes stale until it reconnects.</a:t>
            </a:r>
          </a:p>
        </p:txBody>
      </p:sp>
      <p:sp>
        <p:nvSpPr>
          <p:cNvPr id="10" name="Rectangle: Rounded Corners 9">
            <a:extLst>
              <a:ext uri="{FF2B5EF4-FFF2-40B4-BE49-F238E27FC236}">
                <a16:creationId xmlns:a16="http://schemas.microsoft.com/office/drawing/2014/main" id="{39FA7329-4ACB-712F-B43E-FF0B3224BCCC}"/>
              </a:ext>
            </a:extLst>
          </p:cNvPr>
          <p:cNvSpPr/>
          <p:nvPr/>
        </p:nvSpPr>
        <p:spPr>
          <a:xfrm>
            <a:off x="6248400" y="1778000"/>
            <a:ext cx="5334000" cy="3810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1" name="TextBox 10">
            <a:extLst>
              <a:ext uri="{FF2B5EF4-FFF2-40B4-BE49-F238E27FC236}">
                <a16:creationId xmlns:a16="http://schemas.microsoft.com/office/drawing/2014/main" id="{BE792DE0-994D-DD87-E371-6FCA1380DCD1}"/>
              </a:ext>
            </a:extLst>
          </p:cNvPr>
          <p:cNvSpPr txBox="1"/>
          <p:nvPr/>
        </p:nvSpPr>
        <p:spPr>
          <a:xfrm>
            <a:off x="6502400" y="1930400"/>
            <a:ext cx="4826000" cy="307777"/>
          </a:xfrm>
          <a:prstGeom prst="rect">
            <a:avLst/>
          </a:prstGeom>
          <a:noFill/>
        </p:spPr>
        <p:txBody>
          <a:bodyPr vert="horz" wrap="square" lIns="25400" rIns="25400" rtlCol="0">
            <a:spAutoFit/>
          </a:bodyPr>
          <a:lstStyle/>
          <a:p>
            <a:r>
              <a:rPr lang="en-US" sz="1400" b="1">
                <a:solidFill>
                  <a:srgbClr val="6EA8F0"/>
                </a:solidFill>
                <a:latin typeface="Calibri" panose="020F0502020204030204" pitchFamily="34" charset="0"/>
              </a:rPr>
              <a:t>LEGACY SERVERS</a:t>
            </a:r>
          </a:p>
        </p:txBody>
      </p:sp>
      <p:sp>
        <p:nvSpPr>
          <p:cNvPr id="12" name="TextBox 11">
            <a:extLst>
              <a:ext uri="{FF2B5EF4-FFF2-40B4-BE49-F238E27FC236}">
                <a16:creationId xmlns:a16="http://schemas.microsoft.com/office/drawing/2014/main" id="{D4C48A69-B3E2-AD08-FF3D-1E6AE33C5F7A}"/>
              </a:ext>
            </a:extLst>
          </p:cNvPr>
          <p:cNvSpPr txBox="1"/>
          <p:nvPr/>
        </p:nvSpPr>
        <p:spPr>
          <a:xfrm>
            <a:off x="6502400" y="2438400"/>
            <a:ext cx="4876800" cy="1708160"/>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  Check support first: OS version, agent requirements, outbound access.
•  Onboard one machine first, then widen.
•  End-of-support Windows Server can get Extended Security Updates (ESUs) through Arc.</a:t>
            </a:r>
          </a:p>
        </p:txBody>
      </p:sp>
      <p:sp>
        <p:nvSpPr>
          <p:cNvPr id="13" name="Rectangle 12">
            <a:extLst>
              <a:ext uri="{FF2B5EF4-FFF2-40B4-BE49-F238E27FC236}">
                <a16:creationId xmlns:a16="http://schemas.microsoft.com/office/drawing/2014/main" id="{BB107C32-338B-5F2E-0341-170B31AA1308}"/>
              </a:ext>
            </a:extLst>
          </p:cNvPr>
          <p:cNvSpPr/>
          <p:nvPr/>
        </p:nvSpPr>
        <p:spPr>
          <a:xfrm>
            <a:off x="5588000" y="5867400"/>
            <a:ext cx="1016000" cy="38100"/>
          </a:xfrm>
          <a:prstGeom prst="rect">
            <a:avLst/>
          </a:prstGeom>
          <a:solidFill>
            <a:srgbClr val="F09E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12F5D2-5B2B-4397-AA8A-FF4DF1CD2B11}"/>
              </a:ext>
            </a:extLst>
          </p:cNvPr>
          <p:cNvSpPr txBox="1"/>
          <p:nvPr/>
        </p:nvSpPr>
        <p:spPr>
          <a:xfrm>
            <a:off x="889000" y="5943600"/>
            <a:ext cx="10414000" cy="276999"/>
          </a:xfrm>
          <a:prstGeom prst="rect">
            <a:avLst/>
          </a:prstGeom>
          <a:noFill/>
        </p:spPr>
        <p:txBody>
          <a:bodyPr vert="horz" wrap="square" lIns="25400" rIns="25400" rtlCol="0">
            <a:spAutoFit/>
          </a:bodyPr>
          <a:lstStyle/>
          <a:p>
            <a:pPr algn="ctr"/>
            <a:r>
              <a:rPr lang="en-US" sz="1200" b="1">
                <a:solidFill>
                  <a:srgbClr val="F09E5A"/>
                </a:solidFill>
                <a:latin typeface="Calibri" panose="020F0502020204030204" pitchFamily="34" charset="0"/>
              </a:rPr>
              <a:t>Remote does not mean disconnected: Arc management always needs a path to Azure.</a:t>
            </a:r>
          </a:p>
        </p:txBody>
      </p:sp>
    </p:spTree>
    <p:extLst>
      <p:ext uri="{BB962C8B-B14F-4D97-AF65-F5344CB8AC3E}">
        <p14:creationId xmlns:p14="http://schemas.microsoft.com/office/powerpoint/2010/main" val="3884711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33A26E-F905-B4B4-03CB-1B14EDE2B07F}"/>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D5E75CD-ED1D-7C47-B963-3A50ECAF5AF9}"/>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C324597-2499-6353-D4FA-E267024EA649}"/>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One pattern, four onboarding paths</a:t>
            </a:r>
          </a:p>
        </p:txBody>
      </p:sp>
      <p:sp>
        <p:nvSpPr>
          <p:cNvPr id="5" name="Rectangle 4">
            <a:extLst>
              <a:ext uri="{FF2B5EF4-FFF2-40B4-BE49-F238E27FC236}">
                <a16:creationId xmlns:a16="http://schemas.microsoft.com/office/drawing/2014/main" id="{FAE97F31-8ECE-EFC8-882A-5FFB03788FB4}"/>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9D5C0D-132A-1750-A3BE-6079B9A22183}"/>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One management foundation; different source identities, agents, Azure resource types and prerequisites.</a:t>
            </a:r>
          </a:p>
        </p:txBody>
      </p:sp>
      <p:sp>
        <p:nvSpPr>
          <p:cNvPr id="7" name="TextBox 6">
            <a:extLst>
              <a:ext uri="{FF2B5EF4-FFF2-40B4-BE49-F238E27FC236}">
                <a16:creationId xmlns:a16="http://schemas.microsoft.com/office/drawing/2014/main" id="{B868739C-B660-A135-34AC-B7648CF9A918}"/>
              </a:ext>
            </a:extLst>
          </p:cNvPr>
          <p:cNvSpPr txBox="1"/>
          <p:nvPr/>
        </p:nvSpPr>
        <p:spPr>
          <a:xfrm>
            <a:off x="571500" y="1714500"/>
            <a:ext cx="26670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SOURCE RESOURCE</a:t>
            </a:r>
          </a:p>
        </p:txBody>
      </p:sp>
      <p:sp>
        <p:nvSpPr>
          <p:cNvPr id="8" name="TextBox 7">
            <a:extLst>
              <a:ext uri="{FF2B5EF4-FFF2-40B4-BE49-F238E27FC236}">
                <a16:creationId xmlns:a16="http://schemas.microsoft.com/office/drawing/2014/main" id="{57CA6106-D34D-7E02-FD09-4077F1B2E43B}"/>
              </a:ext>
            </a:extLst>
          </p:cNvPr>
          <p:cNvSpPr txBox="1"/>
          <p:nvPr/>
        </p:nvSpPr>
        <p:spPr>
          <a:xfrm>
            <a:off x="4572000" y="1714500"/>
            <a:ext cx="30480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ONBOARDING PATH</a:t>
            </a:r>
          </a:p>
        </p:txBody>
      </p:sp>
      <p:sp>
        <p:nvSpPr>
          <p:cNvPr id="9" name="TextBox 8">
            <a:extLst>
              <a:ext uri="{FF2B5EF4-FFF2-40B4-BE49-F238E27FC236}">
                <a16:creationId xmlns:a16="http://schemas.microsoft.com/office/drawing/2014/main" id="{7B057589-DBF1-A6BD-9C90-DD278DEAC538}"/>
              </a:ext>
            </a:extLst>
          </p:cNvPr>
          <p:cNvSpPr txBox="1"/>
          <p:nvPr/>
        </p:nvSpPr>
        <p:spPr>
          <a:xfrm>
            <a:off x="8763000" y="1714500"/>
            <a:ext cx="28575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AZURE REPRESENTATION</a:t>
            </a:r>
          </a:p>
        </p:txBody>
      </p:sp>
      <p:sp>
        <p:nvSpPr>
          <p:cNvPr id="10" name="Rectangle: Rounded Corners 9">
            <a:extLst>
              <a:ext uri="{FF2B5EF4-FFF2-40B4-BE49-F238E27FC236}">
                <a16:creationId xmlns:a16="http://schemas.microsoft.com/office/drawing/2014/main" id="{8E542559-B6D3-0D47-9B0B-3067034F22E3}"/>
              </a:ext>
            </a:extLst>
          </p:cNvPr>
          <p:cNvSpPr/>
          <p:nvPr/>
        </p:nvSpPr>
        <p:spPr>
          <a:xfrm>
            <a:off x="571500" y="2108200"/>
            <a:ext cx="27940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On-premises / edge server</a:t>
            </a:r>
          </a:p>
        </p:txBody>
      </p:sp>
      <p:cxnSp>
        <p:nvCxnSpPr>
          <p:cNvPr id="11" name="Straight Arrow Connector 10">
            <a:extLst>
              <a:ext uri="{FF2B5EF4-FFF2-40B4-BE49-F238E27FC236}">
                <a16:creationId xmlns:a16="http://schemas.microsoft.com/office/drawing/2014/main" id="{4AD92A99-9630-8697-D8A6-66CBCDEF0827}"/>
              </a:ext>
            </a:extLst>
          </p:cNvPr>
          <p:cNvCxnSpPr/>
          <p:nvPr/>
        </p:nvCxnSpPr>
        <p:spPr>
          <a:xfrm>
            <a:off x="3365500" y="2463800"/>
            <a:ext cx="10795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A4743074-6B78-1567-5909-8AA9A17AFAA0}"/>
              </a:ext>
            </a:extLst>
          </p:cNvPr>
          <p:cNvSpPr/>
          <p:nvPr/>
        </p:nvSpPr>
        <p:spPr>
          <a:xfrm>
            <a:off x="4445000" y="2108200"/>
            <a:ext cx="3302000" cy="711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You install the
Connected Machine agent</a:t>
            </a:r>
          </a:p>
        </p:txBody>
      </p:sp>
      <p:cxnSp>
        <p:nvCxnSpPr>
          <p:cNvPr id="13" name="Straight Arrow Connector 12">
            <a:extLst>
              <a:ext uri="{FF2B5EF4-FFF2-40B4-BE49-F238E27FC236}">
                <a16:creationId xmlns:a16="http://schemas.microsoft.com/office/drawing/2014/main" id="{AA306AA5-129B-125D-1F77-AE43C7903AEE}"/>
              </a:ext>
            </a:extLst>
          </p:cNvPr>
          <p:cNvCxnSpPr/>
          <p:nvPr/>
        </p:nvCxnSpPr>
        <p:spPr>
          <a:xfrm>
            <a:off x="7747000" y="2463800"/>
            <a:ext cx="8890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A003C0C-5613-B029-D431-1CBE25680882}"/>
              </a:ext>
            </a:extLst>
          </p:cNvPr>
          <p:cNvSpPr txBox="1"/>
          <p:nvPr/>
        </p:nvSpPr>
        <p:spPr>
          <a:xfrm>
            <a:off x="7772400" y="2032000"/>
            <a:ext cx="838200" cy="261610"/>
          </a:xfrm>
          <a:prstGeom prst="rect">
            <a:avLst/>
          </a:prstGeom>
          <a:noFill/>
        </p:spPr>
        <p:txBody>
          <a:bodyPr vert="horz" wrap="square" lIns="25400" rIns="25400" rtlCol="0">
            <a:spAutoFit/>
          </a:bodyPr>
          <a:lstStyle/>
          <a:p>
            <a:pPr algn="ctr"/>
            <a:r>
              <a:rPr lang="en-US" sz="1100" b="1">
                <a:solidFill>
                  <a:srgbClr val="6ED28C"/>
                </a:solidFill>
                <a:latin typeface="Calibri" panose="020F0502020204030204" pitchFamily="34" charset="0"/>
              </a:rPr>
              <a:t>registers</a:t>
            </a:r>
          </a:p>
        </p:txBody>
      </p:sp>
      <p:sp>
        <p:nvSpPr>
          <p:cNvPr id="15" name="Rectangle: Rounded Corners 14">
            <a:extLst>
              <a:ext uri="{FF2B5EF4-FFF2-40B4-BE49-F238E27FC236}">
                <a16:creationId xmlns:a16="http://schemas.microsoft.com/office/drawing/2014/main" id="{D91CBC19-E3D5-0DBB-3A7C-767ADF8EB16A}"/>
              </a:ext>
            </a:extLst>
          </p:cNvPr>
          <p:cNvSpPr/>
          <p:nvPr/>
        </p:nvSpPr>
        <p:spPr>
          <a:xfrm>
            <a:off x="8636000" y="2108200"/>
            <a:ext cx="29845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Microsoft.HybridCompute/machines</a:t>
            </a:r>
          </a:p>
        </p:txBody>
      </p:sp>
      <p:sp>
        <p:nvSpPr>
          <p:cNvPr id="16" name="Rectangle: Rounded Corners 15">
            <a:extLst>
              <a:ext uri="{FF2B5EF4-FFF2-40B4-BE49-F238E27FC236}">
                <a16:creationId xmlns:a16="http://schemas.microsoft.com/office/drawing/2014/main" id="{4CA7C777-00C4-A71D-38D9-0A117D6B1DE8}"/>
              </a:ext>
            </a:extLst>
          </p:cNvPr>
          <p:cNvSpPr/>
          <p:nvPr/>
        </p:nvSpPr>
        <p:spPr>
          <a:xfrm>
            <a:off x="571500" y="2997200"/>
            <a:ext cx="27940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AWS EC2</a:t>
            </a:r>
          </a:p>
        </p:txBody>
      </p:sp>
      <p:cxnSp>
        <p:nvCxnSpPr>
          <p:cNvPr id="17" name="Straight Arrow Connector 16">
            <a:extLst>
              <a:ext uri="{FF2B5EF4-FFF2-40B4-BE49-F238E27FC236}">
                <a16:creationId xmlns:a16="http://schemas.microsoft.com/office/drawing/2014/main" id="{D1DD3D2E-A619-052F-966E-C5D8865BEE39}"/>
              </a:ext>
            </a:extLst>
          </p:cNvPr>
          <p:cNvCxnSpPr/>
          <p:nvPr/>
        </p:nvCxnSpPr>
        <p:spPr>
          <a:xfrm>
            <a:off x="3365500" y="3352800"/>
            <a:ext cx="10795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EE0CDED5-B33B-F0C7-2D9F-53642F54CCD4}"/>
              </a:ext>
            </a:extLst>
          </p:cNvPr>
          <p:cNvSpPr/>
          <p:nvPr/>
        </p:nvSpPr>
        <p:spPr>
          <a:xfrm>
            <a:off x="4445000" y="2997200"/>
            <a:ext cx="3302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Connector installs the agent
through AWS Systems Manager</a:t>
            </a:r>
          </a:p>
        </p:txBody>
      </p:sp>
      <p:cxnSp>
        <p:nvCxnSpPr>
          <p:cNvPr id="19" name="Straight Arrow Connector 18">
            <a:extLst>
              <a:ext uri="{FF2B5EF4-FFF2-40B4-BE49-F238E27FC236}">
                <a16:creationId xmlns:a16="http://schemas.microsoft.com/office/drawing/2014/main" id="{0C669024-3031-E10A-E806-0C0067B8CED4}"/>
              </a:ext>
            </a:extLst>
          </p:cNvPr>
          <p:cNvCxnSpPr/>
          <p:nvPr/>
        </p:nvCxnSpPr>
        <p:spPr>
          <a:xfrm>
            <a:off x="7747000" y="3352800"/>
            <a:ext cx="8890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F7FE407-72ED-CCAB-70CB-6E1DAE08AA1D}"/>
              </a:ext>
            </a:extLst>
          </p:cNvPr>
          <p:cNvSpPr txBox="1"/>
          <p:nvPr/>
        </p:nvSpPr>
        <p:spPr>
          <a:xfrm>
            <a:off x="7772400" y="2921000"/>
            <a:ext cx="838200" cy="261610"/>
          </a:xfrm>
          <a:prstGeom prst="rect">
            <a:avLst/>
          </a:prstGeom>
          <a:noFill/>
        </p:spPr>
        <p:txBody>
          <a:bodyPr vert="horz" wrap="square" lIns="25400" rIns="25400" rtlCol="0">
            <a:spAutoFit/>
          </a:bodyPr>
          <a:lstStyle/>
          <a:p>
            <a:pPr algn="ctr"/>
            <a:r>
              <a:rPr lang="en-US" sz="1100" b="1">
                <a:solidFill>
                  <a:srgbClr val="F09E5A"/>
                </a:solidFill>
                <a:latin typeface="Calibri" panose="020F0502020204030204" pitchFamily="34" charset="0"/>
              </a:rPr>
              <a:t>registers</a:t>
            </a:r>
          </a:p>
        </p:txBody>
      </p:sp>
      <p:sp>
        <p:nvSpPr>
          <p:cNvPr id="21" name="Rectangle: Rounded Corners 20">
            <a:extLst>
              <a:ext uri="{FF2B5EF4-FFF2-40B4-BE49-F238E27FC236}">
                <a16:creationId xmlns:a16="http://schemas.microsoft.com/office/drawing/2014/main" id="{A2B2256B-8514-010D-5871-B45D5FD925D1}"/>
              </a:ext>
            </a:extLst>
          </p:cNvPr>
          <p:cNvSpPr/>
          <p:nvPr/>
        </p:nvSpPr>
        <p:spPr>
          <a:xfrm>
            <a:off x="8636000" y="2997200"/>
            <a:ext cx="29845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Microsoft.HybridCompute/machines</a:t>
            </a:r>
          </a:p>
        </p:txBody>
      </p:sp>
      <p:sp>
        <p:nvSpPr>
          <p:cNvPr id="22" name="Rectangle: Rounded Corners 21">
            <a:extLst>
              <a:ext uri="{FF2B5EF4-FFF2-40B4-BE49-F238E27FC236}">
                <a16:creationId xmlns:a16="http://schemas.microsoft.com/office/drawing/2014/main" id="{95C76E47-6768-B81B-6042-376C29B662DF}"/>
              </a:ext>
            </a:extLst>
          </p:cNvPr>
          <p:cNvSpPr/>
          <p:nvPr/>
        </p:nvSpPr>
        <p:spPr>
          <a:xfrm>
            <a:off x="571500" y="3886200"/>
            <a:ext cx="27940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AWS EKS</a:t>
            </a:r>
          </a:p>
        </p:txBody>
      </p:sp>
      <p:cxnSp>
        <p:nvCxnSpPr>
          <p:cNvPr id="23" name="Straight Arrow Connector 22">
            <a:extLst>
              <a:ext uri="{FF2B5EF4-FFF2-40B4-BE49-F238E27FC236}">
                <a16:creationId xmlns:a16="http://schemas.microsoft.com/office/drawing/2014/main" id="{42EEEBF2-287D-CE67-EC1A-C7672686DE2D}"/>
              </a:ext>
            </a:extLst>
          </p:cNvPr>
          <p:cNvCxnSpPr/>
          <p:nvPr/>
        </p:nvCxnSpPr>
        <p:spPr>
          <a:xfrm>
            <a:off x="3365500" y="4241800"/>
            <a:ext cx="10795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F395A1E6-BF3E-3EA0-418C-471DF4554AEC}"/>
              </a:ext>
            </a:extLst>
          </p:cNvPr>
          <p:cNvSpPr/>
          <p:nvPr/>
        </p:nvSpPr>
        <p:spPr>
          <a:xfrm>
            <a:off x="4445000" y="3886200"/>
            <a:ext cx="3302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Connector installs the Arc
Kubernetes agents · preview</a:t>
            </a:r>
          </a:p>
        </p:txBody>
      </p:sp>
      <p:cxnSp>
        <p:nvCxnSpPr>
          <p:cNvPr id="25" name="Straight Arrow Connector 24">
            <a:extLst>
              <a:ext uri="{FF2B5EF4-FFF2-40B4-BE49-F238E27FC236}">
                <a16:creationId xmlns:a16="http://schemas.microsoft.com/office/drawing/2014/main" id="{9F6351AC-43F2-AF1F-806D-CD590392F716}"/>
              </a:ext>
            </a:extLst>
          </p:cNvPr>
          <p:cNvCxnSpPr/>
          <p:nvPr/>
        </p:nvCxnSpPr>
        <p:spPr>
          <a:xfrm>
            <a:off x="7747000" y="4241800"/>
            <a:ext cx="8890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DB2F996C-807E-0F4E-AC05-3FD2764B0291}"/>
              </a:ext>
            </a:extLst>
          </p:cNvPr>
          <p:cNvSpPr txBox="1"/>
          <p:nvPr/>
        </p:nvSpPr>
        <p:spPr>
          <a:xfrm>
            <a:off x="7772400" y="3810000"/>
            <a:ext cx="838200" cy="261610"/>
          </a:xfrm>
          <a:prstGeom prst="rect">
            <a:avLst/>
          </a:prstGeom>
          <a:noFill/>
        </p:spPr>
        <p:txBody>
          <a:bodyPr vert="horz" wrap="square" lIns="25400" rIns="25400" rtlCol="0">
            <a:spAutoFit/>
          </a:bodyPr>
          <a:lstStyle/>
          <a:p>
            <a:pPr algn="ctr"/>
            <a:r>
              <a:rPr lang="en-US" sz="1100" b="1">
                <a:solidFill>
                  <a:srgbClr val="F09E5A"/>
                </a:solidFill>
                <a:latin typeface="Calibri" panose="020F0502020204030204" pitchFamily="34" charset="0"/>
              </a:rPr>
              <a:t>registers</a:t>
            </a:r>
          </a:p>
        </p:txBody>
      </p:sp>
      <p:sp>
        <p:nvSpPr>
          <p:cNvPr id="27" name="Rectangle: Rounded Corners 26">
            <a:extLst>
              <a:ext uri="{FF2B5EF4-FFF2-40B4-BE49-F238E27FC236}">
                <a16:creationId xmlns:a16="http://schemas.microsoft.com/office/drawing/2014/main" id="{A00FF593-52B6-85C3-E9CB-8AFDBBD4DEB0}"/>
              </a:ext>
            </a:extLst>
          </p:cNvPr>
          <p:cNvSpPr/>
          <p:nvPr/>
        </p:nvSpPr>
        <p:spPr>
          <a:xfrm>
            <a:off x="8636000" y="3886200"/>
            <a:ext cx="29845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Microsoft.Kubernetes/connectedClusters</a:t>
            </a:r>
          </a:p>
        </p:txBody>
      </p:sp>
      <p:sp>
        <p:nvSpPr>
          <p:cNvPr id="28" name="Rectangle: Rounded Corners 27">
            <a:extLst>
              <a:ext uri="{FF2B5EF4-FFF2-40B4-BE49-F238E27FC236}">
                <a16:creationId xmlns:a16="http://schemas.microsoft.com/office/drawing/2014/main" id="{C2ACB817-7AD1-508F-55C9-4CE98751DA1E}"/>
              </a:ext>
            </a:extLst>
          </p:cNvPr>
          <p:cNvSpPr/>
          <p:nvPr/>
        </p:nvSpPr>
        <p:spPr>
          <a:xfrm>
            <a:off x="571500" y="4775200"/>
            <a:ext cx="2794000" cy="7112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GCP VM · preview</a:t>
            </a:r>
          </a:p>
        </p:txBody>
      </p:sp>
      <p:cxnSp>
        <p:nvCxnSpPr>
          <p:cNvPr id="29" name="Straight Arrow Connector 28">
            <a:extLst>
              <a:ext uri="{FF2B5EF4-FFF2-40B4-BE49-F238E27FC236}">
                <a16:creationId xmlns:a16="http://schemas.microsoft.com/office/drawing/2014/main" id="{823948C9-A17A-D796-03C5-17E7B67AB576}"/>
              </a:ext>
            </a:extLst>
          </p:cNvPr>
          <p:cNvCxnSpPr/>
          <p:nvPr/>
        </p:nvCxnSpPr>
        <p:spPr>
          <a:xfrm>
            <a:off x="3365500" y="5130800"/>
            <a:ext cx="1079500" cy="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B9F081DD-1F8D-B8CC-4C9D-00FEB0250041}"/>
              </a:ext>
            </a:extLst>
          </p:cNvPr>
          <p:cNvSpPr/>
          <p:nvPr/>
        </p:nvSpPr>
        <p:spPr>
          <a:xfrm>
            <a:off x="4445000" y="4775200"/>
            <a:ext cx="3302000" cy="711200"/>
          </a:xfrm>
          <a:prstGeom prst="roundRect">
            <a:avLst/>
          </a:prstGeom>
          <a:solidFill>
            <a:srgbClr val="1B2434"/>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Connector installs the agent
through GCP OS Config</a:t>
            </a:r>
          </a:p>
        </p:txBody>
      </p:sp>
      <p:cxnSp>
        <p:nvCxnSpPr>
          <p:cNvPr id="31" name="Straight Arrow Connector 30">
            <a:extLst>
              <a:ext uri="{FF2B5EF4-FFF2-40B4-BE49-F238E27FC236}">
                <a16:creationId xmlns:a16="http://schemas.microsoft.com/office/drawing/2014/main" id="{60FF681C-6D6C-E057-5F7B-BC2335F8D550}"/>
              </a:ext>
            </a:extLst>
          </p:cNvPr>
          <p:cNvCxnSpPr/>
          <p:nvPr/>
        </p:nvCxnSpPr>
        <p:spPr>
          <a:xfrm>
            <a:off x="7747000" y="5130800"/>
            <a:ext cx="889000" cy="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93086803-A050-F65E-C452-F11A239D0818}"/>
              </a:ext>
            </a:extLst>
          </p:cNvPr>
          <p:cNvSpPr txBox="1"/>
          <p:nvPr/>
        </p:nvSpPr>
        <p:spPr>
          <a:xfrm>
            <a:off x="7772400" y="4699000"/>
            <a:ext cx="838200" cy="261610"/>
          </a:xfrm>
          <a:prstGeom prst="rect">
            <a:avLst/>
          </a:prstGeom>
          <a:noFill/>
        </p:spPr>
        <p:txBody>
          <a:bodyPr vert="horz" wrap="square" lIns="25400" rIns="25400" rtlCol="0">
            <a:spAutoFit/>
          </a:bodyPr>
          <a:lstStyle/>
          <a:p>
            <a:pPr algn="ctr"/>
            <a:r>
              <a:rPr lang="en-US" sz="1100" b="1">
                <a:solidFill>
                  <a:srgbClr val="BE96F0"/>
                </a:solidFill>
                <a:latin typeface="Calibri" panose="020F0502020204030204" pitchFamily="34" charset="0"/>
              </a:rPr>
              <a:t>registers</a:t>
            </a:r>
          </a:p>
        </p:txBody>
      </p:sp>
      <p:sp>
        <p:nvSpPr>
          <p:cNvPr id="33" name="Rectangle: Rounded Corners 32">
            <a:extLst>
              <a:ext uri="{FF2B5EF4-FFF2-40B4-BE49-F238E27FC236}">
                <a16:creationId xmlns:a16="http://schemas.microsoft.com/office/drawing/2014/main" id="{8004DCDD-602A-CCC9-65E9-A2EF7C0BF426}"/>
              </a:ext>
            </a:extLst>
          </p:cNvPr>
          <p:cNvSpPr/>
          <p:nvPr/>
        </p:nvSpPr>
        <p:spPr>
          <a:xfrm>
            <a:off x="8636000" y="4775200"/>
            <a:ext cx="2984500" cy="7112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Microsoft.HybridCompute/machines</a:t>
            </a:r>
          </a:p>
        </p:txBody>
      </p:sp>
      <p:sp>
        <p:nvSpPr>
          <p:cNvPr id="34" name="Rectangle: Rounded Corners 33">
            <a:extLst>
              <a:ext uri="{FF2B5EF4-FFF2-40B4-BE49-F238E27FC236}">
                <a16:creationId xmlns:a16="http://schemas.microsoft.com/office/drawing/2014/main" id="{21130F0B-D22D-1B19-F964-315E4C7C1426}"/>
              </a:ext>
            </a:extLst>
          </p:cNvPr>
          <p:cNvSpPr/>
          <p:nvPr/>
        </p:nvSpPr>
        <p:spPr>
          <a:xfrm>
            <a:off x="1143000" y="5740400"/>
            <a:ext cx="9906000" cy="609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The connector's Inventory solution alone adds read-only records of AWS and GCP resources. Only onboarding adds an Arc resource you can manage.</a:t>
            </a:r>
          </a:p>
        </p:txBody>
      </p:sp>
    </p:spTree>
    <p:extLst>
      <p:ext uri="{BB962C8B-B14F-4D97-AF65-F5344CB8AC3E}">
        <p14:creationId xmlns:p14="http://schemas.microsoft.com/office/powerpoint/2010/main" val="1979997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8982E0-5A4D-83BE-3AAF-9A53662049BB}"/>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15E7BA3-A7D4-1AA9-CE3D-BEA77A304DDD}"/>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95B927F-432A-63AB-EE0C-E46E66F478E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From managing to operating</a:t>
            </a:r>
          </a:p>
        </p:txBody>
      </p:sp>
      <p:sp>
        <p:nvSpPr>
          <p:cNvPr id="5" name="Rectangle 4">
            <a:extLst>
              <a:ext uri="{FF2B5EF4-FFF2-40B4-BE49-F238E27FC236}">
                <a16:creationId xmlns:a16="http://schemas.microsoft.com/office/drawing/2014/main" id="{AA0B50A3-EA27-3DFB-83A1-D08C15D16959}"/>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94B617E-31B0-F9A3-0E46-88CF1312D2D0}"/>
              </a:ext>
            </a:extLst>
          </p:cNvPr>
          <p:cNvSpPr/>
          <p:nvPr/>
        </p:nvSpPr>
        <p:spPr>
          <a:xfrm>
            <a:off x="609600" y="1828800"/>
            <a:ext cx="4953000" cy="27940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7" name="TextBox 6">
            <a:extLst>
              <a:ext uri="{FF2B5EF4-FFF2-40B4-BE49-F238E27FC236}">
                <a16:creationId xmlns:a16="http://schemas.microsoft.com/office/drawing/2014/main" id="{9E0A5D35-E4DC-DA87-9BD0-39A6E69F9075}"/>
              </a:ext>
            </a:extLst>
          </p:cNvPr>
          <p:cNvSpPr txBox="1"/>
          <p:nvPr/>
        </p:nvSpPr>
        <p:spPr>
          <a:xfrm>
            <a:off x="889000" y="2032000"/>
            <a:ext cx="4445000" cy="307777"/>
          </a:xfrm>
          <a:prstGeom prst="rect">
            <a:avLst/>
          </a:prstGeom>
          <a:noFill/>
        </p:spPr>
        <p:txBody>
          <a:bodyPr vert="horz" wrap="square" lIns="25400" rIns="25400" rtlCol="0">
            <a:spAutoFit/>
          </a:bodyPr>
          <a:lstStyle/>
          <a:p>
            <a:r>
              <a:rPr lang="en-US" sz="1400" b="1">
                <a:solidFill>
                  <a:srgbClr val="6ED28C"/>
                </a:solidFill>
                <a:latin typeface="Calibri" panose="020F0502020204030204" pitchFamily="34" charset="0"/>
              </a:rPr>
              <a:t>SO FAR: MANAGE IT</a:t>
            </a:r>
          </a:p>
        </p:txBody>
      </p:sp>
      <p:sp>
        <p:nvSpPr>
          <p:cNvPr id="8" name="TextBox 7">
            <a:extLst>
              <a:ext uri="{FF2B5EF4-FFF2-40B4-BE49-F238E27FC236}">
                <a16:creationId xmlns:a16="http://schemas.microsoft.com/office/drawing/2014/main" id="{521111A1-1F18-DC35-4646-041D7851C93B}"/>
              </a:ext>
            </a:extLst>
          </p:cNvPr>
          <p:cNvSpPr txBox="1"/>
          <p:nvPr/>
        </p:nvSpPr>
        <p:spPr>
          <a:xfrm>
            <a:off x="889000" y="2489200"/>
            <a:ext cx="4445000" cy="923330"/>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Everything is connected to Azure: our servers, SCVMM VMs, AWS servers and the EKS cluster. We can see it and manage it in one place.</a:t>
            </a:r>
          </a:p>
        </p:txBody>
      </p:sp>
      <p:cxnSp>
        <p:nvCxnSpPr>
          <p:cNvPr id="9" name="Straight Arrow Connector 8">
            <a:extLst>
              <a:ext uri="{FF2B5EF4-FFF2-40B4-BE49-F238E27FC236}">
                <a16:creationId xmlns:a16="http://schemas.microsoft.com/office/drawing/2014/main" id="{3259218B-8EA7-93C5-8BBA-AA11B58AF8B9}"/>
              </a:ext>
            </a:extLst>
          </p:cNvPr>
          <p:cNvCxnSpPr/>
          <p:nvPr/>
        </p:nvCxnSpPr>
        <p:spPr>
          <a:xfrm>
            <a:off x="5562600" y="3225800"/>
            <a:ext cx="1066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A379B5BE-CC04-2993-3A55-B226BA60E1B5}"/>
              </a:ext>
            </a:extLst>
          </p:cNvPr>
          <p:cNvSpPr/>
          <p:nvPr/>
        </p:nvSpPr>
        <p:spPr>
          <a:xfrm>
            <a:off x="6629400" y="1828800"/>
            <a:ext cx="4953000" cy="27940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1" name="TextBox 10">
            <a:extLst>
              <a:ext uri="{FF2B5EF4-FFF2-40B4-BE49-F238E27FC236}">
                <a16:creationId xmlns:a16="http://schemas.microsoft.com/office/drawing/2014/main" id="{D7828C13-9A37-418D-50D3-86819F13B9C2}"/>
              </a:ext>
            </a:extLst>
          </p:cNvPr>
          <p:cNvSpPr txBox="1"/>
          <p:nvPr/>
        </p:nvSpPr>
        <p:spPr>
          <a:xfrm>
            <a:off x="6908800" y="2032000"/>
            <a:ext cx="44450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NEXT: OPERATE IT</a:t>
            </a:r>
          </a:p>
        </p:txBody>
      </p:sp>
      <p:sp>
        <p:nvSpPr>
          <p:cNvPr id="12" name="TextBox 11">
            <a:extLst>
              <a:ext uri="{FF2B5EF4-FFF2-40B4-BE49-F238E27FC236}">
                <a16:creationId xmlns:a16="http://schemas.microsoft.com/office/drawing/2014/main" id="{DABF46B3-D59C-DF67-F739-9786CC946A4D}"/>
              </a:ext>
            </a:extLst>
          </p:cNvPr>
          <p:cNvSpPr txBox="1"/>
          <p:nvPr/>
        </p:nvSpPr>
        <p:spPr>
          <a:xfrm>
            <a:off x="6908800" y="2489200"/>
            <a:ext cx="4445000" cy="923330"/>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Now we run the service on top of it: keep it working, protected, governed, affordable, and getting better.</a:t>
            </a:r>
          </a:p>
        </p:txBody>
      </p:sp>
      <p:sp>
        <p:nvSpPr>
          <p:cNvPr id="13" name="Rectangle: Rounded Corners 12">
            <a:extLst>
              <a:ext uri="{FF2B5EF4-FFF2-40B4-BE49-F238E27FC236}">
                <a16:creationId xmlns:a16="http://schemas.microsoft.com/office/drawing/2014/main" id="{ADAA1D3C-0AFB-A2F9-5322-CED6903D8C0F}"/>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4" name="Rectangle: Rounded Corners 13">
            <a:extLst>
              <a:ext uri="{FF2B5EF4-FFF2-40B4-BE49-F238E27FC236}">
                <a16:creationId xmlns:a16="http://schemas.microsoft.com/office/drawing/2014/main" id="{DD7464C1-EAC6-24BF-BE36-7C3A580E5C1F}"/>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5" name="Rectangle: Rounded Corners 14">
            <a:extLst>
              <a:ext uri="{FF2B5EF4-FFF2-40B4-BE49-F238E27FC236}">
                <a16:creationId xmlns:a16="http://schemas.microsoft.com/office/drawing/2014/main" id="{054B3DDE-6E86-F2A0-F3FA-9CEAF83F9E44}"/>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6" name="Rectangle: Rounded Corners 15">
            <a:extLst>
              <a:ext uri="{FF2B5EF4-FFF2-40B4-BE49-F238E27FC236}">
                <a16:creationId xmlns:a16="http://schemas.microsoft.com/office/drawing/2014/main" id="{64537925-BFFE-2B8B-9804-3C0573D8F5ED}"/>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7" name="Rectangle: Rounded Corners 16">
            <a:extLst>
              <a:ext uri="{FF2B5EF4-FFF2-40B4-BE49-F238E27FC236}">
                <a16:creationId xmlns:a16="http://schemas.microsoft.com/office/drawing/2014/main" id="{039B2C1C-1FE9-ACB1-8AB3-AEBFC1D46A52}"/>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
        <p:nvSpPr>
          <p:cNvPr id="18" name="Rectangle 17">
            <a:extLst>
              <a:ext uri="{FF2B5EF4-FFF2-40B4-BE49-F238E27FC236}">
                <a16:creationId xmlns:a16="http://schemas.microsoft.com/office/drawing/2014/main" id="{17D44B35-C2E0-C553-994D-BF6B5A556EF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E1AF32E-AA7B-145D-4E26-5E15FB0456AA}"/>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Managing the estate is not the same as running the service.</a:t>
            </a:r>
          </a:p>
        </p:txBody>
      </p:sp>
    </p:spTree>
    <p:extLst>
      <p:ext uri="{BB962C8B-B14F-4D97-AF65-F5344CB8AC3E}">
        <p14:creationId xmlns:p14="http://schemas.microsoft.com/office/powerpoint/2010/main" val="3819331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268CE0-67E4-A97C-7A66-792BB74DEF0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3A4E22C-E635-AEDF-6450-AEBC97329269}"/>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AD7BF43-B6D9-FF34-FE6B-536CA749863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Meet the service: IIC Hybrid Orders</a:t>
            </a:r>
          </a:p>
        </p:txBody>
      </p:sp>
      <p:sp>
        <p:nvSpPr>
          <p:cNvPr id="5" name="Rectangle 4">
            <a:extLst>
              <a:ext uri="{FF2B5EF4-FFF2-40B4-BE49-F238E27FC236}">
                <a16:creationId xmlns:a16="http://schemas.microsoft.com/office/drawing/2014/main" id="{F6C9A241-F3E1-2534-9617-A3522EADCF19}"/>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23C2157-ACF1-AB99-3A30-818D685418B4}"/>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Infinite Improbability Corp (IIC) is a made-up company. Its order service is real: it runs in our lab across all three estates.</a:t>
            </a:r>
          </a:p>
        </p:txBody>
      </p:sp>
      <p:sp>
        <p:nvSpPr>
          <p:cNvPr id="7" name="Rectangle: Rounded Corners 6">
            <a:extLst>
              <a:ext uri="{FF2B5EF4-FFF2-40B4-BE49-F238E27FC236}">
                <a16:creationId xmlns:a16="http://schemas.microsoft.com/office/drawing/2014/main" id="{8BCE8FBE-BEB2-8BF8-6779-28E01465323D}"/>
              </a:ext>
            </a:extLst>
          </p:cNvPr>
          <p:cNvSpPr/>
          <p:nvPr/>
        </p:nvSpPr>
        <p:spPr>
          <a:xfrm>
            <a:off x="609600" y="1778000"/>
            <a:ext cx="10972800" cy="8128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WHAT IT DOES: a customer places an order in a web portal. The order is checked against a private system on-premises, fulfilled and priced in AWS, and counts as done only when both answer.</a:t>
            </a:r>
          </a:p>
        </p:txBody>
      </p:sp>
      <p:sp>
        <p:nvSpPr>
          <p:cNvPr id="8" name="Rectangle: Rounded Corners 7">
            <a:extLst>
              <a:ext uri="{FF2B5EF4-FFF2-40B4-BE49-F238E27FC236}">
                <a16:creationId xmlns:a16="http://schemas.microsoft.com/office/drawing/2014/main" id="{0952732F-39B0-673E-72C2-C7A6CEC28070}"/>
              </a:ext>
            </a:extLst>
          </p:cNvPr>
          <p:cNvSpPr/>
          <p:nvPr/>
        </p:nvSpPr>
        <p:spPr>
          <a:xfrm>
            <a:off x="609600" y="2819400"/>
            <a:ext cx="3454400" cy="2717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9" name="TextBox 8">
            <a:extLst>
              <a:ext uri="{FF2B5EF4-FFF2-40B4-BE49-F238E27FC236}">
                <a16:creationId xmlns:a16="http://schemas.microsoft.com/office/drawing/2014/main" id="{913DF4DF-2E5A-CB33-4292-48CF5DE2F03B}"/>
              </a:ext>
            </a:extLst>
          </p:cNvPr>
          <p:cNvSpPr txBox="1"/>
          <p:nvPr/>
        </p:nvSpPr>
        <p:spPr>
          <a:xfrm>
            <a:off x="838200" y="2946400"/>
            <a:ext cx="2997200" cy="292388"/>
          </a:xfrm>
          <a:prstGeom prst="rect">
            <a:avLst/>
          </a:prstGeom>
          <a:noFill/>
        </p:spPr>
        <p:txBody>
          <a:bodyPr vert="horz" wrap="square" lIns="25400" rIns="25400" rtlCol="0">
            <a:spAutoFit/>
          </a:bodyPr>
          <a:lstStyle/>
          <a:p>
            <a:r>
              <a:rPr lang="en-US" sz="1300" b="1">
                <a:solidFill>
                  <a:srgbClr val="6EA8F0"/>
                </a:solidFill>
                <a:latin typeface="Calibri" panose="020F0502020204030204" pitchFamily="34" charset="0"/>
              </a:rPr>
              <a:t>AZURE</a:t>
            </a:r>
          </a:p>
        </p:txBody>
      </p:sp>
      <p:sp>
        <p:nvSpPr>
          <p:cNvPr id="10" name="TextBox 9">
            <a:extLst>
              <a:ext uri="{FF2B5EF4-FFF2-40B4-BE49-F238E27FC236}">
                <a16:creationId xmlns:a16="http://schemas.microsoft.com/office/drawing/2014/main" id="{79121C00-7110-5E69-858B-E866E8BC74BC}"/>
              </a:ext>
            </a:extLst>
          </p:cNvPr>
          <p:cNvSpPr txBox="1"/>
          <p:nvPr/>
        </p:nvSpPr>
        <p:spPr>
          <a:xfrm>
            <a:off x="838200" y="3327400"/>
            <a:ext cx="3048000" cy="1169551"/>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  Front Door: the one public entry
•  The portal (Container Apps)
•  The coordinator (Functions) + Service Bus queues
•  Application Insights + Log Analytics</a:t>
            </a:r>
          </a:p>
        </p:txBody>
      </p:sp>
      <p:sp>
        <p:nvSpPr>
          <p:cNvPr id="11" name="Rectangle: Rounded Corners 10">
            <a:extLst>
              <a:ext uri="{FF2B5EF4-FFF2-40B4-BE49-F238E27FC236}">
                <a16:creationId xmlns:a16="http://schemas.microsoft.com/office/drawing/2014/main" id="{C3FEFAE6-5E23-D129-BF17-0D184CD8906F}"/>
              </a:ext>
            </a:extLst>
          </p:cNvPr>
          <p:cNvSpPr/>
          <p:nvPr/>
        </p:nvSpPr>
        <p:spPr>
          <a:xfrm>
            <a:off x="4368800" y="2819400"/>
            <a:ext cx="3454400" cy="2717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2" name="TextBox 11">
            <a:extLst>
              <a:ext uri="{FF2B5EF4-FFF2-40B4-BE49-F238E27FC236}">
                <a16:creationId xmlns:a16="http://schemas.microsoft.com/office/drawing/2014/main" id="{A5060FE7-6E7E-AE82-BBF7-6470511BC379}"/>
              </a:ext>
            </a:extLst>
          </p:cNvPr>
          <p:cNvSpPr txBox="1"/>
          <p:nvPr/>
        </p:nvSpPr>
        <p:spPr>
          <a:xfrm>
            <a:off x="4597400" y="2946400"/>
            <a:ext cx="2997200" cy="292388"/>
          </a:xfrm>
          <a:prstGeom prst="rect">
            <a:avLst/>
          </a:prstGeom>
          <a:noFill/>
        </p:spPr>
        <p:txBody>
          <a:bodyPr vert="horz" wrap="square" lIns="25400" rIns="25400" rtlCol="0">
            <a:spAutoFit/>
          </a:bodyPr>
          <a:lstStyle/>
          <a:p>
            <a:r>
              <a:rPr lang="en-US" sz="1300" b="1">
                <a:solidFill>
                  <a:srgbClr val="6ED28C"/>
                </a:solidFill>
                <a:latin typeface="Calibri" panose="020F0502020204030204" pitchFamily="34" charset="0"/>
              </a:rPr>
              <a:t>ON-PREMISES · SCVMM</a:t>
            </a:r>
          </a:p>
        </p:txBody>
      </p:sp>
      <p:sp>
        <p:nvSpPr>
          <p:cNvPr id="13" name="TextBox 12">
            <a:extLst>
              <a:ext uri="{FF2B5EF4-FFF2-40B4-BE49-F238E27FC236}">
                <a16:creationId xmlns:a16="http://schemas.microsoft.com/office/drawing/2014/main" id="{C6D8F2C1-AFE7-471A-B8C9-F235CDE3188B}"/>
              </a:ext>
            </a:extLst>
          </p:cNvPr>
          <p:cNvSpPr txBox="1"/>
          <p:nvPr/>
        </p:nvSpPr>
        <p:spPr>
          <a:xfrm>
            <a:off x="4597400" y="3327400"/>
            <a:ext cx="3048000" cy="95410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  The validation worker, cas26-lnx01
•  Checks each order against the private enterprise system
•  Runs on the hvcl-ral-t1 cluster</a:t>
            </a:r>
          </a:p>
        </p:txBody>
      </p:sp>
      <p:sp>
        <p:nvSpPr>
          <p:cNvPr id="14" name="Rectangle: Rounded Corners 13">
            <a:extLst>
              <a:ext uri="{FF2B5EF4-FFF2-40B4-BE49-F238E27FC236}">
                <a16:creationId xmlns:a16="http://schemas.microsoft.com/office/drawing/2014/main" id="{5D1DC1A5-BE53-6DD8-2F73-4A51FA9D0A80}"/>
              </a:ext>
            </a:extLst>
          </p:cNvPr>
          <p:cNvSpPr/>
          <p:nvPr/>
        </p:nvSpPr>
        <p:spPr>
          <a:xfrm>
            <a:off x="8128000" y="2819400"/>
            <a:ext cx="3454400" cy="2717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5" name="TextBox 14">
            <a:extLst>
              <a:ext uri="{FF2B5EF4-FFF2-40B4-BE49-F238E27FC236}">
                <a16:creationId xmlns:a16="http://schemas.microsoft.com/office/drawing/2014/main" id="{2851545A-F93A-22C3-BF2B-D49AFABB4198}"/>
              </a:ext>
            </a:extLst>
          </p:cNvPr>
          <p:cNvSpPr txBox="1"/>
          <p:nvPr/>
        </p:nvSpPr>
        <p:spPr>
          <a:xfrm>
            <a:off x="8356600" y="2946400"/>
            <a:ext cx="2997200" cy="292388"/>
          </a:xfrm>
          <a:prstGeom prst="rect">
            <a:avLst/>
          </a:prstGeom>
          <a:noFill/>
        </p:spPr>
        <p:txBody>
          <a:bodyPr vert="horz" wrap="square" lIns="25400" rIns="25400" rtlCol="0">
            <a:spAutoFit/>
          </a:bodyPr>
          <a:lstStyle/>
          <a:p>
            <a:r>
              <a:rPr lang="en-US" sz="1300" b="1">
                <a:solidFill>
                  <a:srgbClr val="F09E5A"/>
                </a:solidFill>
                <a:latin typeface="Calibri" panose="020F0502020204030204" pitchFamily="34" charset="0"/>
              </a:rPr>
              <a:t>AWS</a:t>
            </a:r>
          </a:p>
        </p:txBody>
      </p:sp>
      <p:sp>
        <p:nvSpPr>
          <p:cNvPr id="16" name="TextBox 15">
            <a:extLst>
              <a:ext uri="{FF2B5EF4-FFF2-40B4-BE49-F238E27FC236}">
                <a16:creationId xmlns:a16="http://schemas.microsoft.com/office/drawing/2014/main" id="{371A29BF-0360-9DD6-A5E4-3501D5EB8CE9}"/>
              </a:ext>
            </a:extLst>
          </p:cNvPr>
          <p:cNvSpPr txBox="1"/>
          <p:nvPr/>
        </p:nvSpPr>
        <p:spPr>
          <a:xfrm>
            <a:off x="8356600" y="3327400"/>
            <a:ext cx="30480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  A second copy of the portal (EKS)
•  The fulfillment + pricing worker (EC2)</a:t>
            </a:r>
          </a:p>
        </p:txBody>
      </p:sp>
      <p:sp>
        <p:nvSpPr>
          <p:cNvPr id="17" name="Rectangle 16">
            <a:extLst>
              <a:ext uri="{FF2B5EF4-FFF2-40B4-BE49-F238E27FC236}">
                <a16:creationId xmlns:a16="http://schemas.microsoft.com/office/drawing/2014/main" id="{F518AADE-7832-2A54-4E46-963AA76FC641}"/>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BC5BBFC-799B-0082-9B9D-F4F5CBDD13C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From here on, every section asks its question about this service.</a:t>
            </a:r>
          </a:p>
        </p:txBody>
      </p:sp>
    </p:spTree>
    <p:extLst>
      <p:ext uri="{BB962C8B-B14F-4D97-AF65-F5344CB8AC3E}">
        <p14:creationId xmlns:p14="http://schemas.microsoft.com/office/powerpoint/2010/main" val="1489174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A15349-E893-F19F-D042-3D95BC1B849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6BB73A4-607D-D85E-DF3D-99341C49CBD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B8C2F51-F2D2-71D7-C88F-E17792F2066F}"/>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Arc made the estate manageable. Now operate the service.</a:t>
            </a:r>
          </a:p>
        </p:txBody>
      </p:sp>
      <p:sp>
        <p:nvSpPr>
          <p:cNvPr id="5" name="Rectangle 4">
            <a:extLst>
              <a:ext uri="{FF2B5EF4-FFF2-40B4-BE49-F238E27FC236}">
                <a16:creationId xmlns:a16="http://schemas.microsoft.com/office/drawing/2014/main" id="{E723B6C8-FCAB-A37E-BA2F-88EA65A4E970}"/>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64E78CA-8230-1F75-7934-5E4670C842D5}"/>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Being Arc-enabled proves management representation—not customer success.</a:t>
            </a:r>
          </a:p>
        </p:txBody>
      </p:sp>
      <p:sp>
        <p:nvSpPr>
          <p:cNvPr id="7" name="Rectangle: Rounded Corners 6">
            <a:extLst>
              <a:ext uri="{FF2B5EF4-FFF2-40B4-BE49-F238E27FC236}">
                <a16:creationId xmlns:a16="http://schemas.microsoft.com/office/drawing/2014/main" id="{6669BE55-B939-EA00-F006-72A6FDFB8693}"/>
              </a:ext>
            </a:extLst>
          </p:cNvPr>
          <p:cNvSpPr/>
          <p:nvPr/>
        </p:nvSpPr>
        <p:spPr>
          <a:xfrm>
            <a:off x="2032000" y="1676400"/>
            <a:ext cx="8128000" cy="711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MANAGED ESTATE
Azure resources · Arc-enabled on-prem/edge servers · Arc-enabled AWS EC2/EKS</a:t>
            </a:r>
          </a:p>
        </p:txBody>
      </p:sp>
      <p:sp>
        <p:nvSpPr>
          <p:cNvPr id="8" name="Rectangle: Rounded Corners 7">
            <a:extLst>
              <a:ext uri="{FF2B5EF4-FFF2-40B4-BE49-F238E27FC236}">
                <a16:creationId xmlns:a16="http://schemas.microsoft.com/office/drawing/2014/main" id="{2F62CF18-70BE-E299-BBD5-ED0CE91C23CD}"/>
              </a:ext>
            </a:extLst>
          </p:cNvPr>
          <p:cNvSpPr/>
          <p:nvPr/>
        </p:nvSpPr>
        <p:spPr>
          <a:xfrm>
            <a:off x="355600" y="2692400"/>
            <a:ext cx="11480800" cy="1803400"/>
          </a:xfrm>
          <a:prstGeom prst="roundRect">
            <a:avLst>
              <a:gd name="adj" fmla="val 9859"/>
            </a:avLst>
          </a:prstGeom>
          <a:noFill/>
          <a:ln w="19050" cap="flat" cmpd="sng" algn="ctr">
            <a:solidFill>
              <a:srgbClr val="56D6E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23F1C42-53BC-69E1-2359-A9C51E5D4947}"/>
              </a:ext>
            </a:extLst>
          </p:cNvPr>
          <p:cNvSpPr txBox="1"/>
          <p:nvPr/>
        </p:nvSpPr>
        <p:spPr>
          <a:xfrm>
            <a:off x="533400" y="2768600"/>
            <a:ext cx="111252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ONE IIC ORDER</a:t>
            </a:r>
          </a:p>
        </p:txBody>
      </p:sp>
      <p:cxnSp>
        <p:nvCxnSpPr>
          <p:cNvPr id="10" name="Straight Arrow Connector 9">
            <a:extLst>
              <a:ext uri="{FF2B5EF4-FFF2-40B4-BE49-F238E27FC236}">
                <a16:creationId xmlns:a16="http://schemas.microsoft.com/office/drawing/2014/main" id="{9ADD83F1-1759-97E8-60A1-72F856470CB8}"/>
              </a:ext>
            </a:extLst>
          </p:cNvPr>
          <p:cNvCxnSpPr/>
          <p:nvPr/>
        </p:nvCxnSpPr>
        <p:spPr>
          <a:xfrm>
            <a:off x="6096000" y="2387600"/>
            <a:ext cx="0" cy="304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357269B-3119-9AD4-08D1-794268B04C03}"/>
              </a:ext>
            </a:extLst>
          </p:cNvPr>
          <p:cNvSpPr txBox="1"/>
          <p:nvPr/>
        </p:nvSpPr>
        <p:spPr>
          <a:xfrm>
            <a:off x="6223000" y="2413000"/>
            <a:ext cx="21590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hosts the parts of</a:t>
            </a:r>
          </a:p>
        </p:txBody>
      </p:sp>
      <p:sp>
        <p:nvSpPr>
          <p:cNvPr id="12" name="Rectangle: Rounded Corners 11">
            <a:extLst>
              <a:ext uri="{FF2B5EF4-FFF2-40B4-BE49-F238E27FC236}">
                <a16:creationId xmlns:a16="http://schemas.microsoft.com/office/drawing/2014/main" id="{31BAEC45-B9D6-D1E8-735A-1E0C7C6B366F}"/>
              </a:ext>
            </a:extLst>
          </p:cNvPr>
          <p:cNvSpPr/>
          <p:nvPr/>
        </p:nvSpPr>
        <p:spPr>
          <a:xfrm>
            <a:off x="508000" y="3022600"/>
            <a:ext cx="2159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Customer orders
Front Door → portal
in Azure or AWS</a:t>
            </a:r>
          </a:p>
        </p:txBody>
      </p:sp>
      <p:sp>
        <p:nvSpPr>
          <p:cNvPr id="13" name="Rectangle: Rounded Corners 12">
            <a:extLst>
              <a:ext uri="{FF2B5EF4-FFF2-40B4-BE49-F238E27FC236}">
                <a16:creationId xmlns:a16="http://schemas.microsoft.com/office/drawing/2014/main" id="{5BAD9F4A-5E1B-10F1-CFF6-6A3469064979}"/>
              </a:ext>
            </a:extLst>
          </p:cNvPr>
          <p:cNvSpPr/>
          <p:nvPr/>
        </p:nvSpPr>
        <p:spPr>
          <a:xfrm>
            <a:off x="3327400" y="3022600"/>
            <a:ext cx="2286000" cy="10414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Azure coordinator
correlation ID, queues
both jobs on Service Bus</a:t>
            </a:r>
          </a:p>
        </p:txBody>
      </p:sp>
      <p:sp>
        <p:nvSpPr>
          <p:cNvPr id="14" name="Rectangle: Rounded Corners 13">
            <a:extLst>
              <a:ext uri="{FF2B5EF4-FFF2-40B4-BE49-F238E27FC236}">
                <a16:creationId xmlns:a16="http://schemas.microsoft.com/office/drawing/2014/main" id="{1A6D5486-603E-9199-AD2C-580C01720104}"/>
              </a:ext>
            </a:extLst>
          </p:cNvPr>
          <p:cNvSpPr/>
          <p:nvPr/>
        </p:nvSpPr>
        <p:spPr>
          <a:xfrm>
            <a:off x="6350000" y="2819400"/>
            <a:ext cx="2159000" cy="6350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On-premises worker
pulls it, validates</a:t>
            </a:r>
          </a:p>
        </p:txBody>
      </p:sp>
      <p:sp>
        <p:nvSpPr>
          <p:cNvPr id="15" name="Rectangle: Rounded Corners 14">
            <a:extLst>
              <a:ext uri="{FF2B5EF4-FFF2-40B4-BE49-F238E27FC236}">
                <a16:creationId xmlns:a16="http://schemas.microsoft.com/office/drawing/2014/main" id="{FB4D3EA7-A804-215E-136C-5BE78EA287B9}"/>
              </a:ext>
            </a:extLst>
          </p:cNvPr>
          <p:cNvSpPr/>
          <p:nvPr/>
        </p:nvSpPr>
        <p:spPr>
          <a:xfrm>
            <a:off x="6350000" y="3708400"/>
            <a:ext cx="2159000" cy="6350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AWS worker
pulls it, fulfills + prices</a:t>
            </a:r>
          </a:p>
        </p:txBody>
      </p:sp>
      <p:sp>
        <p:nvSpPr>
          <p:cNvPr id="16" name="Rectangle: Rounded Corners 15">
            <a:extLst>
              <a:ext uri="{FF2B5EF4-FFF2-40B4-BE49-F238E27FC236}">
                <a16:creationId xmlns:a16="http://schemas.microsoft.com/office/drawing/2014/main" id="{FC4E1B87-EC04-B123-2CAF-8370ED16407F}"/>
              </a:ext>
            </a:extLst>
          </p:cNvPr>
          <p:cNvSpPr/>
          <p:nvPr/>
        </p:nvSpPr>
        <p:spPr>
          <a:xfrm>
            <a:off x="9271000" y="2997200"/>
            <a:ext cx="2413000" cy="1092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ORDER COMPLETE
both results back · one ID
within the time target</a:t>
            </a:r>
          </a:p>
        </p:txBody>
      </p:sp>
      <p:cxnSp>
        <p:nvCxnSpPr>
          <p:cNvPr id="17" name="Straight Arrow Connector 16">
            <a:extLst>
              <a:ext uri="{FF2B5EF4-FFF2-40B4-BE49-F238E27FC236}">
                <a16:creationId xmlns:a16="http://schemas.microsoft.com/office/drawing/2014/main" id="{EC002524-7048-F120-244F-76CA5AA41EF8}"/>
              </a:ext>
            </a:extLst>
          </p:cNvPr>
          <p:cNvCxnSpPr/>
          <p:nvPr/>
        </p:nvCxnSpPr>
        <p:spPr>
          <a:xfrm>
            <a:off x="2667000" y="3543300"/>
            <a:ext cx="660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12AE143-BA75-7CE2-7C2B-BD6790311C21}"/>
              </a:ext>
            </a:extLst>
          </p:cNvPr>
          <p:cNvCxnSpPr/>
          <p:nvPr/>
        </p:nvCxnSpPr>
        <p:spPr>
          <a:xfrm flipV="1">
            <a:off x="5613400" y="3136900"/>
            <a:ext cx="736600" cy="3175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56E7DCC-E1D9-5DC4-0E6A-7F8D71E4F25F}"/>
              </a:ext>
            </a:extLst>
          </p:cNvPr>
          <p:cNvCxnSpPr/>
          <p:nvPr/>
        </p:nvCxnSpPr>
        <p:spPr>
          <a:xfrm>
            <a:off x="5613400" y="3632200"/>
            <a:ext cx="736600" cy="3937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DEA2BF4-9006-949A-320F-3BD88FF73442}"/>
              </a:ext>
            </a:extLst>
          </p:cNvPr>
          <p:cNvCxnSpPr/>
          <p:nvPr/>
        </p:nvCxnSpPr>
        <p:spPr>
          <a:xfrm>
            <a:off x="8509000" y="3136900"/>
            <a:ext cx="762000" cy="2667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3965551-5291-1FDE-1BF1-9428D73D81F1}"/>
              </a:ext>
            </a:extLst>
          </p:cNvPr>
          <p:cNvCxnSpPr/>
          <p:nvPr/>
        </p:nvCxnSpPr>
        <p:spPr>
          <a:xfrm flipV="1">
            <a:off x="8509000" y="3708400"/>
            <a:ext cx="762000" cy="3175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241DCA7-5B5C-A10B-428D-D71D8464501C}"/>
              </a:ext>
            </a:extLst>
          </p:cNvPr>
          <p:cNvSpPr txBox="1"/>
          <p:nvPr/>
        </p:nvSpPr>
        <p:spPr>
          <a:xfrm>
            <a:off x="406400" y="4648200"/>
            <a:ext cx="7620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FIVE OPERATING QUESTIONS FOR THIS ORDER</a:t>
            </a:r>
          </a:p>
        </p:txBody>
      </p:sp>
      <p:sp>
        <p:nvSpPr>
          <p:cNvPr id="23" name="Rectangle: Rounded Corners 22">
            <a:extLst>
              <a:ext uri="{FF2B5EF4-FFF2-40B4-BE49-F238E27FC236}">
                <a16:creationId xmlns:a16="http://schemas.microsoft.com/office/drawing/2014/main" id="{D4380A4C-CC3D-F260-E874-7CA047A7AA95}"/>
              </a:ext>
            </a:extLst>
          </p:cNvPr>
          <p:cNvSpPr/>
          <p:nvPr/>
        </p:nvSpPr>
        <p:spPr>
          <a:xfrm>
            <a:off x="406400" y="4927600"/>
            <a:ext cx="2006600" cy="939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Observe
Is it working, and where do you look?</a:t>
            </a:r>
          </a:p>
        </p:txBody>
      </p:sp>
      <p:sp>
        <p:nvSpPr>
          <p:cNvPr id="24" name="Rectangle: Rounded Corners 23">
            <a:extLst>
              <a:ext uri="{FF2B5EF4-FFF2-40B4-BE49-F238E27FC236}">
                <a16:creationId xmlns:a16="http://schemas.microsoft.com/office/drawing/2014/main" id="{605D0053-C24E-8F4E-700E-C3DDCC5CFFE4}"/>
              </a:ext>
            </a:extLst>
          </p:cNvPr>
          <p:cNvSpPr/>
          <p:nvPr/>
        </p:nvSpPr>
        <p:spPr>
          <a:xfrm>
            <a:off x="2768600" y="4927600"/>
            <a:ext cx="2006600" cy="9398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Secure
Who may change it, and how is it protected?</a:t>
            </a:r>
          </a:p>
        </p:txBody>
      </p:sp>
      <p:sp>
        <p:nvSpPr>
          <p:cNvPr id="25" name="Rectangle: Rounded Corners 24">
            <a:extLst>
              <a:ext uri="{FF2B5EF4-FFF2-40B4-BE49-F238E27FC236}">
                <a16:creationId xmlns:a16="http://schemas.microsoft.com/office/drawing/2014/main" id="{74B41930-A0BF-A34E-0054-51EBD03E52F6}"/>
              </a:ext>
            </a:extLst>
          </p:cNvPr>
          <p:cNvSpPr/>
          <p:nvPr/>
        </p:nvSpPr>
        <p:spPr>
          <a:xfrm>
            <a:off x="5130800" y="4927600"/>
            <a:ext cx="2006600" cy="939800"/>
          </a:xfrm>
          <a:prstGeom prst="roundRect">
            <a:avLst/>
          </a:prstGeom>
          <a:solidFill>
            <a:srgbClr val="1B2434"/>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Govern
Which team owns it? Does it stay as agreed?</a:t>
            </a:r>
          </a:p>
        </p:txBody>
      </p:sp>
      <p:sp>
        <p:nvSpPr>
          <p:cNvPr id="26" name="Rectangle: Rounded Corners 25">
            <a:extLst>
              <a:ext uri="{FF2B5EF4-FFF2-40B4-BE49-F238E27FC236}">
                <a16:creationId xmlns:a16="http://schemas.microsoft.com/office/drawing/2014/main" id="{B7F41379-2B05-C26F-0D20-239D8DAAB0DD}"/>
              </a:ext>
            </a:extLst>
          </p:cNvPr>
          <p:cNvSpPr/>
          <p:nvPr/>
        </p:nvSpPr>
        <p:spPr>
          <a:xfrm>
            <a:off x="7493000" y="4927600"/>
            <a:ext cx="2006600" cy="939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Cost
What does it cost? How do we keep it in check?</a:t>
            </a:r>
          </a:p>
        </p:txBody>
      </p:sp>
      <p:sp>
        <p:nvSpPr>
          <p:cNvPr id="27" name="Rectangle: Rounded Corners 26">
            <a:extLst>
              <a:ext uri="{FF2B5EF4-FFF2-40B4-BE49-F238E27FC236}">
                <a16:creationId xmlns:a16="http://schemas.microsoft.com/office/drawing/2014/main" id="{CC3FBA7D-2F5A-44DA-9FF8-7A34A63A32A3}"/>
              </a:ext>
            </a:extLst>
          </p:cNvPr>
          <p:cNvSpPr/>
          <p:nvPr/>
        </p:nvSpPr>
        <p:spPr>
          <a:xfrm>
            <a:off x="9855200" y="4927600"/>
            <a:ext cx="2006600" cy="939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Adopt
Did the fix work? What do we keep doing?</a:t>
            </a:r>
          </a:p>
        </p:txBody>
      </p:sp>
      <p:sp>
        <p:nvSpPr>
          <p:cNvPr id="28" name="TextBox 27">
            <a:extLst>
              <a:ext uri="{FF2B5EF4-FFF2-40B4-BE49-F238E27FC236}">
                <a16:creationId xmlns:a16="http://schemas.microsoft.com/office/drawing/2014/main" id="{F5BFB856-C258-513C-6B1D-47142EF646EE}"/>
              </a:ext>
            </a:extLst>
          </p:cNvPr>
          <p:cNvSpPr txBox="1"/>
          <p:nvPr/>
        </p:nvSpPr>
        <p:spPr>
          <a:xfrm>
            <a:off x="1143000" y="6019800"/>
            <a:ext cx="9906000" cy="261610"/>
          </a:xfrm>
          <a:prstGeom prst="rect">
            <a:avLst/>
          </a:prstGeom>
          <a:noFill/>
        </p:spPr>
        <p:txBody>
          <a:bodyPr vert="horz" wrap="square" lIns="25400" rIns="25400" rtlCol="0">
            <a:spAutoFit/>
          </a:bodyPr>
          <a:lstStyle/>
          <a:p>
            <a:pPr algn="ctr"/>
            <a:r>
              <a:rPr lang="en-US" sz="1100">
                <a:solidFill>
                  <a:srgbClr val="A3B2C4"/>
                </a:solidFill>
                <a:latin typeface="Calibri" panose="020F0502020204030204" pitchFamily="34" charset="0"/>
              </a:rPr>
              <a:t>IIC Hybrid Orders runs in all three clouds. Tomorrow's Whole-Service Observability session takes this order apart with a Health Model.</a:t>
            </a:r>
          </a:p>
        </p:txBody>
      </p:sp>
    </p:spTree>
    <p:extLst>
      <p:ext uri="{BB962C8B-B14F-4D97-AF65-F5344CB8AC3E}">
        <p14:creationId xmlns:p14="http://schemas.microsoft.com/office/powerpoint/2010/main" val="337028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23" grpId="0" animBg="1"/>
      <p:bldP spid="24" grpId="0" animBg="1"/>
      <p:bldP spid="25" grpId="0" animBg="1"/>
      <p:bldP spid="26" grpId="0" animBg="1"/>
      <p:bldP spid="2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143AAC-3D41-9984-3405-B4412F685381}"/>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102A20C-5707-77CC-3021-379DE8934AF5}"/>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29C2729-09BA-8D28-36F3-C08AD68DB3CB}"/>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1 · Observe: is it working, and where do you look?</a:t>
            </a:r>
          </a:p>
        </p:txBody>
      </p:sp>
      <p:sp>
        <p:nvSpPr>
          <p:cNvPr id="5" name="Rectangle 4">
            <a:extLst>
              <a:ext uri="{FF2B5EF4-FFF2-40B4-BE49-F238E27FC236}">
                <a16:creationId xmlns:a16="http://schemas.microsoft.com/office/drawing/2014/main" id="{1A2B834B-9CCE-C6C5-59B4-FBB00DA6AFF8}"/>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C978182-4B59-4CB1-3E89-A41600FCAC65}"/>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9D5B50C6-85CA-5B55-0E9B-3F316804D6A7}"/>
              </a:ext>
            </a:extLst>
          </p:cNvPr>
          <p:cNvSpPr txBox="1"/>
          <p:nvPr/>
        </p:nvSpPr>
        <p:spPr>
          <a:xfrm>
            <a:off x="762000" y="21844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Azure Monitor: where the data comes from, where it lands, how it is used</a:t>
            </a:r>
          </a:p>
        </p:txBody>
      </p:sp>
      <p:sp>
        <p:nvSpPr>
          <p:cNvPr id="8" name="TextBox 7">
            <a:extLst>
              <a:ext uri="{FF2B5EF4-FFF2-40B4-BE49-F238E27FC236}">
                <a16:creationId xmlns:a16="http://schemas.microsoft.com/office/drawing/2014/main" id="{72355696-A223-942F-A6F8-8ADB88560B06}"/>
              </a:ext>
            </a:extLst>
          </p:cNvPr>
          <p:cNvSpPr txBox="1"/>
          <p:nvPr/>
        </p:nvSpPr>
        <p:spPr>
          <a:xfrm>
            <a:off x="762000" y="27686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Green servers, broken service</a:t>
            </a:r>
          </a:p>
        </p:txBody>
      </p:sp>
      <p:sp>
        <p:nvSpPr>
          <p:cNvPr id="9" name="TextBox 8">
            <a:extLst>
              <a:ext uri="{FF2B5EF4-FFF2-40B4-BE49-F238E27FC236}">
                <a16:creationId xmlns:a16="http://schemas.microsoft.com/office/drawing/2014/main" id="{AB87C68F-CB84-4177-DD5D-8EC5BFE85B4D}"/>
              </a:ext>
            </a:extLst>
          </p:cNvPr>
          <p:cNvSpPr txBox="1"/>
          <p:nvPr/>
        </p:nvSpPr>
        <p:spPr>
          <a:xfrm>
            <a:off x="762000" y="33528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From machine health to service health</a:t>
            </a:r>
          </a:p>
        </p:txBody>
      </p:sp>
      <p:sp>
        <p:nvSpPr>
          <p:cNvPr id="10" name="TextBox 9">
            <a:extLst>
              <a:ext uri="{FF2B5EF4-FFF2-40B4-BE49-F238E27FC236}">
                <a16:creationId xmlns:a16="http://schemas.microsoft.com/office/drawing/2014/main" id="{009B18CD-B651-7DA5-559D-02F7FC6E2EF9}"/>
              </a:ext>
            </a:extLst>
          </p:cNvPr>
          <p:cNvSpPr txBox="1"/>
          <p:nvPr/>
        </p:nvSpPr>
        <p:spPr>
          <a:xfrm>
            <a:off x="762000" y="39370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Where to ask: Resource Graph and Azure Monitor</a:t>
            </a:r>
          </a:p>
        </p:txBody>
      </p:sp>
      <p:sp>
        <p:nvSpPr>
          <p:cNvPr id="11" name="TextBox 10">
            <a:extLst>
              <a:ext uri="{FF2B5EF4-FFF2-40B4-BE49-F238E27FC236}">
                <a16:creationId xmlns:a16="http://schemas.microsoft.com/office/drawing/2014/main" id="{8469E0FD-556F-65DE-BA29-61DA73FD6F52}"/>
              </a:ext>
            </a:extLst>
          </p:cNvPr>
          <p:cNvSpPr txBox="1"/>
          <p:nvPr/>
        </p:nvSpPr>
        <p:spPr>
          <a:xfrm>
            <a:off x="762000" y="45212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DEMO: query the estate, then read machine and service health</a:t>
            </a:r>
          </a:p>
        </p:txBody>
      </p:sp>
      <p:sp>
        <p:nvSpPr>
          <p:cNvPr id="12" name="Rectangle: Rounded Corners 11">
            <a:extLst>
              <a:ext uri="{FF2B5EF4-FFF2-40B4-BE49-F238E27FC236}">
                <a16:creationId xmlns:a16="http://schemas.microsoft.com/office/drawing/2014/main" id="{75E4A871-FE33-6DA7-B6DE-7CA589B70685}"/>
              </a:ext>
            </a:extLst>
          </p:cNvPr>
          <p:cNvSpPr/>
          <p:nvPr/>
        </p:nvSpPr>
        <p:spPr>
          <a:xfrm>
            <a:off x="6096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1 · Observe</a:t>
            </a:r>
          </a:p>
        </p:txBody>
      </p:sp>
      <p:sp>
        <p:nvSpPr>
          <p:cNvPr id="13" name="Rectangle: Rounded Corners 12">
            <a:extLst>
              <a:ext uri="{FF2B5EF4-FFF2-40B4-BE49-F238E27FC236}">
                <a16:creationId xmlns:a16="http://schemas.microsoft.com/office/drawing/2014/main" id="{7D4926F7-FBAE-844A-4E0A-0F27941CC2AC}"/>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4" name="Rectangle: Rounded Corners 13">
            <a:extLst>
              <a:ext uri="{FF2B5EF4-FFF2-40B4-BE49-F238E27FC236}">
                <a16:creationId xmlns:a16="http://schemas.microsoft.com/office/drawing/2014/main" id="{9B733D73-83F9-719C-AEC6-A262E3C6444A}"/>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5" name="Rectangle: Rounded Corners 14">
            <a:extLst>
              <a:ext uri="{FF2B5EF4-FFF2-40B4-BE49-F238E27FC236}">
                <a16:creationId xmlns:a16="http://schemas.microsoft.com/office/drawing/2014/main" id="{97092BEC-266F-441F-B8C3-4228234011C3}"/>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6" name="Rectangle: Rounded Corners 15">
            <a:extLst>
              <a:ext uri="{FF2B5EF4-FFF2-40B4-BE49-F238E27FC236}">
                <a16:creationId xmlns:a16="http://schemas.microsoft.com/office/drawing/2014/main" id="{18729E41-9989-1D54-82B5-54E5B85E68BC}"/>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Tree>
    <p:extLst>
      <p:ext uri="{BB962C8B-B14F-4D97-AF65-F5344CB8AC3E}">
        <p14:creationId xmlns:p14="http://schemas.microsoft.com/office/powerpoint/2010/main" val="2365308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2E0CDF-A75D-8A6B-1388-ACA1F743A5C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4C8F9B-E319-09A9-DBBC-91D971A414C7}"/>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90FD7D0-DDF1-F180-5D12-8B55FBB07ED7}"/>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Azure Monitor: follow the data from collection to decision</a:t>
            </a:r>
          </a:p>
        </p:txBody>
      </p:sp>
      <p:sp>
        <p:nvSpPr>
          <p:cNvPr id="5" name="Rectangle 4">
            <a:extLst>
              <a:ext uri="{FF2B5EF4-FFF2-40B4-BE49-F238E27FC236}">
                <a16:creationId xmlns:a16="http://schemas.microsoft.com/office/drawing/2014/main" id="{DC3042AB-600A-8BBF-FDB8-28A73C83ECFE}"/>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83F2B47-2684-166F-07B0-E2FF56983353}"/>
              </a:ext>
            </a:extLst>
          </p:cNvPr>
          <p:cNvSpPr txBox="1"/>
          <p:nvPr/>
        </p:nvSpPr>
        <p:spPr>
          <a:xfrm>
            <a:off x="609600" y="1651000"/>
            <a:ext cx="3175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COLLECT</a:t>
            </a:r>
          </a:p>
        </p:txBody>
      </p:sp>
      <p:sp>
        <p:nvSpPr>
          <p:cNvPr id="7" name="TextBox 6">
            <a:extLst>
              <a:ext uri="{FF2B5EF4-FFF2-40B4-BE49-F238E27FC236}">
                <a16:creationId xmlns:a16="http://schemas.microsoft.com/office/drawing/2014/main" id="{B06D0CD3-DC3C-31DD-F532-8E986E8930C4}"/>
              </a:ext>
            </a:extLst>
          </p:cNvPr>
          <p:cNvSpPr txBox="1"/>
          <p:nvPr/>
        </p:nvSpPr>
        <p:spPr>
          <a:xfrm>
            <a:off x="4508500" y="1651000"/>
            <a:ext cx="3175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STORE</a:t>
            </a:r>
          </a:p>
        </p:txBody>
      </p:sp>
      <p:sp>
        <p:nvSpPr>
          <p:cNvPr id="8" name="TextBox 7">
            <a:extLst>
              <a:ext uri="{FF2B5EF4-FFF2-40B4-BE49-F238E27FC236}">
                <a16:creationId xmlns:a16="http://schemas.microsoft.com/office/drawing/2014/main" id="{73CF886E-871D-3A57-7ACE-0DEC234A6DE2}"/>
              </a:ext>
            </a:extLst>
          </p:cNvPr>
          <p:cNvSpPr txBox="1"/>
          <p:nvPr/>
        </p:nvSpPr>
        <p:spPr>
          <a:xfrm>
            <a:off x="8407400" y="1651000"/>
            <a:ext cx="3175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USE</a:t>
            </a:r>
          </a:p>
        </p:txBody>
      </p:sp>
      <p:sp>
        <p:nvSpPr>
          <p:cNvPr id="9" name="Rectangle: Rounded Corners 8">
            <a:extLst>
              <a:ext uri="{FF2B5EF4-FFF2-40B4-BE49-F238E27FC236}">
                <a16:creationId xmlns:a16="http://schemas.microsoft.com/office/drawing/2014/main" id="{3700CCD6-7C56-6D34-D838-532AF10C503E}"/>
              </a:ext>
            </a:extLst>
          </p:cNvPr>
          <p:cNvSpPr/>
          <p:nvPr/>
        </p:nvSpPr>
        <p:spPr>
          <a:xfrm>
            <a:off x="609600" y="2006600"/>
            <a:ext cx="3175000" cy="787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Our servers
the Azure Monitor agent sends logs + counters</a:t>
            </a:r>
          </a:p>
        </p:txBody>
      </p:sp>
      <p:sp>
        <p:nvSpPr>
          <p:cNvPr id="10" name="Rectangle: Rounded Corners 9">
            <a:extLst>
              <a:ext uri="{FF2B5EF4-FFF2-40B4-BE49-F238E27FC236}">
                <a16:creationId xmlns:a16="http://schemas.microsoft.com/office/drawing/2014/main" id="{054C89A2-1C2D-B8ED-49C6-FB0160905759}"/>
              </a:ext>
            </a:extLst>
          </p:cNvPr>
          <p:cNvSpPr/>
          <p:nvPr/>
        </p:nvSpPr>
        <p:spPr>
          <a:xfrm>
            <a:off x="4508500" y="2006600"/>
            <a:ext cx="3175000" cy="787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4F9279-FF5F-1ADB-F904-9C8332D355B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19800" y="2044700"/>
            <a:ext cx="152400" cy="152400"/>
          </a:xfrm>
          <a:prstGeom prst="rect">
            <a:avLst/>
          </a:prstGeom>
        </p:spPr>
      </p:pic>
      <p:sp>
        <p:nvSpPr>
          <p:cNvPr id="13" name="TextBox 12">
            <a:extLst>
              <a:ext uri="{FF2B5EF4-FFF2-40B4-BE49-F238E27FC236}">
                <a16:creationId xmlns:a16="http://schemas.microsoft.com/office/drawing/2014/main" id="{3408AA4D-AF31-B314-033E-9EF40C933557}"/>
              </a:ext>
            </a:extLst>
          </p:cNvPr>
          <p:cNvSpPr txBox="1"/>
          <p:nvPr/>
        </p:nvSpPr>
        <p:spPr>
          <a:xfrm>
            <a:off x="4610100" y="2209800"/>
            <a:ext cx="2971800" cy="558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Logs
Log Analytics</a:t>
            </a:r>
          </a:p>
        </p:txBody>
      </p:sp>
      <p:cxnSp>
        <p:nvCxnSpPr>
          <p:cNvPr id="14" name="Straight Arrow Connector 13">
            <a:extLst>
              <a:ext uri="{FF2B5EF4-FFF2-40B4-BE49-F238E27FC236}">
                <a16:creationId xmlns:a16="http://schemas.microsoft.com/office/drawing/2014/main" id="{677B1446-7E3E-9AD9-BB75-98D54B7D3B70}"/>
              </a:ext>
            </a:extLst>
          </p:cNvPr>
          <p:cNvCxnSpPr/>
          <p:nvPr/>
        </p:nvCxnSpPr>
        <p:spPr>
          <a:xfrm>
            <a:off x="3784600" y="24003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1633888-8969-43B9-4A93-A48727DB65BC}"/>
              </a:ext>
            </a:extLst>
          </p:cNvPr>
          <p:cNvCxnSpPr/>
          <p:nvPr/>
        </p:nvCxnSpPr>
        <p:spPr>
          <a:xfrm>
            <a:off x="7683500" y="2400300"/>
            <a:ext cx="7239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9504BCB2-78E9-6A77-9699-FBE6E681E331}"/>
              </a:ext>
            </a:extLst>
          </p:cNvPr>
          <p:cNvSpPr/>
          <p:nvPr/>
        </p:nvSpPr>
        <p:spPr>
          <a:xfrm>
            <a:off x="609600" y="3048000"/>
            <a:ext cx="3175000" cy="787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Azure services
Front Door, Functions, Service Bus report metrics</a:t>
            </a:r>
          </a:p>
        </p:txBody>
      </p:sp>
      <p:sp>
        <p:nvSpPr>
          <p:cNvPr id="17" name="Rectangle: Rounded Corners 16">
            <a:extLst>
              <a:ext uri="{FF2B5EF4-FFF2-40B4-BE49-F238E27FC236}">
                <a16:creationId xmlns:a16="http://schemas.microsoft.com/office/drawing/2014/main" id="{3A9755CF-1E7E-5E8B-4812-300CA5ED31CD}"/>
              </a:ext>
            </a:extLst>
          </p:cNvPr>
          <p:cNvSpPr/>
          <p:nvPr/>
        </p:nvSpPr>
        <p:spPr>
          <a:xfrm>
            <a:off x="4508500" y="3048000"/>
            <a:ext cx="3175000" cy="7874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E8F441D-2425-A33A-8FFE-D2BA71C827B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19800" y="3086100"/>
            <a:ext cx="152400" cy="152400"/>
          </a:xfrm>
          <a:prstGeom prst="rect">
            <a:avLst/>
          </a:prstGeom>
        </p:spPr>
      </p:pic>
      <p:sp>
        <p:nvSpPr>
          <p:cNvPr id="20" name="TextBox 19">
            <a:extLst>
              <a:ext uri="{FF2B5EF4-FFF2-40B4-BE49-F238E27FC236}">
                <a16:creationId xmlns:a16="http://schemas.microsoft.com/office/drawing/2014/main" id="{2CA1F1B1-F6EE-2B98-C7E4-DAB2FEDD23FB}"/>
              </a:ext>
            </a:extLst>
          </p:cNvPr>
          <p:cNvSpPr txBox="1"/>
          <p:nvPr/>
        </p:nvSpPr>
        <p:spPr>
          <a:xfrm>
            <a:off x="4610100" y="3251200"/>
            <a:ext cx="2971800" cy="558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Metrics
built in for Azure services</a:t>
            </a:r>
          </a:p>
        </p:txBody>
      </p:sp>
      <p:cxnSp>
        <p:nvCxnSpPr>
          <p:cNvPr id="21" name="Straight Arrow Connector 20">
            <a:extLst>
              <a:ext uri="{FF2B5EF4-FFF2-40B4-BE49-F238E27FC236}">
                <a16:creationId xmlns:a16="http://schemas.microsoft.com/office/drawing/2014/main" id="{E1F6BD22-4630-2174-86B1-9FA9A70D2BB8}"/>
              </a:ext>
            </a:extLst>
          </p:cNvPr>
          <p:cNvCxnSpPr/>
          <p:nvPr/>
        </p:nvCxnSpPr>
        <p:spPr>
          <a:xfrm>
            <a:off x="3784600" y="34417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E3CF31C-2ACC-E499-97A6-C84BE14E98D6}"/>
              </a:ext>
            </a:extLst>
          </p:cNvPr>
          <p:cNvCxnSpPr/>
          <p:nvPr/>
        </p:nvCxnSpPr>
        <p:spPr>
          <a:xfrm>
            <a:off x="7683500" y="3441700"/>
            <a:ext cx="7239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FFC9F3C8-F04E-4163-18B7-925907903CEC}"/>
              </a:ext>
            </a:extLst>
          </p:cNvPr>
          <p:cNvSpPr/>
          <p:nvPr/>
        </p:nvSpPr>
        <p:spPr>
          <a:xfrm>
            <a:off x="609600" y="4089400"/>
            <a:ext cx="3175000" cy="787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The app itself
reports each order step (Application Insights)</a:t>
            </a:r>
          </a:p>
        </p:txBody>
      </p:sp>
      <p:sp>
        <p:nvSpPr>
          <p:cNvPr id="24" name="Rectangle: Rounded Corners 23">
            <a:extLst>
              <a:ext uri="{FF2B5EF4-FFF2-40B4-BE49-F238E27FC236}">
                <a16:creationId xmlns:a16="http://schemas.microsoft.com/office/drawing/2014/main" id="{41123C9F-FC6C-4AD2-83DB-01EB6E5030AA}"/>
              </a:ext>
            </a:extLst>
          </p:cNvPr>
          <p:cNvSpPr/>
          <p:nvPr/>
        </p:nvSpPr>
        <p:spPr>
          <a:xfrm>
            <a:off x="4508500" y="4089400"/>
            <a:ext cx="3175000" cy="787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DAF000DA-D110-E087-4C10-75A53131F68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19800" y="4127500"/>
            <a:ext cx="152400" cy="152400"/>
          </a:xfrm>
          <a:prstGeom prst="rect">
            <a:avLst/>
          </a:prstGeom>
        </p:spPr>
      </p:pic>
      <p:sp>
        <p:nvSpPr>
          <p:cNvPr id="27" name="TextBox 26">
            <a:extLst>
              <a:ext uri="{FF2B5EF4-FFF2-40B4-BE49-F238E27FC236}">
                <a16:creationId xmlns:a16="http://schemas.microsoft.com/office/drawing/2014/main" id="{FE70EFD1-E1BA-C74A-6E2A-DD7FC2131727}"/>
              </a:ext>
            </a:extLst>
          </p:cNvPr>
          <p:cNvSpPr txBox="1"/>
          <p:nvPr/>
        </p:nvSpPr>
        <p:spPr>
          <a:xfrm>
            <a:off x="4610100" y="4292600"/>
            <a:ext cx="2971800" cy="558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Logs + app traces
Application Insights</a:t>
            </a:r>
          </a:p>
        </p:txBody>
      </p:sp>
      <p:cxnSp>
        <p:nvCxnSpPr>
          <p:cNvPr id="28" name="Straight Arrow Connector 27">
            <a:extLst>
              <a:ext uri="{FF2B5EF4-FFF2-40B4-BE49-F238E27FC236}">
                <a16:creationId xmlns:a16="http://schemas.microsoft.com/office/drawing/2014/main" id="{8205A4D1-DD0E-BC7E-65F8-41754BE842D2}"/>
              </a:ext>
            </a:extLst>
          </p:cNvPr>
          <p:cNvCxnSpPr/>
          <p:nvPr/>
        </p:nvCxnSpPr>
        <p:spPr>
          <a:xfrm>
            <a:off x="3784600" y="44831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1018255-FB8A-9BEF-9727-9BB4397934A6}"/>
              </a:ext>
            </a:extLst>
          </p:cNvPr>
          <p:cNvCxnSpPr/>
          <p:nvPr/>
        </p:nvCxnSpPr>
        <p:spPr>
          <a:xfrm>
            <a:off x="7683500" y="4483100"/>
            <a:ext cx="7239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D2015B2F-24B5-6B69-F132-CAE0093DE6F9}"/>
              </a:ext>
            </a:extLst>
          </p:cNvPr>
          <p:cNvSpPr/>
          <p:nvPr/>
        </p:nvSpPr>
        <p:spPr>
          <a:xfrm>
            <a:off x="8407400" y="2006600"/>
            <a:ext cx="3175000" cy="2870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Dashboards + alerts
A health model
(is the order working?)
Security analytics
(Microsoft Sentinel)</a:t>
            </a:r>
          </a:p>
        </p:txBody>
      </p:sp>
      <p:sp>
        <p:nvSpPr>
          <p:cNvPr id="31" name="TextBox 30">
            <a:extLst>
              <a:ext uri="{FF2B5EF4-FFF2-40B4-BE49-F238E27FC236}">
                <a16:creationId xmlns:a16="http://schemas.microsoft.com/office/drawing/2014/main" id="{7A4AE912-48D5-AE2C-B806-2EC2FFBE08C1}"/>
              </a:ext>
            </a:extLst>
          </p:cNvPr>
          <p:cNvSpPr txBox="1"/>
          <p:nvPr/>
        </p:nvSpPr>
        <p:spPr>
          <a:xfrm>
            <a:off x="609600" y="5054600"/>
            <a:ext cx="10972800" cy="323165"/>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Each use needs its own setup: collecting data does not switch anything on by itself.</a:t>
            </a:r>
          </a:p>
        </p:txBody>
      </p:sp>
      <p:sp>
        <p:nvSpPr>
          <p:cNvPr id="32" name="Rectangle 31">
            <a:extLst>
              <a:ext uri="{FF2B5EF4-FFF2-40B4-BE49-F238E27FC236}">
                <a16:creationId xmlns:a16="http://schemas.microsoft.com/office/drawing/2014/main" id="{31012276-4987-3A71-2630-23FAB6BEBA5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1FCB90D-A7EC-8659-2FD5-B5EA3AACBE27}"/>
              </a:ext>
            </a:extLst>
          </p:cNvPr>
          <p:cNvSpPr txBox="1"/>
          <p:nvPr/>
        </p:nvSpPr>
        <p:spPr>
          <a:xfrm>
            <a:off x="812800" y="5994400"/>
            <a:ext cx="10769600" cy="523220"/>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Today: the operating overview. Tomorrow's Whole-Service Observability session goes deep: collection, correlation, Health Models and a live failure.</a:t>
            </a:r>
          </a:p>
        </p:txBody>
      </p:sp>
    </p:spTree>
    <p:extLst>
      <p:ext uri="{BB962C8B-B14F-4D97-AF65-F5344CB8AC3E}">
        <p14:creationId xmlns:p14="http://schemas.microsoft.com/office/powerpoint/2010/main" val="1064409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04B675-4C9F-37AF-9A07-8F0BDB41A282}"/>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5BE3F7C-89D4-5E86-FD82-7F461319932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E808AF2-0DEA-BD5D-AA54-81A3B1C0DB3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How a server's data gets in: agent + rule</a:t>
            </a:r>
          </a:p>
        </p:txBody>
      </p:sp>
      <p:sp>
        <p:nvSpPr>
          <p:cNvPr id="5" name="Rectangle 4">
            <a:extLst>
              <a:ext uri="{FF2B5EF4-FFF2-40B4-BE49-F238E27FC236}">
                <a16:creationId xmlns:a16="http://schemas.microsoft.com/office/drawing/2014/main" id="{DFB51F50-2180-AB22-FDF8-CED60D766E70}"/>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1C0EA9F-00C1-8335-2A67-A8CC2F8B448A}"/>
              </a:ext>
            </a:extLst>
          </p:cNvPr>
          <p:cNvSpPr/>
          <p:nvPr/>
        </p:nvSpPr>
        <p:spPr>
          <a:xfrm>
            <a:off x="609600" y="1727200"/>
            <a:ext cx="3327400" cy="3860800"/>
          </a:xfrm>
          <a:prstGeom prst="roundRect">
            <a:avLst>
              <a:gd name="adj" fmla="val 5344"/>
            </a:avLst>
          </a:prstGeom>
          <a:noFill/>
          <a:ln w="19050" cap="flat" cmpd="sng" algn="ctr">
            <a:solidFill>
              <a:srgbClr val="F09E5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C682387-800B-1B06-CC01-40CCD871C1B5}"/>
              </a:ext>
            </a:extLst>
          </p:cNvPr>
          <p:cNvSpPr txBox="1"/>
          <p:nvPr/>
        </p:nvSpPr>
        <p:spPr>
          <a:xfrm>
            <a:off x="787400" y="1803400"/>
            <a:ext cx="29718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ARC-ENABLED WORKLOAD VM</a:t>
            </a:r>
          </a:p>
        </p:txBody>
      </p:sp>
      <p:sp>
        <p:nvSpPr>
          <p:cNvPr id="8" name="Rectangle: Rounded Corners 7">
            <a:extLst>
              <a:ext uri="{FF2B5EF4-FFF2-40B4-BE49-F238E27FC236}">
                <a16:creationId xmlns:a16="http://schemas.microsoft.com/office/drawing/2014/main" id="{F4E68638-2ED8-3ECC-CC93-9DB450E54F5F}"/>
              </a:ext>
            </a:extLst>
          </p:cNvPr>
          <p:cNvSpPr/>
          <p:nvPr/>
        </p:nvSpPr>
        <p:spPr>
          <a:xfrm>
            <a:off x="838200" y="2184400"/>
            <a:ext cx="2870200" cy="736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Events / Syslog / counters</a:t>
            </a:r>
          </a:p>
        </p:txBody>
      </p:sp>
      <p:sp>
        <p:nvSpPr>
          <p:cNvPr id="9" name="Rectangle: Rounded Corners 8">
            <a:extLst>
              <a:ext uri="{FF2B5EF4-FFF2-40B4-BE49-F238E27FC236}">
                <a16:creationId xmlns:a16="http://schemas.microsoft.com/office/drawing/2014/main" id="{02E47E44-0678-9B02-EB75-FE59D32EAE1B}"/>
              </a:ext>
            </a:extLst>
          </p:cNvPr>
          <p:cNvSpPr/>
          <p:nvPr/>
        </p:nvSpPr>
        <p:spPr>
          <a:xfrm>
            <a:off x="838200" y="3327400"/>
            <a:ext cx="2870200" cy="7366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6C74EF6-53C8-589C-088C-FF02930656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197100" y="3365500"/>
            <a:ext cx="152400" cy="152400"/>
          </a:xfrm>
          <a:prstGeom prst="rect">
            <a:avLst/>
          </a:prstGeom>
        </p:spPr>
      </p:pic>
      <p:sp>
        <p:nvSpPr>
          <p:cNvPr id="12" name="TextBox 11">
            <a:extLst>
              <a:ext uri="{FF2B5EF4-FFF2-40B4-BE49-F238E27FC236}">
                <a16:creationId xmlns:a16="http://schemas.microsoft.com/office/drawing/2014/main" id="{3246B587-0382-76CA-8FF5-F86981051FDF}"/>
              </a:ext>
            </a:extLst>
          </p:cNvPr>
          <p:cNvSpPr txBox="1"/>
          <p:nvPr/>
        </p:nvSpPr>
        <p:spPr>
          <a:xfrm>
            <a:off x="939800" y="3530600"/>
            <a:ext cx="2667000" cy="508000"/>
          </a:xfrm>
          <a:prstGeom prst="rect">
            <a:avLst/>
          </a:prstGeom>
          <a:noFill/>
        </p:spPr>
        <p:txBody>
          <a:bodyPr vert="horz" wrap="square" lIns="25400" tIns="0" rIns="25400" bIns="0" rtlCol="0" anchor="ctr">
            <a:noAutofit/>
          </a:bodyPr>
          <a:lstStyle/>
          <a:p>
            <a:pPr algn="ctr"/>
            <a:r>
              <a:rPr lang="en-US" sz="1500" b="1">
                <a:solidFill>
                  <a:srgbClr val="EAF0F7"/>
                </a:solidFill>
                <a:latin typeface="Calibri" panose="020F0502020204030204" pitchFamily="34" charset="0"/>
              </a:rPr>
              <a:t>Azure Monitor Agent</a:t>
            </a:r>
          </a:p>
        </p:txBody>
      </p:sp>
      <p:cxnSp>
        <p:nvCxnSpPr>
          <p:cNvPr id="13" name="Straight Arrow Connector 12">
            <a:extLst>
              <a:ext uri="{FF2B5EF4-FFF2-40B4-BE49-F238E27FC236}">
                <a16:creationId xmlns:a16="http://schemas.microsoft.com/office/drawing/2014/main" id="{AE74AB24-02BC-DBAB-2F37-469C3B24C27E}"/>
              </a:ext>
            </a:extLst>
          </p:cNvPr>
          <p:cNvCxnSpPr/>
          <p:nvPr/>
        </p:nvCxnSpPr>
        <p:spPr>
          <a:xfrm>
            <a:off x="2273300" y="2921000"/>
            <a:ext cx="0" cy="4064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725AE40-BC36-684F-E76B-78715984C1E4}"/>
              </a:ext>
            </a:extLst>
          </p:cNvPr>
          <p:cNvSpPr txBox="1"/>
          <p:nvPr/>
        </p:nvSpPr>
        <p:spPr>
          <a:xfrm>
            <a:off x="2387600" y="2971800"/>
            <a:ext cx="1016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collect</a:t>
            </a:r>
          </a:p>
        </p:txBody>
      </p:sp>
      <p:sp>
        <p:nvSpPr>
          <p:cNvPr id="15" name="Rectangle: Rounded Corners 14">
            <a:extLst>
              <a:ext uri="{FF2B5EF4-FFF2-40B4-BE49-F238E27FC236}">
                <a16:creationId xmlns:a16="http://schemas.microsoft.com/office/drawing/2014/main" id="{4E68DD30-5547-10F3-BFC1-FFF3B6D8166A}"/>
              </a:ext>
            </a:extLst>
          </p:cNvPr>
          <p:cNvSpPr/>
          <p:nvPr/>
        </p:nvSpPr>
        <p:spPr>
          <a:xfrm>
            <a:off x="4826000" y="1905000"/>
            <a:ext cx="3429000" cy="9398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Data collection rule (DCR)
what to collect · where to send it</a:t>
            </a:r>
          </a:p>
        </p:txBody>
      </p:sp>
      <p:sp>
        <p:nvSpPr>
          <p:cNvPr id="16" name="Rectangle: Rounded Corners 15">
            <a:extLst>
              <a:ext uri="{FF2B5EF4-FFF2-40B4-BE49-F238E27FC236}">
                <a16:creationId xmlns:a16="http://schemas.microsoft.com/office/drawing/2014/main" id="{819F8A65-E8DB-C993-9B02-780AC1A7AEA7}"/>
              </a:ext>
            </a:extLst>
          </p:cNvPr>
          <p:cNvSpPr/>
          <p:nvPr/>
        </p:nvSpPr>
        <p:spPr>
          <a:xfrm>
            <a:off x="4826000" y="3327400"/>
            <a:ext cx="3429000" cy="736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DCR association
assigns the rule to this server</a:t>
            </a:r>
          </a:p>
        </p:txBody>
      </p:sp>
      <p:cxnSp>
        <p:nvCxnSpPr>
          <p:cNvPr id="17" name="Straight Arrow Connector 16">
            <a:extLst>
              <a:ext uri="{FF2B5EF4-FFF2-40B4-BE49-F238E27FC236}">
                <a16:creationId xmlns:a16="http://schemas.microsoft.com/office/drawing/2014/main" id="{D7D9EF41-EBED-046B-40AB-B9F21677F54C}"/>
              </a:ext>
            </a:extLst>
          </p:cNvPr>
          <p:cNvCxnSpPr/>
          <p:nvPr/>
        </p:nvCxnSpPr>
        <p:spPr>
          <a:xfrm>
            <a:off x="6540500" y="2844800"/>
            <a:ext cx="0" cy="482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B1C1167-36B1-CBC6-DA20-D851570B5ED2}"/>
              </a:ext>
            </a:extLst>
          </p:cNvPr>
          <p:cNvCxnSpPr/>
          <p:nvPr/>
        </p:nvCxnSpPr>
        <p:spPr>
          <a:xfrm flipH="1">
            <a:off x="3708400" y="3695700"/>
            <a:ext cx="11176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CA31BFB-9AB0-E626-C1BF-3309DC038B49}"/>
              </a:ext>
            </a:extLst>
          </p:cNvPr>
          <p:cNvSpPr txBox="1"/>
          <p:nvPr/>
        </p:nvSpPr>
        <p:spPr>
          <a:xfrm>
            <a:off x="4013200" y="3759200"/>
            <a:ext cx="8128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configures</a:t>
            </a:r>
          </a:p>
        </p:txBody>
      </p:sp>
      <p:sp>
        <p:nvSpPr>
          <p:cNvPr id="20" name="Rectangle: Rounded Corners 19">
            <a:extLst>
              <a:ext uri="{FF2B5EF4-FFF2-40B4-BE49-F238E27FC236}">
                <a16:creationId xmlns:a16="http://schemas.microsoft.com/office/drawing/2014/main" id="{11A1B97F-D7E2-F7ED-6E01-119071A29E38}"/>
              </a:ext>
            </a:extLst>
          </p:cNvPr>
          <p:cNvSpPr/>
          <p:nvPr/>
        </p:nvSpPr>
        <p:spPr>
          <a:xfrm>
            <a:off x="8890000" y="1905000"/>
            <a:ext cx="2692400" cy="939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Log Analytics workspace</a:t>
            </a:r>
          </a:p>
        </p:txBody>
      </p:sp>
      <p:sp>
        <p:nvSpPr>
          <p:cNvPr id="21" name="Rectangle: Rounded Corners 20">
            <a:extLst>
              <a:ext uri="{FF2B5EF4-FFF2-40B4-BE49-F238E27FC236}">
                <a16:creationId xmlns:a16="http://schemas.microsoft.com/office/drawing/2014/main" id="{FA8ED366-38E7-A4F2-DCC7-D2673C61135E}"/>
              </a:ext>
            </a:extLst>
          </p:cNvPr>
          <p:cNvSpPr/>
          <p:nvPr/>
        </p:nvSpPr>
        <p:spPr>
          <a:xfrm>
            <a:off x="8890000" y="4445000"/>
            <a:ext cx="2692400" cy="8890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Azure Monitor workspace</a:t>
            </a:r>
          </a:p>
        </p:txBody>
      </p:sp>
      <p:cxnSp>
        <p:nvCxnSpPr>
          <p:cNvPr id="22" name="Straight Arrow Connector 21">
            <a:extLst>
              <a:ext uri="{FF2B5EF4-FFF2-40B4-BE49-F238E27FC236}">
                <a16:creationId xmlns:a16="http://schemas.microsoft.com/office/drawing/2014/main" id="{19E84FD0-769E-E8C6-5768-CD8ECA65521A}"/>
              </a:ext>
            </a:extLst>
          </p:cNvPr>
          <p:cNvCxnSpPr/>
          <p:nvPr/>
        </p:nvCxnSpPr>
        <p:spPr>
          <a:xfrm>
            <a:off x="1905000" y="4064000"/>
            <a:ext cx="0" cy="660400"/>
          </a:xfrm>
          <a:prstGeom prst="straightConnector1">
            <a:avLst/>
          </a:prstGeom>
          <a:ln w="28575">
            <a:solidFill>
              <a:srgbClr val="6ED28C"/>
            </a:solidFill>
            <a:tailEnd type="non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DCBFF204-D348-9059-46C5-03854BD571DC}"/>
              </a:ext>
            </a:extLst>
          </p:cNvPr>
          <p:cNvCxnSpPr/>
          <p:nvPr/>
        </p:nvCxnSpPr>
        <p:spPr>
          <a:xfrm>
            <a:off x="1905000" y="4724400"/>
            <a:ext cx="6667500" cy="0"/>
          </a:xfrm>
          <a:prstGeom prst="straightConnector1">
            <a:avLst/>
          </a:prstGeom>
          <a:ln w="28575">
            <a:solidFill>
              <a:srgbClr val="6ED28C"/>
            </a:solidFill>
            <a:tailEnd type="non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829E277-2DD2-A727-AA37-8720036C1595}"/>
              </a:ext>
            </a:extLst>
          </p:cNvPr>
          <p:cNvCxnSpPr/>
          <p:nvPr/>
        </p:nvCxnSpPr>
        <p:spPr>
          <a:xfrm flipV="1">
            <a:off x="8572500" y="2374900"/>
            <a:ext cx="0" cy="2349500"/>
          </a:xfrm>
          <a:prstGeom prst="straightConnector1">
            <a:avLst/>
          </a:prstGeom>
          <a:ln w="28575">
            <a:solidFill>
              <a:srgbClr val="6ED28C"/>
            </a:solidFill>
            <a:tailEnd type="non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B6A56B1-9797-C9E9-36F1-560096024560}"/>
              </a:ext>
            </a:extLst>
          </p:cNvPr>
          <p:cNvCxnSpPr/>
          <p:nvPr/>
        </p:nvCxnSpPr>
        <p:spPr>
          <a:xfrm>
            <a:off x="8572500" y="2374900"/>
            <a:ext cx="3175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183DFE8C-871D-430A-B59A-48520116248E}"/>
              </a:ext>
            </a:extLst>
          </p:cNvPr>
          <p:cNvSpPr txBox="1"/>
          <p:nvPr/>
        </p:nvSpPr>
        <p:spPr>
          <a:xfrm>
            <a:off x="8686800" y="2971800"/>
            <a:ext cx="2794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LOGS + COUNTERS</a:t>
            </a:r>
          </a:p>
        </p:txBody>
      </p:sp>
      <p:cxnSp>
        <p:nvCxnSpPr>
          <p:cNvPr id="27" name="Straight Arrow Connector 26">
            <a:extLst>
              <a:ext uri="{FF2B5EF4-FFF2-40B4-BE49-F238E27FC236}">
                <a16:creationId xmlns:a16="http://schemas.microsoft.com/office/drawing/2014/main" id="{4B5D1134-56FB-8052-F390-6B3DE0CA8AA4}"/>
              </a:ext>
            </a:extLst>
          </p:cNvPr>
          <p:cNvCxnSpPr/>
          <p:nvPr/>
        </p:nvCxnSpPr>
        <p:spPr>
          <a:xfrm>
            <a:off x="2921000" y="4064000"/>
            <a:ext cx="0" cy="1066800"/>
          </a:xfrm>
          <a:prstGeom prst="straightConnector1">
            <a:avLst/>
          </a:prstGeom>
          <a:ln w="28575">
            <a:solidFill>
              <a:srgbClr val="6ED28C"/>
            </a:solidFill>
            <a:prstDash val="dash"/>
            <a:tailEnd type="non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536AAA0-5333-9E3A-0FB2-E394A0A901D8}"/>
              </a:ext>
            </a:extLst>
          </p:cNvPr>
          <p:cNvCxnSpPr/>
          <p:nvPr/>
        </p:nvCxnSpPr>
        <p:spPr>
          <a:xfrm>
            <a:off x="2921000" y="5130800"/>
            <a:ext cx="5969000" cy="0"/>
          </a:xfrm>
          <a:prstGeom prst="straightConnector1">
            <a:avLst/>
          </a:prstGeom>
          <a:ln w="28575">
            <a:solidFill>
              <a:srgbClr val="6ED28C"/>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4AD835E4-2533-B45E-1E07-D5A452D903AA}"/>
              </a:ext>
            </a:extLst>
          </p:cNvPr>
          <p:cNvSpPr txBox="1"/>
          <p:nvPr/>
        </p:nvSpPr>
        <p:spPr>
          <a:xfrm>
            <a:off x="4089400" y="5207000"/>
            <a:ext cx="4445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METRICS · PREVIEW</a:t>
            </a:r>
          </a:p>
        </p:txBody>
      </p:sp>
      <p:sp>
        <p:nvSpPr>
          <p:cNvPr id="30" name="Rectangle 29">
            <a:extLst>
              <a:ext uri="{FF2B5EF4-FFF2-40B4-BE49-F238E27FC236}">
                <a16:creationId xmlns:a16="http://schemas.microsoft.com/office/drawing/2014/main" id="{DFCB2484-0A59-52D8-9F23-61929840DD0D}"/>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F61F70C-4562-641E-67E5-810CC07C8495}"/>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Agent + DCR = data. No DCR, no data: the first thing to check when a chart is empty.</a:t>
            </a:r>
          </a:p>
        </p:txBody>
      </p:sp>
    </p:spTree>
    <p:extLst>
      <p:ext uri="{BB962C8B-B14F-4D97-AF65-F5344CB8AC3E}">
        <p14:creationId xmlns:p14="http://schemas.microsoft.com/office/powerpoint/2010/main" val="2478718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1C027A-7317-6710-A4AC-C4756F79158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14AE53E-C09A-365F-4842-2DA2DBEF8E1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74FB26-0DC8-9F9A-CF28-21FF82473E2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Green servers, broken service</a:t>
            </a:r>
          </a:p>
        </p:txBody>
      </p:sp>
      <p:sp>
        <p:nvSpPr>
          <p:cNvPr id="5" name="Rectangle 4">
            <a:extLst>
              <a:ext uri="{FF2B5EF4-FFF2-40B4-BE49-F238E27FC236}">
                <a16:creationId xmlns:a16="http://schemas.microsoft.com/office/drawing/2014/main" id="{ECD681C5-0660-00F3-FD32-C7C6AC451655}"/>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14E32D1-3D29-951A-ABF5-29F22F4A7C46}"/>
              </a:ext>
            </a:extLst>
          </p:cNvPr>
          <p:cNvSpPr/>
          <p:nvPr/>
        </p:nvSpPr>
        <p:spPr>
          <a:xfrm>
            <a:off x="609600" y="1803400"/>
            <a:ext cx="3454400" cy="375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7" name="Oval 6">
            <a:extLst>
              <a:ext uri="{FF2B5EF4-FFF2-40B4-BE49-F238E27FC236}">
                <a16:creationId xmlns:a16="http://schemas.microsoft.com/office/drawing/2014/main" id="{8873C3FB-EC06-1E16-BF74-7C7742FCBC41}"/>
              </a:ext>
            </a:extLst>
          </p:cNvPr>
          <p:cNvSpPr/>
          <p:nvPr/>
        </p:nvSpPr>
        <p:spPr>
          <a:xfrm>
            <a:off x="863600" y="2032000"/>
            <a:ext cx="381000" cy="3810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FBBA0C7-9CCB-BC04-4CB9-DF11AF4EB965}"/>
              </a:ext>
            </a:extLst>
          </p:cNvPr>
          <p:cNvSpPr txBox="1"/>
          <p:nvPr/>
        </p:nvSpPr>
        <p:spPr>
          <a:xfrm>
            <a:off x="1397000" y="2057400"/>
            <a:ext cx="2489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ARC SAYS CONNECTED</a:t>
            </a:r>
          </a:p>
        </p:txBody>
      </p:sp>
      <p:sp>
        <p:nvSpPr>
          <p:cNvPr id="9" name="TextBox 8">
            <a:extLst>
              <a:ext uri="{FF2B5EF4-FFF2-40B4-BE49-F238E27FC236}">
                <a16:creationId xmlns:a16="http://schemas.microsoft.com/office/drawing/2014/main" id="{6E8EFBDE-05BA-9F6A-2AB3-EF8B42532175}"/>
              </a:ext>
            </a:extLst>
          </p:cNvPr>
          <p:cNvSpPr txBox="1"/>
          <p:nvPr/>
        </p:nvSpPr>
        <p:spPr>
          <a:xfrm>
            <a:off x="863600" y="2667000"/>
            <a:ext cx="2997200" cy="353943"/>
          </a:xfrm>
          <a:prstGeom prst="rect">
            <a:avLst/>
          </a:prstGeom>
          <a:noFill/>
        </p:spPr>
        <p:txBody>
          <a:bodyPr vert="horz" wrap="square" lIns="25400" rIns="25400" rtlCol="0">
            <a:spAutoFit/>
          </a:bodyPr>
          <a:lstStyle/>
          <a:p>
            <a:r>
              <a:rPr lang="en-US" sz="1700" b="1">
                <a:solidFill>
                  <a:srgbClr val="EAF0F7"/>
                </a:solidFill>
                <a:latin typeface="Calibri" panose="020F0502020204030204" pitchFamily="34" charset="0"/>
              </a:rPr>
              <a:t>We can manage the server.</a:t>
            </a:r>
          </a:p>
        </p:txBody>
      </p:sp>
      <p:sp>
        <p:nvSpPr>
          <p:cNvPr id="10" name="TextBox 9">
            <a:extLst>
              <a:ext uri="{FF2B5EF4-FFF2-40B4-BE49-F238E27FC236}">
                <a16:creationId xmlns:a16="http://schemas.microsoft.com/office/drawing/2014/main" id="{A1488B09-5577-BB8D-4805-2F453EDAB9EB}"/>
              </a:ext>
            </a:extLst>
          </p:cNvPr>
          <p:cNvSpPr txBox="1"/>
          <p:nvPr/>
        </p:nvSpPr>
        <p:spPr>
          <a:xfrm>
            <a:off x="863600" y="3581400"/>
            <a:ext cx="2997200" cy="307777"/>
          </a:xfrm>
          <a:prstGeom prst="rect">
            <a:avLst/>
          </a:prstGeom>
          <a:noFill/>
        </p:spPr>
        <p:txBody>
          <a:bodyPr vert="horz" wrap="square" lIns="25400" rIns="25400" rtlCol="0">
            <a:spAutoFit/>
          </a:bodyPr>
          <a:lstStyle/>
          <a:p>
            <a:r>
              <a:rPr lang="en-US" sz="1400">
                <a:solidFill>
                  <a:srgbClr val="A3B2C4"/>
                </a:solidFill>
                <a:latin typeface="Calibri" panose="020F0502020204030204" pitchFamily="34" charset="0"/>
              </a:rPr>
              <a:t>Checked by: the Arc agent status</a:t>
            </a:r>
          </a:p>
        </p:txBody>
      </p:sp>
      <p:sp>
        <p:nvSpPr>
          <p:cNvPr id="11" name="TextBox 10">
            <a:extLst>
              <a:ext uri="{FF2B5EF4-FFF2-40B4-BE49-F238E27FC236}">
                <a16:creationId xmlns:a16="http://schemas.microsoft.com/office/drawing/2014/main" id="{031D6C18-8F64-D09E-9A6F-DA87ED2F7A97}"/>
              </a:ext>
            </a:extLst>
          </p:cNvPr>
          <p:cNvSpPr txBox="1"/>
          <p:nvPr/>
        </p:nvSpPr>
        <p:spPr>
          <a:xfrm>
            <a:off x="863600" y="4368800"/>
            <a:ext cx="2997200" cy="323165"/>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Can be green while orders fail.</a:t>
            </a:r>
          </a:p>
        </p:txBody>
      </p:sp>
      <p:sp>
        <p:nvSpPr>
          <p:cNvPr id="12" name="Rectangle: Rounded Corners 11">
            <a:extLst>
              <a:ext uri="{FF2B5EF4-FFF2-40B4-BE49-F238E27FC236}">
                <a16:creationId xmlns:a16="http://schemas.microsoft.com/office/drawing/2014/main" id="{456CE469-A6E7-D062-BD7E-C088B4018331}"/>
              </a:ext>
            </a:extLst>
          </p:cNvPr>
          <p:cNvSpPr/>
          <p:nvPr/>
        </p:nvSpPr>
        <p:spPr>
          <a:xfrm>
            <a:off x="4368800" y="1803400"/>
            <a:ext cx="3454400" cy="3759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3" name="Oval 12">
            <a:extLst>
              <a:ext uri="{FF2B5EF4-FFF2-40B4-BE49-F238E27FC236}">
                <a16:creationId xmlns:a16="http://schemas.microsoft.com/office/drawing/2014/main" id="{90C90CB4-01CF-6764-5617-873A78430268}"/>
              </a:ext>
            </a:extLst>
          </p:cNvPr>
          <p:cNvSpPr/>
          <p:nvPr/>
        </p:nvSpPr>
        <p:spPr>
          <a:xfrm>
            <a:off x="4622800" y="2032000"/>
            <a:ext cx="381000" cy="381000"/>
          </a:xfrm>
          <a:prstGeom prst="ellipse">
            <a:avLst/>
          </a:prstGeom>
          <a:solidFill>
            <a:srgbClr val="6EA8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E1A3E95-5E8C-1E50-48B7-2C9C72217775}"/>
              </a:ext>
            </a:extLst>
          </p:cNvPr>
          <p:cNvSpPr txBox="1"/>
          <p:nvPr/>
        </p:nvSpPr>
        <p:spPr>
          <a:xfrm>
            <a:off x="5156200" y="2057400"/>
            <a:ext cx="2489200" cy="323165"/>
          </a:xfrm>
          <a:prstGeom prst="rect">
            <a:avLst/>
          </a:prstGeom>
          <a:noFill/>
        </p:spPr>
        <p:txBody>
          <a:bodyPr vert="horz" wrap="square" lIns="25400" rIns="25400" rtlCol="0">
            <a:spAutoFit/>
          </a:bodyPr>
          <a:lstStyle/>
          <a:p>
            <a:r>
              <a:rPr lang="en-US" sz="1500" b="1">
                <a:solidFill>
                  <a:srgbClr val="6EA8F0"/>
                </a:solidFill>
                <a:latin typeface="Calibri" panose="020F0502020204030204" pitchFamily="34" charset="0"/>
              </a:rPr>
              <a:t>DATA IS ARRIVING</a:t>
            </a:r>
          </a:p>
        </p:txBody>
      </p:sp>
      <p:sp>
        <p:nvSpPr>
          <p:cNvPr id="15" name="TextBox 14">
            <a:extLst>
              <a:ext uri="{FF2B5EF4-FFF2-40B4-BE49-F238E27FC236}">
                <a16:creationId xmlns:a16="http://schemas.microsoft.com/office/drawing/2014/main" id="{7A6B10EF-1708-C7C1-E740-5B160752FA3E}"/>
              </a:ext>
            </a:extLst>
          </p:cNvPr>
          <p:cNvSpPr txBox="1"/>
          <p:nvPr/>
        </p:nvSpPr>
        <p:spPr>
          <a:xfrm>
            <a:off x="4622800" y="2667000"/>
            <a:ext cx="2997200" cy="615553"/>
          </a:xfrm>
          <a:prstGeom prst="rect">
            <a:avLst/>
          </a:prstGeom>
          <a:noFill/>
        </p:spPr>
        <p:txBody>
          <a:bodyPr vert="horz" wrap="square" lIns="25400" rIns="25400" rtlCol="0">
            <a:spAutoFit/>
          </a:bodyPr>
          <a:lstStyle/>
          <a:p>
            <a:r>
              <a:rPr lang="en-US" sz="1700" b="1">
                <a:solidFill>
                  <a:srgbClr val="EAF0F7"/>
                </a:solidFill>
                <a:latin typeface="Calibri" panose="020F0502020204030204" pitchFamily="34" charset="0"/>
              </a:rPr>
              <a:t>We can see the server and the app.</a:t>
            </a:r>
          </a:p>
        </p:txBody>
      </p:sp>
      <p:sp>
        <p:nvSpPr>
          <p:cNvPr id="16" name="TextBox 15">
            <a:extLst>
              <a:ext uri="{FF2B5EF4-FFF2-40B4-BE49-F238E27FC236}">
                <a16:creationId xmlns:a16="http://schemas.microsoft.com/office/drawing/2014/main" id="{F34BC436-B287-F237-EC2F-83AF4E13590A}"/>
              </a:ext>
            </a:extLst>
          </p:cNvPr>
          <p:cNvSpPr txBox="1"/>
          <p:nvPr/>
        </p:nvSpPr>
        <p:spPr>
          <a:xfrm>
            <a:off x="4622800" y="3581400"/>
            <a:ext cx="2997200" cy="307777"/>
          </a:xfrm>
          <a:prstGeom prst="rect">
            <a:avLst/>
          </a:prstGeom>
          <a:noFill/>
        </p:spPr>
        <p:txBody>
          <a:bodyPr vert="horz" wrap="square" lIns="25400" rIns="25400" rtlCol="0">
            <a:spAutoFit/>
          </a:bodyPr>
          <a:lstStyle/>
          <a:p>
            <a:r>
              <a:rPr lang="en-US" sz="1400">
                <a:solidFill>
                  <a:srgbClr val="A3B2C4"/>
                </a:solidFill>
                <a:latin typeface="Calibri" panose="020F0502020204030204" pitchFamily="34" charset="0"/>
              </a:rPr>
              <a:t>Checked by: fresh logs and metrics</a:t>
            </a:r>
          </a:p>
        </p:txBody>
      </p:sp>
      <p:sp>
        <p:nvSpPr>
          <p:cNvPr id="17" name="TextBox 16">
            <a:extLst>
              <a:ext uri="{FF2B5EF4-FFF2-40B4-BE49-F238E27FC236}">
                <a16:creationId xmlns:a16="http://schemas.microsoft.com/office/drawing/2014/main" id="{96D313AD-D8D8-4A82-AE7C-C4E9B6129A42}"/>
              </a:ext>
            </a:extLst>
          </p:cNvPr>
          <p:cNvSpPr txBox="1"/>
          <p:nvPr/>
        </p:nvSpPr>
        <p:spPr>
          <a:xfrm>
            <a:off x="4622800" y="4368800"/>
            <a:ext cx="2997200" cy="323165"/>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Can be red while orders still work.</a:t>
            </a:r>
          </a:p>
        </p:txBody>
      </p:sp>
      <p:sp>
        <p:nvSpPr>
          <p:cNvPr id="18" name="Rectangle: Rounded Corners 17">
            <a:extLst>
              <a:ext uri="{FF2B5EF4-FFF2-40B4-BE49-F238E27FC236}">
                <a16:creationId xmlns:a16="http://schemas.microsoft.com/office/drawing/2014/main" id="{D5FABD98-53B4-75B6-6AA8-6F82E1F1AD83}"/>
              </a:ext>
            </a:extLst>
          </p:cNvPr>
          <p:cNvSpPr/>
          <p:nvPr/>
        </p:nvSpPr>
        <p:spPr>
          <a:xfrm>
            <a:off x="8128000" y="1803400"/>
            <a:ext cx="3454400" cy="3759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9" name="Oval 18">
            <a:extLst>
              <a:ext uri="{FF2B5EF4-FFF2-40B4-BE49-F238E27FC236}">
                <a16:creationId xmlns:a16="http://schemas.microsoft.com/office/drawing/2014/main" id="{711C4021-748A-709A-7B67-D8D637B0FB2F}"/>
              </a:ext>
            </a:extLst>
          </p:cNvPr>
          <p:cNvSpPr/>
          <p:nvPr/>
        </p:nvSpPr>
        <p:spPr>
          <a:xfrm>
            <a:off x="8382000" y="2032000"/>
            <a:ext cx="381000" cy="381000"/>
          </a:xfrm>
          <a:prstGeom prst="ellipse">
            <a:avLst/>
          </a:prstGeom>
          <a:solidFill>
            <a:srgbClr val="6ED2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3D2280D-75C3-3B12-0F56-DC8F5554526C}"/>
              </a:ext>
            </a:extLst>
          </p:cNvPr>
          <p:cNvSpPr txBox="1"/>
          <p:nvPr/>
        </p:nvSpPr>
        <p:spPr>
          <a:xfrm>
            <a:off x="8915400" y="2057400"/>
            <a:ext cx="2489200" cy="323165"/>
          </a:xfrm>
          <a:prstGeom prst="rect">
            <a:avLst/>
          </a:prstGeom>
          <a:noFill/>
        </p:spPr>
        <p:txBody>
          <a:bodyPr vert="horz" wrap="square" lIns="25400" rIns="25400" rtlCol="0">
            <a:spAutoFit/>
          </a:bodyPr>
          <a:lstStyle/>
          <a:p>
            <a:r>
              <a:rPr lang="en-US" sz="1500" b="1">
                <a:solidFill>
                  <a:srgbClr val="6ED28C"/>
                </a:solidFill>
                <a:latin typeface="Calibri" panose="020F0502020204030204" pitchFamily="34" charset="0"/>
              </a:rPr>
              <a:t>ORDERS COMPLETE</a:t>
            </a:r>
          </a:p>
        </p:txBody>
      </p:sp>
      <p:sp>
        <p:nvSpPr>
          <p:cNvPr id="21" name="TextBox 20">
            <a:extLst>
              <a:ext uri="{FF2B5EF4-FFF2-40B4-BE49-F238E27FC236}">
                <a16:creationId xmlns:a16="http://schemas.microsoft.com/office/drawing/2014/main" id="{3C088C6F-14D7-6DA8-60C1-845B4EE6558C}"/>
              </a:ext>
            </a:extLst>
          </p:cNvPr>
          <p:cNvSpPr txBox="1"/>
          <p:nvPr/>
        </p:nvSpPr>
        <p:spPr>
          <a:xfrm>
            <a:off x="8382000" y="2667000"/>
            <a:ext cx="2997200" cy="353943"/>
          </a:xfrm>
          <a:prstGeom prst="rect">
            <a:avLst/>
          </a:prstGeom>
          <a:noFill/>
        </p:spPr>
        <p:txBody>
          <a:bodyPr vert="horz" wrap="square" lIns="25400" rIns="25400" rtlCol="0">
            <a:spAutoFit/>
          </a:bodyPr>
          <a:lstStyle/>
          <a:p>
            <a:r>
              <a:rPr lang="en-US" sz="1700" b="1">
                <a:solidFill>
                  <a:srgbClr val="EAF0F7"/>
                </a:solidFill>
                <a:latin typeface="Calibri" panose="020F0502020204030204" pitchFamily="34" charset="0"/>
              </a:rPr>
              <a:t>The service works.</a:t>
            </a:r>
          </a:p>
        </p:txBody>
      </p:sp>
      <p:sp>
        <p:nvSpPr>
          <p:cNvPr id="22" name="TextBox 21">
            <a:extLst>
              <a:ext uri="{FF2B5EF4-FFF2-40B4-BE49-F238E27FC236}">
                <a16:creationId xmlns:a16="http://schemas.microsoft.com/office/drawing/2014/main" id="{BA21BB2B-2575-7715-F446-46321FBF03F4}"/>
              </a:ext>
            </a:extLst>
          </p:cNvPr>
          <p:cNvSpPr txBox="1"/>
          <p:nvPr/>
        </p:nvSpPr>
        <p:spPr>
          <a:xfrm>
            <a:off x="8382000" y="3581400"/>
            <a:ext cx="2997200" cy="307777"/>
          </a:xfrm>
          <a:prstGeom prst="rect">
            <a:avLst/>
          </a:prstGeom>
          <a:noFill/>
        </p:spPr>
        <p:txBody>
          <a:bodyPr vert="horz" wrap="square" lIns="25400" rIns="25400" rtlCol="0">
            <a:spAutoFit/>
          </a:bodyPr>
          <a:lstStyle/>
          <a:p>
            <a:r>
              <a:rPr lang="en-US" sz="1400">
                <a:solidFill>
                  <a:srgbClr val="A3B2C4"/>
                </a:solidFill>
                <a:latin typeface="Calibri" panose="020F0502020204030204" pitchFamily="34" charset="0"/>
              </a:rPr>
              <a:t>Checked by: a fresh order, end to end</a:t>
            </a:r>
          </a:p>
        </p:txBody>
      </p:sp>
      <p:sp>
        <p:nvSpPr>
          <p:cNvPr id="23" name="TextBox 22">
            <a:extLst>
              <a:ext uri="{FF2B5EF4-FFF2-40B4-BE49-F238E27FC236}">
                <a16:creationId xmlns:a16="http://schemas.microsoft.com/office/drawing/2014/main" id="{75753DE3-B1DD-373F-9A13-CBFDE5F75CCB}"/>
              </a:ext>
            </a:extLst>
          </p:cNvPr>
          <p:cNvSpPr txBox="1"/>
          <p:nvPr/>
        </p:nvSpPr>
        <p:spPr>
          <a:xfrm>
            <a:off x="8382000" y="4368800"/>
            <a:ext cx="2997200" cy="323165"/>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Proves the service works.</a:t>
            </a:r>
          </a:p>
        </p:txBody>
      </p:sp>
      <p:sp>
        <p:nvSpPr>
          <p:cNvPr id="24" name="Rectangle 23">
            <a:extLst>
              <a:ext uri="{FF2B5EF4-FFF2-40B4-BE49-F238E27FC236}">
                <a16:creationId xmlns:a16="http://schemas.microsoft.com/office/drawing/2014/main" id="{F78869DF-3F2D-D160-C659-12A080E2A609}"/>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07E241F-4476-C4C8-8622-346BEDCEE8C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Check the service, not just the servers.</a:t>
            </a:r>
          </a:p>
        </p:txBody>
      </p:sp>
    </p:spTree>
    <p:extLst>
      <p:ext uri="{BB962C8B-B14F-4D97-AF65-F5344CB8AC3E}">
        <p14:creationId xmlns:p14="http://schemas.microsoft.com/office/powerpoint/2010/main" val="1124802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EB4111-7C7C-5DE5-CBA5-C0B91B7782DB}"/>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DD809CE-9404-4B92-BB6B-0BC43CE64AC7}"/>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DB828DB-E6E0-FCA2-44C8-1C1BFFEECD1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From signals to machine health to service health</a:t>
            </a:r>
          </a:p>
        </p:txBody>
      </p:sp>
      <p:sp>
        <p:nvSpPr>
          <p:cNvPr id="5" name="Rectangle 4">
            <a:extLst>
              <a:ext uri="{FF2B5EF4-FFF2-40B4-BE49-F238E27FC236}">
                <a16:creationId xmlns:a16="http://schemas.microsoft.com/office/drawing/2014/main" id="{6D19D43A-E90B-E129-0201-30CA54EF8B5A}"/>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B230DF84-0245-B33A-7D3E-0DE23A1039B4}"/>
              </a:ext>
            </a:extLst>
          </p:cNvPr>
          <p:cNvSpPr/>
          <p:nvPr/>
        </p:nvSpPr>
        <p:spPr>
          <a:xfrm>
            <a:off x="609600" y="2692400"/>
            <a:ext cx="3429000" cy="685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Azure coordination
Functions + Service Bus</a:t>
            </a:r>
          </a:p>
        </p:txBody>
      </p:sp>
      <p:sp>
        <p:nvSpPr>
          <p:cNvPr id="7" name="Rectangle: Rounded Corners 6">
            <a:extLst>
              <a:ext uri="{FF2B5EF4-FFF2-40B4-BE49-F238E27FC236}">
                <a16:creationId xmlns:a16="http://schemas.microsoft.com/office/drawing/2014/main" id="{92124DC8-1EC8-30B4-C884-3D420958E973}"/>
              </a:ext>
            </a:extLst>
          </p:cNvPr>
          <p:cNvSpPr/>
          <p:nvPr/>
        </p:nvSpPr>
        <p:spPr>
          <a:xfrm>
            <a:off x="4381500" y="2692400"/>
            <a:ext cx="3429000" cy="685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On-premises validation
SCVMM-hosted worker</a:t>
            </a:r>
          </a:p>
        </p:txBody>
      </p:sp>
      <p:sp>
        <p:nvSpPr>
          <p:cNvPr id="8" name="Rectangle: Rounded Corners 7">
            <a:extLst>
              <a:ext uri="{FF2B5EF4-FFF2-40B4-BE49-F238E27FC236}">
                <a16:creationId xmlns:a16="http://schemas.microsoft.com/office/drawing/2014/main" id="{6921DD01-AF5E-84E9-6E34-0DCDC32D7309}"/>
              </a:ext>
            </a:extLst>
          </p:cNvPr>
          <p:cNvSpPr/>
          <p:nvPr/>
        </p:nvSpPr>
        <p:spPr>
          <a:xfrm>
            <a:off x="8153400" y="2692400"/>
            <a:ext cx="3429000" cy="685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AWS fulfillment
Arc-enabled EC2 worker</a:t>
            </a:r>
          </a:p>
        </p:txBody>
      </p:sp>
      <p:cxnSp>
        <p:nvCxnSpPr>
          <p:cNvPr id="9" name="Straight Arrow Connector 8">
            <a:extLst>
              <a:ext uri="{FF2B5EF4-FFF2-40B4-BE49-F238E27FC236}">
                <a16:creationId xmlns:a16="http://schemas.microsoft.com/office/drawing/2014/main" id="{8A9320E2-0C3D-D7D8-9F19-A83C7B8C529C}"/>
              </a:ext>
            </a:extLst>
          </p:cNvPr>
          <p:cNvCxnSpPr/>
          <p:nvPr/>
        </p:nvCxnSpPr>
        <p:spPr>
          <a:xfrm flipV="1">
            <a:off x="2324100" y="2260600"/>
            <a:ext cx="2755900" cy="4318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74966E0-48A4-1292-A283-BC3ED33B0979}"/>
              </a:ext>
            </a:extLst>
          </p:cNvPr>
          <p:cNvCxnSpPr/>
          <p:nvPr/>
        </p:nvCxnSpPr>
        <p:spPr>
          <a:xfrm flipV="1">
            <a:off x="6096000" y="2260600"/>
            <a:ext cx="0" cy="43180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6F64CFD-2D21-279D-03E4-29CFE5B7ECEE}"/>
              </a:ext>
            </a:extLst>
          </p:cNvPr>
          <p:cNvSpPr txBox="1"/>
          <p:nvPr/>
        </p:nvSpPr>
        <p:spPr>
          <a:xfrm>
            <a:off x="6197600" y="2311400"/>
            <a:ext cx="9144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Degraded ▲</a:t>
            </a:r>
          </a:p>
        </p:txBody>
      </p:sp>
      <p:cxnSp>
        <p:nvCxnSpPr>
          <p:cNvPr id="12" name="Straight Arrow Connector 11">
            <a:extLst>
              <a:ext uri="{FF2B5EF4-FFF2-40B4-BE49-F238E27FC236}">
                <a16:creationId xmlns:a16="http://schemas.microsoft.com/office/drawing/2014/main" id="{DAB450AC-B114-5389-F544-C5F0ADA79435}"/>
              </a:ext>
            </a:extLst>
          </p:cNvPr>
          <p:cNvCxnSpPr/>
          <p:nvPr/>
        </p:nvCxnSpPr>
        <p:spPr>
          <a:xfrm flipH="1" flipV="1">
            <a:off x="7112000" y="2260600"/>
            <a:ext cx="2755900" cy="4318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427FE3E-364D-0E81-9002-AA0EA96BE90A}"/>
              </a:ext>
            </a:extLst>
          </p:cNvPr>
          <p:cNvSpPr txBox="1"/>
          <p:nvPr/>
        </p:nvSpPr>
        <p:spPr>
          <a:xfrm>
            <a:off x="1168400" y="2476500"/>
            <a:ext cx="1092200" cy="261610"/>
          </a:xfrm>
          <a:prstGeom prst="rect">
            <a:avLst/>
          </a:prstGeom>
          <a:noFill/>
        </p:spPr>
        <p:txBody>
          <a:bodyPr vert="horz" wrap="square" lIns="25400" rIns="25400" rtlCol="0">
            <a:spAutoFit/>
          </a:bodyPr>
          <a:lstStyle/>
          <a:p>
            <a:pPr algn="r"/>
            <a:r>
              <a:rPr lang="en-US" sz="1100" b="1">
                <a:solidFill>
                  <a:srgbClr val="6ED28C"/>
                </a:solidFill>
                <a:latin typeface="Calibri" panose="020F0502020204030204" pitchFamily="34" charset="0"/>
              </a:rPr>
              <a:t>Healthy ▲</a:t>
            </a:r>
          </a:p>
        </p:txBody>
      </p:sp>
      <p:sp>
        <p:nvSpPr>
          <p:cNvPr id="14" name="TextBox 13">
            <a:extLst>
              <a:ext uri="{FF2B5EF4-FFF2-40B4-BE49-F238E27FC236}">
                <a16:creationId xmlns:a16="http://schemas.microsoft.com/office/drawing/2014/main" id="{2EC7A7E1-69D9-A19C-3D15-C29770B86175}"/>
              </a:ext>
            </a:extLst>
          </p:cNvPr>
          <p:cNvSpPr txBox="1"/>
          <p:nvPr/>
        </p:nvSpPr>
        <p:spPr>
          <a:xfrm>
            <a:off x="9956800" y="2476500"/>
            <a:ext cx="1143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Healthy ▲</a:t>
            </a:r>
          </a:p>
        </p:txBody>
      </p:sp>
      <p:sp>
        <p:nvSpPr>
          <p:cNvPr id="15" name="Rectangle: Rounded Corners 14">
            <a:extLst>
              <a:ext uri="{FF2B5EF4-FFF2-40B4-BE49-F238E27FC236}">
                <a16:creationId xmlns:a16="http://schemas.microsoft.com/office/drawing/2014/main" id="{00A21085-C76D-3B3A-7C58-4F910C4446AD}"/>
              </a:ext>
            </a:extLst>
          </p:cNvPr>
          <p:cNvSpPr/>
          <p:nvPr/>
        </p:nvSpPr>
        <p:spPr>
          <a:xfrm>
            <a:off x="3810000" y="1676400"/>
            <a:ext cx="4572000" cy="584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Customers can complete an IIC order</a:t>
            </a:r>
          </a:p>
        </p:txBody>
      </p:sp>
      <p:sp>
        <p:nvSpPr>
          <p:cNvPr id="16" name="Rectangle: Rounded Corners 15">
            <a:extLst>
              <a:ext uri="{FF2B5EF4-FFF2-40B4-BE49-F238E27FC236}">
                <a16:creationId xmlns:a16="http://schemas.microsoft.com/office/drawing/2014/main" id="{7040D77F-FCC5-969A-47A7-400FB488BEB0}"/>
              </a:ext>
            </a:extLst>
          </p:cNvPr>
          <p:cNvSpPr/>
          <p:nvPr/>
        </p:nvSpPr>
        <p:spPr>
          <a:xfrm>
            <a:off x="8636000" y="1701800"/>
            <a:ext cx="3048000" cy="7366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09E5A"/>
                </a:solidFill>
                <a:latin typeface="Calibri" panose="020F0502020204030204" pitchFamily="34" charset="0"/>
              </a:rPr>
              <a:t>ROLLUP RESULT: DEGRADED
Rule: all three required - any non-Healthy child degrades the order</a:t>
            </a:r>
          </a:p>
        </p:txBody>
      </p:sp>
      <p:sp>
        <p:nvSpPr>
          <p:cNvPr id="17" name="TextBox 16">
            <a:extLst>
              <a:ext uri="{FF2B5EF4-FFF2-40B4-BE49-F238E27FC236}">
                <a16:creationId xmlns:a16="http://schemas.microsoft.com/office/drawing/2014/main" id="{905496BA-B09D-7B6B-A7CB-A780285EAA53}"/>
              </a:ext>
            </a:extLst>
          </p:cNvPr>
          <p:cNvSpPr txBox="1"/>
          <p:nvPr/>
        </p:nvSpPr>
        <p:spPr>
          <a:xfrm>
            <a:off x="609600" y="3581400"/>
            <a:ext cx="5461000" cy="553998"/>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Order evidence decides: did each step answer, in time, under one order ID?</a:t>
            </a:r>
          </a:p>
        </p:txBody>
      </p:sp>
      <p:sp>
        <p:nvSpPr>
          <p:cNvPr id="18" name="TextBox 17">
            <a:extLst>
              <a:ext uri="{FF2B5EF4-FFF2-40B4-BE49-F238E27FC236}">
                <a16:creationId xmlns:a16="http://schemas.microsoft.com/office/drawing/2014/main" id="{6E74044B-D1B5-1CD5-70E3-555159B8DB4C}"/>
              </a:ext>
            </a:extLst>
          </p:cNvPr>
          <p:cNvSpPr txBox="1"/>
          <p:nvPr/>
        </p:nvSpPr>
        <p:spPr>
          <a:xfrm>
            <a:off x="6248400" y="3581400"/>
            <a:ext cx="5334000" cy="553998"/>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Machine evidence supports: heartbeat and server signals. Never the answer on its own.</a:t>
            </a:r>
          </a:p>
        </p:txBody>
      </p:sp>
      <p:sp>
        <p:nvSpPr>
          <p:cNvPr id="19" name="TextBox 18">
            <a:extLst>
              <a:ext uri="{FF2B5EF4-FFF2-40B4-BE49-F238E27FC236}">
                <a16:creationId xmlns:a16="http://schemas.microsoft.com/office/drawing/2014/main" id="{D3428457-219B-C44B-53F5-F6488FDFA752}"/>
              </a:ext>
            </a:extLst>
          </p:cNvPr>
          <p:cNvSpPr txBox="1"/>
          <p:nvPr/>
        </p:nvSpPr>
        <p:spPr>
          <a:xfrm>
            <a:off x="609600" y="4470400"/>
            <a:ext cx="6350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FOUR STATES, USED AT EVERY LEVEL</a:t>
            </a:r>
          </a:p>
        </p:txBody>
      </p:sp>
      <p:sp>
        <p:nvSpPr>
          <p:cNvPr id="20" name="Rectangle: Rounded Corners 19">
            <a:extLst>
              <a:ext uri="{FF2B5EF4-FFF2-40B4-BE49-F238E27FC236}">
                <a16:creationId xmlns:a16="http://schemas.microsoft.com/office/drawing/2014/main" id="{E0C1FE8C-26D6-A34C-988E-C62C6AFF7AA2}"/>
              </a:ext>
            </a:extLst>
          </p:cNvPr>
          <p:cNvSpPr/>
          <p:nvPr/>
        </p:nvSpPr>
        <p:spPr>
          <a:xfrm>
            <a:off x="609600" y="4749800"/>
            <a:ext cx="1905000" cy="457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6ED28C"/>
                </a:solidFill>
                <a:latin typeface="Calibri" panose="020F0502020204030204" pitchFamily="34" charset="0"/>
              </a:rPr>
              <a:t>Healthy</a:t>
            </a:r>
          </a:p>
        </p:txBody>
      </p:sp>
      <p:sp>
        <p:nvSpPr>
          <p:cNvPr id="21" name="Rectangle: Rounded Corners 20">
            <a:extLst>
              <a:ext uri="{FF2B5EF4-FFF2-40B4-BE49-F238E27FC236}">
                <a16:creationId xmlns:a16="http://schemas.microsoft.com/office/drawing/2014/main" id="{EEC9D691-4335-C5EE-CE68-47A32A49EBD8}"/>
              </a:ext>
            </a:extLst>
          </p:cNvPr>
          <p:cNvSpPr/>
          <p:nvPr/>
        </p:nvSpPr>
        <p:spPr>
          <a:xfrm>
            <a:off x="2692400" y="4749800"/>
            <a:ext cx="1905000" cy="457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09E5A"/>
                </a:solidFill>
                <a:latin typeface="Calibri" panose="020F0502020204030204" pitchFamily="34" charset="0"/>
              </a:rPr>
              <a:t>Degraded</a:t>
            </a:r>
          </a:p>
        </p:txBody>
      </p:sp>
      <p:sp>
        <p:nvSpPr>
          <p:cNvPr id="22" name="Rectangle: Rounded Corners 21">
            <a:extLst>
              <a:ext uri="{FF2B5EF4-FFF2-40B4-BE49-F238E27FC236}">
                <a16:creationId xmlns:a16="http://schemas.microsoft.com/office/drawing/2014/main" id="{7CDB7964-7963-6AED-E79B-5CD8F8C966D4}"/>
              </a:ext>
            </a:extLst>
          </p:cNvPr>
          <p:cNvSpPr/>
          <p:nvPr/>
        </p:nvSpPr>
        <p:spPr>
          <a:xfrm>
            <a:off x="4775200" y="4749800"/>
            <a:ext cx="1905000" cy="457200"/>
          </a:xfrm>
          <a:prstGeom prst="roundRect">
            <a:avLst/>
          </a:prstGeom>
          <a:solidFill>
            <a:srgbClr val="232E41"/>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0786E"/>
                </a:solidFill>
                <a:latin typeface="Calibri" panose="020F0502020204030204" pitchFamily="34" charset="0"/>
              </a:rPr>
              <a:t>Unhealthy</a:t>
            </a:r>
          </a:p>
        </p:txBody>
      </p:sp>
      <p:sp>
        <p:nvSpPr>
          <p:cNvPr id="23" name="Rectangle: Rounded Corners 22">
            <a:extLst>
              <a:ext uri="{FF2B5EF4-FFF2-40B4-BE49-F238E27FC236}">
                <a16:creationId xmlns:a16="http://schemas.microsoft.com/office/drawing/2014/main" id="{5C95BF2A-7570-F930-3AB9-BC604CFCA6EB}"/>
              </a:ext>
            </a:extLst>
          </p:cNvPr>
          <p:cNvSpPr/>
          <p:nvPr/>
        </p:nvSpPr>
        <p:spPr>
          <a:xfrm>
            <a:off x="6858000" y="4749800"/>
            <a:ext cx="4724400" cy="4572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6EA8F0"/>
                </a:solidFill>
                <a:latin typeface="Calibri" panose="020F0502020204030204" pitchFamily="34" charset="0"/>
              </a:rPr>
              <a:t>Unknown: evidence missing, not green</a:t>
            </a:r>
          </a:p>
        </p:txBody>
      </p:sp>
      <p:sp>
        <p:nvSpPr>
          <p:cNvPr id="24" name="Rectangle 23">
            <a:extLst>
              <a:ext uri="{FF2B5EF4-FFF2-40B4-BE49-F238E27FC236}">
                <a16:creationId xmlns:a16="http://schemas.microsoft.com/office/drawing/2014/main" id="{093560B9-0736-E764-D89A-FC0CDDCEAD17}"/>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D6A8EC1-2FCF-5D52-179C-2044EA955291}"/>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Tomorrow's Whole-Service Observability session builds this health model (Azure Monitor health models are in preview).</a:t>
            </a:r>
          </a:p>
        </p:txBody>
      </p:sp>
    </p:spTree>
    <p:extLst>
      <p:ext uri="{BB962C8B-B14F-4D97-AF65-F5344CB8AC3E}">
        <p14:creationId xmlns:p14="http://schemas.microsoft.com/office/powerpoint/2010/main" val="3166242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18303D-441F-E6FB-9DCC-BFA65BFB1A25}"/>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877EFC-405C-91CB-696D-2D326DA0DBD2}"/>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66A1A0F-8062-27DE-F0F7-1BDF80477BF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Two places to ask questions</a:t>
            </a:r>
          </a:p>
        </p:txBody>
      </p:sp>
      <p:sp>
        <p:nvSpPr>
          <p:cNvPr id="5" name="Rectangle 4">
            <a:extLst>
              <a:ext uri="{FF2B5EF4-FFF2-40B4-BE49-F238E27FC236}">
                <a16:creationId xmlns:a16="http://schemas.microsoft.com/office/drawing/2014/main" id="{52B1A6BB-0C12-C8EB-B2CF-7D04E374CE36}"/>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1250E95-A6DD-FB07-62AF-EFBB63E83856}"/>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Resource Graph: what exists. Azure Monitor: what happened.</a:t>
            </a:r>
          </a:p>
        </p:txBody>
      </p:sp>
      <p:sp>
        <p:nvSpPr>
          <p:cNvPr id="7" name="TextBox 6">
            <a:extLst>
              <a:ext uri="{FF2B5EF4-FFF2-40B4-BE49-F238E27FC236}">
                <a16:creationId xmlns:a16="http://schemas.microsoft.com/office/drawing/2014/main" id="{E991FAC6-75B6-9AAA-B392-B60C26E09BFC}"/>
              </a:ext>
            </a:extLst>
          </p:cNvPr>
          <p:cNvSpPr txBox="1"/>
          <p:nvPr/>
        </p:nvSpPr>
        <p:spPr>
          <a:xfrm>
            <a:off x="609600" y="1625600"/>
            <a:ext cx="3302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QUESTION</a:t>
            </a:r>
          </a:p>
        </p:txBody>
      </p:sp>
      <p:sp>
        <p:nvSpPr>
          <p:cNvPr id="8" name="TextBox 7">
            <a:extLst>
              <a:ext uri="{FF2B5EF4-FFF2-40B4-BE49-F238E27FC236}">
                <a16:creationId xmlns:a16="http://schemas.microsoft.com/office/drawing/2014/main" id="{59E0F2CB-9E6D-C406-EB6E-263557DA27CD}"/>
              </a:ext>
            </a:extLst>
          </p:cNvPr>
          <p:cNvSpPr txBox="1"/>
          <p:nvPr/>
        </p:nvSpPr>
        <p:spPr>
          <a:xfrm>
            <a:off x="4419600" y="1625600"/>
            <a:ext cx="3302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QUERY SURFACE</a:t>
            </a:r>
          </a:p>
        </p:txBody>
      </p:sp>
      <p:sp>
        <p:nvSpPr>
          <p:cNvPr id="9" name="TextBox 8">
            <a:extLst>
              <a:ext uri="{FF2B5EF4-FFF2-40B4-BE49-F238E27FC236}">
                <a16:creationId xmlns:a16="http://schemas.microsoft.com/office/drawing/2014/main" id="{F45A3BE3-AC89-CDEF-7B5A-EB9CCE4F8D83}"/>
              </a:ext>
            </a:extLst>
          </p:cNvPr>
          <p:cNvSpPr txBox="1"/>
          <p:nvPr/>
        </p:nvSpPr>
        <p:spPr>
          <a:xfrm>
            <a:off x="8229600" y="1625600"/>
            <a:ext cx="33528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EXAMPLE RESULT</a:t>
            </a:r>
          </a:p>
        </p:txBody>
      </p:sp>
      <p:sp>
        <p:nvSpPr>
          <p:cNvPr id="10" name="Rectangle: Rounded Corners 9">
            <a:extLst>
              <a:ext uri="{FF2B5EF4-FFF2-40B4-BE49-F238E27FC236}">
                <a16:creationId xmlns:a16="http://schemas.microsoft.com/office/drawing/2014/main" id="{31BE19A2-F9F0-0BBD-C01A-874DCB82A65C}"/>
              </a:ext>
            </a:extLst>
          </p:cNvPr>
          <p:cNvSpPr/>
          <p:nvPr/>
        </p:nvSpPr>
        <p:spPr>
          <a:xfrm>
            <a:off x="609600" y="1981200"/>
            <a:ext cx="33020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What exists, and how is it set up?</a:t>
            </a:r>
          </a:p>
        </p:txBody>
      </p:sp>
      <p:sp>
        <p:nvSpPr>
          <p:cNvPr id="11" name="Rectangle: Rounded Corners 10">
            <a:extLst>
              <a:ext uri="{FF2B5EF4-FFF2-40B4-BE49-F238E27FC236}">
                <a16:creationId xmlns:a16="http://schemas.microsoft.com/office/drawing/2014/main" id="{E5A1A096-4331-C92C-B744-B4866BC6AAB3}"/>
              </a:ext>
            </a:extLst>
          </p:cNvPr>
          <p:cNvSpPr/>
          <p:nvPr/>
        </p:nvSpPr>
        <p:spPr>
          <a:xfrm>
            <a:off x="4419600" y="1981200"/>
            <a:ext cx="3302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Azure Resource Graph</a:t>
            </a:r>
          </a:p>
        </p:txBody>
      </p:sp>
      <p:sp>
        <p:nvSpPr>
          <p:cNvPr id="12" name="Rectangle: Rounded Corners 11">
            <a:extLst>
              <a:ext uri="{FF2B5EF4-FFF2-40B4-BE49-F238E27FC236}">
                <a16:creationId xmlns:a16="http://schemas.microsoft.com/office/drawing/2014/main" id="{2195876F-19C9-904B-F986-475647CB863E}"/>
              </a:ext>
            </a:extLst>
          </p:cNvPr>
          <p:cNvSpPr/>
          <p:nvPr/>
        </p:nvSpPr>
        <p:spPr>
          <a:xfrm>
            <a:off x="8229600" y="1981200"/>
            <a:ext cx="33528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a:solidFill>
                  <a:srgbClr val="EAF0F7"/>
                </a:solidFill>
                <a:latin typeface="Calibri" panose="020F0502020204030204" pitchFamily="34" charset="0"/>
              </a:rPr>
              <a:t>Which servers are connected, tagged, and have the agent</a:t>
            </a:r>
          </a:p>
        </p:txBody>
      </p:sp>
      <p:cxnSp>
        <p:nvCxnSpPr>
          <p:cNvPr id="13" name="Straight Arrow Connector 12">
            <a:extLst>
              <a:ext uri="{FF2B5EF4-FFF2-40B4-BE49-F238E27FC236}">
                <a16:creationId xmlns:a16="http://schemas.microsoft.com/office/drawing/2014/main" id="{96EBBEDD-BFAF-34E9-B0D1-E7EFCC4310F1}"/>
              </a:ext>
            </a:extLst>
          </p:cNvPr>
          <p:cNvCxnSpPr/>
          <p:nvPr/>
        </p:nvCxnSpPr>
        <p:spPr>
          <a:xfrm>
            <a:off x="3911600" y="2349500"/>
            <a:ext cx="508000" cy="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9512600-1A7E-9C03-CF87-DB05CC0C6CA6}"/>
              </a:ext>
            </a:extLst>
          </p:cNvPr>
          <p:cNvCxnSpPr/>
          <p:nvPr/>
        </p:nvCxnSpPr>
        <p:spPr>
          <a:xfrm>
            <a:off x="7721600" y="2349500"/>
            <a:ext cx="508000" cy="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B9006940-7EB9-6843-BD9E-A5CC1DD4FFDB}"/>
              </a:ext>
            </a:extLst>
          </p:cNvPr>
          <p:cNvSpPr/>
          <p:nvPr/>
        </p:nvSpPr>
        <p:spPr>
          <a:xfrm>
            <a:off x="609600" y="2946400"/>
            <a:ext cx="33020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What happened on the server?</a:t>
            </a:r>
          </a:p>
        </p:txBody>
      </p:sp>
      <p:sp>
        <p:nvSpPr>
          <p:cNvPr id="16" name="Rectangle: Rounded Corners 15">
            <a:extLst>
              <a:ext uri="{FF2B5EF4-FFF2-40B4-BE49-F238E27FC236}">
                <a16:creationId xmlns:a16="http://schemas.microsoft.com/office/drawing/2014/main" id="{71EB2372-AC29-BDDD-860E-317804FA7AD3}"/>
              </a:ext>
            </a:extLst>
          </p:cNvPr>
          <p:cNvSpPr/>
          <p:nvPr/>
        </p:nvSpPr>
        <p:spPr>
          <a:xfrm>
            <a:off x="4419600" y="2946400"/>
            <a:ext cx="3302000" cy="7366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Log Analytics</a:t>
            </a:r>
          </a:p>
        </p:txBody>
      </p:sp>
      <p:sp>
        <p:nvSpPr>
          <p:cNvPr id="17" name="Rectangle: Rounded Corners 16">
            <a:extLst>
              <a:ext uri="{FF2B5EF4-FFF2-40B4-BE49-F238E27FC236}">
                <a16:creationId xmlns:a16="http://schemas.microsoft.com/office/drawing/2014/main" id="{51872B68-55EF-B284-0877-C9CEC08A403E}"/>
              </a:ext>
            </a:extLst>
          </p:cNvPr>
          <p:cNvSpPr/>
          <p:nvPr/>
        </p:nvSpPr>
        <p:spPr>
          <a:xfrm>
            <a:off x="8229600" y="2946400"/>
            <a:ext cx="33528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a:solidFill>
                  <a:srgbClr val="EAF0F7"/>
                </a:solidFill>
                <a:latin typeface="Calibri" panose="020F0502020204030204" pitchFamily="34" charset="0"/>
              </a:rPr>
              <a:t>Recent events, Syslog, heartbeat</a:t>
            </a:r>
          </a:p>
        </p:txBody>
      </p:sp>
      <p:cxnSp>
        <p:nvCxnSpPr>
          <p:cNvPr id="18" name="Straight Arrow Connector 17">
            <a:extLst>
              <a:ext uri="{FF2B5EF4-FFF2-40B4-BE49-F238E27FC236}">
                <a16:creationId xmlns:a16="http://schemas.microsoft.com/office/drawing/2014/main" id="{B59DBB4B-EE78-F3F2-20C0-7733B3ED2549}"/>
              </a:ext>
            </a:extLst>
          </p:cNvPr>
          <p:cNvCxnSpPr/>
          <p:nvPr/>
        </p:nvCxnSpPr>
        <p:spPr>
          <a:xfrm>
            <a:off x="3911600" y="3314700"/>
            <a:ext cx="508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D4A0B8B6-46DA-544D-D087-7328D10F9E36}"/>
              </a:ext>
            </a:extLst>
          </p:cNvPr>
          <p:cNvCxnSpPr/>
          <p:nvPr/>
        </p:nvCxnSpPr>
        <p:spPr>
          <a:xfrm>
            <a:off x="7721600" y="3314700"/>
            <a:ext cx="508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7324F4DC-CEA2-9830-BDC7-3F55545984A6}"/>
              </a:ext>
            </a:extLst>
          </p:cNvPr>
          <p:cNvSpPr/>
          <p:nvPr/>
        </p:nvSpPr>
        <p:spPr>
          <a:xfrm>
            <a:off x="609600" y="3911600"/>
            <a:ext cx="33020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How is a number trending?</a:t>
            </a:r>
          </a:p>
        </p:txBody>
      </p:sp>
      <p:sp>
        <p:nvSpPr>
          <p:cNvPr id="21" name="Rectangle: Rounded Corners 20">
            <a:extLst>
              <a:ext uri="{FF2B5EF4-FFF2-40B4-BE49-F238E27FC236}">
                <a16:creationId xmlns:a16="http://schemas.microsoft.com/office/drawing/2014/main" id="{75A6D6D3-654E-A4CE-2F75-4AE193F6E8B8}"/>
              </a:ext>
            </a:extLst>
          </p:cNvPr>
          <p:cNvSpPr/>
          <p:nvPr/>
        </p:nvSpPr>
        <p:spPr>
          <a:xfrm>
            <a:off x="4419600" y="3911600"/>
            <a:ext cx="3302000" cy="7366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Metrics</a:t>
            </a:r>
          </a:p>
        </p:txBody>
      </p:sp>
      <p:sp>
        <p:nvSpPr>
          <p:cNvPr id="22" name="Rectangle: Rounded Corners 21">
            <a:extLst>
              <a:ext uri="{FF2B5EF4-FFF2-40B4-BE49-F238E27FC236}">
                <a16:creationId xmlns:a16="http://schemas.microsoft.com/office/drawing/2014/main" id="{C1381693-84F4-DDF3-3343-CB87A00B2AE3}"/>
              </a:ext>
            </a:extLst>
          </p:cNvPr>
          <p:cNvSpPr/>
          <p:nvPr/>
        </p:nvSpPr>
        <p:spPr>
          <a:xfrm>
            <a:off x="8229600" y="3911600"/>
            <a:ext cx="33528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a:solidFill>
                  <a:srgbClr val="EAF0F7"/>
                </a:solidFill>
                <a:latin typeface="Calibri" panose="020F0502020204030204" pitchFamily="34" charset="0"/>
              </a:rPr>
              <a:t>CPU, queue length or response time over the last hour</a:t>
            </a:r>
          </a:p>
        </p:txBody>
      </p:sp>
      <p:cxnSp>
        <p:nvCxnSpPr>
          <p:cNvPr id="23" name="Straight Arrow Connector 22">
            <a:extLst>
              <a:ext uri="{FF2B5EF4-FFF2-40B4-BE49-F238E27FC236}">
                <a16:creationId xmlns:a16="http://schemas.microsoft.com/office/drawing/2014/main" id="{A64280A9-00E3-D7F9-5E39-3E1C405EB1D0}"/>
              </a:ext>
            </a:extLst>
          </p:cNvPr>
          <p:cNvCxnSpPr/>
          <p:nvPr/>
        </p:nvCxnSpPr>
        <p:spPr>
          <a:xfrm>
            <a:off x="3911600" y="4279900"/>
            <a:ext cx="508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22F4E6C-D0D7-6CA1-B711-2195558F77F7}"/>
              </a:ext>
            </a:extLst>
          </p:cNvPr>
          <p:cNvCxnSpPr/>
          <p:nvPr/>
        </p:nvCxnSpPr>
        <p:spPr>
          <a:xfrm>
            <a:off x="7721600" y="4279900"/>
            <a:ext cx="508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BD22E0C6-D9D3-0566-4E15-ADBD31450DE4}"/>
              </a:ext>
            </a:extLst>
          </p:cNvPr>
          <p:cNvSpPr/>
          <p:nvPr/>
        </p:nvSpPr>
        <p:spPr>
          <a:xfrm>
            <a:off x="609600" y="4876800"/>
            <a:ext cx="33020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Does an order complete now?</a:t>
            </a:r>
          </a:p>
        </p:txBody>
      </p:sp>
      <p:sp>
        <p:nvSpPr>
          <p:cNvPr id="26" name="Rectangle: Rounded Corners 25">
            <a:extLst>
              <a:ext uri="{FF2B5EF4-FFF2-40B4-BE49-F238E27FC236}">
                <a16:creationId xmlns:a16="http://schemas.microsoft.com/office/drawing/2014/main" id="{35107F77-69C9-14D4-374D-D66573503959}"/>
              </a:ext>
            </a:extLst>
          </p:cNvPr>
          <p:cNvSpPr/>
          <p:nvPr/>
        </p:nvSpPr>
        <p:spPr>
          <a:xfrm>
            <a:off x="4419600" y="4876800"/>
            <a:ext cx="3302000" cy="7366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 fresh order, traced end to end</a:t>
            </a:r>
          </a:p>
        </p:txBody>
      </p:sp>
      <p:sp>
        <p:nvSpPr>
          <p:cNvPr id="27" name="Rectangle: Rounded Corners 26">
            <a:extLst>
              <a:ext uri="{FF2B5EF4-FFF2-40B4-BE49-F238E27FC236}">
                <a16:creationId xmlns:a16="http://schemas.microsoft.com/office/drawing/2014/main" id="{AFDB09EB-E99B-F1A4-1BBB-D44A1AF68756}"/>
              </a:ext>
            </a:extLst>
          </p:cNvPr>
          <p:cNvSpPr/>
          <p:nvPr/>
        </p:nvSpPr>
        <p:spPr>
          <a:xfrm>
            <a:off x="8229600" y="4876800"/>
            <a:ext cx="33528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a:solidFill>
                  <a:srgbClr val="EAF0F7"/>
                </a:solidFill>
                <a:latin typeface="Calibri" panose="020F0502020204030204" pitchFamily="34" charset="0"/>
              </a:rPr>
              <a:t>Each step answered, and how long it took</a:t>
            </a:r>
          </a:p>
        </p:txBody>
      </p:sp>
      <p:cxnSp>
        <p:nvCxnSpPr>
          <p:cNvPr id="28" name="Straight Arrow Connector 27">
            <a:extLst>
              <a:ext uri="{FF2B5EF4-FFF2-40B4-BE49-F238E27FC236}">
                <a16:creationId xmlns:a16="http://schemas.microsoft.com/office/drawing/2014/main" id="{D445728A-BC88-FF3E-E027-B9E296EF5383}"/>
              </a:ext>
            </a:extLst>
          </p:cNvPr>
          <p:cNvCxnSpPr/>
          <p:nvPr/>
        </p:nvCxnSpPr>
        <p:spPr>
          <a:xfrm>
            <a:off x="3911600" y="5245100"/>
            <a:ext cx="5080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AC4BAAA-F032-8E46-6B6A-4BB382C86E46}"/>
              </a:ext>
            </a:extLst>
          </p:cNvPr>
          <p:cNvCxnSpPr/>
          <p:nvPr/>
        </p:nvCxnSpPr>
        <p:spPr>
          <a:xfrm>
            <a:off x="7721600" y="5245100"/>
            <a:ext cx="5080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F379EC83-4E57-0798-3F0F-4E02B0CA84CF}"/>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8DB79D19-F84A-72FB-0134-BAB6A0DC3F5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Same query language, different data: one tells you what exists, the other tells you what happened.</a:t>
            </a:r>
          </a:p>
        </p:txBody>
      </p:sp>
    </p:spTree>
    <p:extLst>
      <p:ext uri="{BB962C8B-B14F-4D97-AF65-F5344CB8AC3E}">
        <p14:creationId xmlns:p14="http://schemas.microsoft.com/office/powerpoint/2010/main" val="954646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EFAF5D-9510-3ACF-7FC0-7A6FC984B701}"/>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5C89384-6BA7-8CC6-A25E-A949869A187C}"/>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3CBD330-A8C5-3055-B41C-1B60B53AF48A}"/>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query the estate, then read machine and service health</a:t>
            </a:r>
          </a:p>
        </p:txBody>
      </p:sp>
      <p:sp>
        <p:nvSpPr>
          <p:cNvPr id="5" name="Rectangle 4">
            <a:extLst>
              <a:ext uri="{FF2B5EF4-FFF2-40B4-BE49-F238E27FC236}">
                <a16:creationId xmlns:a16="http://schemas.microsoft.com/office/drawing/2014/main" id="{3A58AAD8-2739-8D9B-E64E-ED50674E6801}"/>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A100545-2879-942E-3FCF-3B1B5D0E17FD}"/>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01ACA7D3-6DED-AB89-9382-7EA79C1C3B9F}"/>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B14B0828-98B7-9F16-856D-0BBDD8A5BF34}"/>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D85D1171-2D0A-FEFD-DCC8-10057A73F735}"/>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Query the Arc estate in Resource Graph</a:t>
            </a:r>
          </a:p>
        </p:txBody>
      </p:sp>
      <p:sp>
        <p:nvSpPr>
          <p:cNvPr id="10" name="Rectangle: Rounded Corners 9">
            <a:extLst>
              <a:ext uri="{FF2B5EF4-FFF2-40B4-BE49-F238E27FC236}">
                <a16:creationId xmlns:a16="http://schemas.microsoft.com/office/drawing/2014/main" id="{E207CA9B-6738-E654-616C-51024F93A615}"/>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AD27A539-096B-A2AD-E5EB-4204A00F26AF}"/>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Open the machine and service health view</a:t>
            </a:r>
          </a:p>
        </p:txBody>
      </p:sp>
      <p:sp>
        <p:nvSpPr>
          <p:cNvPr id="12" name="Rectangle: Rounded Corners 11">
            <a:extLst>
              <a:ext uri="{FF2B5EF4-FFF2-40B4-BE49-F238E27FC236}">
                <a16:creationId xmlns:a16="http://schemas.microsoft.com/office/drawing/2014/main" id="{0355B816-6DCC-F4B7-1F23-12524D7660EA}"/>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B115E2BF-B4BE-F91D-2B1E-A0EAF632420E}"/>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Check source, time window and freshness</a:t>
            </a:r>
          </a:p>
        </p:txBody>
      </p:sp>
      <p:sp>
        <p:nvSpPr>
          <p:cNvPr id="14" name="Rectangle: Rounded Corners 13">
            <a:extLst>
              <a:ext uri="{FF2B5EF4-FFF2-40B4-BE49-F238E27FC236}">
                <a16:creationId xmlns:a16="http://schemas.microsoft.com/office/drawing/2014/main" id="{7BA73E8D-67E3-8234-6685-230CCF85D821}"/>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3234BD52-EED5-090B-976C-DB0CB231199F}"/>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Follow one IIC order across three clouds</a:t>
            </a:r>
          </a:p>
        </p:txBody>
      </p:sp>
      <p:sp>
        <p:nvSpPr>
          <p:cNvPr id="16" name="Rectangle: Rounded Corners 15">
            <a:extLst>
              <a:ext uri="{FF2B5EF4-FFF2-40B4-BE49-F238E27FC236}">
                <a16:creationId xmlns:a16="http://schemas.microsoft.com/office/drawing/2014/main" id="{6AEB6E03-E6B1-3997-86EC-8A90E1308428}"/>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589442C-0BF1-8A8C-ADE7-2B6D4466F5E8}"/>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Resource identity and scope
Machine evidence vs service outcome
Owner, next action and recovery condition</a:t>
            </a:r>
          </a:p>
        </p:txBody>
      </p:sp>
      <p:sp>
        <p:nvSpPr>
          <p:cNvPr id="18" name="Rectangle 17">
            <a:extLst>
              <a:ext uri="{FF2B5EF4-FFF2-40B4-BE49-F238E27FC236}">
                <a16:creationId xmlns:a16="http://schemas.microsoft.com/office/drawing/2014/main" id="{16E06A39-F9A0-0196-934F-EE08296BE48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C789550-8D68-C325-5B93-7E73B9688281}"/>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An actionable alert needs context, an owner, and evidence that the service recovered.</a:t>
            </a:r>
          </a:p>
        </p:txBody>
      </p:sp>
      <p:sp>
        <p:nvSpPr>
          <p:cNvPr id="20" name="DemoMarkerBar">
            <a:extLst>
              <a:ext uri="{FF2B5EF4-FFF2-40B4-BE49-F238E27FC236}">
                <a16:creationId xmlns:a16="http://schemas.microsoft.com/office/drawing/2014/main" id="{14627DD5-B934-0CB7-57AB-9ECDF5745B7E}"/>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AABF00CF-6FE3-6AE0-04B5-2605BF7DE57C}"/>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3900604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599527-158B-AC85-573E-80E983F0001B}"/>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9F15D64-6850-6FD5-D732-D140EDED1CE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6DC36C9-0B6D-7E27-B052-EF58E7464E61}"/>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2 · Secure: who is allowed to change it, and how is it protected?</a:t>
            </a:r>
          </a:p>
        </p:txBody>
      </p:sp>
      <p:sp>
        <p:nvSpPr>
          <p:cNvPr id="5" name="Rectangle 4">
            <a:extLst>
              <a:ext uri="{FF2B5EF4-FFF2-40B4-BE49-F238E27FC236}">
                <a16:creationId xmlns:a16="http://schemas.microsoft.com/office/drawing/2014/main" id="{10851894-1D11-0B93-D254-40C454D43FC6}"/>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5706A3E-1184-E32D-55B2-85A16607D065}"/>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FBFD8958-0FAE-C6E7-AAF9-8B0ABE022695}"/>
              </a:ext>
            </a:extLst>
          </p:cNvPr>
          <p:cNvSpPr txBox="1"/>
          <p:nvPr/>
        </p:nvSpPr>
        <p:spPr>
          <a:xfrm>
            <a:off x="762000" y="218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Access: four doors, four keys, and who holds which key</a:t>
            </a:r>
          </a:p>
        </p:txBody>
      </p:sp>
      <p:sp>
        <p:nvSpPr>
          <p:cNvPr id="8" name="TextBox 7">
            <a:extLst>
              <a:ext uri="{FF2B5EF4-FFF2-40B4-BE49-F238E27FC236}">
                <a16:creationId xmlns:a16="http://schemas.microsoft.com/office/drawing/2014/main" id="{18ACF644-E429-EE15-B64E-9A1D1A18DAAA}"/>
              </a:ext>
            </a:extLst>
          </p:cNvPr>
          <p:cNvSpPr txBox="1"/>
          <p:nvPr/>
        </p:nvSpPr>
        <p:spPr>
          <a:xfrm>
            <a:off x="762000" y="281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Protection: Defender for Cloud finds weaknesses and threats</a:t>
            </a:r>
          </a:p>
        </p:txBody>
      </p:sp>
      <p:sp>
        <p:nvSpPr>
          <p:cNvPr id="9" name="TextBox 8">
            <a:extLst>
              <a:ext uri="{FF2B5EF4-FFF2-40B4-BE49-F238E27FC236}">
                <a16:creationId xmlns:a16="http://schemas.microsoft.com/office/drawing/2014/main" id="{C86A6351-30F1-B33E-D73E-4D5A1783DB3B}"/>
              </a:ext>
            </a:extLst>
          </p:cNvPr>
          <p:cNvSpPr txBox="1"/>
          <p:nvPr/>
        </p:nvSpPr>
        <p:spPr>
          <a:xfrm>
            <a:off x="762000" y="345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Detection: Microsoft Sentinel turns security data into incidents</a:t>
            </a:r>
          </a:p>
        </p:txBody>
      </p:sp>
      <p:sp>
        <p:nvSpPr>
          <p:cNvPr id="10" name="TextBox 9">
            <a:extLst>
              <a:ext uri="{FF2B5EF4-FFF2-40B4-BE49-F238E27FC236}">
                <a16:creationId xmlns:a16="http://schemas.microsoft.com/office/drawing/2014/main" id="{C712C7CE-C2A0-BE7B-96DC-F1B5AAF288E9}"/>
              </a:ext>
            </a:extLst>
          </p:cNvPr>
          <p:cNvSpPr txBox="1"/>
          <p:nvPr/>
        </p:nvSpPr>
        <p:spPr>
          <a:xfrm>
            <a:off x="762000" y="408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DEMOS: Azure RBAC access, a Defender finding, a Sentinel incident</a:t>
            </a:r>
          </a:p>
        </p:txBody>
      </p:sp>
      <p:sp>
        <p:nvSpPr>
          <p:cNvPr id="11" name="Rectangle: Rounded Corners 10">
            <a:extLst>
              <a:ext uri="{FF2B5EF4-FFF2-40B4-BE49-F238E27FC236}">
                <a16:creationId xmlns:a16="http://schemas.microsoft.com/office/drawing/2014/main" id="{51C1839E-00A8-0D5E-BFC7-828930C5701E}"/>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2" name="Rectangle: Rounded Corners 11">
            <a:extLst>
              <a:ext uri="{FF2B5EF4-FFF2-40B4-BE49-F238E27FC236}">
                <a16:creationId xmlns:a16="http://schemas.microsoft.com/office/drawing/2014/main" id="{0CC1C62A-EC1F-AAA5-E887-15A334D21F13}"/>
              </a:ext>
            </a:extLst>
          </p:cNvPr>
          <p:cNvSpPr/>
          <p:nvPr/>
        </p:nvSpPr>
        <p:spPr>
          <a:xfrm>
            <a:off x="28448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2 · Secure</a:t>
            </a:r>
          </a:p>
        </p:txBody>
      </p:sp>
      <p:sp>
        <p:nvSpPr>
          <p:cNvPr id="13" name="Rectangle: Rounded Corners 12">
            <a:extLst>
              <a:ext uri="{FF2B5EF4-FFF2-40B4-BE49-F238E27FC236}">
                <a16:creationId xmlns:a16="http://schemas.microsoft.com/office/drawing/2014/main" id="{AF4C441E-4070-2643-9725-DC72FF8D01EE}"/>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4" name="Rectangle: Rounded Corners 13">
            <a:extLst>
              <a:ext uri="{FF2B5EF4-FFF2-40B4-BE49-F238E27FC236}">
                <a16:creationId xmlns:a16="http://schemas.microsoft.com/office/drawing/2014/main" id="{2E20E4B2-8B82-7009-224A-23E0A8ACDAAA}"/>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5" name="Rectangle: Rounded Corners 14">
            <a:extLst>
              <a:ext uri="{FF2B5EF4-FFF2-40B4-BE49-F238E27FC236}">
                <a16:creationId xmlns:a16="http://schemas.microsoft.com/office/drawing/2014/main" id="{2B1417B4-79BB-D336-1347-7C805357BDD6}"/>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Tree>
    <p:extLst>
      <p:ext uri="{BB962C8B-B14F-4D97-AF65-F5344CB8AC3E}">
        <p14:creationId xmlns:p14="http://schemas.microsoft.com/office/powerpoint/2010/main" val="821565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F1709F-2709-3F30-6E24-7417DF53703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BA9C7FD-B6D2-3145-6EA9-428AB38447C1}"/>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0CF0A1-4EFC-E71E-7EF0-581AFD27E45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Security starts with who can access which resource</a:t>
            </a:r>
          </a:p>
        </p:txBody>
      </p:sp>
      <p:sp>
        <p:nvSpPr>
          <p:cNvPr id="5" name="Rectangle 4">
            <a:extLst>
              <a:ext uri="{FF2B5EF4-FFF2-40B4-BE49-F238E27FC236}">
                <a16:creationId xmlns:a16="http://schemas.microsoft.com/office/drawing/2014/main" id="{4A0E596E-E95C-8B68-AADF-CC7386243963}"/>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95A0FA8-C3B9-90F4-90F1-270AE1D2CEB0}"/>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One server, four separate doors. A key to one door does not open the others.</a:t>
            </a:r>
          </a:p>
        </p:txBody>
      </p:sp>
      <p:sp>
        <p:nvSpPr>
          <p:cNvPr id="7" name="Rectangle: Rounded Corners 6">
            <a:extLst>
              <a:ext uri="{FF2B5EF4-FFF2-40B4-BE49-F238E27FC236}">
                <a16:creationId xmlns:a16="http://schemas.microsoft.com/office/drawing/2014/main" id="{690D9D59-4859-9D12-D90F-5EA226066ECD}"/>
              </a:ext>
            </a:extLst>
          </p:cNvPr>
          <p:cNvSpPr/>
          <p:nvPr/>
        </p:nvSpPr>
        <p:spPr>
          <a:xfrm>
            <a:off x="609600" y="1778000"/>
            <a:ext cx="2590800" cy="2362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ED382508-D598-56B1-57A8-B119BAE285D3}"/>
              </a:ext>
            </a:extLst>
          </p:cNvPr>
          <p:cNvSpPr txBox="1"/>
          <p:nvPr/>
        </p:nvSpPr>
        <p:spPr>
          <a:xfrm>
            <a:off x="787400" y="1955800"/>
            <a:ext cx="2286000" cy="353943"/>
          </a:xfrm>
          <a:prstGeom prst="rect">
            <a:avLst/>
          </a:prstGeom>
          <a:noFill/>
        </p:spPr>
        <p:txBody>
          <a:bodyPr vert="horz" wrap="square" lIns="25400" rIns="25400" rtlCol="0">
            <a:spAutoFit/>
          </a:bodyPr>
          <a:lstStyle/>
          <a:p>
            <a:r>
              <a:rPr lang="en-US" sz="1700" b="1">
                <a:solidFill>
                  <a:srgbClr val="6EA8F0"/>
                </a:solidFill>
                <a:latin typeface="Calibri" panose="020F0502020204030204" pitchFamily="34" charset="0"/>
              </a:rPr>
              <a:t>Azure</a:t>
            </a:r>
          </a:p>
        </p:txBody>
      </p:sp>
      <p:sp>
        <p:nvSpPr>
          <p:cNvPr id="9" name="TextBox 8">
            <a:extLst>
              <a:ext uri="{FF2B5EF4-FFF2-40B4-BE49-F238E27FC236}">
                <a16:creationId xmlns:a16="http://schemas.microsoft.com/office/drawing/2014/main" id="{D675F1CE-8726-6CB1-B436-DB7856BA8D75}"/>
              </a:ext>
            </a:extLst>
          </p:cNvPr>
          <p:cNvSpPr txBox="1"/>
          <p:nvPr/>
        </p:nvSpPr>
        <p:spPr>
          <a:xfrm>
            <a:off x="787400" y="2540000"/>
            <a:ext cx="2286000" cy="523220"/>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Lets you:</a:t>
            </a:r>
            <a:r>
              <a:rPr lang="en-US" sz="1400">
                <a:solidFill>
                  <a:srgbClr val="EAF0F7"/>
                </a:solidFill>
                <a:latin typeface="Calibri" panose="020F0502020204030204" pitchFamily="34" charset="0"/>
              </a:rPr>
              <a:t> See or change the server in the Azure portal.</a:t>
            </a:r>
          </a:p>
        </p:txBody>
      </p:sp>
      <p:sp>
        <p:nvSpPr>
          <p:cNvPr id="10" name="TextBox 9">
            <a:extLst>
              <a:ext uri="{FF2B5EF4-FFF2-40B4-BE49-F238E27FC236}">
                <a16:creationId xmlns:a16="http://schemas.microsoft.com/office/drawing/2014/main" id="{CC3DABA4-0863-3776-CECD-DB78B99A2161}"/>
              </a:ext>
            </a:extLst>
          </p:cNvPr>
          <p:cNvSpPr txBox="1"/>
          <p:nvPr/>
        </p:nvSpPr>
        <p:spPr>
          <a:xfrm>
            <a:off x="787400" y="3403600"/>
            <a:ext cx="2286000" cy="307777"/>
          </a:xfrm>
          <a:prstGeom prst="rect">
            <a:avLst/>
          </a:prstGeom>
          <a:noFill/>
        </p:spPr>
        <p:txBody>
          <a:bodyPr vert="horz" wrap="square" lIns="25400" rIns="25400" rtlCol="0">
            <a:spAutoFit/>
          </a:bodyPr>
          <a:lstStyle/>
          <a:p>
            <a:r>
              <a:rPr lang="en-US" sz="1400" b="1">
                <a:solidFill>
                  <a:srgbClr val="6EA8F0"/>
                </a:solidFill>
                <a:latin typeface="Calibri" panose="020F0502020204030204" pitchFamily="34" charset="0"/>
              </a:rPr>
              <a:t>Key:</a:t>
            </a:r>
            <a:r>
              <a:rPr lang="en-US" sz="1400">
                <a:solidFill>
                  <a:srgbClr val="6EA8F0"/>
                </a:solidFill>
                <a:latin typeface="Calibri" panose="020F0502020204030204" pitchFamily="34" charset="0"/>
              </a:rPr>
              <a:t> An Azure role (RBAC).</a:t>
            </a:r>
          </a:p>
        </p:txBody>
      </p:sp>
      <p:sp>
        <p:nvSpPr>
          <p:cNvPr id="11" name="Rectangle: Rounded Corners 10">
            <a:extLst>
              <a:ext uri="{FF2B5EF4-FFF2-40B4-BE49-F238E27FC236}">
                <a16:creationId xmlns:a16="http://schemas.microsoft.com/office/drawing/2014/main" id="{32506DE4-C019-947D-7EC5-3E24098B638D}"/>
              </a:ext>
            </a:extLst>
          </p:cNvPr>
          <p:cNvSpPr/>
          <p:nvPr/>
        </p:nvSpPr>
        <p:spPr>
          <a:xfrm>
            <a:off x="3429000" y="1778000"/>
            <a:ext cx="2590800" cy="2362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2" name="TextBox 11">
            <a:extLst>
              <a:ext uri="{FF2B5EF4-FFF2-40B4-BE49-F238E27FC236}">
                <a16:creationId xmlns:a16="http://schemas.microsoft.com/office/drawing/2014/main" id="{B0C7A74A-6CB8-A5EA-A179-2467BDF0C9FF}"/>
              </a:ext>
            </a:extLst>
          </p:cNvPr>
          <p:cNvSpPr txBox="1"/>
          <p:nvPr/>
        </p:nvSpPr>
        <p:spPr>
          <a:xfrm>
            <a:off x="3606800" y="1955800"/>
            <a:ext cx="2286000" cy="353943"/>
          </a:xfrm>
          <a:prstGeom prst="rect">
            <a:avLst/>
          </a:prstGeom>
          <a:noFill/>
        </p:spPr>
        <p:txBody>
          <a:bodyPr vert="horz" wrap="square" lIns="25400" rIns="25400" rtlCol="0">
            <a:spAutoFit/>
          </a:bodyPr>
          <a:lstStyle/>
          <a:p>
            <a:r>
              <a:rPr lang="en-US" sz="1700" b="1">
                <a:solidFill>
                  <a:srgbClr val="6ED28C"/>
                </a:solidFill>
                <a:latin typeface="Calibri" panose="020F0502020204030204" pitchFamily="34" charset="0"/>
              </a:rPr>
              <a:t>Sign in</a:t>
            </a:r>
          </a:p>
        </p:txBody>
      </p:sp>
      <p:sp>
        <p:nvSpPr>
          <p:cNvPr id="13" name="TextBox 12">
            <a:extLst>
              <a:ext uri="{FF2B5EF4-FFF2-40B4-BE49-F238E27FC236}">
                <a16:creationId xmlns:a16="http://schemas.microsoft.com/office/drawing/2014/main" id="{974AE668-6F65-AC8C-B197-E3B3798EBEBE}"/>
              </a:ext>
            </a:extLst>
          </p:cNvPr>
          <p:cNvSpPr txBox="1"/>
          <p:nvPr/>
        </p:nvSpPr>
        <p:spPr>
          <a:xfrm>
            <a:off x="3606800" y="2540000"/>
            <a:ext cx="2286000" cy="523220"/>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Lets you:</a:t>
            </a:r>
            <a:r>
              <a:rPr lang="en-US" sz="1400">
                <a:solidFill>
                  <a:srgbClr val="EAF0F7"/>
                </a:solidFill>
                <a:latin typeface="Calibri" panose="020F0502020204030204" pitchFamily="34" charset="0"/>
              </a:rPr>
              <a:t> Log on to Windows or Linux.</a:t>
            </a:r>
          </a:p>
        </p:txBody>
      </p:sp>
      <p:sp>
        <p:nvSpPr>
          <p:cNvPr id="14" name="TextBox 13">
            <a:extLst>
              <a:ext uri="{FF2B5EF4-FFF2-40B4-BE49-F238E27FC236}">
                <a16:creationId xmlns:a16="http://schemas.microsoft.com/office/drawing/2014/main" id="{F07380FF-3EAF-7308-17CC-942FA8DA69B3}"/>
              </a:ext>
            </a:extLst>
          </p:cNvPr>
          <p:cNvSpPr txBox="1"/>
          <p:nvPr/>
        </p:nvSpPr>
        <p:spPr>
          <a:xfrm>
            <a:off x="3606800" y="3403600"/>
            <a:ext cx="2286000" cy="523220"/>
          </a:xfrm>
          <a:prstGeom prst="rect">
            <a:avLst/>
          </a:prstGeom>
          <a:noFill/>
        </p:spPr>
        <p:txBody>
          <a:bodyPr vert="horz" wrap="square" lIns="25400" rIns="25400" rtlCol="0">
            <a:spAutoFit/>
          </a:bodyPr>
          <a:lstStyle/>
          <a:p>
            <a:r>
              <a:rPr lang="en-US" sz="1400" b="1">
                <a:solidFill>
                  <a:srgbClr val="6ED28C"/>
                </a:solidFill>
                <a:latin typeface="Calibri" panose="020F0502020204030204" pitchFamily="34" charset="0"/>
              </a:rPr>
              <a:t>Key:</a:t>
            </a:r>
            <a:r>
              <a:rPr lang="en-US" sz="1400">
                <a:solidFill>
                  <a:srgbClr val="6ED28C"/>
                </a:solidFill>
                <a:latin typeface="Calibri" panose="020F0502020204030204" pitchFamily="34" charset="0"/>
              </a:rPr>
              <a:t> The server's own accounts (RDP, SSH).</a:t>
            </a:r>
          </a:p>
        </p:txBody>
      </p:sp>
      <p:sp>
        <p:nvSpPr>
          <p:cNvPr id="15" name="Rectangle: Rounded Corners 14">
            <a:extLst>
              <a:ext uri="{FF2B5EF4-FFF2-40B4-BE49-F238E27FC236}">
                <a16:creationId xmlns:a16="http://schemas.microsoft.com/office/drawing/2014/main" id="{475937F2-7D8D-6303-7DCC-15CBB0BAB369}"/>
              </a:ext>
            </a:extLst>
          </p:cNvPr>
          <p:cNvSpPr/>
          <p:nvPr/>
        </p:nvSpPr>
        <p:spPr>
          <a:xfrm>
            <a:off x="6248400" y="1778000"/>
            <a:ext cx="2590800" cy="2362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6" name="TextBox 15">
            <a:extLst>
              <a:ext uri="{FF2B5EF4-FFF2-40B4-BE49-F238E27FC236}">
                <a16:creationId xmlns:a16="http://schemas.microsoft.com/office/drawing/2014/main" id="{3007F444-369A-A51B-B951-41E1D6854B51}"/>
              </a:ext>
            </a:extLst>
          </p:cNvPr>
          <p:cNvSpPr txBox="1"/>
          <p:nvPr/>
        </p:nvSpPr>
        <p:spPr>
          <a:xfrm>
            <a:off x="6426200" y="1955800"/>
            <a:ext cx="2286000" cy="353943"/>
          </a:xfrm>
          <a:prstGeom prst="rect">
            <a:avLst/>
          </a:prstGeom>
          <a:noFill/>
        </p:spPr>
        <p:txBody>
          <a:bodyPr vert="horz" wrap="square" lIns="25400" rIns="25400" rtlCol="0">
            <a:spAutoFit/>
          </a:bodyPr>
          <a:lstStyle/>
          <a:p>
            <a:r>
              <a:rPr lang="en-US" sz="1700" b="1">
                <a:solidFill>
                  <a:srgbClr val="F09E5A"/>
                </a:solidFill>
                <a:latin typeface="Calibri" panose="020F0502020204030204" pitchFamily="34" charset="0"/>
              </a:rPr>
              <a:t>Hosting</a:t>
            </a:r>
          </a:p>
        </p:txBody>
      </p:sp>
      <p:sp>
        <p:nvSpPr>
          <p:cNvPr id="17" name="TextBox 16">
            <a:extLst>
              <a:ext uri="{FF2B5EF4-FFF2-40B4-BE49-F238E27FC236}">
                <a16:creationId xmlns:a16="http://schemas.microsoft.com/office/drawing/2014/main" id="{4148CF17-155A-6576-8CB6-CB13703D3D5E}"/>
              </a:ext>
            </a:extLst>
          </p:cNvPr>
          <p:cNvSpPr txBox="1"/>
          <p:nvPr/>
        </p:nvSpPr>
        <p:spPr>
          <a:xfrm>
            <a:off x="6426200" y="2540000"/>
            <a:ext cx="2286000" cy="523220"/>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Lets you:</a:t>
            </a:r>
            <a:r>
              <a:rPr lang="en-US" sz="1400">
                <a:solidFill>
                  <a:srgbClr val="EAF0F7"/>
                </a:solidFill>
                <a:latin typeface="Calibri" panose="020F0502020204030204" pitchFamily="34" charset="0"/>
              </a:rPr>
              <a:t> Stop, move or delete the VM.</a:t>
            </a:r>
          </a:p>
        </p:txBody>
      </p:sp>
      <p:sp>
        <p:nvSpPr>
          <p:cNvPr id="18" name="TextBox 17">
            <a:extLst>
              <a:ext uri="{FF2B5EF4-FFF2-40B4-BE49-F238E27FC236}">
                <a16:creationId xmlns:a16="http://schemas.microsoft.com/office/drawing/2014/main" id="{DE45052A-17C1-D241-6E90-1F83F565E389}"/>
              </a:ext>
            </a:extLst>
          </p:cNvPr>
          <p:cNvSpPr txBox="1"/>
          <p:nvPr/>
        </p:nvSpPr>
        <p:spPr>
          <a:xfrm>
            <a:off x="6426200" y="3403600"/>
            <a:ext cx="2286000" cy="523220"/>
          </a:xfrm>
          <a:prstGeom prst="rect">
            <a:avLst/>
          </a:prstGeom>
          <a:noFill/>
        </p:spPr>
        <p:txBody>
          <a:bodyPr vert="horz" wrap="square" lIns="25400" rIns="25400" rtlCol="0">
            <a:spAutoFit/>
          </a:bodyPr>
          <a:lstStyle/>
          <a:p>
            <a:r>
              <a:rPr lang="en-US" sz="1400" b="1">
                <a:solidFill>
                  <a:srgbClr val="F09E5A"/>
                </a:solidFill>
                <a:latin typeface="Calibri" panose="020F0502020204030204" pitchFamily="34" charset="0"/>
              </a:rPr>
              <a:t>Key:</a:t>
            </a:r>
            <a:r>
              <a:rPr lang="en-US" sz="1400">
                <a:solidFill>
                  <a:srgbClr val="F09E5A"/>
                </a:solidFill>
                <a:latin typeface="Calibri" panose="020F0502020204030204" pitchFamily="34" charset="0"/>
              </a:rPr>
              <a:t> SCVMM or AWS admin rights.</a:t>
            </a:r>
          </a:p>
        </p:txBody>
      </p:sp>
      <p:sp>
        <p:nvSpPr>
          <p:cNvPr id="19" name="Rectangle: Rounded Corners 18">
            <a:extLst>
              <a:ext uri="{FF2B5EF4-FFF2-40B4-BE49-F238E27FC236}">
                <a16:creationId xmlns:a16="http://schemas.microsoft.com/office/drawing/2014/main" id="{C9E405DB-6B5C-1FA6-4E1A-C921C838A8B7}"/>
              </a:ext>
            </a:extLst>
          </p:cNvPr>
          <p:cNvSpPr/>
          <p:nvPr/>
        </p:nvSpPr>
        <p:spPr>
          <a:xfrm>
            <a:off x="9067800" y="1778000"/>
            <a:ext cx="2590800" cy="2362200"/>
          </a:xfrm>
          <a:prstGeom prst="roundRect">
            <a:avLst/>
          </a:prstGeom>
          <a:solidFill>
            <a:srgbClr val="1B2434"/>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20" name="TextBox 19">
            <a:extLst>
              <a:ext uri="{FF2B5EF4-FFF2-40B4-BE49-F238E27FC236}">
                <a16:creationId xmlns:a16="http://schemas.microsoft.com/office/drawing/2014/main" id="{B8C4CEAC-8186-517D-433B-FC14621D7FF1}"/>
              </a:ext>
            </a:extLst>
          </p:cNvPr>
          <p:cNvSpPr txBox="1"/>
          <p:nvPr/>
        </p:nvSpPr>
        <p:spPr>
          <a:xfrm>
            <a:off x="9245600" y="1955800"/>
            <a:ext cx="2286000" cy="353943"/>
          </a:xfrm>
          <a:prstGeom prst="rect">
            <a:avLst/>
          </a:prstGeom>
          <a:noFill/>
        </p:spPr>
        <p:txBody>
          <a:bodyPr vert="horz" wrap="square" lIns="25400" rIns="25400" rtlCol="0">
            <a:spAutoFit/>
          </a:bodyPr>
          <a:lstStyle/>
          <a:p>
            <a:r>
              <a:rPr lang="en-US" sz="1700" b="1">
                <a:solidFill>
                  <a:srgbClr val="BE96F0"/>
                </a:solidFill>
                <a:latin typeface="Calibri" panose="020F0502020204030204" pitchFamily="34" charset="0"/>
              </a:rPr>
              <a:t>App + data</a:t>
            </a:r>
          </a:p>
        </p:txBody>
      </p:sp>
      <p:sp>
        <p:nvSpPr>
          <p:cNvPr id="21" name="TextBox 20">
            <a:extLst>
              <a:ext uri="{FF2B5EF4-FFF2-40B4-BE49-F238E27FC236}">
                <a16:creationId xmlns:a16="http://schemas.microsoft.com/office/drawing/2014/main" id="{6DF5210E-FED7-B5AA-A35B-1E2FE4AEB4EB}"/>
              </a:ext>
            </a:extLst>
          </p:cNvPr>
          <p:cNvSpPr txBox="1"/>
          <p:nvPr/>
        </p:nvSpPr>
        <p:spPr>
          <a:xfrm>
            <a:off x="9245600" y="2540000"/>
            <a:ext cx="2286000" cy="523220"/>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Lets you:</a:t>
            </a:r>
            <a:r>
              <a:rPr lang="en-US" sz="1400">
                <a:solidFill>
                  <a:srgbClr val="EAF0F7"/>
                </a:solidFill>
                <a:latin typeface="Calibri" panose="020F0502020204030204" pitchFamily="34" charset="0"/>
              </a:rPr>
              <a:t> Use the app or read its data.</a:t>
            </a:r>
          </a:p>
        </p:txBody>
      </p:sp>
      <p:sp>
        <p:nvSpPr>
          <p:cNvPr id="22" name="TextBox 21">
            <a:extLst>
              <a:ext uri="{FF2B5EF4-FFF2-40B4-BE49-F238E27FC236}">
                <a16:creationId xmlns:a16="http://schemas.microsoft.com/office/drawing/2014/main" id="{497A14C1-66A3-FE87-24B9-F637982B5823}"/>
              </a:ext>
            </a:extLst>
          </p:cNvPr>
          <p:cNvSpPr txBox="1"/>
          <p:nvPr/>
        </p:nvSpPr>
        <p:spPr>
          <a:xfrm>
            <a:off x="9245600" y="3403600"/>
            <a:ext cx="2286000" cy="523220"/>
          </a:xfrm>
          <a:prstGeom prst="rect">
            <a:avLst/>
          </a:prstGeom>
          <a:noFill/>
        </p:spPr>
        <p:txBody>
          <a:bodyPr vert="horz" wrap="square" lIns="25400" rIns="25400" rtlCol="0">
            <a:spAutoFit/>
          </a:bodyPr>
          <a:lstStyle/>
          <a:p>
            <a:r>
              <a:rPr lang="en-US" sz="1400" b="1">
                <a:solidFill>
                  <a:srgbClr val="BE96F0"/>
                </a:solidFill>
                <a:latin typeface="Calibri" panose="020F0502020204030204" pitchFamily="34" charset="0"/>
              </a:rPr>
              <a:t>Key:</a:t>
            </a:r>
            <a:r>
              <a:rPr lang="en-US" sz="1400">
                <a:solidFill>
                  <a:srgbClr val="BE96F0"/>
                </a:solidFill>
                <a:latin typeface="Calibri" panose="020F0502020204030204" pitchFamily="34" charset="0"/>
              </a:rPr>
              <a:t> The app's own permissions.</a:t>
            </a:r>
          </a:p>
        </p:txBody>
      </p:sp>
      <p:sp>
        <p:nvSpPr>
          <p:cNvPr id="23" name="Rectangle: Rounded Corners 22">
            <a:extLst>
              <a:ext uri="{FF2B5EF4-FFF2-40B4-BE49-F238E27FC236}">
                <a16:creationId xmlns:a16="http://schemas.microsoft.com/office/drawing/2014/main" id="{C54237A2-AB8C-402D-E279-00824041092B}"/>
              </a:ext>
            </a:extLst>
          </p:cNvPr>
          <p:cNvSpPr/>
          <p:nvPr/>
        </p:nvSpPr>
        <p:spPr>
          <a:xfrm>
            <a:off x="609600" y="4394200"/>
            <a:ext cx="10972800" cy="939800"/>
          </a:xfrm>
          <a:prstGeom prst="roundRect">
            <a:avLst/>
          </a:prstGeom>
          <a:solidFill>
            <a:srgbClr val="232E41"/>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THE ONE TRAP: an Azure role that can run commands or install extensions on the server can run code there as an administrator, without ever logging on. Treat that role as admin access to the server.</a:t>
            </a:r>
          </a:p>
        </p:txBody>
      </p:sp>
      <p:sp>
        <p:nvSpPr>
          <p:cNvPr id="24" name="Rectangle 23">
            <a:extLst>
              <a:ext uri="{FF2B5EF4-FFF2-40B4-BE49-F238E27FC236}">
                <a16:creationId xmlns:a16="http://schemas.microsoft.com/office/drawing/2014/main" id="{B0B07AD5-AA65-02CC-1D10-3AC06EDBA45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D0D0832-8CBE-617F-E816-D8700C3F0B9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Being an Azure admin does not let you log on to the server. Name the door before you hand out the key.</a:t>
            </a:r>
          </a:p>
        </p:txBody>
      </p:sp>
    </p:spTree>
    <p:extLst>
      <p:ext uri="{BB962C8B-B14F-4D97-AF65-F5344CB8AC3E}">
        <p14:creationId xmlns:p14="http://schemas.microsoft.com/office/powerpoint/2010/main" val="1954111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3824AB-1253-00EE-0382-AF3A47EE0AAA}"/>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1C33BD-F875-3F7F-78E1-5AE6C9780CC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49CCE87-F797-089C-4AE1-8F3B01A199CD}"/>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Who holds which key: three rules for any estate</a:t>
            </a:r>
          </a:p>
        </p:txBody>
      </p:sp>
      <p:sp>
        <p:nvSpPr>
          <p:cNvPr id="5" name="Rectangle 4">
            <a:extLst>
              <a:ext uri="{FF2B5EF4-FFF2-40B4-BE49-F238E27FC236}">
                <a16:creationId xmlns:a16="http://schemas.microsoft.com/office/drawing/2014/main" id="{93414581-4072-6B30-DE93-89C7669D8F32}"/>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522BFE7-335B-6E06-0A1C-6BE775B65514}"/>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People, machines and fix-up tools each get the smallest key for the shortest time.</a:t>
            </a:r>
          </a:p>
        </p:txBody>
      </p:sp>
      <p:sp>
        <p:nvSpPr>
          <p:cNvPr id="7" name="Rectangle 6">
            <a:extLst>
              <a:ext uri="{FF2B5EF4-FFF2-40B4-BE49-F238E27FC236}">
                <a16:creationId xmlns:a16="http://schemas.microsoft.com/office/drawing/2014/main" id="{6896EBA8-3985-7AB2-78E6-9562E30E3E26}"/>
              </a:ext>
            </a:extLst>
          </p:cNvPr>
          <p:cNvSpPr/>
          <p:nvPr/>
        </p:nvSpPr>
        <p:spPr>
          <a:xfrm>
            <a:off x="558800" y="1752600"/>
            <a:ext cx="110871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907073-6153-6BCA-0606-2715CB0E25D0}"/>
              </a:ext>
            </a:extLst>
          </p:cNvPr>
          <p:cNvSpPr txBox="1"/>
          <p:nvPr/>
        </p:nvSpPr>
        <p:spPr>
          <a:xfrm>
            <a:off x="609600" y="1803400"/>
            <a:ext cx="2540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WHO</a:t>
            </a:r>
          </a:p>
        </p:txBody>
      </p:sp>
      <p:sp>
        <p:nvSpPr>
          <p:cNvPr id="9" name="TextBox 8">
            <a:extLst>
              <a:ext uri="{FF2B5EF4-FFF2-40B4-BE49-F238E27FC236}">
                <a16:creationId xmlns:a16="http://schemas.microsoft.com/office/drawing/2014/main" id="{4D245C65-5766-2649-42B5-27DD09792833}"/>
              </a:ext>
            </a:extLst>
          </p:cNvPr>
          <p:cNvSpPr txBox="1"/>
          <p:nvPr/>
        </p:nvSpPr>
        <p:spPr>
          <a:xfrm>
            <a:off x="3149600" y="1803400"/>
            <a:ext cx="4826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THE RULE (TAKE THIS HOME)</a:t>
            </a:r>
          </a:p>
        </p:txBody>
      </p:sp>
      <p:sp>
        <p:nvSpPr>
          <p:cNvPr id="10" name="TextBox 9">
            <a:extLst>
              <a:ext uri="{FF2B5EF4-FFF2-40B4-BE49-F238E27FC236}">
                <a16:creationId xmlns:a16="http://schemas.microsoft.com/office/drawing/2014/main" id="{17E1A2D4-8B38-C9AA-172B-D6694DD26537}"/>
              </a:ext>
            </a:extLst>
          </p:cNvPr>
          <p:cNvSpPr txBox="1"/>
          <p:nvPr/>
        </p:nvSpPr>
        <p:spPr>
          <a:xfrm>
            <a:off x="7975600" y="1803400"/>
            <a:ext cx="36195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IN OUR APP</a:t>
            </a:r>
          </a:p>
        </p:txBody>
      </p:sp>
      <p:sp>
        <p:nvSpPr>
          <p:cNvPr id="11" name="TextBox 10">
            <a:extLst>
              <a:ext uri="{FF2B5EF4-FFF2-40B4-BE49-F238E27FC236}">
                <a16:creationId xmlns:a16="http://schemas.microsoft.com/office/drawing/2014/main" id="{FBC6F5FB-2A8F-12D3-BF76-137FD0B926CF}"/>
              </a:ext>
            </a:extLst>
          </p:cNvPr>
          <p:cNvSpPr txBox="1"/>
          <p:nvPr/>
        </p:nvSpPr>
        <p:spPr>
          <a:xfrm>
            <a:off x="609600" y="2336800"/>
            <a:ext cx="2387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People
(admins, operators)</a:t>
            </a:r>
          </a:p>
        </p:txBody>
      </p:sp>
      <p:sp>
        <p:nvSpPr>
          <p:cNvPr id="12" name="TextBox 11">
            <a:extLst>
              <a:ext uri="{FF2B5EF4-FFF2-40B4-BE49-F238E27FC236}">
                <a16:creationId xmlns:a16="http://schemas.microsoft.com/office/drawing/2014/main" id="{923A443B-AB5F-7D25-DF33-A80A1495AC98}"/>
              </a:ext>
            </a:extLst>
          </p:cNvPr>
          <p:cNvSpPr txBox="1"/>
          <p:nvPr/>
        </p:nvSpPr>
        <p:spPr>
          <a:xfrm>
            <a:off x="3149600" y="2336800"/>
            <a:ext cx="4673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Read-only by default. Admin rights only when asked for, for a limited time, after MFA (PIM).</a:t>
            </a:r>
          </a:p>
        </p:txBody>
      </p:sp>
      <p:sp>
        <p:nvSpPr>
          <p:cNvPr id="13" name="TextBox 12">
            <a:extLst>
              <a:ext uri="{FF2B5EF4-FFF2-40B4-BE49-F238E27FC236}">
                <a16:creationId xmlns:a16="http://schemas.microsoft.com/office/drawing/2014/main" id="{DDD19D9C-E1AD-2140-ACF1-8210E0386F05}"/>
              </a:ext>
            </a:extLst>
          </p:cNvPr>
          <p:cNvSpPr txBox="1"/>
          <p:nvPr/>
        </p:nvSpPr>
        <p:spPr>
          <a:xfrm>
            <a:off x="7975600" y="2336800"/>
            <a:ext cx="3467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Our operator: a stolen login can look, but cannot change anything.</a:t>
            </a:r>
          </a:p>
        </p:txBody>
      </p:sp>
      <p:cxnSp>
        <p:nvCxnSpPr>
          <p:cNvPr id="14" name="Straight Connector 13">
            <a:extLst>
              <a:ext uri="{FF2B5EF4-FFF2-40B4-BE49-F238E27FC236}">
                <a16:creationId xmlns:a16="http://schemas.microsoft.com/office/drawing/2014/main" id="{7C076FFF-53A4-3936-084F-A21E71F7CA49}"/>
              </a:ext>
            </a:extLst>
          </p:cNvPr>
          <p:cNvCxnSpPr/>
          <p:nvPr/>
        </p:nvCxnSpPr>
        <p:spPr>
          <a:xfrm>
            <a:off x="558800" y="32131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FA79919-04C0-63FD-5FBE-E82B4CF32AE2}"/>
              </a:ext>
            </a:extLst>
          </p:cNvPr>
          <p:cNvSpPr txBox="1"/>
          <p:nvPr/>
        </p:nvSpPr>
        <p:spPr>
          <a:xfrm>
            <a:off x="609600" y="3251200"/>
            <a:ext cx="2387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Machines and apps</a:t>
            </a:r>
          </a:p>
        </p:txBody>
      </p:sp>
      <p:sp>
        <p:nvSpPr>
          <p:cNvPr id="16" name="TextBox 15">
            <a:extLst>
              <a:ext uri="{FF2B5EF4-FFF2-40B4-BE49-F238E27FC236}">
                <a16:creationId xmlns:a16="http://schemas.microsoft.com/office/drawing/2014/main" id="{3331D6A9-6BB9-ECA7-40AC-DAFCFE9AC322}"/>
              </a:ext>
            </a:extLst>
          </p:cNvPr>
          <p:cNvSpPr txBox="1"/>
          <p:nvPr/>
        </p:nvSpPr>
        <p:spPr>
          <a:xfrm>
            <a:off x="3149600" y="3251200"/>
            <a:ext cx="4673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Each gets its own identity, only the permissions it needs, and no stored passwords.</a:t>
            </a:r>
          </a:p>
        </p:txBody>
      </p:sp>
      <p:sp>
        <p:nvSpPr>
          <p:cNvPr id="17" name="TextBox 16">
            <a:extLst>
              <a:ext uri="{FF2B5EF4-FFF2-40B4-BE49-F238E27FC236}">
                <a16:creationId xmlns:a16="http://schemas.microsoft.com/office/drawing/2014/main" id="{6202E5F7-58E8-89A4-04A8-58844820659E}"/>
              </a:ext>
            </a:extLst>
          </p:cNvPr>
          <p:cNvSpPr txBox="1"/>
          <p:nvPr/>
        </p:nvSpPr>
        <p:spPr>
          <a:xfrm>
            <a:off x="7975600" y="3251200"/>
            <a:ext cx="3467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The two IIC workers: read their own queue, post results, nothing else.</a:t>
            </a:r>
          </a:p>
        </p:txBody>
      </p:sp>
      <p:cxnSp>
        <p:nvCxnSpPr>
          <p:cNvPr id="18" name="Straight Connector 17">
            <a:extLst>
              <a:ext uri="{FF2B5EF4-FFF2-40B4-BE49-F238E27FC236}">
                <a16:creationId xmlns:a16="http://schemas.microsoft.com/office/drawing/2014/main" id="{FEE600F2-9A2D-601E-3FAA-7F8B5D44E54F}"/>
              </a:ext>
            </a:extLst>
          </p:cNvPr>
          <p:cNvCxnSpPr/>
          <p:nvPr/>
        </p:nvCxnSpPr>
        <p:spPr>
          <a:xfrm>
            <a:off x="558800" y="41275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565129C-633E-FD9D-CD8A-49AA396EA1BD}"/>
              </a:ext>
            </a:extLst>
          </p:cNvPr>
          <p:cNvSpPr txBox="1"/>
          <p:nvPr/>
        </p:nvSpPr>
        <p:spPr>
          <a:xfrm>
            <a:off x="609600" y="4165600"/>
            <a:ext cx="2387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Fix-up tools</a:t>
            </a:r>
          </a:p>
        </p:txBody>
      </p:sp>
      <p:sp>
        <p:nvSpPr>
          <p:cNvPr id="20" name="TextBox 19">
            <a:extLst>
              <a:ext uri="{FF2B5EF4-FFF2-40B4-BE49-F238E27FC236}">
                <a16:creationId xmlns:a16="http://schemas.microsoft.com/office/drawing/2014/main" id="{F7E5B0F6-BAAF-681D-2998-52AC757FBC1E}"/>
              </a:ext>
            </a:extLst>
          </p:cNvPr>
          <p:cNvSpPr txBox="1"/>
          <p:nvPr/>
        </p:nvSpPr>
        <p:spPr>
          <a:xfrm>
            <a:off x="3149600" y="41656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Can change one thing, in one place, and every change is logged.</a:t>
            </a:r>
          </a:p>
        </p:txBody>
      </p:sp>
      <p:sp>
        <p:nvSpPr>
          <p:cNvPr id="21" name="TextBox 20">
            <a:extLst>
              <a:ext uri="{FF2B5EF4-FFF2-40B4-BE49-F238E27FC236}">
                <a16:creationId xmlns:a16="http://schemas.microsoft.com/office/drawing/2014/main" id="{EA88FB9E-6C44-4786-0CAE-56EC3BFC09B8}"/>
              </a:ext>
            </a:extLst>
          </p:cNvPr>
          <p:cNvSpPr txBox="1"/>
          <p:nvPr/>
        </p:nvSpPr>
        <p:spPr>
          <a:xfrm>
            <a:off x="7975600" y="4165600"/>
            <a:ext cx="3467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The Policy fix-up robot: tags in one resource group only.</a:t>
            </a:r>
          </a:p>
        </p:txBody>
      </p:sp>
      <p:cxnSp>
        <p:nvCxnSpPr>
          <p:cNvPr id="22" name="Straight Connector 21">
            <a:extLst>
              <a:ext uri="{FF2B5EF4-FFF2-40B4-BE49-F238E27FC236}">
                <a16:creationId xmlns:a16="http://schemas.microsoft.com/office/drawing/2014/main" id="{15373A06-939D-2EB9-F536-7F0B222A666B}"/>
              </a:ext>
            </a:extLst>
          </p:cNvPr>
          <p:cNvCxnSpPr/>
          <p:nvPr/>
        </p:nvCxnSpPr>
        <p:spPr>
          <a:xfrm>
            <a:off x="558800" y="50419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A517098D-9799-9771-DA91-19F136561BD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EA7E73B-F4C2-E3A9-24A8-ACADB2181B5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Take this back: list every identity that can change a server, and check it against these three rules.</a:t>
            </a:r>
          </a:p>
        </p:txBody>
      </p:sp>
    </p:spTree>
    <p:extLst>
      <p:ext uri="{BB962C8B-B14F-4D97-AF65-F5344CB8AC3E}">
        <p14:creationId xmlns:p14="http://schemas.microsoft.com/office/powerpoint/2010/main" val="3595391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1CFE38-6252-4E5F-9C26-CB9ADB9A398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A8A6348-4DF2-E097-56F7-B3CA81ADC3DC}"/>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AF89B9E-ECA3-3DB9-5776-61DDB09E6B0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DEMO: prove access to an Arc resource with Azure RBAC</a:t>
            </a:r>
          </a:p>
        </p:txBody>
      </p:sp>
      <p:sp>
        <p:nvSpPr>
          <p:cNvPr id="5" name="Rectangle 4">
            <a:extLst>
              <a:ext uri="{FF2B5EF4-FFF2-40B4-BE49-F238E27FC236}">
                <a16:creationId xmlns:a16="http://schemas.microsoft.com/office/drawing/2014/main" id="{8F854E2B-4F6D-13DF-C0CE-5226FB18EAA8}"/>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5C6133D-591D-F0EF-D30C-B80BC2D4D81E}"/>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2AA0264A-D166-CBC0-D7BF-8B0A6890642C}"/>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E78916DE-929D-B0E2-29AF-869A641B1012}"/>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8E87636A-B1B1-DE2B-8BD1-2A5579DA1370}"/>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Show principal, role and assignment scope</a:t>
            </a:r>
          </a:p>
        </p:txBody>
      </p:sp>
      <p:sp>
        <p:nvSpPr>
          <p:cNvPr id="10" name="Rectangle: Rounded Corners 9">
            <a:extLst>
              <a:ext uri="{FF2B5EF4-FFF2-40B4-BE49-F238E27FC236}">
                <a16:creationId xmlns:a16="http://schemas.microsoft.com/office/drawing/2014/main" id="{89F50BF6-7746-AD6C-7111-96B2DA56BD24}"/>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68C4FBE2-7220-8B32-1ED7-82DF55C95E4E}"/>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Inspect the Arc resource as a reader</a:t>
            </a:r>
          </a:p>
        </p:txBody>
      </p:sp>
      <p:sp>
        <p:nvSpPr>
          <p:cNvPr id="12" name="Rectangle: Rounded Corners 11">
            <a:extLst>
              <a:ext uri="{FF2B5EF4-FFF2-40B4-BE49-F238E27FC236}">
                <a16:creationId xmlns:a16="http://schemas.microsoft.com/office/drawing/2014/main" id="{98BF5D09-6510-7028-A688-6427C8E77DFB}"/>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B9C222AB-55C7-5738-6F6B-3BD6D6CCDD82}"/>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Demonstrate the management permission boundary</a:t>
            </a:r>
          </a:p>
        </p:txBody>
      </p:sp>
      <p:sp>
        <p:nvSpPr>
          <p:cNvPr id="14" name="Rectangle: Rounded Corners 13">
            <a:extLst>
              <a:ext uri="{FF2B5EF4-FFF2-40B4-BE49-F238E27FC236}">
                <a16:creationId xmlns:a16="http://schemas.microsoft.com/office/drawing/2014/main" id="{7FD00FF6-3CFF-7F33-B641-8C41FD4ECBF5}"/>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125026DE-9A90-4D96-5005-4765BA334196}"/>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Use authorized scope; inspect audit evidence</a:t>
            </a:r>
          </a:p>
        </p:txBody>
      </p:sp>
      <p:sp>
        <p:nvSpPr>
          <p:cNvPr id="16" name="Rectangle: Rounded Corners 15">
            <a:extLst>
              <a:ext uri="{FF2B5EF4-FFF2-40B4-BE49-F238E27FC236}">
                <a16:creationId xmlns:a16="http://schemas.microsoft.com/office/drawing/2014/main" id="{07BFE5CD-52F3-6039-894F-A1F652A21B75}"/>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13AC3AA-5F27-9FED-EB33-A0612433ADBF}"/>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Allowed read
Denied change under reader context
Authorized bounded action and audit record</a:t>
            </a:r>
          </a:p>
        </p:txBody>
      </p:sp>
      <p:sp>
        <p:nvSpPr>
          <p:cNvPr id="18" name="Rectangle 17">
            <a:extLst>
              <a:ext uri="{FF2B5EF4-FFF2-40B4-BE49-F238E27FC236}">
                <a16:creationId xmlns:a16="http://schemas.microsoft.com/office/drawing/2014/main" id="{F2B452A3-6382-6005-6561-C1C9F86D67BE}"/>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D5123C8-FEED-82E9-7A53-99CD57682B4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Guest sign-in is a separate authorization check. Restore any temporary demo-only change.</a:t>
            </a:r>
          </a:p>
        </p:txBody>
      </p:sp>
      <p:sp>
        <p:nvSpPr>
          <p:cNvPr id="20" name="DemoMarkerBar">
            <a:extLst>
              <a:ext uri="{FF2B5EF4-FFF2-40B4-BE49-F238E27FC236}">
                <a16:creationId xmlns:a16="http://schemas.microsoft.com/office/drawing/2014/main" id="{5F7389D6-92E4-17EC-9809-27FF75885C7A}"/>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329DBE53-8102-8DD0-5B34-69A09DB87FD7}"/>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19047687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3B3FB7-E2CA-4584-22C5-DB1BC51C02D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015290C-1721-A137-EFBD-237C4422C4E4}"/>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076EB81-F9B5-E42A-86F5-E03B6E10630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Defender for Cloud</a:t>
            </a:r>
          </a:p>
        </p:txBody>
      </p:sp>
      <p:sp>
        <p:nvSpPr>
          <p:cNvPr id="5" name="Rectangle 4">
            <a:extLst>
              <a:ext uri="{FF2B5EF4-FFF2-40B4-BE49-F238E27FC236}">
                <a16:creationId xmlns:a16="http://schemas.microsoft.com/office/drawing/2014/main" id="{C44D73B1-AA8F-2D1F-6897-39A4F8E8FF53}"/>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97979FC-D407-9A46-F4A3-8A6C02D10226}"/>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Shows what is weak and what is under attack, on every connected server.</a:t>
            </a:r>
          </a:p>
        </p:txBody>
      </p:sp>
      <p:sp>
        <p:nvSpPr>
          <p:cNvPr id="7" name="TextBox 6">
            <a:extLst>
              <a:ext uri="{FF2B5EF4-FFF2-40B4-BE49-F238E27FC236}">
                <a16:creationId xmlns:a16="http://schemas.microsoft.com/office/drawing/2014/main" id="{3CBB2DD4-C499-09CD-207E-17897EE21E7F}"/>
              </a:ext>
            </a:extLst>
          </p:cNvPr>
          <p:cNvSpPr txBox="1"/>
          <p:nvPr/>
        </p:nvSpPr>
        <p:spPr>
          <a:xfrm>
            <a:off x="609600" y="1676400"/>
            <a:ext cx="2413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TURN IT ON</a:t>
            </a:r>
          </a:p>
        </p:txBody>
      </p:sp>
      <p:sp>
        <p:nvSpPr>
          <p:cNvPr id="8" name="TextBox 7">
            <a:extLst>
              <a:ext uri="{FF2B5EF4-FFF2-40B4-BE49-F238E27FC236}">
                <a16:creationId xmlns:a16="http://schemas.microsoft.com/office/drawing/2014/main" id="{CFCEC254-B40C-8472-935B-448CB916135E}"/>
              </a:ext>
            </a:extLst>
          </p:cNvPr>
          <p:cNvSpPr txBox="1"/>
          <p:nvPr/>
        </p:nvSpPr>
        <p:spPr>
          <a:xfrm>
            <a:off x="3429000" y="1676400"/>
            <a:ext cx="2286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ON THE SERVER</a:t>
            </a:r>
          </a:p>
        </p:txBody>
      </p:sp>
      <p:sp>
        <p:nvSpPr>
          <p:cNvPr id="9" name="TextBox 8">
            <a:extLst>
              <a:ext uri="{FF2B5EF4-FFF2-40B4-BE49-F238E27FC236}">
                <a16:creationId xmlns:a16="http://schemas.microsoft.com/office/drawing/2014/main" id="{3303B833-21DC-500D-320C-045F1A0FB5F8}"/>
              </a:ext>
            </a:extLst>
          </p:cNvPr>
          <p:cNvSpPr txBox="1"/>
          <p:nvPr/>
        </p:nvSpPr>
        <p:spPr>
          <a:xfrm>
            <a:off x="6121400" y="1676400"/>
            <a:ext cx="28448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WHAT YOU GET</a:t>
            </a:r>
          </a:p>
        </p:txBody>
      </p:sp>
      <p:sp>
        <p:nvSpPr>
          <p:cNvPr id="10" name="TextBox 9">
            <a:extLst>
              <a:ext uri="{FF2B5EF4-FFF2-40B4-BE49-F238E27FC236}">
                <a16:creationId xmlns:a16="http://schemas.microsoft.com/office/drawing/2014/main" id="{BD84240F-6940-C466-87A4-7FB4916D04D3}"/>
              </a:ext>
            </a:extLst>
          </p:cNvPr>
          <p:cNvSpPr txBox="1"/>
          <p:nvPr/>
        </p:nvSpPr>
        <p:spPr>
          <a:xfrm>
            <a:off x="9372600" y="1676400"/>
            <a:ext cx="22098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AN OWNER DECIDES</a:t>
            </a:r>
          </a:p>
        </p:txBody>
      </p:sp>
      <p:sp>
        <p:nvSpPr>
          <p:cNvPr id="11" name="Rectangle: Rounded Corners 10">
            <a:extLst>
              <a:ext uri="{FF2B5EF4-FFF2-40B4-BE49-F238E27FC236}">
                <a16:creationId xmlns:a16="http://schemas.microsoft.com/office/drawing/2014/main" id="{E00570F8-B133-81C2-4240-414B31B397EE}"/>
              </a:ext>
            </a:extLst>
          </p:cNvPr>
          <p:cNvSpPr/>
          <p:nvPr/>
        </p:nvSpPr>
        <p:spPr>
          <a:xfrm>
            <a:off x="609600" y="2032000"/>
            <a:ext cx="2413000" cy="762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9725EA3C-DFB3-171A-EEFA-5A25632E56E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39900" y="2070100"/>
            <a:ext cx="152400" cy="152400"/>
          </a:xfrm>
          <a:prstGeom prst="rect">
            <a:avLst/>
          </a:prstGeom>
        </p:spPr>
      </p:pic>
      <p:sp>
        <p:nvSpPr>
          <p:cNvPr id="14" name="TextBox 13">
            <a:extLst>
              <a:ext uri="{FF2B5EF4-FFF2-40B4-BE49-F238E27FC236}">
                <a16:creationId xmlns:a16="http://schemas.microsoft.com/office/drawing/2014/main" id="{8BC1ACB9-3DF8-8BF3-E9AB-97EF1AA35D09}"/>
              </a:ext>
            </a:extLst>
          </p:cNvPr>
          <p:cNvSpPr txBox="1"/>
          <p:nvPr/>
        </p:nvSpPr>
        <p:spPr>
          <a:xfrm>
            <a:off x="711200" y="2235200"/>
            <a:ext cx="2209800" cy="5334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Arc-connected server</a:t>
            </a:r>
          </a:p>
        </p:txBody>
      </p:sp>
      <p:sp>
        <p:nvSpPr>
          <p:cNvPr id="15" name="Rectangle: Rounded Corners 14">
            <a:extLst>
              <a:ext uri="{FF2B5EF4-FFF2-40B4-BE49-F238E27FC236}">
                <a16:creationId xmlns:a16="http://schemas.microsoft.com/office/drawing/2014/main" id="{DC751609-3445-7F3F-2056-E64897F38E16}"/>
              </a:ext>
            </a:extLst>
          </p:cNvPr>
          <p:cNvSpPr/>
          <p:nvPr/>
        </p:nvSpPr>
        <p:spPr>
          <a:xfrm>
            <a:off x="609600" y="2997200"/>
            <a:ext cx="2413000" cy="914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A9C79531-CDA6-EFEC-316A-EA859A579B3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739900" y="3035300"/>
            <a:ext cx="152400" cy="152400"/>
          </a:xfrm>
          <a:prstGeom prst="rect">
            <a:avLst/>
          </a:prstGeom>
        </p:spPr>
      </p:pic>
      <p:sp>
        <p:nvSpPr>
          <p:cNvPr id="18" name="TextBox 17">
            <a:extLst>
              <a:ext uri="{FF2B5EF4-FFF2-40B4-BE49-F238E27FC236}">
                <a16:creationId xmlns:a16="http://schemas.microsoft.com/office/drawing/2014/main" id="{11118EDC-0C11-C00E-DC2F-B3513B4CEC67}"/>
              </a:ext>
            </a:extLst>
          </p:cNvPr>
          <p:cNvSpPr txBox="1"/>
          <p:nvPr/>
        </p:nvSpPr>
        <p:spPr>
          <a:xfrm>
            <a:off x="711200" y="3200400"/>
            <a:ext cx="2209800" cy="685800"/>
          </a:xfrm>
          <a:prstGeom prst="rect">
            <a:avLst/>
          </a:prstGeom>
          <a:noFill/>
        </p:spPr>
        <p:txBody>
          <a:bodyPr vert="horz" wrap="square" lIns="25400" tIns="0" rIns="25400" bIns="0" rtlCol="0" anchor="ctr">
            <a:noAutofit/>
          </a:bodyPr>
          <a:lstStyle/>
          <a:p>
            <a:pPr algn="ctr"/>
            <a:r>
              <a:rPr lang="en-US" sz="1100" b="1">
                <a:solidFill>
                  <a:srgbClr val="EAF0F7"/>
                </a:solidFill>
                <a:latin typeface="Calibri" panose="020F0502020204030204" pitchFamily="34" charset="0"/>
              </a:rPr>
              <a:t>Defender for Servers plan
turned on in Defender for Cloud</a:t>
            </a:r>
          </a:p>
        </p:txBody>
      </p:sp>
      <p:cxnSp>
        <p:nvCxnSpPr>
          <p:cNvPr id="19" name="Straight Arrow Connector 18">
            <a:extLst>
              <a:ext uri="{FF2B5EF4-FFF2-40B4-BE49-F238E27FC236}">
                <a16:creationId xmlns:a16="http://schemas.microsoft.com/office/drawing/2014/main" id="{DBBC1033-EC77-1294-4720-E1438AB8C286}"/>
              </a:ext>
            </a:extLst>
          </p:cNvPr>
          <p:cNvCxnSpPr/>
          <p:nvPr/>
        </p:nvCxnSpPr>
        <p:spPr>
          <a:xfrm>
            <a:off x="3022600" y="2413000"/>
            <a:ext cx="2032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6239488-F107-6F88-F57A-E62E4433858B}"/>
              </a:ext>
            </a:extLst>
          </p:cNvPr>
          <p:cNvCxnSpPr/>
          <p:nvPr/>
        </p:nvCxnSpPr>
        <p:spPr>
          <a:xfrm>
            <a:off x="3022600" y="3454400"/>
            <a:ext cx="2032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CAF859E-3BAA-E9D0-F410-1A13C7F7A4EC}"/>
              </a:ext>
            </a:extLst>
          </p:cNvPr>
          <p:cNvCxnSpPr/>
          <p:nvPr/>
        </p:nvCxnSpPr>
        <p:spPr>
          <a:xfrm>
            <a:off x="3225800" y="2413000"/>
            <a:ext cx="0" cy="10414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DA80EBC-0B22-B3B0-AEB7-F432E766D626}"/>
              </a:ext>
            </a:extLst>
          </p:cNvPr>
          <p:cNvCxnSpPr/>
          <p:nvPr/>
        </p:nvCxnSpPr>
        <p:spPr>
          <a:xfrm>
            <a:off x="3225800" y="29337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9067B0D5-8A4E-D126-96D3-4D4EBB1B751E}"/>
              </a:ext>
            </a:extLst>
          </p:cNvPr>
          <p:cNvSpPr/>
          <p:nvPr/>
        </p:nvSpPr>
        <p:spPr>
          <a:xfrm>
            <a:off x="3429000" y="2235200"/>
            <a:ext cx="2286000" cy="1397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ADA231FE-2875-1021-DC21-B385681ACA6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495800" y="2273300"/>
            <a:ext cx="152400" cy="152400"/>
          </a:xfrm>
          <a:prstGeom prst="rect">
            <a:avLst/>
          </a:prstGeom>
        </p:spPr>
      </p:pic>
      <p:sp>
        <p:nvSpPr>
          <p:cNvPr id="26" name="TextBox 25">
            <a:extLst>
              <a:ext uri="{FF2B5EF4-FFF2-40B4-BE49-F238E27FC236}">
                <a16:creationId xmlns:a16="http://schemas.microsoft.com/office/drawing/2014/main" id="{DDC7527E-64AE-7F2E-4718-E0D7CFBAA561}"/>
              </a:ext>
            </a:extLst>
          </p:cNvPr>
          <p:cNvSpPr txBox="1"/>
          <p:nvPr/>
        </p:nvSpPr>
        <p:spPr>
          <a:xfrm>
            <a:off x="3530600" y="2438400"/>
            <a:ext cx="2082800" cy="11684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Defender for Endpoint
the sensor on the machine
(the plan installs it)</a:t>
            </a:r>
          </a:p>
        </p:txBody>
      </p:sp>
      <p:sp>
        <p:nvSpPr>
          <p:cNvPr id="27" name="Rectangle: Rounded Corners 26">
            <a:extLst>
              <a:ext uri="{FF2B5EF4-FFF2-40B4-BE49-F238E27FC236}">
                <a16:creationId xmlns:a16="http://schemas.microsoft.com/office/drawing/2014/main" id="{ABFA17BD-A66E-67EF-1B4E-A7D76F428AB4}"/>
              </a:ext>
            </a:extLst>
          </p:cNvPr>
          <p:cNvSpPr/>
          <p:nvPr/>
        </p:nvSpPr>
        <p:spPr>
          <a:xfrm>
            <a:off x="6121400" y="1905000"/>
            <a:ext cx="2844800" cy="990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WHAT'S WEAK (POSTURE)
recommendations · vulnerabilities</a:t>
            </a:r>
          </a:p>
        </p:txBody>
      </p:sp>
      <p:sp>
        <p:nvSpPr>
          <p:cNvPr id="28" name="Rectangle: Rounded Corners 27">
            <a:extLst>
              <a:ext uri="{FF2B5EF4-FFF2-40B4-BE49-F238E27FC236}">
                <a16:creationId xmlns:a16="http://schemas.microsoft.com/office/drawing/2014/main" id="{3D8960C6-1EA2-8829-0821-69B6C8534FE7}"/>
              </a:ext>
            </a:extLst>
          </p:cNvPr>
          <p:cNvSpPr/>
          <p:nvPr/>
        </p:nvSpPr>
        <p:spPr>
          <a:xfrm>
            <a:off x="6121400" y="3098800"/>
            <a:ext cx="2844800" cy="9906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WHAT'S UNDER ATTACK (PROTECTION)
security alerts</a:t>
            </a:r>
          </a:p>
        </p:txBody>
      </p:sp>
      <p:cxnSp>
        <p:nvCxnSpPr>
          <p:cNvPr id="29" name="Straight Arrow Connector 28">
            <a:extLst>
              <a:ext uri="{FF2B5EF4-FFF2-40B4-BE49-F238E27FC236}">
                <a16:creationId xmlns:a16="http://schemas.microsoft.com/office/drawing/2014/main" id="{03BAB39C-4B4E-DEC7-FAEA-B33198578D31}"/>
              </a:ext>
            </a:extLst>
          </p:cNvPr>
          <p:cNvCxnSpPr/>
          <p:nvPr/>
        </p:nvCxnSpPr>
        <p:spPr>
          <a:xfrm flipV="1">
            <a:off x="5715000" y="2400300"/>
            <a:ext cx="406400" cy="21590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FE4D515-CA34-CF56-A770-0272D76FFCD7}"/>
              </a:ext>
            </a:extLst>
          </p:cNvPr>
          <p:cNvCxnSpPr/>
          <p:nvPr/>
        </p:nvCxnSpPr>
        <p:spPr>
          <a:xfrm>
            <a:off x="5715000" y="3251200"/>
            <a:ext cx="406400" cy="342900"/>
          </a:xfrm>
          <a:prstGeom prst="straightConnector1">
            <a:avLst/>
          </a:prstGeom>
          <a:ln w="28575">
            <a:solidFill>
              <a:srgbClr val="F0786E"/>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C6FF5833-EFCC-6165-24ED-388B0E275E2B}"/>
              </a:ext>
            </a:extLst>
          </p:cNvPr>
          <p:cNvSpPr/>
          <p:nvPr/>
        </p:nvSpPr>
        <p:spPr>
          <a:xfrm>
            <a:off x="9372600" y="2489200"/>
            <a:ext cx="2209800" cy="11430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Fix the weakness
or respond to the attack</a:t>
            </a:r>
          </a:p>
        </p:txBody>
      </p:sp>
      <p:cxnSp>
        <p:nvCxnSpPr>
          <p:cNvPr id="32" name="Straight Arrow Connector 31">
            <a:extLst>
              <a:ext uri="{FF2B5EF4-FFF2-40B4-BE49-F238E27FC236}">
                <a16:creationId xmlns:a16="http://schemas.microsoft.com/office/drawing/2014/main" id="{AA1EC77F-6225-523F-6BB9-93E281D98EB6}"/>
              </a:ext>
            </a:extLst>
          </p:cNvPr>
          <p:cNvCxnSpPr/>
          <p:nvPr/>
        </p:nvCxnSpPr>
        <p:spPr>
          <a:xfrm>
            <a:off x="8966200" y="2400300"/>
            <a:ext cx="406400" cy="4699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FBCFE15D-D69E-B3D9-E550-3D95E42A0C74}"/>
              </a:ext>
            </a:extLst>
          </p:cNvPr>
          <p:cNvCxnSpPr/>
          <p:nvPr/>
        </p:nvCxnSpPr>
        <p:spPr>
          <a:xfrm flipV="1">
            <a:off x="8966200" y="3251200"/>
            <a:ext cx="406400" cy="3429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1C910056-C33D-7674-FDA3-5CCBE971B756}"/>
              </a:ext>
            </a:extLst>
          </p:cNvPr>
          <p:cNvSpPr txBox="1"/>
          <p:nvPr/>
        </p:nvSpPr>
        <p:spPr>
          <a:xfrm>
            <a:off x="609600" y="4521200"/>
            <a:ext cx="10972800" cy="338554"/>
          </a:xfrm>
          <a:prstGeom prst="rect">
            <a:avLst/>
          </a:prstGeom>
          <a:noFill/>
        </p:spPr>
        <p:txBody>
          <a:bodyPr vert="horz" wrap="square" lIns="25400" rIns="25400" rtlCol="0">
            <a:spAutoFit/>
          </a:bodyPr>
          <a:lstStyle/>
          <a:p>
            <a:r>
              <a:rPr lang="en-US" sz="1600" b="1">
                <a:solidFill>
                  <a:srgbClr val="EAF0F7"/>
                </a:solidFill>
                <a:latin typeface="Calibri" panose="020F0502020204030204" pitchFamily="34" charset="0"/>
              </a:rPr>
              <a:t>Defender for Cloud is the dashboard in Azure. Defender for Endpoint is the sensor on the server.</a:t>
            </a:r>
          </a:p>
        </p:txBody>
      </p:sp>
      <p:sp>
        <p:nvSpPr>
          <p:cNvPr id="35" name="Rectangle 34">
            <a:extLst>
              <a:ext uri="{FF2B5EF4-FFF2-40B4-BE49-F238E27FC236}">
                <a16:creationId xmlns:a16="http://schemas.microsoft.com/office/drawing/2014/main" id="{D7703BC8-75BE-882D-00CE-E80B623D2771}"/>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01E7C42-F643-F28F-2093-3797C3BA23CA}"/>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Fix what's weak. Respond to what's under attack.</a:t>
            </a:r>
          </a:p>
        </p:txBody>
      </p:sp>
    </p:spTree>
    <p:extLst>
      <p:ext uri="{BB962C8B-B14F-4D97-AF65-F5344CB8AC3E}">
        <p14:creationId xmlns:p14="http://schemas.microsoft.com/office/powerpoint/2010/main" val="25169753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669AAA-A787-3919-C29A-871AFE77BA2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AD25A8F-3E53-881A-4A98-CAC8D26FEEFC}"/>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DE016AE-7B15-902A-7487-545DAE28C0DA}"/>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inspect a Defender for Cloud finding for an Arc-enabled server</a:t>
            </a:r>
          </a:p>
        </p:txBody>
      </p:sp>
      <p:sp>
        <p:nvSpPr>
          <p:cNvPr id="5" name="Rectangle 4">
            <a:extLst>
              <a:ext uri="{FF2B5EF4-FFF2-40B4-BE49-F238E27FC236}">
                <a16:creationId xmlns:a16="http://schemas.microsoft.com/office/drawing/2014/main" id="{721577A3-BD02-A828-4C19-54E9C01B69C6}"/>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0A9C203-6EED-94DF-7D75-638EB8380036}"/>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DF5BDA81-D385-5DB2-10BA-F3CB1A2E64CF}"/>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C31EA1C3-AFB0-B1BE-31DB-11AFF3516AA1}"/>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C3477AA2-AD82-EC74-BD67-C149676AE687}"/>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Verify plan coverage for the Arc workload</a:t>
            </a:r>
          </a:p>
        </p:txBody>
      </p:sp>
      <p:sp>
        <p:nvSpPr>
          <p:cNvPr id="10" name="Rectangle: Rounded Corners 9">
            <a:extLst>
              <a:ext uri="{FF2B5EF4-FFF2-40B4-BE49-F238E27FC236}">
                <a16:creationId xmlns:a16="http://schemas.microsoft.com/office/drawing/2014/main" id="{7CB50AB9-FCB0-33CE-9D8A-CA0C36EBEC43}"/>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A6F7E504-74FA-9EE1-0C95-A7BB71C987CB}"/>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Inspect an applicable recommendation/finding</a:t>
            </a:r>
          </a:p>
        </p:txBody>
      </p:sp>
      <p:sp>
        <p:nvSpPr>
          <p:cNvPr id="12" name="Rectangle: Rounded Corners 11">
            <a:extLst>
              <a:ext uri="{FF2B5EF4-FFF2-40B4-BE49-F238E27FC236}">
                <a16:creationId xmlns:a16="http://schemas.microsoft.com/office/drawing/2014/main" id="{DC9674B7-7987-435A-04B3-ADF3B9546DE1}"/>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68A332CC-9351-DDC6-7810-4CD04D3414B6}"/>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Map evidence to the exact workload</a:t>
            </a:r>
          </a:p>
        </p:txBody>
      </p:sp>
      <p:sp>
        <p:nvSpPr>
          <p:cNvPr id="14" name="Rectangle: Rounded Corners 13">
            <a:extLst>
              <a:ext uri="{FF2B5EF4-FFF2-40B4-BE49-F238E27FC236}">
                <a16:creationId xmlns:a16="http://schemas.microsoft.com/office/drawing/2014/main" id="{8F3074E2-6AE2-533A-813C-5899460CBBCC}"/>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3F0D6873-F4C5-25BB-499B-F94DA72C47CA}"/>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Identify remediation owner and verification</a:t>
            </a:r>
          </a:p>
        </p:txBody>
      </p:sp>
      <p:sp>
        <p:nvSpPr>
          <p:cNvPr id="16" name="Rectangle: Rounded Corners 15">
            <a:extLst>
              <a:ext uri="{FF2B5EF4-FFF2-40B4-BE49-F238E27FC236}">
                <a16:creationId xmlns:a16="http://schemas.microsoft.com/office/drawing/2014/main" id="{071C756D-0847-8D80-EC3C-EBA04350E9DA}"/>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71DD089-E2CA-D597-6727-5AB8FA1C7DF8}"/>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Coverage + evidence timestamp
Affected resource and finding details
Owner and concrete remediation decision</a:t>
            </a:r>
          </a:p>
        </p:txBody>
      </p:sp>
      <p:sp>
        <p:nvSpPr>
          <p:cNvPr id="18" name="Rectangle 17">
            <a:extLst>
              <a:ext uri="{FF2B5EF4-FFF2-40B4-BE49-F238E27FC236}">
                <a16:creationId xmlns:a16="http://schemas.microsoft.com/office/drawing/2014/main" id="{B815E043-0A07-4EBB-9D0A-2B6B7799078F}"/>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F92F69B-12F8-CE54-D8C4-94192175D317}"/>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 finding is only useful when it maps to an exact workload and a named owner.</a:t>
            </a:r>
          </a:p>
        </p:txBody>
      </p:sp>
      <p:sp>
        <p:nvSpPr>
          <p:cNvPr id="20" name="DemoMarkerBar">
            <a:extLst>
              <a:ext uri="{FF2B5EF4-FFF2-40B4-BE49-F238E27FC236}">
                <a16:creationId xmlns:a16="http://schemas.microsoft.com/office/drawing/2014/main" id="{838A5F88-CAF5-DCBD-58FF-98D94E26697F}"/>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A85964DB-316C-81B9-C298-6E0A4F330041}"/>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3472065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6B24BC-5999-A616-8E92-7290B3CDEE1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6D3D7DD-C396-7E78-21D5-61072751AF6E}"/>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D5C57D3-5393-F8AE-D017-450C668E588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Microsoft Sentinel</a:t>
            </a:r>
          </a:p>
        </p:txBody>
      </p:sp>
      <p:sp>
        <p:nvSpPr>
          <p:cNvPr id="5" name="Rectangle 4">
            <a:extLst>
              <a:ext uri="{FF2B5EF4-FFF2-40B4-BE49-F238E27FC236}">
                <a16:creationId xmlns:a16="http://schemas.microsoft.com/office/drawing/2014/main" id="{F0B72A7F-EC17-F9B1-2365-7CF3B929EF25}"/>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076CDF7-569C-4981-CCF4-D50A48954B2C}"/>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Turns security data into detections and incidents.</a:t>
            </a:r>
          </a:p>
        </p:txBody>
      </p:sp>
      <p:sp>
        <p:nvSpPr>
          <p:cNvPr id="7" name="Rectangle: Rounded Corners 6">
            <a:extLst>
              <a:ext uri="{FF2B5EF4-FFF2-40B4-BE49-F238E27FC236}">
                <a16:creationId xmlns:a16="http://schemas.microsoft.com/office/drawing/2014/main" id="{080E77B8-8A66-C33A-7802-41221C61A113}"/>
              </a:ext>
            </a:extLst>
          </p:cNvPr>
          <p:cNvSpPr/>
          <p:nvPr/>
        </p:nvSpPr>
        <p:spPr>
          <a:xfrm>
            <a:off x="609600" y="1778000"/>
            <a:ext cx="2540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From your servers
security events</a:t>
            </a:r>
          </a:p>
        </p:txBody>
      </p:sp>
      <p:cxnSp>
        <p:nvCxnSpPr>
          <p:cNvPr id="8" name="Straight Arrow Connector 7">
            <a:extLst>
              <a:ext uri="{FF2B5EF4-FFF2-40B4-BE49-F238E27FC236}">
                <a16:creationId xmlns:a16="http://schemas.microsoft.com/office/drawing/2014/main" id="{7F2338B7-D272-DE16-936C-5D748D77E9FE}"/>
              </a:ext>
            </a:extLst>
          </p:cNvPr>
          <p:cNvCxnSpPr/>
          <p:nvPr/>
        </p:nvCxnSpPr>
        <p:spPr>
          <a:xfrm>
            <a:off x="3149600" y="2133600"/>
            <a:ext cx="406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8D66FCED-5068-1F77-75AE-F09DC15377CC}"/>
              </a:ext>
            </a:extLst>
          </p:cNvPr>
          <p:cNvSpPr/>
          <p:nvPr/>
        </p:nvSpPr>
        <p:spPr>
          <a:xfrm>
            <a:off x="3556000" y="1778000"/>
            <a:ext cx="2540000" cy="711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Azure Monitor agent + DCR</a:t>
            </a:r>
          </a:p>
        </p:txBody>
      </p:sp>
      <p:sp>
        <p:nvSpPr>
          <p:cNvPr id="10" name="Rectangle: Rounded Corners 9">
            <a:extLst>
              <a:ext uri="{FF2B5EF4-FFF2-40B4-BE49-F238E27FC236}">
                <a16:creationId xmlns:a16="http://schemas.microsoft.com/office/drawing/2014/main" id="{72C466FB-BCAF-AF5A-8D92-C19CE1810248}"/>
              </a:ext>
            </a:extLst>
          </p:cNvPr>
          <p:cNvSpPr/>
          <p:nvPr/>
        </p:nvSpPr>
        <p:spPr>
          <a:xfrm>
            <a:off x="609600" y="2692400"/>
            <a:ext cx="2540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From cloud services
Entra · Azure · Microsoft 365 · SaaS</a:t>
            </a:r>
          </a:p>
        </p:txBody>
      </p:sp>
      <p:cxnSp>
        <p:nvCxnSpPr>
          <p:cNvPr id="11" name="Straight Arrow Connector 10">
            <a:extLst>
              <a:ext uri="{FF2B5EF4-FFF2-40B4-BE49-F238E27FC236}">
                <a16:creationId xmlns:a16="http://schemas.microsoft.com/office/drawing/2014/main" id="{F1C9C9AD-A173-6323-985E-0678FB8F412B}"/>
              </a:ext>
            </a:extLst>
          </p:cNvPr>
          <p:cNvCxnSpPr/>
          <p:nvPr/>
        </p:nvCxnSpPr>
        <p:spPr>
          <a:xfrm>
            <a:off x="3149600" y="3048000"/>
            <a:ext cx="406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3B3CA6BF-6B80-4DC2-B660-135A752D69F6}"/>
              </a:ext>
            </a:extLst>
          </p:cNvPr>
          <p:cNvSpPr/>
          <p:nvPr/>
        </p:nvSpPr>
        <p:spPr>
          <a:xfrm>
            <a:off x="3556000" y="2692400"/>
            <a:ext cx="2540000" cy="711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Data connectors</a:t>
            </a:r>
          </a:p>
        </p:txBody>
      </p:sp>
      <p:sp>
        <p:nvSpPr>
          <p:cNvPr id="13" name="Rectangle: Rounded Corners 12">
            <a:extLst>
              <a:ext uri="{FF2B5EF4-FFF2-40B4-BE49-F238E27FC236}">
                <a16:creationId xmlns:a16="http://schemas.microsoft.com/office/drawing/2014/main" id="{B30193D0-5F20-BDB7-527A-77A7B34041B5}"/>
              </a:ext>
            </a:extLst>
          </p:cNvPr>
          <p:cNvSpPr/>
          <p:nvPr/>
        </p:nvSpPr>
        <p:spPr>
          <a:xfrm>
            <a:off x="7112000" y="1905000"/>
            <a:ext cx="4470400" cy="1371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DB15582-08F7-7A62-BF36-3254460AA4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271000" y="1943100"/>
            <a:ext cx="152400" cy="152400"/>
          </a:xfrm>
          <a:prstGeom prst="rect">
            <a:avLst/>
          </a:prstGeom>
        </p:spPr>
      </p:pic>
      <p:sp>
        <p:nvSpPr>
          <p:cNvPr id="16" name="TextBox 15">
            <a:extLst>
              <a:ext uri="{FF2B5EF4-FFF2-40B4-BE49-F238E27FC236}">
                <a16:creationId xmlns:a16="http://schemas.microsoft.com/office/drawing/2014/main" id="{BDF355D7-B672-8AC8-8A86-3A718411492F}"/>
              </a:ext>
            </a:extLst>
          </p:cNvPr>
          <p:cNvSpPr txBox="1"/>
          <p:nvPr/>
        </p:nvSpPr>
        <p:spPr>
          <a:xfrm>
            <a:off x="7213600" y="2108200"/>
            <a:ext cx="4267200" cy="1143000"/>
          </a:xfrm>
          <a:prstGeom prst="rect">
            <a:avLst/>
          </a:prstGeom>
          <a:noFill/>
        </p:spPr>
        <p:txBody>
          <a:bodyPr vert="horz" wrap="square" lIns="25400" tIns="0" rIns="25400" bIns="0" rtlCol="0" anchor="ctr">
            <a:noAutofit/>
          </a:bodyPr>
          <a:lstStyle/>
          <a:p>
            <a:pPr algn="ctr"/>
            <a:r>
              <a:rPr lang="en-US" sz="1400" b="1">
                <a:solidFill>
                  <a:srgbClr val="EAF0F7"/>
                </a:solidFill>
                <a:latin typeface="Calibri" panose="020F0502020204030204" pitchFamily="34" charset="0"/>
              </a:rPr>
              <a:t>Log Analytics workspace
with Sentinel enabled</a:t>
            </a:r>
          </a:p>
        </p:txBody>
      </p:sp>
      <p:cxnSp>
        <p:nvCxnSpPr>
          <p:cNvPr id="17" name="Straight Arrow Connector 16">
            <a:extLst>
              <a:ext uri="{FF2B5EF4-FFF2-40B4-BE49-F238E27FC236}">
                <a16:creationId xmlns:a16="http://schemas.microsoft.com/office/drawing/2014/main" id="{60AEABBB-CF45-F9C2-88E1-B0341332CF6B}"/>
              </a:ext>
            </a:extLst>
          </p:cNvPr>
          <p:cNvCxnSpPr/>
          <p:nvPr/>
        </p:nvCxnSpPr>
        <p:spPr>
          <a:xfrm>
            <a:off x="6096000" y="2133600"/>
            <a:ext cx="1016000" cy="2794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91B399D7-7E17-2E2B-2204-95DE43B3FF8C}"/>
              </a:ext>
            </a:extLst>
          </p:cNvPr>
          <p:cNvCxnSpPr/>
          <p:nvPr/>
        </p:nvCxnSpPr>
        <p:spPr>
          <a:xfrm flipV="1">
            <a:off x="6096000" y="2768600"/>
            <a:ext cx="1016000" cy="2794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21F1A9B2-E399-91B4-7CB6-2E6C0599EEB3}"/>
              </a:ext>
            </a:extLst>
          </p:cNvPr>
          <p:cNvSpPr/>
          <p:nvPr/>
        </p:nvSpPr>
        <p:spPr>
          <a:xfrm>
            <a:off x="609600" y="4064000"/>
            <a:ext cx="3111500" cy="965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Analytics rule
scheduled detection</a:t>
            </a:r>
          </a:p>
        </p:txBody>
      </p:sp>
      <p:sp>
        <p:nvSpPr>
          <p:cNvPr id="20" name="Rectangle: Rounded Corners 19">
            <a:extLst>
              <a:ext uri="{FF2B5EF4-FFF2-40B4-BE49-F238E27FC236}">
                <a16:creationId xmlns:a16="http://schemas.microsoft.com/office/drawing/2014/main" id="{C4C1EBA1-22C6-2FF1-C91A-53F02E075C81}"/>
              </a:ext>
            </a:extLst>
          </p:cNvPr>
          <p:cNvSpPr/>
          <p:nvPr/>
        </p:nvSpPr>
        <p:spPr>
          <a:xfrm>
            <a:off x="4470400" y="4064000"/>
            <a:ext cx="3111500" cy="9652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Incident + entities + evidence
if the rule is set to create one</a:t>
            </a:r>
          </a:p>
        </p:txBody>
      </p:sp>
      <p:sp>
        <p:nvSpPr>
          <p:cNvPr id="21" name="Rectangle: Rounded Corners 20">
            <a:extLst>
              <a:ext uri="{FF2B5EF4-FFF2-40B4-BE49-F238E27FC236}">
                <a16:creationId xmlns:a16="http://schemas.microsoft.com/office/drawing/2014/main" id="{67B00370-C7BD-F63E-93DA-B71FD6BD36B2}"/>
              </a:ext>
            </a:extLst>
          </p:cNvPr>
          <p:cNvSpPr/>
          <p:nvPr/>
        </p:nvSpPr>
        <p:spPr>
          <a:xfrm>
            <a:off x="8331200" y="4064000"/>
            <a:ext cx="3251200" cy="965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Investigation + response owner</a:t>
            </a:r>
          </a:p>
        </p:txBody>
      </p:sp>
      <p:cxnSp>
        <p:nvCxnSpPr>
          <p:cNvPr id="22" name="Straight Arrow Connector 21">
            <a:extLst>
              <a:ext uri="{FF2B5EF4-FFF2-40B4-BE49-F238E27FC236}">
                <a16:creationId xmlns:a16="http://schemas.microsoft.com/office/drawing/2014/main" id="{F5FCA829-3491-A4B3-2427-E20FC3556892}"/>
              </a:ext>
            </a:extLst>
          </p:cNvPr>
          <p:cNvCxnSpPr/>
          <p:nvPr/>
        </p:nvCxnSpPr>
        <p:spPr>
          <a:xfrm>
            <a:off x="9347200" y="3276600"/>
            <a:ext cx="0" cy="4064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26B5204-DCF9-B7DE-E7E8-9A18F7B02EA6}"/>
              </a:ext>
            </a:extLst>
          </p:cNvPr>
          <p:cNvCxnSpPr/>
          <p:nvPr/>
        </p:nvCxnSpPr>
        <p:spPr>
          <a:xfrm flipH="1">
            <a:off x="2159000" y="3683000"/>
            <a:ext cx="71882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C59A327-8BFB-47E6-9478-C033A3FFE405}"/>
              </a:ext>
            </a:extLst>
          </p:cNvPr>
          <p:cNvCxnSpPr/>
          <p:nvPr/>
        </p:nvCxnSpPr>
        <p:spPr>
          <a:xfrm>
            <a:off x="2159000" y="3683000"/>
            <a:ext cx="0" cy="3810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F220215-90B0-6A5F-7F33-EEF1941B6627}"/>
              </a:ext>
            </a:extLst>
          </p:cNvPr>
          <p:cNvCxnSpPr/>
          <p:nvPr/>
        </p:nvCxnSpPr>
        <p:spPr>
          <a:xfrm>
            <a:off x="3721100" y="4546600"/>
            <a:ext cx="749300" cy="0"/>
          </a:xfrm>
          <a:prstGeom prst="straightConnector1">
            <a:avLst/>
          </a:prstGeom>
          <a:ln w="28575">
            <a:solidFill>
              <a:srgbClr val="F0786E"/>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7979BCC-CE19-F3FC-2817-C1CFD595E4F8}"/>
              </a:ext>
            </a:extLst>
          </p:cNvPr>
          <p:cNvCxnSpPr/>
          <p:nvPr/>
        </p:nvCxnSpPr>
        <p:spPr>
          <a:xfrm>
            <a:off x="7581900" y="4546600"/>
            <a:ext cx="749300" cy="0"/>
          </a:xfrm>
          <a:prstGeom prst="straightConnector1">
            <a:avLst/>
          </a:prstGeom>
          <a:ln w="28575">
            <a:solidFill>
              <a:srgbClr val="F0786E"/>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4A38BD84-27CD-FC56-8242-40985CBC0FB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5DDA815-D5E3-059D-525C-B4E2B4968AB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No data and no rule means no incident.</a:t>
            </a:r>
          </a:p>
        </p:txBody>
      </p:sp>
    </p:spTree>
    <p:extLst>
      <p:ext uri="{BB962C8B-B14F-4D97-AF65-F5344CB8AC3E}">
        <p14:creationId xmlns:p14="http://schemas.microsoft.com/office/powerpoint/2010/main" val="223556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06AF81-045E-33E3-03AB-65402B2AD1D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2B7D779-E205-112C-0472-C9445F8E6865}"/>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333241D-D0D2-36EF-FFF4-E80E835F27F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DEMO: investigate a Microsoft Sentinel incident</a:t>
            </a:r>
          </a:p>
        </p:txBody>
      </p:sp>
      <p:sp>
        <p:nvSpPr>
          <p:cNvPr id="5" name="Rectangle 4">
            <a:extLst>
              <a:ext uri="{FF2B5EF4-FFF2-40B4-BE49-F238E27FC236}">
                <a16:creationId xmlns:a16="http://schemas.microsoft.com/office/drawing/2014/main" id="{AFD3AE8B-4257-D49A-5069-4346994AE174}"/>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352B0D8-0A80-4AA1-FA58-AB0D2520EAD1}"/>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A1633841-5067-E897-1701-E78067C978CA}"/>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2B847322-D705-3009-87F8-05CD4F0F40C6}"/>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E7D2D444-1685-B948-3C58-E25E4C33FF50}"/>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Select the labelled training incident</a:t>
            </a:r>
          </a:p>
        </p:txBody>
      </p:sp>
      <p:sp>
        <p:nvSpPr>
          <p:cNvPr id="10" name="Rectangle: Rounded Corners 9">
            <a:extLst>
              <a:ext uri="{FF2B5EF4-FFF2-40B4-BE49-F238E27FC236}">
                <a16:creationId xmlns:a16="http://schemas.microsoft.com/office/drawing/2014/main" id="{49A8FC38-A53E-C600-E319-BC854E1E8D85}"/>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4A81D96B-0849-A6FF-C3AA-0AE559A68553}"/>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Inspect triggering evidence and entities</a:t>
            </a:r>
          </a:p>
        </p:txBody>
      </p:sp>
      <p:sp>
        <p:nvSpPr>
          <p:cNvPr id="12" name="Rectangle: Rounded Corners 11">
            <a:extLst>
              <a:ext uri="{FF2B5EF4-FFF2-40B4-BE49-F238E27FC236}">
                <a16:creationId xmlns:a16="http://schemas.microsoft.com/office/drawing/2014/main" id="{692DC6C4-44EF-953D-95BD-A96735B32E34}"/>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B379BA58-B988-83A1-4386-C228B6B5CBD1}"/>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Follow the timeline and investigation context</a:t>
            </a:r>
          </a:p>
        </p:txBody>
      </p:sp>
      <p:sp>
        <p:nvSpPr>
          <p:cNvPr id="14" name="Rectangle: Rounded Corners 13">
            <a:extLst>
              <a:ext uri="{FF2B5EF4-FFF2-40B4-BE49-F238E27FC236}">
                <a16:creationId xmlns:a16="http://schemas.microsoft.com/office/drawing/2014/main" id="{6F434000-732E-CC59-8B83-10850E6453C9}"/>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7A411AE9-98AA-0A88-1F9C-D0D3F20EF2E0}"/>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Record owner, response decision and status</a:t>
            </a:r>
          </a:p>
        </p:txBody>
      </p:sp>
      <p:sp>
        <p:nvSpPr>
          <p:cNvPr id="16" name="Rectangle: Rounded Corners 15">
            <a:extLst>
              <a:ext uri="{FF2B5EF4-FFF2-40B4-BE49-F238E27FC236}">
                <a16:creationId xmlns:a16="http://schemas.microsoft.com/office/drawing/2014/main" id="{5B734637-8029-733A-68EA-1DE7C387532F}"/>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24B5000-AA7E-E7E4-9567-8ECFE5AEFD7D}"/>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Correct workspace + time range
Evidence behind the incident
Owned response with a verification condition</a:t>
            </a:r>
          </a:p>
        </p:txBody>
      </p:sp>
      <p:sp>
        <p:nvSpPr>
          <p:cNvPr id="18" name="Rectangle 17">
            <a:extLst>
              <a:ext uri="{FF2B5EF4-FFF2-40B4-BE49-F238E27FC236}">
                <a16:creationId xmlns:a16="http://schemas.microsoft.com/office/drawing/2014/main" id="{A4889453-ED60-60D9-4964-514C6DDCFEE0}"/>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922F8F5-D3A2-5F69-C90D-9E587697BEA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Keep training evidence labelled; reset only the session-owned incident artifacts.</a:t>
            </a:r>
          </a:p>
        </p:txBody>
      </p:sp>
      <p:sp>
        <p:nvSpPr>
          <p:cNvPr id="20" name="DemoMarkerBar">
            <a:extLst>
              <a:ext uri="{FF2B5EF4-FFF2-40B4-BE49-F238E27FC236}">
                <a16:creationId xmlns:a16="http://schemas.microsoft.com/office/drawing/2014/main" id="{E9C7E03B-244A-445D-6EB6-D67365936924}"/>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71EA12BF-689E-E816-B2B9-7E2012AE7C54}"/>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2199611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0FBB0A-E268-653C-5D87-1B6A9CB3039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AEE59DD-1EFC-5318-47C8-D90554382BDD}"/>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8A6EE77-E56C-2276-0C14-B7E8FF13D4CD}"/>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3 · Govern: which team owns it, and does it stay the way we agreed?</a:t>
            </a:r>
          </a:p>
        </p:txBody>
      </p:sp>
      <p:sp>
        <p:nvSpPr>
          <p:cNvPr id="5" name="Rectangle 4">
            <a:extLst>
              <a:ext uri="{FF2B5EF4-FFF2-40B4-BE49-F238E27FC236}">
                <a16:creationId xmlns:a16="http://schemas.microsoft.com/office/drawing/2014/main" id="{04D40FC6-31CE-A505-239D-412DD9DB5B92}"/>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0D06FB9-DA3C-7601-522C-3CE202046FD7}"/>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8943636F-B226-4B8D-37A2-715F0306268B}"/>
              </a:ext>
            </a:extLst>
          </p:cNvPr>
          <p:cNvSpPr txBox="1"/>
          <p:nvPr/>
        </p:nvSpPr>
        <p:spPr>
          <a:xfrm>
            <a:off x="762000" y="21844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Ownership: landing zones decide where things live and who owns them</a:t>
            </a:r>
          </a:p>
        </p:txBody>
      </p:sp>
      <p:sp>
        <p:nvSpPr>
          <p:cNvPr id="8" name="TextBox 7">
            <a:extLst>
              <a:ext uri="{FF2B5EF4-FFF2-40B4-BE49-F238E27FC236}">
                <a16:creationId xmlns:a16="http://schemas.microsoft.com/office/drawing/2014/main" id="{17410FC1-CC99-A739-46A7-3D2BBC9564B8}"/>
              </a:ext>
            </a:extLst>
          </p:cNvPr>
          <p:cNvSpPr txBox="1"/>
          <p:nvPr/>
        </p:nvSpPr>
        <p:spPr>
          <a:xfrm>
            <a:off x="762000" y="26670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Rules: Azure Policy checks and fixes settings everywhere</a:t>
            </a:r>
          </a:p>
        </p:txBody>
      </p:sp>
      <p:sp>
        <p:nvSpPr>
          <p:cNvPr id="9" name="TextBox 8">
            <a:extLst>
              <a:ext uri="{FF2B5EF4-FFF2-40B4-BE49-F238E27FC236}">
                <a16:creationId xmlns:a16="http://schemas.microsoft.com/office/drawing/2014/main" id="{32E46085-C7BC-9F96-A9D1-6A5748BF5809}"/>
              </a:ext>
            </a:extLst>
          </p:cNvPr>
          <p:cNvSpPr txBox="1"/>
          <p:nvPr/>
        </p:nvSpPr>
        <p:spPr>
          <a:xfrm>
            <a:off x="762000" y="31496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Compliance: prove it against a standard</a:t>
            </a:r>
          </a:p>
        </p:txBody>
      </p:sp>
      <p:sp>
        <p:nvSpPr>
          <p:cNvPr id="10" name="TextBox 9">
            <a:extLst>
              <a:ext uri="{FF2B5EF4-FFF2-40B4-BE49-F238E27FC236}">
                <a16:creationId xmlns:a16="http://schemas.microsoft.com/office/drawing/2014/main" id="{AE37F5E6-DBA1-19E8-FFE4-7B63C30275EC}"/>
              </a:ext>
            </a:extLst>
          </p:cNvPr>
          <p:cNvSpPr txBox="1"/>
          <p:nvPr/>
        </p:nvSpPr>
        <p:spPr>
          <a:xfrm>
            <a:off x="762000" y="36322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Kept current: one patch process for every estate, plus ESUs</a:t>
            </a:r>
          </a:p>
        </p:txBody>
      </p:sp>
      <p:sp>
        <p:nvSpPr>
          <p:cNvPr id="11" name="TextBox 10">
            <a:extLst>
              <a:ext uri="{FF2B5EF4-FFF2-40B4-BE49-F238E27FC236}">
                <a16:creationId xmlns:a16="http://schemas.microsoft.com/office/drawing/2014/main" id="{B3DB495A-98E4-1A3F-AEEA-DAB5FBE6B429}"/>
              </a:ext>
            </a:extLst>
          </p:cNvPr>
          <p:cNvSpPr txBox="1"/>
          <p:nvPr/>
        </p:nvSpPr>
        <p:spPr>
          <a:xfrm>
            <a:off x="762000" y="41148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Kept as designed: Flux on EKS</a:t>
            </a:r>
          </a:p>
        </p:txBody>
      </p:sp>
      <p:sp>
        <p:nvSpPr>
          <p:cNvPr id="12" name="TextBox 11">
            <a:extLst>
              <a:ext uri="{FF2B5EF4-FFF2-40B4-BE49-F238E27FC236}">
                <a16:creationId xmlns:a16="http://schemas.microsoft.com/office/drawing/2014/main" id="{3388E497-AEA5-D12B-8FC8-55392857FFBE}"/>
              </a:ext>
            </a:extLst>
          </p:cNvPr>
          <p:cNvSpPr txBox="1"/>
          <p:nvPr/>
        </p:nvSpPr>
        <p:spPr>
          <a:xfrm>
            <a:off x="762000" y="45974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DEMOS: Policy, Update Manager, Flux on EKS</a:t>
            </a:r>
          </a:p>
        </p:txBody>
      </p:sp>
      <p:sp>
        <p:nvSpPr>
          <p:cNvPr id="13" name="Rectangle: Rounded Corners 12">
            <a:extLst>
              <a:ext uri="{FF2B5EF4-FFF2-40B4-BE49-F238E27FC236}">
                <a16:creationId xmlns:a16="http://schemas.microsoft.com/office/drawing/2014/main" id="{0A86E124-D144-00F4-320D-D2DCB6CD9DA4}"/>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4" name="Rectangle: Rounded Corners 13">
            <a:extLst>
              <a:ext uri="{FF2B5EF4-FFF2-40B4-BE49-F238E27FC236}">
                <a16:creationId xmlns:a16="http://schemas.microsoft.com/office/drawing/2014/main" id="{29B0D8C4-405D-160C-2D80-5AF178592F50}"/>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5" name="Rectangle: Rounded Corners 14">
            <a:extLst>
              <a:ext uri="{FF2B5EF4-FFF2-40B4-BE49-F238E27FC236}">
                <a16:creationId xmlns:a16="http://schemas.microsoft.com/office/drawing/2014/main" id="{D144C18A-432A-52C9-C4F6-6A798FBFDEC4}"/>
              </a:ext>
            </a:extLst>
          </p:cNvPr>
          <p:cNvSpPr/>
          <p:nvPr/>
        </p:nvSpPr>
        <p:spPr>
          <a:xfrm>
            <a:off x="50800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3 · Govern</a:t>
            </a:r>
          </a:p>
        </p:txBody>
      </p:sp>
      <p:sp>
        <p:nvSpPr>
          <p:cNvPr id="16" name="Rectangle: Rounded Corners 15">
            <a:extLst>
              <a:ext uri="{FF2B5EF4-FFF2-40B4-BE49-F238E27FC236}">
                <a16:creationId xmlns:a16="http://schemas.microsoft.com/office/drawing/2014/main" id="{8553A053-CEF1-82EC-C6E7-93F18C88F96D}"/>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7" name="Rectangle: Rounded Corners 16">
            <a:extLst>
              <a:ext uri="{FF2B5EF4-FFF2-40B4-BE49-F238E27FC236}">
                <a16:creationId xmlns:a16="http://schemas.microsoft.com/office/drawing/2014/main" id="{3082E4AE-8126-E70D-7AD0-C3FCBD78F2DE}"/>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Tree>
    <p:extLst>
      <p:ext uri="{BB962C8B-B14F-4D97-AF65-F5344CB8AC3E}">
        <p14:creationId xmlns:p14="http://schemas.microsoft.com/office/powerpoint/2010/main" val="2955795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CED853-D239-0DEF-2DF9-35F6DAF5830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750C9C6-89DA-9E6A-5874-B7EE5853A19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738F290-600A-5B43-D103-3C4CF0C8545F}"/>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A landing zone is the operating foundation for workloads at scale</a:t>
            </a:r>
          </a:p>
        </p:txBody>
      </p:sp>
      <p:sp>
        <p:nvSpPr>
          <p:cNvPr id="5" name="Rectangle 4">
            <a:extLst>
              <a:ext uri="{FF2B5EF4-FFF2-40B4-BE49-F238E27FC236}">
                <a16:creationId xmlns:a16="http://schemas.microsoft.com/office/drawing/2014/main" id="{BB0892A0-ADE8-9837-61D1-F2BC5829B76F}"/>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392AD29-5D30-9C8E-D8CB-A70D7640B048}"/>
              </a:ext>
            </a:extLst>
          </p:cNvPr>
          <p:cNvSpPr/>
          <p:nvPr/>
        </p:nvSpPr>
        <p:spPr>
          <a:xfrm>
            <a:off x="1905000" y="1727200"/>
            <a:ext cx="2794000" cy="508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Entra tenant</a:t>
            </a:r>
          </a:p>
        </p:txBody>
      </p:sp>
      <p:sp>
        <p:nvSpPr>
          <p:cNvPr id="7" name="Rectangle: Rounded Corners 6">
            <a:extLst>
              <a:ext uri="{FF2B5EF4-FFF2-40B4-BE49-F238E27FC236}">
                <a16:creationId xmlns:a16="http://schemas.microsoft.com/office/drawing/2014/main" id="{E14564FA-E006-6276-4C3A-99E401A46375}"/>
              </a:ext>
            </a:extLst>
          </p:cNvPr>
          <p:cNvSpPr/>
          <p:nvPr/>
        </p:nvSpPr>
        <p:spPr>
          <a:xfrm>
            <a:off x="762000" y="2590800"/>
            <a:ext cx="2286000" cy="609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Platform
management group</a:t>
            </a:r>
          </a:p>
        </p:txBody>
      </p:sp>
      <p:sp>
        <p:nvSpPr>
          <p:cNvPr id="8" name="Rectangle: Rounded Corners 7">
            <a:extLst>
              <a:ext uri="{FF2B5EF4-FFF2-40B4-BE49-F238E27FC236}">
                <a16:creationId xmlns:a16="http://schemas.microsoft.com/office/drawing/2014/main" id="{A72F65DF-8E20-103A-9D78-98A92191AE1B}"/>
              </a:ext>
            </a:extLst>
          </p:cNvPr>
          <p:cNvSpPr/>
          <p:nvPr/>
        </p:nvSpPr>
        <p:spPr>
          <a:xfrm>
            <a:off x="3556000" y="2590800"/>
            <a:ext cx="2286000" cy="609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Landing zones
management group</a:t>
            </a:r>
          </a:p>
        </p:txBody>
      </p:sp>
      <p:cxnSp>
        <p:nvCxnSpPr>
          <p:cNvPr id="9" name="Straight Arrow Connector 8">
            <a:extLst>
              <a:ext uri="{FF2B5EF4-FFF2-40B4-BE49-F238E27FC236}">
                <a16:creationId xmlns:a16="http://schemas.microsoft.com/office/drawing/2014/main" id="{63BAF393-2BD3-8736-01C1-81348DC293A5}"/>
              </a:ext>
            </a:extLst>
          </p:cNvPr>
          <p:cNvCxnSpPr/>
          <p:nvPr/>
        </p:nvCxnSpPr>
        <p:spPr>
          <a:xfrm flipH="1">
            <a:off x="1905000" y="2235200"/>
            <a:ext cx="1016000" cy="355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1DBAD57E-7501-6A7A-EE86-580B386456BB}"/>
              </a:ext>
            </a:extLst>
          </p:cNvPr>
          <p:cNvCxnSpPr/>
          <p:nvPr/>
        </p:nvCxnSpPr>
        <p:spPr>
          <a:xfrm>
            <a:off x="3683000" y="2235200"/>
            <a:ext cx="1016000" cy="355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96216C13-0F96-762E-8736-FA6187966243}"/>
              </a:ext>
            </a:extLst>
          </p:cNvPr>
          <p:cNvSpPr/>
          <p:nvPr/>
        </p:nvSpPr>
        <p:spPr>
          <a:xfrm>
            <a:off x="762000" y="3429000"/>
            <a:ext cx="2286000" cy="482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43AB9DD6-06B4-F33A-B250-F85CC79702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828800" y="3467100"/>
            <a:ext cx="152400" cy="152400"/>
          </a:xfrm>
          <a:prstGeom prst="rect">
            <a:avLst/>
          </a:prstGeom>
        </p:spPr>
      </p:pic>
      <p:sp>
        <p:nvSpPr>
          <p:cNvPr id="14" name="TextBox 13">
            <a:extLst>
              <a:ext uri="{FF2B5EF4-FFF2-40B4-BE49-F238E27FC236}">
                <a16:creationId xmlns:a16="http://schemas.microsoft.com/office/drawing/2014/main" id="{398777FA-AB09-B471-FFDD-58524DB4524B}"/>
              </a:ext>
            </a:extLst>
          </p:cNvPr>
          <p:cNvSpPr txBox="1"/>
          <p:nvPr/>
        </p:nvSpPr>
        <p:spPr>
          <a:xfrm>
            <a:off x="863600" y="3632200"/>
            <a:ext cx="2082800" cy="2540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Identity</a:t>
            </a:r>
          </a:p>
        </p:txBody>
      </p:sp>
      <p:sp>
        <p:nvSpPr>
          <p:cNvPr id="15" name="Rectangle: Rounded Corners 14">
            <a:extLst>
              <a:ext uri="{FF2B5EF4-FFF2-40B4-BE49-F238E27FC236}">
                <a16:creationId xmlns:a16="http://schemas.microsoft.com/office/drawing/2014/main" id="{B5461CFF-31D7-549A-932C-95FEAB1AD3FB}"/>
              </a:ext>
            </a:extLst>
          </p:cNvPr>
          <p:cNvSpPr/>
          <p:nvPr/>
        </p:nvSpPr>
        <p:spPr>
          <a:xfrm>
            <a:off x="762000" y="3987800"/>
            <a:ext cx="2286000" cy="482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A545384-2D91-195B-95DB-52673ED1EA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828800" y="4025900"/>
            <a:ext cx="152400" cy="152400"/>
          </a:xfrm>
          <a:prstGeom prst="rect">
            <a:avLst/>
          </a:prstGeom>
        </p:spPr>
      </p:pic>
      <p:sp>
        <p:nvSpPr>
          <p:cNvPr id="18" name="TextBox 17">
            <a:extLst>
              <a:ext uri="{FF2B5EF4-FFF2-40B4-BE49-F238E27FC236}">
                <a16:creationId xmlns:a16="http://schemas.microsoft.com/office/drawing/2014/main" id="{18B6AA6C-8CDF-82B6-2FE5-F4FC2BE2F3F2}"/>
              </a:ext>
            </a:extLst>
          </p:cNvPr>
          <p:cNvSpPr txBox="1"/>
          <p:nvPr/>
        </p:nvSpPr>
        <p:spPr>
          <a:xfrm>
            <a:off x="863600" y="4191000"/>
            <a:ext cx="2082800" cy="2540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Connectivity</a:t>
            </a:r>
          </a:p>
        </p:txBody>
      </p:sp>
      <p:sp>
        <p:nvSpPr>
          <p:cNvPr id="19" name="Rectangle: Rounded Corners 18">
            <a:extLst>
              <a:ext uri="{FF2B5EF4-FFF2-40B4-BE49-F238E27FC236}">
                <a16:creationId xmlns:a16="http://schemas.microsoft.com/office/drawing/2014/main" id="{3E0102A2-1EBB-D76E-6C30-CB885632AEF1}"/>
              </a:ext>
            </a:extLst>
          </p:cNvPr>
          <p:cNvSpPr/>
          <p:nvPr/>
        </p:nvSpPr>
        <p:spPr>
          <a:xfrm>
            <a:off x="762000" y="4546600"/>
            <a:ext cx="2286000" cy="482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993BC831-6C75-2072-2BB6-0398AEFD6F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828800" y="4584700"/>
            <a:ext cx="152400" cy="152400"/>
          </a:xfrm>
          <a:prstGeom prst="rect">
            <a:avLst/>
          </a:prstGeom>
        </p:spPr>
      </p:pic>
      <p:sp>
        <p:nvSpPr>
          <p:cNvPr id="22" name="TextBox 21">
            <a:extLst>
              <a:ext uri="{FF2B5EF4-FFF2-40B4-BE49-F238E27FC236}">
                <a16:creationId xmlns:a16="http://schemas.microsoft.com/office/drawing/2014/main" id="{21EA6309-D53E-780F-5E60-9D1DCB288813}"/>
              </a:ext>
            </a:extLst>
          </p:cNvPr>
          <p:cNvSpPr txBox="1"/>
          <p:nvPr/>
        </p:nvSpPr>
        <p:spPr>
          <a:xfrm>
            <a:off x="863600" y="4749800"/>
            <a:ext cx="2082800" cy="2540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Management</a:t>
            </a:r>
          </a:p>
        </p:txBody>
      </p:sp>
      <p:cxnSp>
        <p:nvCxnSpPr>
          <p:cNvPr id="23" name="Straight Arrow Connector 22">
            <a:extLst>
              <a:ext uri="{FF2B5EF4-FFF2-40B4-BE49-F238E27FC236}">
                <a16:creationId xmlns:a16="http://schemas.microsoft.com/office/drawing/2014/main" id="{C929149F-FB2E-B2EF-6086-99FBF5A8F110}"/>
              </a:ext>
            </a:extLst>
          </p:cNvPr>
          <p:cNvCxnSpPr/>
          <p:nvPr/>
        </p:nvCxnSpPr>
        <p:spPr>
          <a:xfrm>
            <a:off x="1905000" y="3200400"/>
            <a:ext cx="0" cy="2286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A351F9F3-0E7C-6BD8-9D46-A72B7BEEAEBB}"/>
              </a:ext>
            </a:extLst>
          </p:cNvPr>
          <p:cNvSpPr/>
          <p:nvPr/>
        </p:nvSpPr>
        <p:spPr>
          <a:xfrm>
            <a:off x="3556000" y="3429000"/>
            <a:ext cx="2286000" cy="1600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71BBC65B-CE9A-FC15-04D5-DBAED070B6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622800" y="3467100"/>
            <a:ext cx="152400" cy="152400"/>
          </a:xfrm>
          <a:prstGeom prst="rect">
            <a:avLst/>
          </a:prstGeom>
        </p:spPr>
      </p:pic>
      <p:sp>
        <p:nvSpPr>
          <p:cNvPr id="27" name="TextBox 26">
            <a:extLst>
              <a:ext uri="{FF2B5EF4-FFF2-40B4-BE49-F238E27FC236}">
                <a16:creationId xmlns:a16="http://schemas.microsoft.com/office/drawing/2014/main" id="{69C16FFE-CD43-6C42-44FE-ABF2DEE86430}"/>
              </a:ext>
            </a:extLst>
          </p:cNvPr>
          <p:cNvSpPr txBox="1"/>
          <p:nvPr/>
        </p:nvSpPr>
        <p:spPr>
          <a:xfrm>
            <a:off x="3657600" y="3632200"/>
            <a:ext cx="2082800" cy="13716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Application landing zones
one per workload
(dev · test · prod subscriptions)</a:t>
            </a:r>
          </a:p>
        </p:txBody>
      </p:sp>
      <p:cxnSp>
        <p:nvCxnSpPr>
          <p:cNvPr id="28" name="Straight Arrow Connector 27">
            <a:extLst>
              <a:ext uri="{FF2B5EF4-FFF2-40B4-BE49-F238E27FC236}">
                <a16:creationId xmlns:a16="http://schemas.microsoft.com/office/drawing/2014/main" id="{395B3EEB-8919-FA89-BE33-F936DE1772C0}"/>
              </a:ext>
            </a:extLst>
          </p:cNvPr>
          <p:cNvCxnSpPr/>
          <p:nvPr/>
        </p:nvCxnSpPr>
        <p:spPr>
          <a:xfrm>
            <a:off x="4699000" y="3200400"/>
            <a:ext cx="0" cy="228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ECC5ECE8-DE3C-8A97-F755-F498A8F890B9}"/>
              </a:ext>
            </a:extLst>
          </p:cNvPr>
          <p:cNvSpPr txBox="1"/>
          <p:nvPr/>
        </p:nvSpPr>
        <p:spPr>
          <a:xfrm>
            <a:off x="762000" y="5105400"/>
            <a:ext cx="2286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Platform subscriptions</a:t>
            </a:r>
          </a:p>
        </p:txBody>
      </p:sp>
      <p:sp>
        <p:nvSpPr>
          <p:cNvPr id="30" name="TextBox 29">
            <a:extLst>
              <a:ext uri="{FF2B5EF4-FFF2-40B4-BE49-F238E27FC236}">
                <a16:creationId xmlns:a16="http://schemas.microsoft.com/office/drawing/2014/main" id="{EFB39FB6-076D-B204-C90A-7AE93F4C56C3}"/>
              </a:ext>
            </a:extLst>
          </p:cNvPr>
          <p:cNvSpPr txBox="1"/>
          <p:nvPr/>
        </p:nvSpPr>
        <p:spPr>
          <a:xfrm>
            <a:off x="3556000" y="5105400"/>
            <a:ext cx="2286000" cy="276999"/>
          </a:xfrm>
          <a:prstGeom prst="rect">
            <a:avLst/>
          </a:prstGeom>
          <a:noFill/>
        </p:spPr>
        <p:txBody>
          <a:bodyPr vert="horz" wrap="square" lIns="25400" rIns="25400" rtlCol="0">
            <a:spAutoFit/>
          </a:bodyPr>
          <a:lstStyle/>
          <a:p>
            <a:r>
              <a:rPr lang="en-US" sz="1200" b="1">
                <a:solidFill>
                  <a:srgbClr val="6ED28C"/>
                </a:solidFill>
                <a:latin typeface="Calibri" panose="020F0502020204030204" pitchFamily="34" charset="0"/>
              </a:rPr>
              <a:t>Your workloads land here</a:t>
            </a:r>
          </a:p>
        </p:txBody>
      </p:sp>
      <p:sp>
        <p:nvSpPr>
          <p:cNvPr id="31" name="TextBox 30">
            <a:extLst>
              <a:ext uri="{FF2B5EF4-FFF2-40B4-BE49-F238E27FC236}">
                <a16:creationId xmlns:a16="http://schemas.microsoft.com/office/drawing/2014/main" id="{43F7E656-EA34-07FA-33AA-C2107EF9D0B0}"/>
              </a:ext>
            </a:extLst>
          </p:cNvPr>
          <p:cNvSpPr txBox="1"/>
          <p:nvPr/>
        </p:nvSpPr>
        <p:spPr>
          <a:xfrm>
            <a:off x="609600" y="5511800"/>
            <a:ext cx="5334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Policy and access flow down from the top.</a:t>
            </a:r>
          </a:p>
        </p:txBody>
      </p:sp>
      <p:sp>
        <p:nvSpPr>
          <p:cNvPr id="32" name="TextBox 31">
            <a:extLst>
              <a:ext uri="{FF2B5EF4-FFF2-40B4-BE49-F238E27FC236}">
                <a16:creationId xmlns:a16="http://schemas.microsoft.com/office/drawing/2014/main" id="{9D0F205A-B505-EAD5-5160-DC78DD192CB1}"/>
              </a:ext>
            </a:extLst>
          </p:cNvPr>
          <p:cNvSpPr txBox="1"/>
          <p:nvPr/>
        </p:nvSpPr>
        <p:spPr>
          <a:xfrm>
            <a:off x="6350000" y="1727200"/>
            <a:ext cx="52324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WHAT MICROSOFT MEANS BY A LANDING ZONE</a:t>
            </a:r>
          </a:p>
        </p:txBody>
      </p:sp>
      <p:sp>
        <p:nvSpPr>
          <p:cNvPr id="33" name="TextBox 32">
            <a:extLst>
              <a:ext uri="{FF2B5EF4-FFF2-40B4-BE49-F238E27FC236}">
                <a16:creationId xmlns:a16="http://schemas.microsoft.com/office/drawing/2014/main" id="{BDBA1D43-58C2-B7AA-5DD0-0A5166AD5649}"/>
              </a:ext>
            </a:extLst>
          </p:cNvPr>
          <p:cNvSpPr txBox="1"/>
          <p:nvPr/>
        </p:nvSpPr>
        <p:spPr>
          <a:xfrm>
            <a:off x="6350000" y="2108200"/>
            <a:ext cx="5232400" cy="2785378"/>
          </a:xfrm>
          <a:prstGeom prst="rect">
            <a:avLst/>
          </a:prstGeom>
          <a:noFill/>
        </p:spPr>
        <p:txBody>
          <a:bodyPr vert="horz" wrap="square" lIns="25400" rIns="25400" rtlCol="0">
            <a:spAutoFit/>
          </a:bodyPr>
          <a:lstStyle/>
          <a:p>
            <a:r>
              <a:rPr lang="en-US" sz="1250">
                <a:solidFill>
                  <a:srgbClr val="EAF0F7"/>
                </a:solidFill>
                <a:latin typeface="Calibri" panose="020F0502020204030204" pitchFamily="34" charset="0"/>
              </a:rPr>
              <a:t>•  Microsoft's definition: "A proven and flexible architecture for governing, securing, and scaling a multi-subscription Azure environment."
•  Platform landing zone: the central foundation. Management groups plus shared services: connectivity, identity, security monitoring and management. Usually one per Entra tenant.
•  Application landing zones: one per workload, holding its dev, test and prod environments, each one or more subscriptions.
•  Guardrails are inherited: Policy set on the management groups applies to every subscription below.
•  How you build it: Microsoft's accelerators, or a custom build.</a:t>
            </a:r>
          </a:p>
        </p:txBody>
      </p:sp>
      <p:sp>
        <p:nvSpPr>
          <p:cNvPr id="34" name="Rectangle 33">
            <a:extLst>
              <a:ext uri="{FF2B5EF4-FFF2-40B4-BE49-F238E27FC236}">
                <a16:creationId xmlns:a16="http://schemas.microsoft.com/office/drawing/2014/main" id="{42EE0ABD-CD22-E276-4A03-3FDFC50B6C71}"/>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7378094-682E-1C09-BC93-946FA04D648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Arc resources land in an application landing zone too, like any other workload. That is the next slide.</a:t>
            </a:r>
          </a:p>
        </p:txBody>
      </p:sp>
    </p:spTree>
    <p:extLst>
      <p:ext uri="{BB962C8B-B14F-4D97-AF65-F5344CB8AC3E}">
        <p14:creationId xmlns:p14="http://schemas.microsoft.com/office/powerpoint/2010/main" val="15450602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E18375-62FE-68D2-FFAD-825D5C69E89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684CE9D-FCFF-4BB8-C192-591A70BEB9E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D571F72-A080-E7F0-185F-0348E5DB205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Azure Arc landing zone</a:t>
            </a:r>
          </a:p>
        </p:txBody>
      </p:sp>
      <p:sp>
        <p:nvSpPr>
          <p:cNvPr id="5" name="Rectangle 4">
            <a:extLst>
              <a:ext uri="{FF2B5EF4-FFF2-40B4-BE49-F238E27FC236}">
                <a16:creationId xmlns:a16="http://schemas.microsoft.com/office/drawing/2014/main" id="{9F371C71-4CF2-5AA3-D7CA-4787E241DD4D}"/>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B24404A-2DC4-457C-EFB3-B81434752059}"/>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The accelerator adapts the landing zone foundation for hybrid and multicloud.</a:t>
            </a:r>
          </a:p>
        </p:txBody>
      </p:sp>
      <p:sp>
        <p:nvSpPr>
          <p:cNvPr id="7" name="TextBox 6">
            <a:extLst>
              <a:ext uri="{FF2B5EF4-FFF2-40B4-BE49-F238E27FC236}">
                <a16:creationId xmlns:a16="http://schemas.microsoft.com/office/drawing/2014/main" id="{728DB559-977E-3097-829D-374A66DD9DD3}"/>
              </a:ext>
            </a:extLst>
          </p:cNvPr>
          <p:cNvSpPr txBox="1"/>
          <p:nvPr/>
        </p:nvSpPr>
        <p:spPr>
          <a:xfrm>
            <a:off x="609600" y="1651000"/>
            <a:ext cx="10922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ONE FOUNDATION FOR ON-PREMISES AND AWS RESOURCES</a:t>
            </a:r>
          </a:p>
        </p:txBody>
      </p:sp>
      <p:sp>
        <p:nvSpPr>
          <p:cNvPr id="8" name="Rectangle: Rounded Corners 7">
            <a:extLst>
              <a:ext uri="{FF2B5EF4-FFF2-40B4-BE49-F238E27FC236}">
                <a16:creationId xmlns:a16="http://schemas.microsoft.com/office/drawing/2014/main" id="{EE665D60-9A33-7F5F-F519-B558B06EF7D2}"/>
              </a:ext>
            </a:extLst>
          </p:cNvPr>
          <p:cNvSpPr/>
          <p:nvPr/>
        </p:nvSpPr>
        <p:spPr>
          <a:xfrm>
            <a:off x="2540000" y="2108200"/>
            <a:ext cx="7112000" cy="812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Application landing zone subscription: inherits Policy and access</a:t>
            </a:r>
          </a:p>
        </p:txBody>
      </p:sp>
      <p:sp>
        <p:nvSpPr>
          <p:cNvPr id="9" name="Rectangle: Rounded Corners 8">
            <a:extLst>
              <a:ext uri="{FF2B5EF4-FFF2-40B4-BE49-F238E27FC236}">
                <a16:creationId xmlns:a16="http://schemas.microsoft.com/office/drawing/2014/main" id="{98CFAC45-510B-C07A-4AC3-69E301CE714A}"/>
              </a:ext>
            </a:extLst>
          </p:cNvPr>
          <p:cNvSpPr/>
          <p:nvPr/>
        </p:nvSpPr>
        <p:spPr>
          <a:xfrm>
            <a:off x="609600" y="3479800"/>
            <a:ext cx="3556000" cy="1498600"/>
          </a:xfrm>
          <a:prstGeom prst="roundRect">
            <a:avLst>
              <a:gd name="adj" fmla="val 11864"/>
            </a:avLst>
          </a:prstGeom>
          <a:noFill/>
          <a:ln w="19050" cap="flat" cmpd="sng" algn="ctr">
            <a:solidFill>
              <a:srgbClr val="6ED2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97FDCB8-000A-2FFE-2FFA-B176DD9DF5CF}"/>
              </a:ext>
            </a:extLst>
          </p:cNvPr>
          <p:cNvSpPr txBox="1"/>
          <p:nvPr/>
        </p:nvSpPr>
        <p:spPr>
          <a:xfrm>
            <a:off x="787400" y="3556000"/>
            <a:ext cx="32004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ON-PREMISES WORKLOAD RG</a:t>
            </a:r>
          </a:p>
        </p:txBody>
      </p:sp>
      <p:sp>
        <p:nvSpPr>
          <p:cNvPr id="11" name="Rectangle: Rounded Corners 10">
            <a:extLst>
              <a:ext uri="{FF2B5EF4-FFF2-40B4-BE49-F238E27FC236}">
                <a16:creationId xmlns:a16="http://schemas.microsoft.com/office/drawing/2014/main" id="{7AFC8E02-F467-6A64-020A-8F14B2E47F14}"/>
              </a:ext>
            </a:extLst>
          </p:cNvPr>
          <p:cNvSpPr/>
          <p:nvPr/>
        </p:nvSpPr>
        <p:spPr>
          <a:xfrm>
            <a:off x="4508500" y="3479800"/>
            <a:ext cx="7073900" cy="1498600"/>
          </a:xfrm>
          <a:prstGeom prst="roundRect">
            <a:avLst>
              <a:gd name="adj" fmla="val 11864"/>
            </a:avLst>
          </a:prstGeom>
          <a:noFill/>
          <a:ln w="19050" cap="flat" cmpd="sng" algn="ctr">
            <a:solidFill>
              <a:srgbClr val="F09E5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D220668-353A-B441-5030-0198B380D6F5}"/>
              </a:ext>
            </a:extLst>
          </p:cNvPr>
          <p:cNvSpPr txBox="1"/>
          <p:nvPr/>
        </p:nvSpPr>
        <p:spPr>
          <a:xfrm>
            <a:off x="4686300" y="3556000"/>
            <a:ext cx="67183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AWS RESOURCE GROUP (CREATED BY THE CONNECTOR)</a:t>
            </a:r>
          </a:p>
        </p:txBody>
      </p:sp>
      <p:sp>
        <p:nvSpPr>
          <p:cNvPr id="13" name="Rectangle: Rounded Corners 12">
            <a:extLst>
              <a:ext uri="{FF2B5EF4-FFF2-40B4-BE49-F238E27FC236}">
                <a16:creationId xmlns:a16="http://schemas.microsoft.com/office/drawing/2014/main" id="{D7D72AA8-84D9-B266-98D1-775360E542B2}"/>
              </a:ext>
            </a:extLst>
          </p:cNvPr>
          <p:cNvSpPr/>
          <p:nvPr/>
        </p:nvSpPr>
        <p:spPr>
          <a:xfrm>
            <a:off x="812800" y="3975100"/>
            <a:ext cx="3149600" cy="7747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84309F7F-67BA-B73D-F67D-49394D07838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311400" y="4013200"/>
            <a:ext cx="152400" cy="152400"/>
          </a:xfrm>
          <a:prstGeom prst="rect">
            <a:avLst/>
          </a:prstGeom>
        </p:spPr>
      </p:pic>
      <p:sp>
        <p:nvSpPr>
          <p:cNvPr id="16" name="TextBox 15">
            <a:extLst>
              <a:ext uri="{FF2B5EF4-FFF2-40B4-BE49-F238E27FC236}">
                <a16:creationId xmlns:a16="http://schemas.microsoft.com/office/drawing/2014/main" id="{5AEC0DC5-32D9-1CF4-78AE-19F15AC1AA55}"/>
              </a:ext>
            </a:extLst>
          </p:cNvPr>
          <p:cNvSpPr txBox="1"/>
          <p:nvPr/>
        </p:nvSpPr>
        <p:spPr>
          <a:xfrm>
            <a:off x="914400" y="4178300"/>
            <a:ext cx="2946400" cy="546100"/>
          </a:xfrm>
          <a:prstGeom prst="rect">
            <a:avLst/>
          </a:prstGeom>
          <a:noFill/>
        </p:spPr>
        <p:txBody>
          <a:bodyPr vert="horz" wrap="square" lIns="25400" tIns="0" rIns="25400" bIns="0" rtlCol="0" anchor="ctr">
            <a:noAutofit/>
          </a:bodyPr>
          <a:lstStyle/>
          <a:p>
            <a:pPr algn="ctr"/>
            <a:r>
              <a:rPr lang="en-US" sz="1500" b="1">
                <a:solidFill>
                  <a:srgbClr val="EAF0F7"/>
                </a:solidFill>
                <a:latin typeface="Calibri" panose="020F0502020204030204" pitchFamily="34" charset="0"/>
              </a:rPr>
              <a:t>SCVMM Arc workloads</a:t>
            </a:r>
          </a:p>
        </p:txBody>
      </p:sp>
      <p:sp>
        <p:nvSpPr>
          <p:cNvPr id="17" name="Rectangle: Rounded Corners 16">
            <a:extLst>
              <a:ext uri="{FF2B5EF4-FFF2-40B4-BE49-F238E27FC236}">
                <a16:creationId xmlns:a16="http://schemas.microsoft.com/office/drawing/2014/main" id="{D0641E1C-7AD6-A8C9-59F6-67B71B4017DE}"/>
              </a:ext>
            </a:extLst>
          </p:cNvPr>
          <p:cNvSpPr/>
          <p:nvPr/>
        </p:nvSpPr>
        <p:spPr>
          <a:xfrm>
            <a:off x="4749800" y="3975100"/>
            <a:ext cx="3111500" cy="7747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EC2 Arc machines</a:t>
            </a:r>
          </a:p>
        </p:txBody>
      </p:sp>
      <p:sp>
        <p:nvSpPr>
          <p:cNvPr id="18" name="Rectangle: Rounded Corners 17">
            <a:extLst>
              <a:ext uri="{FF2B5EF4-FFF2-40B4-BE49-F238E27FC236}">
                <a16:creationId xmlns:a16="http://schemas.microsoft.com/office/drawing/2014/main" id="{52D41D71-4895-2084-ECBF-EFF883537E3F}"/>
              </a:ext>
            </a:extLst>
          </p:cNvPr>
          <p:cNvSpPr/>
          <p:nvPr/>
        </p:nvSpPr>
        <p:spPr>
          <a:xfrm>
            <a:off x="8229600" y="3975100"/>
            <a:ext cx="3111500" cy="7747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6BEBFBDB-9936-5E78-4A1F-F9AED0E3083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709150" y="4013200"/>
            <a:ext cx="152400" cy="152400"/>
          </a:xfrm>
          <a:prstGeom prst="rect">
            <a:avLst/>
          </a:prstGeom>
        </p:spPr>
      </p:pic>
      <p:sp>
        <p:nvSpPr>
          <p:cNvPr id="21" name="TextBox 20">
            <a:extLst>
              <a:ext uri="{FF2B5EF4-FFF2-40B4-BE49-F238E27FC236}">
                <a16:creationId xmlns:a16="http://schemas.microsoft.com/office/drawing/2014/main" id="{8E990DF8-82E5-ABDF-C818-5A87DF891099}"/>
              </a:ext>
            </a:extLst>
          </p:cNvPr>
          <p:cNvSpPr txBox="1"/>
          <p:nvPr/>
        </p:nvSpPr>
        <p:spPr>
          <a:xfrm>
            <a:off x="8331200" y="4178300"/>
            <a:ext cx="2908300" cy="546100"/>
          </a:xfrm>
          <a:prstGeom prst="rect">
            <a:avLst/>
          </a:prstGeom>
          <a:noFill/>
        </p:spPr>
        <p:txBody>
          <a:bodyPr vert="horz" wrap="square" lIns="25400" tIns="0" rIns="25400" bIns="0" rtlCol="0" anchor="ctr">
            <a:noAutofit/>
          </a:bodyPr>
          <a:lstStyle/>
          <a:p>
            <a:pPr algn="ctr"/>
            <a:r>
              <a:rPr lang="en-US" sz="1500" b="1">
                <a:solidFill>
                  <a:srgbClr val="EAF0F7"/>
                </a:solidFill>
                <a:latin typeface="Calibri" panose="020F0502020204030204" pitchFamily="34" charset="0"/>
              </a:rPr>
              <a:t>EKS connected cluster</a:t>
            </a:r>
          </a:p>
        </p:txBody>
      </p:sp>
      <p:cxnSp>
        <p:nvCxnSpPr>
          <p:cNvPr id="22" name="Straight Arrow Connector 21">
            <a:extLst>
              <a:ext uri="{FF2B5EF4-FFF2-40B4-BE49-F238E27FC236}">
                <a16:creationId xmlns:a16="http://schemas.microsoft.com/office/drawing/2014/main" id="{5A6EDFA2-9FED-1A43-FA77-4178F208EE27}"/>
              </a:ext>
            </a:extLst>
          </p:cNvPr>
          <p:cNvCxnSpPr/>
          <p:nvPr/>
        </p:nvCxnSpPr>
        <p:spPr>
          <a:xfrm flipH="1">
            <a:off x="2387600" y="2921000"/>
            <a:ext cx="1993900" cy="558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5A3081F-ED88-3977-D419-443DF2CF2F12}"/>
              </a:ext>
            </a:extLst>
          </p:cNvPr>
          <p:cNvCxnSpPr/>
          <p:nvPr/>
        </p:nvCxnSpPr>
        <p:spPr>
          <a:xfrm>
            <a:off x="7810500" y="2921000"/>
            <a:ext cx="266700" cy="558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ED219CD-3B02-3C7A-8042-4E26384C06D7}"/>
              </a:ext>
            </a:extLst>
          </p:cNvPr>
          <p:cNvSpPr txBox="1"/>
          <p:nvPr/>
        </p:nvSpPr>
        <p:spPr>
          <a:xfrm>
            <a:off x="609600" y="5105400"/>
            <a:ext cx="109728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ARC-ENABLED SERVERS LANDING ZONE: DESIGN AREAS</a:t>
            </a:r>
          </a:p>
        </p:txBody>
      </p:sp>
      <p:sp>
        <p:nvSpPr>
          <p:cNvPr id="25" name="Rectangle: Rounded Corners 24">
            <a:extLst>
              <a:ext uri="{FF2B5EF4-FFF2-40B4-BE49-F238E27FC236}">
                <a16:creationId xmlns:a16="http://schemas.microsoft.com/office/drawing/2014/main" id="{E797BFCF-9543-C77B-3AE5-E864953BDACE}"/>
              </a:ext>
            </a:extLst>
          </p:cNvPr>
          <p:cNvSpPr/>
          <p:nvPr/>
        </p:nvSpPr>
        <p:spPr>
          <a:xfrm>
            <a:off x="6096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Identity</a:t>
            </a:r>
          </a:p>
        </p:txBody>
      </p:sp>
      <p:sp>
        <p:nvSpPr>
          <p:cNvPr id="26" name="Rectangle: Rounded Corners 25">
            <a:extLst>
              <a:ext uri="{FF2B5EF4-FFF2-40B4-BE49-F238E27FC236}">
                <a16:creationId xmlns:a16="http://schemas.microsoft.com/office/drawing/2014/main" id="{04A63B1D-F5FF-B897-F88D-99B4D82BEC79}"/>
              </a:ext>
            </a:extLst>
          </p:cNvPr>
          <p:cNvSpPr/>
          <p:nvPr/>
        </p:nvSpPr>
        <p:spPr>
          <a:xfrm>
            <a:off x="2006600" y="5410200"/>
            <a:ext cx="25400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Network: how agents reach Azure</a:t>
            </a:r>
          </a:p>
        </p:txBody>
      </p:sp>
      <p:sp>
        <p:nvSpPr>
          <p:cNvPr id="27" name="Rectangle: Rounded Corners 26">
            <a:extLst>
              <a:ext uri="{FF2B5EF4-FFF2-40B4-BE49-F238E27FC236}">
                <a16:creationId xmlns:a16="http://schemas.microsoft.com/office/drawing/2014/main" id="{D83AC64D-54D0-9242-8FD0-DC5F01FBD90D}"/>
              </a:ext>
            </a:extLst>
          </p:cNvPr>
          <p:cNvSpPr/>
          <p:nvPr/>
        </p:nvSpPr>
        <p:spPr>
          <a:xfrm>
            <a:off x="4648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Resource org</a:t>
            </a:r>
          </a:p>
        </p:txBody>
      </p:sp>
      <p:sp>
        <p:nvSpPr>
          <p:cNvPr id="28" name="Rectangle: Rounded Corners 27">
            <a:extLst>
              <a:ext uri="{FF2B5EF4-FFF2-40B4-BE49-F238E27FC236}">
                <a16:creationId xmlns:a16="http://schemas.microsoft.com/office/drawing/2014/main" id="{D889DB2C-CB69-3E76-01BA-5DFF3629EA45}"/>
              </a:ext>
            </a:extLst>
          </p:cNvPr>
          <p:cNvSpPr/>
          <p:nvPr/>
        </p:nvSpPr>
        <p:spPr>
          <a:xfrm>
            <a:off x="6045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Gov + security</a:t>
            </a:r>
          </a:p>
        </p:txBody>
      </p:sp>
      <p:sp>
        <p:nvSpPr>
          <p:cNvPr id="29" name="Rectangle: Rounded Corners 28">
            <a:extLst>
              <a:ext uri="{FF2B5EF4-FFF2-40B4-BE49-F238E27FC236}">
                <a16:creationId xmlns:a16="http://schemas.microsoft.com/office/drawing/2014/main" id="{9592899D-D709-5EBA-83AE-38E96B795E23}"/>
              </a:ext>
            </a:extLst>
          </p:cNvPr>
          <p:cNvSpPr/>
          <p:nvPr/>
        </p:nvSpPr>
        <p:spPr>
          <a:xfrm>
            <a:off x="7442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Monitoring</a:t>
            </a:r>
          </a:p>
        </p:txBody>
      </p:sp>
      <p:sp>
        <p:nvSpPr>
          <p:cNvPr id="30" name="Rectangle: Rounded Corners 29">
            <a:extLst>
              <a:ext uri="{FF2B5EF4-FFF2-40B4-BE49-F238E27FC236}">
                <a16:creationId xmlns:a16="http://schemas.microsoft.com/office/drawing/2014/main" id="{0CD25A66-7D16-D17F-7BA6-5C517A92414A}"/>
              </a:ext>
            </a:extLst>
          </p:cNvPr>
          <p:cNvSpPr/>
          <p:nvPr/>
        </p:nvSpPr>
        <p:spPr>
          <a:xfrm>
            <a:off x="8839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Cost</a:t>
            </a:r>
          </a:p>
        </p:txBody>
      </p:sp>
      <p:sp>
        <p:nvSpPr>
          <p:cNvPr id="31" name="Rectangle: Rounded Corners 30">
            <a:extLst>
              <a:ext uri="{FF2B5EF4-FFF2-40B4-BE49-F238E27FC236}">
                <a16:creationId xmlns:a16="http://schemas.microsoft.com/office/drawing/2014/main" id="{3A923AAF-14EA-38C8-7300-673A444E0D4E}"/>
              </a:ext>
            </a:extLst>
          </p:cNvPr>
          <p:cNvSpPr/>
          <p:nvPr/>
        </p:nvSpPr>
        <p:spPr>
          <a:xfrm>
            <a:off x="10236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Automation</a:t>
            </a:r>
          </a:p>
        </p:txBody>
      </p:sp>
      <p:sp>
        <p:nvSpPr>
          <p:cNvPr id="32" name="Rectangle 31">
            <a:extLst>
              <a:ext uri="{FF2B5EF4-FFF2-40B4-BE49-F238E27FC236}">
                <a16:creationId xmlns:a16="http://schemas.microsoft.com/office/drawing/2014/main" id="{981EE65C-E266-2DBE-2DC9-34E010042B6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E1F1A3D-51CD-D006-490A-31E1A95C18E0}"/>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Arc landing-zone guidance adapts the foundation; workloads continue running on-premises and in AWS.</a:t>
            </a:r>
          </a:p>
        </p:txBody>
      </p:sp>
    </p:spTree>
    <p:extLst>
      <p:ext uri="{BB962C8B-B14F-4D97-AF65-F5344CB8AC3E}">
        <p14:creationId xmlns:p14="http://schemas.microsoft.com/office/powerpoint/2010/main" val="109656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9A8A95-C133-5EF6-3EDA-EFE0732FC082}"/>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5A2B609-0270-A69E-EAE8-B5BDE7E47F54}"/>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01DCC2E-E250-E557-E2E3-33735B862974}"/>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Azure Policy</a:t>
            </a:r>
          </a:p>
        </p:txBody>
      </p:sp>
      <p:sp>
        <p:nvSpPr>
          <p:cNvPr id="5" name="Rectangle 4">
            <a:extLst>
              <a:ext uri="{FF2B5EF4-FFF2-40B4-BE49-F238E27FC236}">
                <a16:creationId xmlns:a16="http://schemas.microsoft.com/office/drawing/2014/main" id="{CA90985D-D881-7B30-5128-674C8E1F10D5}"/>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AA818DC-5B8C-4BE7-8C66-EBC39B691EAE}"/>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Rules you set once and Azure checks everywhere.</a:t>
            </a:r>
          </a:p>
        </p:txBody>
      </p:sp>
      <p:sp>
        <p:nvSpPr>
          <p:cNvPr id="7" name="TextBox 6">
            <a:extLst>
              <a:ext uri="{FF2B5EF4-FFF2-40B4-BE49-F238E27FC236}">
                <a16:creationId xmlns:a16="http://schemas.microsoft.com/office/drawing/2014/main" id="{33B802AF-8C7C-216A-F273-D2C0CC7AB311}"/>
              </a:ext>
            </a:extLst>
          </p:cNvPr>
          <p:cNvSpPr txBox="1"/>
          <p:nvPr/>
        </p:nvSpPr>
        <p:spPr>
          <a:xfrm>
            <a:off x="609600" y="1676400"/>
            <a:ext cx="3175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WHAT IT IS</a:t>
            </a:r>
          </a:p>
        </p:txBody>
      </p:sp>
      <p:sp>
        <p:nvSpPr>
          <p:cNvPr id="8" name="TextBox 7">
            <a:extLst>
              <a:ext uri="{FF2B5EF4-FFF2-40B4-BE49-F238E27FC236}">
                <a16:creationId xmlns:a16="http://schemas.microsoft.com/office/drawing/2014/main" id="{4FE3D336-4166-9ABC-5E38-8B58C3E2833A}"/>
              </a:ext>
            </a:extLst>
          </p:cNvPr>
          <p:cNvSpPr txBox="1"/>
          <p:nvPr/>
        </p:nvSpPr>
        <p:spPr>
          <a:xfrm>
            <a:off x="609600" y="2006600"/>
            <a:ext cx="3175000" cy="2092881"/>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  Write a rule once; assign it to a management group, subscription or resource group.
•  Everything under it inherits the rule: Azure resources and Arc servers on-premises and in AWS.
•  Azure checks every resource, reports who complies, and can block or fix what does not.</a:t>
            </a:r>
          </a:p>
        </p:txBody>
      </p:sp>
      <p:sp>
        <p:nvSpPr>
          <p:cNvPr id="9" name="TextBox 8">
            <a:extLst>
              <a:ext uri="{FF2B5EF4-FFF2-40B4-BE49-F238E27FC236}">
                <a16:creationId xmlns:a16="http://schemas.microsoft.com/office/drawing/2014/main" id="{9F495AC3-A018-AD4C-580B-46F09DBD19EB}"/>
              </a:ext>
            </a:extLst>
          </p:cNvPr>
          <p:cNvSpPr txBox="1"/>
          <p:nvPr/>
        </p:nvSpPr>
        <p:spPr>
          <a:xfrm>
            <a:off x="4089400" y="1676400"/>
            <a:ext cx="7493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LIKE A GPO, BUT…</a:t>
            </a:r>
          </a:p>
        </p:txBody>
      </p:sp>
      <p:sp>
        <p:nvSpPr>
          <p:cNvPr id="10" name="TextBox 9">
            <a:extLst>
              <a:ext uri="{FF2B5EF4-FFF2-40B4-BE49-F238E27FC236}">
                <a16:creationId xmlns:a16="http://schemas.microsoft.com/office/drawing/2014/main" id="{31AA98BD-8323-6831-D6E1-DE70EEC65D40}"/>
              </a:ext>
            </a:extLst>
          </p:cNvPr>
          <p:cNvSpPr txBox="1"/>
          <p:nvPr/>
        </p:nvSpPr>
        <p:spPr>
          <a:xfrm>
            <a:off x="4089400" y="2032000"/>
            <a:ext cx="1905000" cy="284693"/>
          </a:xfrm>
          <a:prstGeom prst="rect">
            <a:avLst/>
          </a:prstGeom>
          <a:noFill/>
        </p:spPr>
        <p:txBody>
          <a:bodyPr vert="horz" wrap="square" lIns="25400" rIns="25400" rtlCol="0">
            <a:spAutoFit/>
          </a:bodyPr>
          <a:lstStyle/>
          <a:p>
            <a:r>
              <a:rPr lang="en-US" sz="1250" b="1">
                <a:solidFill>
                  <a:srgbClr val="A3B2C4"/>
                </a:solidFill>
                <a:latin typeface="Calibri" panose="020F0502020204030204" pitchFamily="34" charset="0"/>
              </a:rPr>
              <a:t>Group Policy (GPO)</a:t>
            </a:r>
          </a:p>
        </p:txBody>
      </p:sp>
      <p:sp>
        <p:nvSpPr>
          <p:cNvPr id="11" name="TextBox 10">
            <a:extLst>
              <a:ext uri="{FF2B5EF4-FFF2-40B4-BE49-F238E27FC236}">
                <a16:creationId xmlns:a16="http://schemas.microsoft.com/office/drawing/2014/main" id="{EE3EEDEA-6C80-76FF-9871-98C478EF3A51}"/>
              </a:ext>
            </a:extLst>
          </p:cNvPr>
          <p:cNvSpPr txBox="1"/>
          <p:nvPr/>
        </p:nvSpPr>
        <p:spPr>
          <a:xfrm>
            <a:off x="6096000" y="2032000"/>
            <a:ext cx="3429000" cy="276999"/>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Settings inside Windows, on domain-joined machines</a:t>
            </a:r>
          </a:p>
        </p:txBody>
      </p:sp>
      <p:sp>
        <p:nvSpPr>
          <p:cNvPr id="12" name="TextBox 11">
            <a:extLst>
              <a:ext uri="{FF2B5EF4-FFF2-40B4-BE49-F238E27FC236}">
                <a16:creationId xmlns:a16="http://schemas.microsoft.com/office/drawing/2014/main" id="{F70B0F86-862F-8993-8857-E83A1B6AC6CE}"/>
              </a:ext>
            </a:extLst>
          </p:cNvPr>
          <p:cNvSpPr txBox="1"/>
          <p:nvPr/>
        </p:nvSpPr>
        <p:spPr>
          <a:xfrm>
            <a:off x="9652000" y="2032000"/>
            <a:ext cx="1930400" cy="461665"/>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Linked to an OU, inherited down</a:t>
            </a:r>
          </a:p>
        </p:txBody>
      </p:sp>
      <p:cxnSp>
        <p:nvCxnSpPr>
          <p:cNvPr id="13" name="Straight Connector 12">
            <a:extLst>
              <a:ext uri="{FF2B5EF4-FFF2-40B4-BE49-F238E27FC236}">
                <a16:creationId xmlns:a16="http://schemas.microsoft.com/office/drawing/2014/main" id="{4F6DF30E-92D2-FF2F-88D0-FA0153FA92BE}"/>
              </a:ext>
            </a:extLst>
          </p:cNvPr>
          <p:cNvCxnSpPr/>
          <p:nvPr/>
        </p:nvCxnSpPr>
        <p:spPr>
          <a:xfrm>
            <a:off x="4089400" y="2743200"/>
            <a:ext cx="74930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8088754-CEDF-5219-BFB1-0E5D7293D74F}"/>
              </a:ext>
            </a:extLst>
          </p:cNvPr>
          <p:cNvSpPr txBox="1"/>
          <p:nvPr/>
        </p:nvSpPr>
        <p:spPr>
          <a:xfrm>
            <a:off x="4089400" y="2794000"/>
            <a:ext cx="1905000" cy="284693"/>
          </a:xfrm>
          <a:prstGeom prst="rect">
            <a:avLst/>
          </a:prstGeom>
          <a:noFill/>
        </p:spPr>
        <p:txBody>
          <a:bodyPr vert="horz" wrap="square" lIns="25400" rIns="25400" rtlCol="0">
            <a:spAutoFit/>
          </a:bodyPr>
          <a:lstStyle/>
          <a:p>
            <a:r>
              <a:rPr lang="en-US" sz="1250" b="1">
                <a:solidFill>
                  <a:srgbClr val="6EA8F0"/>
                </a:solidFill>
                <a:latin typeface="Calibri" panose="020F0502020204030204" pitchFamily="34" charset="0"/>
              </a:rPr>
              <a:t>Azure Policy</a:t>
            </a:r>
          </a:p>
        </p:txBody>
      </p:sp>
      <p:sp>
        <p:nvSpPr>
          <p:cNvPr id="15" name="TextBox 14">
            <a:extLst>
              <a:ext uri="{FF2B5EF4-FFF2-40B4-BE49-F238E27FC236}">
                <a16:creationId xmlns:a16="http://schemas.microsoft.com/office/drawing/2014/main" id="{EE76C750-3BE8-2890-635A-BCE4DB71EEB5}"/>
              </a:ext>
            </a:extLst>
          </p:cNvPr>
          <p:cNvSpPr txBox="1"/>
          <p:nvPr/>
        </p:nvSpPr>
        <p:spPr>
          <a:xfrm>
            <a:off x="6096000" y="2794000"/>
            <a:ext cx="3429000" cy="461665"/>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The Azure resource itself: tags, location, size, whether a feature is on. Not inside the OS.</a:t>
            </a:r>
          </a:p>
        </p:txBody>
      </p:sp>
      <p:sp>
        <p:nvSpPr>
          <p:cNvPr id="16" name="TextBox 15">
            <a:extLst>
              <a:ext uri="{FF2B5EF4-FFF2-40B4-BE49-F238E27FC236}">
                <a16:creationId xmlns:a16="http://schemas.microsoft.com/office/drawing/2014/main" id="{EBFBB1EE-980B-DC2C-7616-11C7121B2CBA}"/>
              </a:ext>
            </a:extLst>
          </p:cNvPr>
          <p:cNvSpPr txBox="1"/>
          <p:nvPr/>
        </p:nvSpPr>
        <p:spPr>
          <a:xfrm>
            <a:off x="9652000" y="2794000"/>
            <a:ext cx="1930400" cy="646331"/>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Management group, subscription or resource group, inherited down</a:t>
            </a:r>
          </a:p>
        </p:txBody>
      </p:sp>
      <p:cxnSp>
        <p:nvCxnSpPr>
          <p:cNvPr id="17" name="Straight Connector 16">
            <a:extLst>
              <a:ext uri="{FF2B5EF4-FFF2-40B4-BE49-F238E27FC236}">
                <a16:creationId xmlns:a16="http://schemas.microsoft.com/office/drawing/2014/main" id="{CCF31352-C478-2EF6-9AC8-38B0E9ABD99D}"/>
              </a:ext>
            </a:extLst>
          </p:cNvPr>
          <p:cNvCxnSpPr/>
          <p:nvPr/>
        </p:nvCxnSpPr>
        <p:spPr>
          <a:xfrm>
            <a:off x="4089400" y="3505200"/>
            <a:ext cx="74930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8EF56B50-3E0C-BFF3-E057-9D37D0ADA1D2}"/>
              </a:ext>
            </a:extLst>
          </p:cNvPr>
          <p:cNvSpPr txBox="1"/>
          <p:nvPr/>
        </p:nvSpPr>
        <p:spPr>
          <a:xfrm>
            <a:off x="4089400" y="3556000"/>
            <a:ext cx="1905000" cy="477054"/>
          </a:xfrm>
          <a:prstGeom prst="rect">
            <a:avLst/>
          </a:prstGeom>
          <a:noFill/>
        </p:spPr>
        <p:txBody>
          <a:bodyPr vert="horz" wrap="square" lIns="25400" rIns="25400" rtlCol="0">
            <a:spAutoFit/>
          </a:bodyPr>
          <a:lstStyle/>
          <a:p>
            <a:r>
              <a:rPr lang="en-US" sz="1250" b="1">
                <a:solidFill>
                  <a:srgbClr val="6ED28C"/>
                </a:solidFill>
                <a:latin typeface="Calibri" panose="020F0502020204030204" pitchFamily="34" charset="0"/>
              </a:rPr>
              <a:t>Machine configuration (was guest configuration)</a:t>
            </a:r>
          </a:p>
        </p:txBody>
      </p:sp>
      <p:sp>
        <p:nvSpPr>
          <p:cNvPr id="19" name="TextBox 18">
            <a:extLst>
              <a:ext uri="{FF2B5EF4-FFF2-40B4-BE49-F238E27FC236}">
                <a16:creationId xmlns:a16="http://schemas.microsoft.com/office/drawing/2014/main" id="{B8375C1E-6270-1C8C-EDE2-D7DF7EB602D0}"/>
              </a:ext>
            </a:extLst>
          </p:cNvPr>
          <p:cNvSpPr txBox="1"/>
          <p:nvPr/>
        </p:nvSpPr>
        <p:spPr>
          <a:xfrm>
            <a:off x="6096000" y="3556000"/>
            <a:ext cx="3429000" cy="461665"/>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Settings inside the OS: Windows and Linux, Azure VMs and Arc servers. Closest to a GPO.</a:t>
            </a:r>
          </a:p>
        </p:txBody>
      </p:sp>
      <p:sp>
        <p:nvSpPr>
          <p:cNvPr id="20" name="TextBox 19">
            <a:extLst>
              <a:ext uri="{FF2B5EF4-FFF2-40B4-BE49-F238E27FC236}">
                <a16:creationId xmlns:a16="http://schemas.microsoft.com/office/drawing/2014/main" id="{18717156-D052-6C94-4FC1-3F121E406325}"/>
              </a:ext>
            </a:extLst>
          </p:cNvPr>
          <p:cNvSpPr txBox="1"/>
          <p:nvPr/>
        </p:nvSpPr>
        <p:spPr>
          <a:xfrm>
            <a:off x="9652000" y="3556000"/>
            <a:ext cx="1930400" cy="461665"/>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Delivered through an Azure Policy assignment</a:t>
            </a:r>
          </a:p>
        </p:txBody>
      </p:sp>
      <p:cxnSp>
        <p:nvCxnSpPr>
          <p:cNvPr id="21" name="Straight Connector 20">
            <a:extLst>
              <a:ext uri="{FF2B5EF4-FFF2-40B4-BE49-F238E27FC236}">
                <a16:creationId xmlns:a16="http://schemas.microsoft.com/office/drawing/2014/main" id="{03E1CBFE-A388-B643-D05B-23ACB9038F73}"/>
              </a:ext>
            </a:extLst>
          </p:cNvPr>
          <p:cNvCxnSpPr/>
          <p:nvPr/>
        </p:nvCxnSpPr>
        <p:spPr>
          <a:xfrm>
            <a:off x="4089400" y="4267200"/>
            <a:ext cx="74930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3F1571D-D7FA-5C11-134B-7C94D2BD3645}"/>
              </a:ext>
            </a:extLst>
          </p:cNvPr>
          <p:cNvSpPr txBox="1"/>
          <p:nvPr/>
        </p:nvSpPr>
        <p:spPr>
          <a:xfrm>
            <a:off x="609600" y="4394200"/>
            <a:ext cx="5080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EXAMPLES</a:t>
            </a:r>
          </a:p>
        </p:txBody>
      </p:sp>
      <p:sp>
        <p:nvSpPr>
          <p:cNvPr id="23" name="Rectangle: Rounded Corners 22">
            <a:extLst>
              <a:ext uri="{FF2B5EF4-FFF2-40B4-BE49-F238E27FC236}">
                <a16:creationId xmlns:a16="http://schemas.microsoft.com/office/drawing/2014/main" id="{997E74CA-BDA0-06EB-0E56-CF84385A10CC}"/>
              </a:ext>
            </a:extLst>
          </p:cNvPr>
          <p:cNvSpPr/>
          <p:nvPr/>
        </p:nvSpPr>
        <p:spPr>
          <a:xfrm>
            <a:off x="609600" y="4673600"/>
            <a:ext cx="2667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Require an Owner tag
adds it if missing (our demo)</a:t>
            </a:r>
          </a:p>
        </p:txBody>
      </p:sp>
      <p:sp>
        <p:nvSpPr>
          <p:cNvPr id="24" name="Rectangle: Rounded Corners 23">
            <a:extLst>
              <a:ext uri="{FF2B5EF4-FFF2-40B4-BE49-F238E27FC236}">
                <a16:creationId xmlns:a16="http://schemas.microsoft.com/office/drawing/2014/main" id="{F435AE20-68C2-93F3-B202-5A1F74DD5C3F}"/>
              </a:ext>
            </a:extLst>
          </p:cNvPr>
          <p:cNvSpPr/>
          <p:nvPr/>
        </p:nvSpPr>
        <p:spPr>
          <a:xfrm>
            <a:off x="3378200" y="4673600"/>
            <a:ext cx="2667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Allowed locations
blocks the wrong region</a:t>
            </a:r>
          </a:p>
        </p:txBody>
      </p:sp>
      <p:sp>
        <p:nvSpPr>
          <p:cNvPr id="25" name="Rectangle: Rounded Corners 24">
            <a:extLst>
              <a:ext uri="{FF2B5EF4-FFF2-40B4-BE49-F238E27FC236}">
                <a16:creationId xmlns:a16="http://schemas.microsoft.com/office/drawing/2014/main" id="{EC9B2671-F553-6326-B5D3-81E7A47EA069}"/>
              </a:ext>
            </a:extLst>
          </p:cNvPr>
          <p:cNvSpPr/>
          <p:nvPr/>
        </p:nvSpPr>
        <p:spPr>
          <a:xfrm>
            <a:off x="6146800" y="4673600"/>
            <a:ext cx="2667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Azure Monitor agent missing
reports it, or installs it</a:t>
            </a:r>
          </a:p>
        </p:txBody>
      </p:sp>
      <p:sp>
        <p:nvSpPr>
          <p:cNvPr id="26" name="Rectangle: Rounded Corners 25">
            <a:extLst>
              <a:ext uri="{FF2B5EF4-FFF2-40B4-BE49-F238E27FC236}">
                <a16:creationId xmlns:a16="http://schemas.microsoft.com/office/drawing/2014/main" id="{5E5CB0A7-799F-0341-E005-A05AEF9AC5CA}"/>
              </a:ext>
            </a:extLst>
          </p:cNvPr>
          <p:cNvSpPr/>
          <p:nvPr/>
        </p:nvSpPr>
        <p:spPr>
          <a:xfrm>
            <a:off x="8915400" y="4673600"/>
            <a:ext cx="2667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Machine configuration
password rules, TLS inside the server</a:t>
            </a:r>
          </a:p>
        </p:txBody>
      </p:sp>
      <p:sp>
        <p:nvSpPr>
          <p:cNvPr id="27" name="Rectangle 26">
            <a:extLst>
              <a:ext uri="{FF2B5EF4-FFF2-40B4-BE49-F238E27FC236}">
                <a16:creationId xmlns:a16="http://schemas.microsoft.com/office/drawing/2014/main" id="{0F6A3B43-D4DF-4291-2DDF-9D07BB8DD5D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AA270DA-816B-DC3E-6A78-3F22A35112F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Azure Policy checks the resource. Machine configuration checks inside the server.</a:t>
            </a:r>
          </a:p>
        </p:txBody>
      </p:sp>
    </p:spTree>
    <p:extLst>
      <p:ext uri="{BB962C8B-B14F-4D97-AF65-F5344CB8AC3E}">
        <p14:creationId xmlns:p14="http://schemas.microsoft.com/office/powerpoint/2010/main" val="998969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637B14-AAF2-A741-4093-4A7E150711C9}"/>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A62EED3-D988-DA90-4557-9A617CC2C48C}"/>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650D415-A248-285F-D30B-22063F34EFC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How Azure Policy works</a:t>
            </a:r>
          </a:p>
        </p:txBody>
      </p:sp>
      <p:sp>
        <p:nvSpPr>
          <p:cNvPr id="5" name="Rectangle 4">
            <a:extLst>
              <a:ext uri="{FF2B5EF4-FFF2-40B4-BE49-F238E27FC236}">
                <a16:creationId xmlns:a16="http://schemas.microsoft.com/office/drawing/2014/main" id="{CC5402FE-407B-D04A-18FB-CA8F01106E8A}"/>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1F94E1-41CD-134B-7FF2-411E49D55649}"/>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It checks each resource against a rule; the effect decides what happens next.</a:t>
            </a:r>
          </a:p>
        </p:txBody>
      </p:sp>
      <p:sp>
        <p:nvSpPr>
          <p:cNvPr id="7" name="Rectangle: Rounded Corners 6">
            <a:extLst>
              <a:ext uri="{FF2B5EF4-FFF2-40B4-BE49-F238E27FC236}">
                <a16:creationId xmlns:a16="http://schemas.microsoft.com/office/drawing/2014/main" id="{07B347D5-2249-64BF-72FE-C9E0C2FD609F}"/>
              </a:ext>
            </a:extLst>
          </p:cNvPr>
          <p:cNvSpPr/>
          <p:nvPr/>
        </p:nvSpPr>
        <p:spPr>
          <a:xfrm>
            <a:off x="609600" y="1803400"/>
            <a:ext cx="3175000" cy="914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8E1FDF7-C48B-7320-B27F-6AFAA69F089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120900" y="1841500"/>
            <a:ext cx="152400" cy="152400"/>
          </a:xfrm>
          <a:prstGeom prst="rect">
            <a:avLst/>
          </a:prstGeom>
        </p:spPr>
      </p:pic>
      <p:sp>
        <p:nvSpPr>
          <p:cNvPr id="10" name="TextBox 9">
            <a:extLst>
              <a:ext uri="{FF2B5EF4-FFF2-40B4-BE49-F238E27FC236}">
                <a16:creationId xmlns:a16="http://schemas.microsoft.com/office/drawing/2014/main" id="{8997F963-E2D3-61C7-636B-40824F6C4494}"/>
              </a:ext>
            </a:extLst>
          </p:cNvPr>
          <p:cNvSpPr txBox="1"/>
          <p:nvPr/>
        </p:nvSpPr>
        <p:spPr>
          <a:xfrm>
            <a:off x="711200" y="2006600"/>
            <a:ext cx="2971800" cy="685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Definition / initiative
e.g. Require an Owner tag</a:t>
            </a:r>
          </a:p>
        </p:txBody>
      </p:sp>
      <p:sp>
        <p:nvSpPr>
          <p:cNvPr id="11" name="Rectangle: Rounded Corners 10">
            <a:extLst>
              <a:ext uri="{FF2B5EF4-FFF2-40B4-BE49-F238E27FC236}">
                <a16:creationId xmlns:a16="http://schemas.microsoft.com/office/drawing/2014/main" id="{74BE4F61-069E-8754-21BF-99CFB48EEC92}"/>
              </a:ext>
            </a:extLst>
          </p:cNvPr>
          <p:cNvSpPr/>
          <p:nvPr/>
        </p:nvSpPr>
        <p:spPr>
          <a:xfrm>
            <a:off x="4508500" y="1803400"/>
            <a:ext cx="3175000" cy="9144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Assignment + parameters + scope
on the operations resource group</a:t>
            </a:r>
          </a:p>
        </p:txBody>
      </p:sp>
      <p:sp>
        <p:nvSpPr>
          <p:cNvPr id="12" name="Rectangle: Rounded Corners 11">
            <a:extLst>
              <a:ext uri="{FF2B5EF4-FFF2-40B4-BE49-F238E27FC236}">
                <a16:creationId xmlns:a16="http://schemas.microsoft.com/office/drawing/2014/main" id="{67392548-F0C8-5DB1-69CF-4D495A114A7C}"/>
              </a:ext>
            </a:extLst>
          </p:cNvPr>
          <p:cNvSpPr/>
          <p:nvPr/>
        </p:nvSpPr>
        <p:spPr>
          <a:xfrm>
            <a:off x="8407400" y="1803400"/>
            <a:ext cx="3175000" cy="914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A452A4F8-CAEF-7B5B-84BB-1346794A5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918700" y="1841500"/>
            <a:ext cx="152400" cy="152400"/>
          </a:xfrm>
          <a:prstGeom prst="rect">
            <a:avLst/>
          </a:prstGeom>
        </p:spPr>
      </p:pic>
      <p:sp>
        <p:nvSpPr>
          <p:cNvPr id="15" name="TextBox 14">
            <a:extLst>
              <a:ext uri="{FF2B5EF4-FFF2-40B4-BE49-F238E27FC236}">
                <a16:creationId xmlns:a16="http://schemas.microsoft.com/office/drawing/2014/main" id="{34B14B56-78B9-4DBC-5169-C4A767AA4C1D}"/>
              </a:ext>
            </a:extLst>
          </p:cNvPr>
          <p:cNvSpPr txBox="1"/>
          <p:nvPr/>
        </p:nvSpPr>
        <p:spPr>
          <a:xfrm>
            <a:off x="8509000" y="2006600"/>
            <a:ext cx="2971800" cy="685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Evaluate resources
cas26-arcwin01 has no Owner tag</a:t>
            </a:r>
          </a:p>
        </p:txBody>
      </p:sp>
      <p:cxnSp>
        <p:nvCxnSpPr>
          <p:cNvPr id="16" name="Straight Arrow Connector 15">
            <a:extLst>
              <a:ext uri="{FF2B5EF4-FFF2-40B4-BE49-F238E27FC236}">
                <a16:creationId xmlns:a16="http://schemas.microsoft.com/office/drawing/2014/main" id="{1175D1DF-7FD7-C9E7-C81E-2F88BA977FB5}"/>
              </a:ext>
            </a:extLst>
          </p:cNvPr>
          <p:cNvCxnSpPr/>
          <p:nvPr/>
        </p:nvCxnSpPr>
        <p:spPr>
          <a:xfrm>
            <a:off x="3784600" y="22606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784BCA2-0AA6-8190-49BD-B3ADCA3ECFFB}"/>
              </a:ext>
            </a:extLst>
          </p:cNvPr>
          <p:cNvCxnSpPr/>
          <p:nvPr/>
        </p:nvCxnSpPr>
        <p:spPr>
          <a:xfrm>
            <a:off x="7683500" y="22606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00681744-C220-F2A9-8E15-27AF65008192}"/>
              </a:ext>
            </a:extLst>
          </p:cNvPr>
          <p:cNvSpPr/>
          <p:nvPr/>
        </p:nvSpPr>
        <p:spPr>
          <a:xfrm>
            <a:off x="8407400" y="3810000"/>
            <a:ext cx="3175000" cy="8636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Compliant / exempt
after the fix, a fresh check agrees</a:t>
            </a:r>
          </a:p>
        </p:txBody>
      </p:sp>
      <p:cxnSp>
        <p:nvCxnSpPr>
          <p:cNvPr id="19" name="Straight Arrow Connector 18">
            <a:extLst>
              <a:ext uri="{FF2B5EF4-FFF2-40B4-BE49-F238E27FC236}">
                <a16:creationId xmlns:a16="http://schemas.microsoft.com/office/drawing/2014/main" id="{CB051080-BCB5-CDB8-45AF-1B62D7020E4F}"/>
              </a:ext>
            </a:extLst>
          </p:cNvPr>
          <p:cNvCxnSpPr/>
          <p:nvPr/>
        </p:nvCxnSpPr>
        <p:spPr>
          <a:xfrm>
            <a:off x="10795000" y="2717800"/>
            <a:ext cx="0" cy="1092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BDCE2C10-24E6-428C-C414-6F4EC81D8C09}"/>
              </a:ext>
            </a:extLst>
          </p:cNvPr>
          <p:cNvSpPr/>
          <p:nvPr/>
        </p:nvSpPr>
        <p:spPr>
          <a:xfrm>
            <a:off x="4508500" y="3810000"/>
            <a:ext cx="3175000" cy="863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Noncompliant: inspect reason
the Owner tag is missing</a:t>
            </a:r>
          </a:p>
        </p:txBody>
      </p:sp>
      <p:cxnSp>
        <p:nvCxnSpPr>
          <p:cNvPr id="21" name="Straight Arrow Connector 20">
            <a:extLst>
              <a:ext uri="{FF2B5EF4-FFF2-40B4-BE49-F238E27FC236}">
                <a16:creationId xmlns:a16="http://schemas.microsoft.com/office/drawing/2014/main" id="{CBEEB8AB-581D-46AC-C723-D34A6A454251}"/>
              </a:ext>
            </a:extLst>
          </p:cNvPr>
          <p:cNvCxnSpPr/>
          <p:nvPr/>
        </p:nvCxnSpPr>
        <p:spPr>
          <a:xfrm>
            <a:off x="9144000" y="2717800"/>
            <a:ext cx="0" cy="5461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22F1B0C-7A84-E1B6-E0A9-E4DF45F39ABE}"/>
              </a:ext>
            </a:extLst>
          </p:cNvPr>
          <p:cNvCxnSpPr/>
          <p:nvPr/>
        </p:nvCxnSpPr>
        <p:spPr>
          <a:xfrm flipH="1">
            <a:off x="6096000" y="3263900"/>
            <a:ext cx="30480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5ABBA40-41F5-F26A-A227-ED7CDB9DE38F}"/>
              </a:ext>
            </a:extLst>
          </p:cNvPr>
          <p:cNvCxnSpPr/>
          <p:nvPr/>
        </p:nvCxnSpPr>
        <p:spPr>
          <a:xfrm>
            <a:off x="6096000" y="3263900"/>
            <a:ext cx="0" cy="5461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9DB46D9C-FDC6-8A2B-C628-FCC0486A0CB9}"/>
              </a:ext>
            </a:extLst>
          </p:cNvPr>
          <p:cNvSpPr/>
          <p:nvPr/>
        </p:nvSpPr>
        <p:spPr>
          <a:xfrm>
            <a:off x="609600" y="3810000"/>
            <a:ext cx="3175000" cy="863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Remediation task
Modify / DeployIfNotExists only
here: Modify adds the tag</a:t>
            </a:r>
          </a:p>
        </p:txBody>
      </p:sp>
      <p:cxnSp>
        <p:nvCxnSpPr>
          <p:cNvPr id="25" name="Straight Arrow Connector 24">
            <a:extLst>
              <a:ext uri="{FF2B5EF4-FFF2-40B4-BE49-F238E27FC236}">
                <a16:creationId xmlns:a16="http://schemas.microsoft.com/office/drawing/2014/main" id="{2DD2F8BF-901E-F4EC-A66F-CC18E7BD97D4}"/>
              </a:ext>
            </a:extLst>
          </p:cNvPr>
          <p:cNvCxnSpPr/>
          <p:nvPr/>
        </p:nvCxnSpPr>
        <p:spPr>
          <a:xfrm flipH="1">
            <a:off x="3784600" y="4241800"/>
            <a:ext cx="7239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4B385D19-1703-E70E-4A0B-C276DA47046C}"/>
              </a:ext>
            </a:extLst>
          </p:cNvPr>
          <p:cNvSpPr txBox="1"/>
          <p:nvPr/>
        </p:nvSpPr>
        <p:spPr>
          <a:xfrm>
            <a:off x="609600" y="4800600"/>
            <a:ext cx="10972800" cy="276999"/>
          </a:xfrm>
          <a:prstGeom prst="rect">
            <a:avLst/>
          </a:prstGeom>
          <a:noFill/>
        </p:spPr>
        <p:txBody>
          <a:bodyPr vert="horz" wrap="square" lIns="25400" rIns="25400" rtlCol="0">
            <a:spAutoFit/>
          </a:bodyPr>
          <a:lstStyle/>
          <a:p>
            <a:r>
              <a:rPr lang="en-US" sz="1200" b="1">
                <a:solidFill>
                  <a:srgbClr val="F0786E"/>
                </a:solidFill>
                <a:latin typeface="Calibri" panose="020F0502020204030204" pitchFamily="34" charset="0"/>
              </a:rPr>
              <a:t>Audit only reports. Deny only blocks create and update requests. Neither fixes a resource that already exists.</a:t>
            </a:r>
          </a:p>
        </p:txBody>
      </p:sp>
      <p:sp>
        <p:nvSpPr>
          <p:cNvPr id="27" name="TextBox 26">
            <a:extLst>
              <a:ext uri="{FF2B5EF4-FFF2-40B4-BE49-F238E27FC236}">
                <a16:creationId xmlns:a16="http://schemas.microsoft.com/office/drawing/2014/main" id="{2B5F8E3D-16B7-D8AB-7BD6-927C26576EF5}"/>
              </a:ext>
            </a:extLst>
          </p:cNvPr>
          <p:cNvSpPr txBox="1"/>
          <p:nvPr/>
        </p:nvSpPr>
        <p:spPr>
          <a:xfrm>
            <a:off x="609600" y="5105400"/>
            <a:ext cx="10972800" cy="492443"/>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Remediation runs as the assignment's managed identity, with the roles the definition names.
Enforcement: Default = effect applied on create/update · DoNotEnforce = evaluate only; remediation tasks can still run</a:t>
            </a:r>
          </a:p>
        </p:txBody>
      </p:sp>
      <p:sp>
        <p:nvSpPr>
          <p:cNvPr id="28" name="Rectangle 27">
            <a:extLst>
              <a:ext uri="{FF2B5EF4-FFF2-40B4-BE49-F238E27FC236}">
                <a16:creationId xmlns:a16="http://schemas.microsoft.com/office/drawing/2014/main" id="{0DA4C13E-DDAA-1940-F744-E414861125DA}"/>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D5D047B-25AD-4170-E965-1650E9B7AE6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Deny can block matching requests; it does not repair existing resources. Verify fresh compliance after action.</a:t>
            </a:r>
          </a:p>
        </p:txBody>
      </p:sp>
    </p:spTree>
    <p:extLst>
      <p:ext uri="{BB962C8B-B14F-4D97-AF65-F5344CB8AC3E}">
        <p14:creationId xmlns:p14="http://schemas.microsoft.com/office/powerpoint/2010/main" val="24970742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C577FE-E294-AA06-D467-BEA67712B4E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7176B30-0109-80B9-3B28-52BDB5638052}"/>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F22744F-EC24-EDF3-0D51-522AB3F122D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Compliance</a:t>
            </a:r>
          </a:p>
        </p:txBody>
      </p:sp>
      <p:sp>
        <p:nvSpPr>
          <p:cNvPr id="5" name="Rectangle 4">
            <a:extLst>
              <a:ext uri="{FF2B5EF4-FFF2-40B4-BE49-F238E27FC236}">
                <a16:creationId xmlns:a16="http://schemas.microsoft.com/office/drawing/2014/main" id="{4814AD6C-90CD-DCE3-5D35-A4A6907A6F2B}"/>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F361685-B32A-C845-8B4E-C8CB7EC6F11A}"/>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Prove it against a standard.</a:t>
            </a:r>
          </a:p>
        </p:txBody>
      </p:sp>
      <p:sp>
        <p:nvSpPr>
          <p:cNvPr id="7" name="Rectangle: Rounded Corners 6">
            <a:extLst>
              <a:ext uri="{FF2B5EF4-FFF2-40B4-BE49-F238E27FC236}">
                <a16:creationId xmlns:a16="http://schemas.microsoft.com/office/drawing/2014/main" id="{51A26E20-A5FE-057A-E234-6657FC9776A8}"/>
              </a:ext>
            </a:extLst>
          </p:cNvPr>
          <p:cNvSpPr/>
          <p:nvPr/>
        </p:nvSpPr>
        <p:spPr>
          <a:xfrm>
            <a:off x="609600" y="1676400"/>
            <a:ext cx="6858000" cy="2616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AF970CC4-C5E6-39FE-83BD-F5809D8181FD}"/>
              </a:ext>
            </a:extLst>
          </p:cNvPr>
          <p:cNvSpPr txBox="1"/>
          <p:nvPr/>
        </p:nvSpPr>
        <p:spPr>
          <a:xfrm>
            <a:off x="838200" y="1803400"/>
            <a:ext cx="635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IN AZURE (WHAT THIS SESSION SHOWS)</a:t>
            </a:r>
          </a:p>
        </p:txBody>
      </p:sp>
      <p:sp>
        <p:nvSpPr>
          <p:cNvPr id="9" name="TextBox 8">
            <a:extLst>
              <a:ext uri="{FF2B5EF4-FFF2-40B4-BE49-F238E27FC236}">
                <a16:creationId xmlns:a16="http://schemas.microsoft.com/office/drawing/2014/main" id="{641F3ED6-B339-E6F9-AC94-47AD27507131}"/>
              </a:ext>
            </a:extLst>
          </p:cNvPr>
          <p:cNvSpPr txBox="1"/>
          <p:nvPr/>
        </p:nvSpPr>
        <p:spPr>
          <a:xfrm>
            <a:off x="838200" y="2159000"/>
            <a:ext cx="6350000" cy="307777"/>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Azure Policy writes the rules</a:t>
            </a:r>
          </a:p>
        </p:txBody>
      </p:sp>
      <p:sp>
        <p:nvSpPr>
          <p:cNvPr id="10" name="TextBox 9">
            <a:extLst>
              <a:ext uri="{FF2B5EF4-FFF2-40B4-BE49-F238E27FC236}">
                <a16:creationId xmlns:a16="http://schemas.microsoft.com/office/drawing/2014/main" id="{1A35D4D0-C2C4-FB77-BBA7-1BA74873C4AF}"/>
              </a:ext>
            </a:extLst>
          </p:cNvPr>
          <p:cNvSpPr txBox="1"/>
          <p:nvPr/>
        </p:nvSpPr>
        <p:spPr>
          <a:xfrm>
            <a:off x="838200" y="2438400"/>
            <a:ext cx="6426200" cy="492443"/>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Built-in regulatory initiatives. They reach Arc servers too, including inside the operating system.</a:t>
            </a:r>
          </a:p>
        </p:txBody>
      </p:sp>
      <p:sp>
        <p:nvSpPr>
          <p:cNvPr id="11" name="TextBox 10">
            <a:extLst>
              <a:ext uri="{FF2B5EF4-FFF2-40B4-BE49-F238E27FC236}">
                <a16:creationId xmlns:a16="http://schemas.microsoft.com/office/drawing/2014/main" id="{0B6AA395-DE20-EDB1-D6C4-9C1C134F7EB5}"/>
              </a:ext>
            </a:extLst>
          </p:cNvPr>
          <p:cNvSpPr txBox="1"/>
          <p:nvPr/>
        </p:nvSpPr>
        <p:spPr>
          <a:xfrm>
            <a:off x="838200" y="2997200"/>
            <a:ext cx="6350000" cy="307777"/>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Defender for Cloud keeps the score</a:t>
            </a:r>
          </a:p>
        </p:txBody>
      </p:sp>
      <p:sp>
        <p:nvSpPr>
          <p:cNvPr id="12" name="TextBox 11">
            <a:extLst>
              <a:ext uri="{FF2B5EF4-FFF2-40B4-BE49-F238E27FC236}">
                <a16:creationId xmlns:a16="http://schemas.microsoft.com/office/drawing/2014/main" id="{FA6C6213-267A-DA52-7AB2-09A6074C0966}"/>
              </a:ext>
            </a:extLst>
          </p:cNvPr>
          <p:cNvSpPr txBox="1"/>
          <p:nvPr/>
        </p:nvSpPr>
        <p:spPr>
          <a:xfrm>
            <a:off x="838200" y="3276600"/>
            <a:ext cx="6426200" cy="292388"/>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Its regulatory compliance dashboard covers Azure, Arc on-premises, AWS and GCP.</a:t>
            </a:r>
          </a:p>
        </p:txBody>
      </p:sp>
      <p:sp>
        <p:nvSpPr>
          <p:cNvPr id="13" name="TextBox 12">
            <a:extLst>
              <a:ext uri="{FF2B5EF4-FFF2-40B4-BE49-F238E27FC236}">
                <a16:creationId xmlns:a16="http://schemas.microsoft.com/office/drawing/2014/main" id="{D62046B5-3338-5A3A-1CDF-AC7F2AA172BC}"/>
              </a:ext>
            </a:extLst>
          </p:cNvPr>
          <p:cNvSpPr txBox="1"/>
          <p:nvPr/>
        </p:nvSpPr>
        <p:spPr>
          <a:xfrm>
            <a:off x="838200" y="3835400"/>
            <a:ext cx="6426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Cloud security benchmark: free. Other standards: need a paid Defender plan.</a:t>
            </a:r>
          </a:p>
        </p:txBody>
      </p:sp>
      <p:sp>
        <p:nvSpPr>
          <p:cNvPr id="14" name="Rectangle: Rounded Corners 13">
            <a:extLst>
              <a:ext uri="{FF2B5EF4-FFF2-40B4-BE49-F238E27FC236}">
                <a16:creationId xmlns:a16="http://schemas.microsoft.com/office/drawing/2014/main" id="{86D43004-DCB1-8752-A8C6-49D6D4597952}"/>
              </a:ext>
            </a:extLst>
          </p:cNvPr>
          <p:cNvSpPr/>
          <p:nvPr/>
        </p:nvSpPr>
        <p:spPr>
          <a:xfrm>
            <a:off x="7772400" y="1676400"/>
            <a:ext cx="3810000" cy="2616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5" name="TextBox 14">
            <a:extLst>
              <a:ext uri="{FF2B5EF4-FFF2-40B4-BE49-F238E27FC236}">
                <a16:creationId xmlns:a16="http://schemas.microsoft.com/office/drawing/2014/main" id="{57ABDBE0-87F5-C2E8-F400-5263025A7CE9}"/>
              </a:ext>
            </a:extLst>
          </p:cNvPr>
          <p:cNvSpPr txBox="1"/>
          <p:nvPr/>
        </p:nvSpPr>
        <p:spPr>
          <a:xfrm>
            <a:off x="7975600" y="1803400"/>
            <a:ext cx="3429000" cy="292388"/>
          </a:xfrm>
          <a:prstGeom prst="rect">
            <a:avLst/>
          </a:prstGeom>
          <a:noFill/>
        </p:spPr>
        <p:txBody>
          <a:bodyPr vert="horz" wrap="square" lIns="25400" rIns="25400" rtlCol="0">
            <a:spAutoFit/>
          </a:bodyPr>
          <a:lstStyle/>
          <a:p>
            <a:r>
              <a:rPr lang="en-US" sz="1300" b="1">
                <a:solidFill>
                  <a:srgbClr val="6ED28C"/>
                </a:solidFill>
                <a:latin typeface="Calibri" panose="020F0502020204030204" pitchFamily="34" charset="0"/>
              </a:rPr>
              <a:t>ORGANIZATION-WIDE (OPTIONAL)</a:t>
            </a:r>
          </a:p>
        </p:txBody>
      </p:sp>
      <p:sp>
        <p:nvSpPr>
          <p:cNvPr id="16" name="TextBox 15">
            <a:extLst>
              <a:ext uri="{FF2B5EF4-FFF2-40B4-BE49-F238E27FC236}">
                <a16:creationId xmlns:a16="http://schemas.microsoft.com/office/drawing/2014/main" id="{9EFC3079-068F-7AC2-4A9B-A0F2AE82ED9B}"/>
              </a:ext>
            </a:extLst>
          </p:cNvPr>
          <p:cNvSpPr txBox="1"/>
          <p:nvPr/>
        </p:nvSpPr>
        <p:spPr>
          <a:xfrm>
            <a:off x="7975600" y="2159000"/>
            <a:ext cx="3429000" cy="307777"/>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Purview Compliance Manager</a:t>
            </a:r>
          </a:p>
        </p:txBody>
      </p:sp>
      <p:sp>
        <p:nvSpPr>
          <p:cNvPr id="17" name="TextBox 16">
            <a:extLst>
              <a:ext uri="{FF2B5EF4-FFF2-40B4-BE49-F238E27FC236}">
                <a16:creationId xmlns:a16="http://schemas.microsoft.com/office/drawing/2014/main" id="{BD37B2B1-1DF7-3D03-D607-7345B4701960}"/>
              </a:ext>
            </a:extLst>
          </p:cNvPr>
          <p:cNvSpPr txBox="1"/>
          <p:nvPr/>
        </p:nvSpPr>
        <p:spPr>
          <a:xfrm>
            <a:off x="7975600" y="2463800"/>
            <a:ext cx="3454400" cy="692497"/>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Pulls in the Defender for Cloud results plus Microsoft 365, and adds improvement actions and auditor reports.</a:t>
            </a:r>
          </a:p>
        </p:txBody>
      </p:sp>
      <p:sp>
        <p:nvSpPr>
          <p:cNvPr id="18" name="TextBox 17">
            <a:extLst>
              <a:ext uri="{FF2B5EF4-FFF2-40B4-BE49-F238E27FC236}">
                <a16:creationId xmlns:a16="http://schemas.microsoft.com/office/drawing/2014/main" id="{AFD0C294-1027-FF32-B1ED-EB53544D03A1}"/>
              </a:ext>
            </a:extLst>
          </p:cNvPr>
          <p:cNvSpPr txBox="1"/>
          <p:nvPr/>
        </p:nvSpPr>
        <p:spPr>
          <a:xfrm>
            <a:off x="7975600" y="3556000"/>
            <a:ext cx="3454400" cy="461665"/>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Comes with Microsoft 365, but most standards templates are extra (E5 includes three).</a:t>
            </a:r>
          </a:p>
        </p:txBody>
      </p:sp>
      <p:sp>
        <p:nvSpPr>
          <p:cNvPr id="19" name="TextBox 18">
            <a:extLst>
              <a:ext uri="{FF2B5EF4-FFF2-40B4-BE49-F238E27FC236}">
                <a16:creationId xmlns:a16="http://schemas.microsoft.com/office/drawing/2014/main" id="{8C6111E3-0DE0-EDA3-2B6A-61E3279DAFBF}"/>
              </a:ext>
            </a:extLst>
          </p:cNvPr>
          <p:cNvSpPr txBox="1"/>
          <p:nvPr/>
        </p:nvSpPr>
        <p:spPr>
          <a:xfrm>
            <a:off x="609600" y="4419600"/>
            <a:ext cx="7620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STANDARDS YOU CAN TRACK</a:t>
            </a:r>
          </a:p>
        </p:txBody>
      </p:sp>
      <p:sp>
        <p:nvSpPr>
          <p:cNvPr id="20" name="Rectangle: Rounded Corners 19">
            <a:extLst>
              <a:ext uri="{FF2B5EF4-FFF2-40B4-BE49-F238E27FC236}">
                <a16:creationId xmlns:a16="http://schemas.microsoft.com/office/drawing/2014/main" id="{7F450C43-EB60-E548-7933-161A76353AC2}"/>
              </a:ext>
            </a:extLst>
          </p:cNvPr>
          <p:cNvSpPr/>
          <p:nvPr/>
        </p:nvSpPr>
        <p:spPr>
          <a:xfrm>
            <a:off x="6096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NIST 800-53</a:t>
            </a:r>
          </a:p>
        </p:txBody>
      </p:sp>
      <p:sp>
        <p:nvSpPr>
          <p:cNvPr id="21" name="Rectangle: Rounded Corners 20">
            <a:extLst>
              <a:ext uri="{FF2B5EF4-FFF2-40B4-BE49-F238E27FC236}">
                <a16:creationId xmlns:a16="http://schemas.microsoft.com/office/drawing/2014/main" id="{245C5FC1-8FD5-947B-4018-EBD8747B25FF}"/>
              </a:ext>
            </a:extLst>
          </p:cNvPr>
          <p:cNvSpPr/>
          <p:nvPr/>
        </p:nvSpPr>
        <p:spPr>
          <a:xfrm>
            <a:off x="18288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NIST CSF 2.0</a:t>
            </a:r>
          </a:p>
        </p:txBody>
      </p:sp>
      <p:sp>
        <p:nvSpPr>
          <p:cNvPr id="22" name="Rectangle: Rounded Corners 21">
            <a:extLst>
              <a:ext uri="{FF2B5EF4-FFF2-40B4-BE49-F238E27FC236}">
                <a16:creationId xmlns:a16="http://schemas.microsoft.com/office/drawing/2014/main" id="{C401B74F-0087-1F60-D531-C31B7FB99BE8}"/>
              </a:ext>
            </a:extLst>
          </p:cNvPr>
          <p:cNvSpPr/>
          <p:nvPr/>
        </p:nvSpPr>
        <p:spPr>
          <a:xfrm>
            <a:off x="30480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CIS</a:t>
            </a:r>
          </a:p>
        </p:txBody>
      </p:sp>
      <p:sp>
        <p:nvSpPr>
          <p:cNvPr id="23" name="Rectangle: Rounded Corners 22">
            <a:extLst>
              <a:ext uri="{FF2B5EF4-FFF2-40B4-BE49-F238E27FC236}">
                <a16:creationId xmlns:a16="http://schemas.microsoft.com/office/drawing/2014/main" id="{ACE83E54-5634-D3F1-AC79-A997C054419F}"/>
              </a:ext>
            </a:extLst>
          </p:cNvPr>
          <p:cNvSpPr/>
          <p:nvPr/>
        </p:nvSpPr>
        <p:spPr>
          <a:xfrm>
            <a:off x="42672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PCI DSS 4.0</a:t>
            </a:r>
          </a:p>
        </p:txBody>
      </p:sp>
      <p:sp>
        <p:nvSpPr>
          <p:cNvPr id="24" name="Rectangle: Rounded Corners 23">
            <a:extLst>
              <a:ext uri="{FF2B5EF4-FFF2-40B4-BE49-F238E27FC236}">
                <a16:creationId xmlns:a16="http://schemas.microsoft.com/office/drawing/2014/main" id="{E0EA5257-D3B2-936C-911B-ACAA717FEA71}"/>
              </a:ext>
            </a:extLst>
          </p:cNvPr>
          <p:cNvSpPr/>
          <p:nvPr/>
        </p:nvSpPr>
        <p:spPr>
          <a:xfrm>
            <a:off x="54864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ISO 27001</a:t>
            </a:r>
          </a:p>
        </p:txBody>
      </p:sp>
      <p:sp>
        <p:nvSpPr>
          <p:cNvPr id="25" name="Rectangle: Rounded Corners 24">
            <a:extLst>
              <a:ext uri="{FF2B5EF4-FFF2-40B4-BE49-F238E27FC236}">
                <a16:creationId xmlns:a16="http://schemas.microsoft.com/office/drawing/2014/main" id="{B7E61F61-9A3F-3D83-7492-2C10B1B2DDEB}"/>
              </a:ext>
            </a:extLst>
          </p:cNvPr>
          <p:cNvSpPr/>
          <p:nvPr/>
        </p:nvSpPr>
        <p:spPr>
          <a:xfrm>
            <a:off x="67056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SOC 2</a:t>
            </a:r>
          </a:p>
        </p:txBody>
      </p:sp>
      <p:sp>
        <p:nvSpPr>
          <p:cNvPr id="26" name="Rectangle: Rounded Corners 25">
            <a:extLst>
              <a:ext uri="{FF2B5EF4-FFF2-40B4-BE49-F238E27FC236}">
                <a16:creationId xmlns:a16="http://schemas.microsoft.com/office/drawing/2014/main" id="{5E1CB8B2-4066-14AB-272B-7646AEAE6DBA}"/>
              </a:ext>
            </a:extLst>
          </p:cNvPr>
          <p:cNvSpPr/>
          <p:nvPr/>
        </p:nvSpPr>
        <p:spPr>
          <a:xfrm>
            <a:off x="79248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HITRUST</a:t>
            </a:r>
          </a:p>
        </p:txBody>
      </p:sp>
      <p:sp>
        <p:nvSpPr>
          <p:cNvPr id="27" name="Rectangle: Rounded Corners 26">
            <a:extLst>
              <a:ext uri="{FF2B5EF4-FFF2-40B4-BE49-F238E27FC236}">
                <a16:creationId xmlns:a16="http://schemas.microsoft.com/office/drawing/2014/main" id="{E0C32B32-1CEA-B331-CB40-D06CFCF9C3F3}"/>
              </a:ext>
            </a:extLst>
          </p:cNvPr>
          <p:cNvSpPr/>
          <p:nvPr/>
        </p:nvSpPr>
        <p:spPr>
          <a:xfrm>
            <a:off x="91440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NIS2</a:t>
            </a:r>
          </a:p>
        </p:txBody>
      </p:sp>
      <p:sp>
        <p:nvSpPr>
          <p:cNvPr id="28" name="Rectangle: Rounded Corners 27">
            <a:extLst>
              <a:ext uri="{FF2B5EF4-FFF2-40B4-BE49-F238E27FC236}">
                <a16:creationId xmlns:a16="http://schemas.microsoft.com/office/drawing/2014/main" id="{1CC5C41C-AFED-5A32-459F-75956575E4E3}"/>
              </a:ext>
            </a:extLst>
          </p:cNvPr>
          <p:cNvSpPr/>
          <p:nvPr/>
        </p:nvSpPr>
        <p:spPr>
          <a:xfrm>
            <a:off x="103632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GDPR</a:t>
            </a:r>
          </a:p>
        </p:txBody>
      </p:sp>
      <p:sp>
        <p:nvSpPr>
          <p:cNvPr id="29" name="TextBox 28">
            <a:extLst>
              <a:ext uri="{FF2B5EF4-FFF2-40B4-BE49-F238E27FC236}">
                <a16:creationId xmlns:a16="http://schemas.microsoft.com/office/drawing/2014/main" id="{02DBCF68-7E74-AF8E-34B8-64A4362B4194}"/>
              </a:ext>
            </a:extLst>
          </p:cNvPr>
          <p:cNvSpPr txBox="1"/>
          <p:nvPr/>
        </p:nvSpPr>
        <p:spPr>
          <a:xfrm>
            <a:off x="609600" y="5257800"/>
            <a:ext cx="10972800" cy="292388"/>
          </a:xfrm>
          <a:prstGeom prst="rect">
            <a:avLst/>
          </a:prstGeom>
          <a:noFill/>
        </p:spPr>
        <p:txBody>
          <a:bodyPr vert="horz" wrap="square" lIns="25400" rIns="25400" rtlCol="0">
            <a:spAutoFit/>
          </a:bodyPr>
          <a:lstStyle/>
          <a:p>
            <a:r>
              <a:rPr lang="en-US" sz="1300">
                <a:solidFill>
                  <a:srgbClr val="A3B2C4"/>
                </a:solidFill>
                <a:latin typeface="Calibri" panose="020F0502020204030204" pitchFamily="34" charset="0"/>
              </a:rPr>
              <a:t>The tools track and evidence controls; they do not make you compliant.</a:t>
            </a:r>
          </a:p>
        </p:txBody>
      </p:sp>
      <p:sp>
        <p:nvSpPr>
          <p:cNvPr id="30" name="Rectangle 29">
            <a:extLst>
              <a:ext uri="{FF2B5EF4-FFF2-40B4-BE49-F238E27FC236}">
                <a16:creationId xmlns:a16="http://schemas.microsoft.com/office/drawing/2014/main" id="{292A62DF-9E6A-265E-EF08-D43F4C23B47F}"/>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A4710142-2D7F-2ED5-D1A9-63B2539C5D2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 compliance score is evidence for an auditor, not a certificate.</a:t>
            </a:r>
          </a:p>
        </p:txBody>
      </p:sp>
    </p:spTree>
    <p:extLst>
      <p:ext uri="{BB962C8B-B14F-4D97-AF65-F5344CB8AC3E}">
        <p14:creationId xmlns:p14="http://schemas.microsoft.com/office/powerpoint/2010/main" val="38790514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0C20A5-A7EE-3D1D-9162-411A72F8015F}"/>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E740227-2DDC-0F81-263F-16EE7087B341}"/>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D886FAD-AFFD-663F-7B28-D389E739B9D1}"/>
              </a:ext>
            </a:extLst>
          </p:cNvPr>
          <p:cNvSpPr txBox="1"/>
          <p:nvPr/>
        </p:nvSpPr>
        <p:spPr>
          <a:xfrm>
            <a:off x="762000" y="355600"/>
            <a:ext cx="108966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DEMO: evaluate and remediate Arc machines with Azure Policy — on-premises, then AWS</a:t>
            </a:r>
          </a:p>
        </p:txBody>
      </p:sp>
      <p:sp>
        <p:nvSpPr>
          <p:cNvPr id="5" name="Rectangle 4">
            <a:extLst>
              <a:ext uri="{FF2B5EF4-FFF2-40B4-BE49-F238E27FC236}">
                <a16:creationId xmlns:a16="http://schemas.microsoft.com/office/drawing/2014/main" id="{AE0562D5-ECCB-B7E9-F8E6-925A462C18FE}"/>
              </a:ext>
            </a:extLst>
          </p:cNvPr>
          <p:cNvSpPr/>
          <p:nvPr/>
        </p:nvSpPr>
        <p:spPr>
          <a:xfrm>
            <a:off x="558800" y="381000"/>
            <a:ext cx="63500" cy="6604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EA4B4FB-E8F9-D29C-37EF-A65D8564701E}"/>
              </a:ext>
            </a:extLst>
          </p:cNvPr>
          <p:cNvSpPr txBox="1"/>
          <p:nvPr/>
        </p:nvSpPr>
        <p:spPr>
          <a:xfrm>
            <a:off x="609600" y="12192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Same resources we onboarded earlier: now we manage them.</a:t>
            </a:r>
          </a:p>
        </p:txBody>
      </p:sp>
      <p:sp>
        <p:nvSpPr>
          <p:cNvPr id="7" name="TextBox 6">
            <a:extLst>
              <a:ext uri="{FF2B5EF4-FFF2-40B4-BE49-F238E27FC236}">
                <a16:creationId xmlns:a16="http://schemas.microsoft.com/office/drawing/2014/main" id="{F63333DA-E8AB-578B-632C-3DA50EBF6FD7}"/>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4E1FFA1A-26D1-0D8D-F5CA-110533E2A12C}"/>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B04DF020-BADD-DE88-1CBC-55DEB1D2ED16}"/>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10" name="TextBox 9">
            <a:extLst>
              <a:ext uri="{FF2B5EF4-FFF2-40B4-BE49-F238E27FC236}">
                <a16:creationId xmlns:a16="http://schemas.microsoft.com/office/drawing/2014/main" id="{C5AE2F94-1047-7A42-201F-7445148B8BF8}"/>
              </a:ext>
            </a:extLst>
          </p:cNvPr>
          <p:cNvSpPr txBox="1"/>
          <p:nvPr/>
        </p:nvSpPr>
        <p:spPr>
          <a:xfrm>
            <a:off x="1295400" y="2209800"/>
            <a:ext cx="4826000" cy="584775"/>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Pass 1: cas26-arcwin01 under the operations-RG assignment</a:t>
            </a:r>
          </a:p>
        </p:txBody>
      </p:sp>
      <p:sp>
        <p:nvSpPr>
          <p:cNvPr id="11" name="Rectangle: Rounded Corners 10">
            <a:extLst>
              <a:ext uri="{FF2B5EF4-FFF2-40B4-BE49-F238E27FC236}">
                <a16:creationId xmlns:a16="http://schemas.microsoft.com/office/drawing/2014/main" id="{57189730-327E-2818-901D-3C2DF5BBAC6C}"/>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2" name="TextBox 11">
            <a:extLst>
              <a:ext uri="{FF2B5EF4-FFF2-40B4-BE49-F238E27FC236}">
                <a16:creationId xmlns:a16="http://schemas.microsoft.com/office/drawing/2014/main" id="{5A937938-706C-CCC8-12DB-4328F9BEA182}"/>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Pass 2: map the EC2 instance ID to its Arc machine</a:t>
            </a:r>
          </a:p>
        </p:txBody>
      </p:sp>
      <p:sp>
        <p:nvSpPr>
          <p:cNvPr id="13" name="Rectangle: Rounded Corners 12">
            <a:extLst>
              <a:ext uri="{FF2B5EF4-FFF2-40B4-BE49-F238E27FC236}">
                <a16:creationId xmlns:a16="http://schemas.microsoft.com/office/drawing/2014/main" id="{BF45ACEC-C1F2-C7A4-A838-C499798A37A7}"/>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4" name="TextBox 13">
            <a:extLst>
              <a:ext uri="{FF2B5EF4-FFF2-40B4-BE49-F238E27FC236}">
                <a16:creationId xmlns:a16="http://schemas.microsoft.com/office/drawing/2014/main" id="{E6561AAE-1497-8F0E-B2B8-F32A3478D908}"/>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Run the scoped remediation task for each pass</a:t>
            </a:r>
          </a:p>
        </p:txBody>
      </p:sp>
      <p:sp>
        <p:nvSpPr>
          <p:cNvPr id="15" name="Rectangle: Rounded Corners 14">
            <a:extLst>
              <a:ext uri="{FF2B5EF4-FFF2-40B4-BE49-F238E27FC236}">
                <a16:creationId xmlns:a16="http://schemas.microsoft.com/office/drawing/2014/main" id="{64620F40-3979-7E11-E79C-80102154447A}"/>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6" name="TextBox 15">
            <a:extLst>
              <a:ext uri="{FF2B5EF4-FFF2-40B4-BE49-F238E27FC236}">
                <a16:creationId xmlns:a16="http://schemas.microsoft.com/office/drawing/2014/main" id="{8F225695-B971-1B4D-8379-FF43AEB9A153}"/>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Verify the tag readback and fresh Policy state</a:t>
            </a:r>
          </a:p>
        </p:txBody>
      </p:sp>
      <p:sp>
        <p:nvSpPr>
          <p:cNvPr id="17" name="Rectangle: Rounded Corners 16">
            <a:extLst>
              <a:ext uri="{FF2B5EF4-FFF2-40B4-BE49-F238E27FC236}">
                <a16:creationId xmlns:a16="http://schemas.microsoft.com/office/drawing/2014/main" id="{77C54588-F6C2-3E6D-63A5-ADF3411F71CF}"/>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4936423-1316-BA46-AFC6-5C034022F22F}"/>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AWS hosting identity + Azure Arc ID
Effective Policy and acting identity
Fresh before/after evidence</a:t>
            </a:r>
          </a:p>
        </p:txBody>
      </p:sp>
      <p:sp>
        <p:nvSpPr>
          <p:cNvPr id="19" name="Rectangle 18">
            <a:extLst>
              <a:ext uri="{FF2B5EF4-FFF2-40B4-BE49-F238E27FC236}">
                <a16:creationId xmlns:a16="http://schemas.microsoft.com/office/drawing/2014/main" id="{C4FFA17F-B0A0-7151-33B5-CCA6BB115C7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A2512BE-5D54-BEA6-8EAF-C85349AC815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An Azure Arc resource tag change is not proof that the native EC2 tag changed.</a:t>
            </a:r>
          </a:p>
        </p:txBody>
      </p:sp>
      <p:sp>
        <p:nvSpPr>
          <p:cNvPr id="21" name="DemoMarkerBar">
            <a:extLst>
              <a:ext uri="{FF2B5EF4-FFF2-40B4-BE49-F238E27FC236}">
                <a16:creationId xmlns:a16="http://schemas.microsoft.com/office/drawing/2014/main" id="{A03F691A-F9BE-142B-29BB-50298E4021A7}"/>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emoMarkerText">
            <a:extLst>
              <a:ext uri="{FF2B5EF4-FFF2-40B4-BE49-F238E27FC236}">
                <a16:creationId xmlns:a16="http://schemas.microsoft.com/office/drawing/2014/main" id="{D4B35A85-5B78-8682-F7B9-1844AB9ECAC3}"/>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871753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69A17E-4794-E470-0712-48F4928D0AD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0A0E57-E834-28BA-6D9D-6B754B8283F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11B9E08-452E-7DC3-0E45-C6A9FE82908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What the Policy demo proved</a:t>
            </a:r>
          </a:p>
        </p:txBody>
      </p:sp>
      <p:sp>
        <p:nvSpPr>
          <p:cNvPr id="5" name="Rectangle 4">
            <a:extLst>
              <a:ext uri="{FF2B5EF4-FFF2-40B4-BE49-F238E27FC236}">
                <a16:creationId xmlns:a16="http://schemas.microsoft.com/office/drawing/2014/main" id="{957E9ADD-19EF-729B-AA65-EB38AA512912}"/>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E8E1073-53A7-827D-0D38-50A18F1BACB6}"/>
              </a:ext>
            </a:extLst>
          </p:cNvPr>
          <p:cNvSpPr/>
          <p:nvPr/>
        </p:nvSpPr>
        <p:spPr>
          <a:xfrm>
            <a:off x="609600" y="1828800"/>
            <a:ext cx="10972800" cy="25400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7" name="TextBox 6">
            <a:extLst>
              <a:ext uri="{FF2B5EF4-FFF2-40B4-BE49-F238E27FC236}">
                <a16:creationId xmlns:a16="http://schemas.microsoft.com/office/drawing/2014/main" id="{0F105913-D34A-703F-8233-2F14CFFD20E2}"/>
              </a:ext>
            </a:extLst>
          </p:cNvPr>
          <p:cNvSpPr txBox="1"/>
          <p:nvPr/>
        </p:nvSpPr>
        <p:spPr>
          <a:xfrm>
            <a:off x="914400" y="2082800"/>
            <a:ext cx="101600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Policy proved governance</a:t>
            </a:r>
          </a:p>
        </p:txBody>
      </p:sp>
      <p:sp>
        <p:nvSpPr>
          <p:cNvPr id="8" name="TextBox 7">
            <a:extLst>
              <a:ext uri="{FF2B5EF4-FFF2-40B4-BE49-F238E27FC236}">
                <a16:creationId xmlns:a16="http://schemas.microsoft.com/office/drawing/2014/main" id="{5E1794E0-E712-1191-EBEA-CDFC4BB80306}"/>
              </a:ext>
            </a:extLst>
          </p:cNvPr>
          <p:cNvSpPr txBox="1"/>
          <p:nvPr/>
        </p:nvSpPr>
        <p:spPr>
          <a:xfrm>
            <a:off x="914400" y="2717800"/>
            <a:ext cx="10363200" cy="923330"/>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One definition, two scoped assignments, two real machines: the on-premises guest and the AWS server. Each noncompliant resource was identified, a bounded remediation ran, and fresh Policy evidence verified the result.</a:t>
            </a:r>
          </a:p>
        </p:txBody>
      </p:sp>
      <p:sp>
        <p:nvSpPr>
          <p:cNvPr id="9" name="TextBox 8">
            <a:extLst>
              <a:ext uri="{FF2B5EF4-FFF2-40B4-BE49-F238E27FC236}">
                <a16:creationId xmlns:a16="http://schemas.microsoft.com/office/drawing/2014/main" id="{3A282A9D-091B-C933-7B9B-5B60D711994C}"/>
              </a:ext>
            </a:extLst>
          </p:cNvPr>
          <p:cNvSpPr txBox="1"/>
          <p:nvPr/>
        </p:nvSpPr>
        <p:spPr>
          <a:xfrm>
            <a:off x="609600" y="4826000"/>
            <a:ext cx="10972800" cy="384721"/>
          </a:xfrm>
          <a:prstGeom prst="rect">
            <a:avLst/>
          </a:prstGeom>
          <a:noFill/>
        </p:spPr>
        <p:txBody>
          <a:bodyPr vert="horz" wrap="square" lIns="25400" rIns="25400" rtlCol="0">
            <a:spAutoFit/>
          </a:bodyPr>
          <a:lstStyle/>
          <a:p>
            <a:r>
              <a:rPr lang="en-US" sz="1900" b="1">
                <a:solidFill>
                  <a:srgbClr val="F09E5A"/>
                </a:solidFill>
                <a:latin typeface="Calibri" panose="020F0502020204030204" pitchFamily="34" charset="0"/>
              </a:rPr>
              <a:t>Same discipline everywhere: identity → scope → bounded action → fresh outcome.</a:t>
            </a:r>
          </a:p>
        </p:txBody>
      </p:sp>
    </p:spTree>
    <p:extLst>
      <p:ext uri="{BB962C8B-B14F-4D97-AF65-F5344CB8AC3E}">
        <p14:creationId xmlns:p14="http://schemas.microsoft.com/office/powerpoint/2010/main" val="42185917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AF8A38-9DB2-05EF-A3A4-071550003DA5}"/>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5B49FE3-014D-902D-22AF-2448162079B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66E6A4-00D2-5264-4EA5-E438489572AE}"/>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Three estates, one patch process: why Azure Update Manager</a:t>
            </a:r>
          </a:p>
        </p:txBody>
      </p:sp>
      <p:sp>
        <p:nvSpPr>
          <p:cNvPr id="5" name="Rectangle 4">
            <a:extLst>
              <a:ext uri="{FF2B5EF4-FFF2-40B4-BE49-F238E27FC236}">
                <a16:creationId xmlns:a16="http://schemas.microsoft.com/office/drawing/2014/main" id="{4AA1C2E8-BD19-ACEF-C015-401B5DE2C297}"/>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E646264-CCB0-573D-3C04-9813D5491436}"/>
              </a:ext>
            </a:extLst>
          </p:cNvPr>
          <p:cNvSpPr txBox="1"/>
          <p:nvPr/>
        </p:nvSpPr>
        <p:spPr>
          <a:xfrm>
            <a:off x="609600" y="1600200"/>
            <a:ext cx="10972800" cy="307777"/>
          </a:xfrm>
          <a:prstGeom prst="rect">
            <a:avLst/>
          </a:prstGeom>
          <a:noFill/>
        </p:spPr>
        <p:txBody>
          <a:bodyPr vert="horz" wrap="square" lIns="25400" rIns="25400" rtlCol="0">
            <a:spAutoFit/>
          </a:bodyPr>
          <a:lstStyle/>
          <a:p>
            <a:r>
              <a:rPr lang="en-US" sz="1400" b="1">
                <a:solidFill>
                  <a:srgbClr val="F09E5A"/>
                </a:solidFill>
                <a:latin typeface="Calibri" panose="020F0502020204030204" pitchFamily="34" charset="0"/>
              </a:rPr>
              <a:t>Today: three tools, three schedules, three reports, three permission models, and no single answer to "is everything patched?"</a:t>
            </a:r>
          </a:p>
        </p:txBody>
      </p:sp>
      <p:sp>
        <p:nvSpPr>
          <p:cNvPr id="7" name="Rectangle: Rounded Corners 6">
            <a:extLst>
              <a:ext uri="{FF2B5EF4-FFF2-40B4-BE49-F238E27FC236}">
                <a16:creationId xmlns:a16="http://schemas.microsoft.com/office/drawing/2014/main" id="{9B813D01-1F90-95F2-2018-43684C6052CA}"/>
              </a:ext>
            </a:extLst>
          </p:cNvPr>
          <p:cNvSpPr/>
          <p:nvPr/>
        </p:nvSpPr>
        <p:spPr>
          <a:xfrm>
            <a:off x="609600" y="2082800"/>
            <a:ext cx="3429000" cy="1473200"/>
          </a:xfrm>
          <a:prstGeom prst="roundRect">
            <a:avLst>
              <a:gd name="adj" fmla="val 12069"/>
            </a:avLst>
          </a:prstGeom>
          <a:noFill/>
          <a:ln w="19050" cap="flat" cmpd="sng" algn="ctr">
            <a:solidFill>
              <a:srgbClr val="6EA8F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65CF0BF-0A84-594F-98DC-AD623F12BE9C}"/>
              </a:ext>
            </a:extLst>
          </p:cNvPr>
          <p:cNvSpPr txBox="1"/>
          <p:nvPr/>
        </p:nvSpPr>
        <p:spPr>
          <a:xfrm>
            <a:off x="787400" y="2159000"/>
            <a:ext cx="3073400" cy="261610"/>
          </a:xfrm>
          <a:prstGeom prst="rect">
            <a:avLst/>
          </a:prstGeom>
          <a:noFill/>
        </p:spPr>
        <p:txBody>
          <a:bodyPr vert="horz" wrap="square" lIns="25400" rIns="25400" rtlCol="0">
            <a:spAutoFit/>
          </a:bodyPr>
          <a:lstStyle/>
          <a:p>
            <a:r>
              <a:rPr lang="en-US" sz="1100" b="1">
                <a:solidFill>
                  <a:srgbClr val="6EA8F0"/>
                </a:solidFill>
                <a:latin typeface="Calibri" panose="020F0502020204030204" pitchFamily="34" charset="0"/>
              </a:rPr>
              <a:t>AZURE</a:t>
            </a:r>
          </a:p>
        </p:txBody>
      </p:sp>
      <p:sp>
        <p:nvSpPr>
          <p:cNvPr id="9" name="Rectangle: Rounded Corners 8">
            <a:extLst>
              <a:ext uri="{FF2B5EF4-FFF2-40B4-BE49-F238E27FC236}">
                <a16:creationId xmlns:a16="http://schemas.microsoft.com/office/drawing/2014/main" id="{AA0124C1-A8CA-CC7F-16FB-2B7ACAF74CAB}"/>
              </a:ext>
            </a:extLst>
          </p:cNvPr>
          <p:cNvSpPr/>
          <p:nvPr/>
        </p:nvSpPr>
        <p:spPr>
          <a:xfrm>
            <a:off x="4381500" y="2082800"/>
            <a:ext cx="3429000" cy="1473200"/>
          </a:xfrm>
          <a:prstGeom prst="roundRect">
            <a:avLst>
              <a:gd name="adj" fmla="val 12069"/>
            </a:avLst>
          </a:prstGeom>
          <a:noFill/>
          <a:ln w="19050" cap="flat" cmpd="sng" algn="ctr">
            <a:solidFill>
              <a:srgbClr val="6ED2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60D7144-3DBB-232C-BFBD-6F05E995CB15}"/>
              </a:ext>
            </a:extLst>
          </p:cNvPr>
          <p:cNvSpPr txBox="1"/>
          <p:nvPr/>
        </p:nvSpPr>
        <p:spPr>
          <a:xfrm>
            <a:off x="4559300" y="2159000"/>
            <a:ext cx="30734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ON-PREMISES PRIVATE CLOUD</a:t>
            </a:r>
          </a:p>
        </p:txBody>
      </p:sp>
      <p:sp>
        <p:nvSpPr>
          <p:cNvPr id="11" name="Rectangle: Rounded Corners 10">
            <a:extLst>
              <a:ext uri="{FF2B5EF4-FFF2-40B4-BE49-F238E27FC236}">
                <a16:creationId xmlns:a16="http://schemas.microsoft.com/office/drawing/2014/main" id="{F1712552-6CD7-D779-77E9-17F9A2F877F3}"/>
              </a:ext>
            </a:extLst>
          </p:cNvPr>
          <p:cNvSpPr/>
          <p:nvPr/>
        </p:nvSpPr>
        <p:spPr>
          <a:xfrm>
            <a:off x="8153400" y="2082800"/>
            <a:ext cx="3429000" cy="1473200"/>
          </a:xfrm>
          <a:prstGeom prst="roundRect">
            <a:avLst>
              <a:gd name="adj" fmla="val 12069"/>
            </a:avLst>
          </a:prstGeom>
          <a:noFill/>
          <a:ln w="19050" cap="flat" cmpd="sng" algn="ctr">
            <a:solidFill>
              <a:srgbClr val="F09E5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D07F537-F1DC-ACE1-2F73-F635F796F525}"/>
              </a:ext>
            </a:extLst>
          </p:cNvPr>
          <p:cNvSpPr txBox="1"/>
          <p:nvPr/>
        </p:nvSpPr>
        <p:spPr>
          <a:xfrm>
            <a:off x="8331200" y="2159000"/>
            <a:ext cx="30734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AWS</a:t>
            </a:r>
          </a:p>
        </p:txBody>
      </p:sp>
      <p:sp>
        <p:nvSpPr>
          <p:cNvPr id="13" name="Rectangle: Rounded Corners 12">
            <a:extLst>
              <a:ext uri="{FF2B5EF4-FFF2-40B4-BE49-F238E27FC236}">
                <a16:creationId xmlns:a16="http://schemas.microsoft.com/office/drawing/2014/main" id="{CF95D2FD-70F2-3DD0-33A4-8D8E08F36F55}"/>
              </a:ext>
            </a:extLst>
          </p:cNvPr>
          <p:cNvSpPr/>
          <p:nvPr/>
        </p:nvSpPr>
        <p:spPr>
          <a:xfrm>
            <a:off x="787400" y="2438400"/>
            <a:ext cx="3073400" cy="635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Azure VMs
native in Update Manager</a:t>
            </a:r>
          </a:p>
        </p:txBody>
      </p:sp>
      <p:sp>
        <p:nvSpPr>
          <p:cNvPr id="14" name="TextBox 13">
            <a:extLst>
              <a:ext uri="{FF2B5EF4-FFF2-40B4-BE49-F238E27FC236}">
                <a16:creationId xmlns:a16="http://schemas.microsoft.com/office/drawing/2014/main" id="{8D874184-2D69-0534-50C4-9877C3A52EC0}"/>
              </a:ext>
            </a:extLst>
          </p:cNvPr>
          <p:cNvSpPr txBox="1"/>
          <p:nvPr/>
        </p:nvSpPr>
        <p:spPr>
          <a:xfrm>
            <a:off x="787400" y="3098800"/>
            <a:ext cx="3073400" cy="430887"/>
          </a:xfrm>
          <a:prstGeom prst="rect">
            <a:avLst/>
          </a:prstGeom>
          <a:noFill/>
        </p:spPr>
        <p:txBody>
          <a:bodyPr vert="horz" wrap="square" lIns="25400" rIns="25400" rtlCol="0">
            <a:spAutoFit/>
          </a:bodyPr>
          <a:lstStyle/>
          <a:p>
            <a:r>
              <a:rPr lang="en-US" sz="1100">
                <a:solidFill>
                  <a:srgbClr val="A3B2C4"/>
                </a:solidFill>
                <a:latin typeface="Calibri" panose="020F0502020204030204" pitchFamily="34" charset="0"/>
              </a:rPr>
              <a:t>PaaS (Functions, Container Apps): the platform patches it, not Update Manager</a:t>
            </a:r>
          </a:p>
        </p:txBody>
      </p:sp>
      <p:sp>
        <p:nvSpPr>
          <p:cNvPr id="15" name="Rectangle: Rounded Corners 14">
            <a:extLst>
              <a:ext uri="{FF2B5EF4-FFF2-40B4-BE49-F238E27FC236}">
                <a16:creationId xmlns:a16="http://schemas.microsoft.com/office/drawing/2014/main" id="{7A4B91E9-836D-D1D3-783C-2534CE1A27E6}"/>
              </a:ext>
            </a:extLst>
          </p:cNvPr>
          <p:cNvSpPr/>
          <p:nvPr/>
        </p:nvSpPr>
        <p:spPr>
          <a:xfrm>
            <a:off x="4559300" y="2438400"/>
            <a:ext cx="3073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Arc-connected SCVMM guests, SQL servers, Hyper-V hosts
today: WSUS or Configuration Manager</a:t>
            </a:r>
          </a:p>
        </p:txBody>
      </p:sp>
      <p:sp>
        <p:nvSpPr>
          <p:cNvPr id="16" name="Rectangle: Rounded Corners 15">
            <a:extLst>
              <a:ext uri="{FF2B5EF4-FFF2-40B4-BE49-F238E27FC236}">
                <a16:creationId xmlns:a16="http://schemas.microsoft.com/office/drawing/2014/main" id="{D6D926C4-432E-081C-5F75-45EC51CB44B4}"/>
              </a:ext>
            </a:extLst>
          </p:cNvPr>
          <p:cNvSpPr/>
          <p:nvPr/>
        </p:nvSpPr>
        <p:spPr>
          <a:xfrm>
            <a:off x="8331200" y="2438400"/>
            <a:ext cx="3073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EC2 instances
today: Systems Manager Patch Manager</a:t>
            </a:r>
          </a:p>
        </p:txBody>
      </p:sp>
      <p:cxnSp>
        <p:nvCxnSpPr>
          <p:cNvPr id="17" name="Straight Arrow Connector 16">
            <a:extLst>
              <a:ext uri="{FF2B5EF4-FFF2-40B4-BE49-F238E27FC236}">
                <a16:creationId xmlns:a16="http://schemas.microsoft.com/office/drawing/2014/main" id="{D263B93F-6782-9E01-E22E-873AB592781B}"/>
              </a:ext>
            </a:extLst>
          </p:cNvPr>
          <p:cNvCxnSpPr/>
          <p:nvPr/>
        </p:nvCxnSpPr>
        <p:spPr>
          <a:xfrm>
            <a:off x="2324100" y="3556000"/>
            <a:ext cx="2247900" cy="5080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07E574E-AF7D-21A3-F81F-8305E9CE319A}"/>
              </a:ext>
            </a:extLst>
          </p:cNvPr>
          <p:cNvCxnSpPr/>
          <p:nvPr/>
        </p:nvCxnSpPr>
        <p:spPr>
          <a:xfrm>
            <a:off x="6096000" y="3556000"/>
            <a:ext cx="0" cy="5080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C111C8F-8089-A03A-C36E-92ED04ECFEED}"/>
              </a:ext>
            </a:extLst>
          </p:cNvPr>
          <p:cNvCxnSpPr/>
          <p:nvPr/>
        </p:nvCxnSpPr>
        <p:spPr>
          <a:xfrm flipH="1">
            <a:off x="7620000" y="3556000"/>
            <a:ext cx="2247900" cy="5080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FD76A5F0-1DED-519A-9118-1B44C36D41C4}"/>
              </a:ext>
            </a:extLst>
          </p:cNvPr>
          <p:cNvSpPr/>
          <p:nvPr/>
        </p:nvSpPr>
        <p:spPr>
          <a:xfrm>
            <a:off x="3175000" y="4064000"/>
            <a:ext cx="5842000" cy="8890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Azure Update Manager
one assessment, schedule and compliance view - supported-OS Azure VMs and Arc-connected servers</a:t>
            </a:r>
          </a:p>
        </p:txBody>
      </p:sp>
      <p:sp>
        <p:nvSpPr>
          <p:cNvPr id="21" name="TextBox 20">
            <a:extLst>
              <a:ext uri="{FF2B5EF4-FFF2-40B4-BE49-F238E27FC236}">
                <a16:creationId xmlns:a16="http://schemas.microsoft.com/office/drawing/2014/main" id="{718839B4-4D86-641B-FA6B-F77C63F24ECF}"/>
              </a:ext>
            </a:extLst>
          </p:cNvPr>
          <p:cNvSpPr txBox="1"/>
          <p:nvPr/>
        </p:nvSpPr>
        <p:spPr>
          <a:xfrm>
            <a:off x="609600" y="5130800"/>
            <a:ext cx="10972800" cy="523220"/>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IIC Hybrid Orders needs both workers, on-premises and AWS: patch them on a plan that keeps orders flowing, and prove each window with a fresh order.</a:t>
            </a:r>
          </a:p>
        </p:txBody>
      </p:sp>
      <p:sp>
        <p:nvSpPr>
          <p:cNvPr id="22" name="Rectangle 21">
            <a:extLst>
              <a:ext uri="{FF2B5EF4-FFF2-40B4-BE49-F238E27FC236}">
                <a16:creationId xmlns:a16="http://schemas.microsoft.com/office/drawing/2014/main" id="{EB0E90C0-1833-2796-B8B3-A1AEA44FED69}"/>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949CEC9-2C0A-8DA7-6194-0D45CACD098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Arc gives every server an Azure identity; that is what lets one update service reach all three estates.</a:t>
            </a:r>
          </a:p>
        </p:txBody>
      </p:sp>
    </p:spTree>
    <p:extLst>
      <p:ext uri="{BB962C8B-B14F-4D97-AF65-F5344CB8AC3E}">
        <p14:creationId xmlns:p14="http://schemas.microsoft.com/office/powerpoint/2010/main" val="1893903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F0A628-3609-6BD7-D23F-1C926871487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1601ED-E298-5676-285E-E73B5E76853F}"/>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44FF12B-DB12-B645-947D-DC23910A242A}"/>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How Update Manager patches every estate: assess, schedule, ring, prove</a:t>
            </a:r>
          </a:p>
        </p:txBody>
      </p:sp>
      <p:sp>
        <p:nvSpPr>
          <p:cNvPr id="5" name="Rectangle 4">
            <a:extLst>
              <a:ext uri="{FF2B5EF4-FFF2-40B4-BE49-F238E27FC236}">
                <a16:creationId xmlns:a16="http://schemas.microsoft.com/office/drawing/2014/main" id="{80EC2BEC-3ED4-E8D6-6ECD-A8FC73E231AD}"/>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EC4EC44-A62E-4CAE-17F5-1E2E68AE59CE}"/>
              </a:ext>
            </a:extLst>
          </p:cNvPr>
          <p:cNvSpPr/>
          <p:nvPr/>
        </p:nvSpPr>
        <p:spPr>
          <a:xfrm>
            <a:off x="609600" y="1676400"/>
            <a:ext cx="2032000" cy="121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ASSESS
every 24 h; we turn it on with Azure Policy</a:t>
            </a:r>
          </a:p>
        </p:txBody>
      </p:sp>
      <p:cxnSp>
        <p:nvCxnSpPr>
          <p:cNvPr id="7" name="Straight Arrow Connector 6">
            <a:extLst>
              <a:ext uri="{FF2B5EF4-FFF2-40B4-BE49-F238E27FC236}">
                <a16:creationId xmlns:a16="http://schemas.microsoft.com/office/drawing/2014/main" id="{F5E4D910-F1FF-D3EA-25CE-E003CBAA5536}"/>
              </a:ext>
            </a:extLst>
          </p:cNvPr>
          <p:cNvCxnSpPr/>
          <p:nvPr/>
        </p:nvCxnSpPr>
        <p:spPr>
          <a:xfrm>
            <a:off x="2641600" y="22860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59D3A12A-066B-57A3-8A7D-F42B34389D46}"/>
              </a:ext>
            </a:extLst>
          </p:cNvPr>
          <p:cNvSpPr/>
          <p:nvPr/>
        </p:nvSpPr>
        <p:spPr>
          <a:xfrm>
            <a:off x="2844800" y="1676400"/>
            <a:ext cx="2032000" cy="121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SCHEDULE
maintenance configuration: window, classifications, reboot</a:t>
            </a:r>
          </a:p>
        </p:txBody>
      </p:sp>
      <p:cxnSp>
        <p:nvCxnSpPr>
          <p:cNvPr id="9" name="Straight Arrow Connector 8">
            <a:extLst>
              <a:ext uri="{FF2B5EF4-FFF2-40B4-BE49-F238E27FC236}">
                <a16:creationId xmlns:a16="http://schemas.microsoft.com/office/drawing/2014/main" id="{C3DAD840-FC39-0848-60E8-4E5C6E6B8EC6}"/>
              </a:ext>
            </a:extLst>
          </p:cNvPr>
          <p:cNvCxnSpPr/>
          <p:nvPr/>
        </p:nvCxnSpPr>
        <p:spPr>
          <a:xfrm>
            <a:off x="4876800" y="22860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D31F6091-4E32-1851-D56A-75B28EDC894C}"/>
              </a:ext>
            </a:extLst>
          </p:cNvPr>
          <p:cNvSpPr/>
          <p:nvPr/>
        </p:nvSpPr>
        <p:spPr>
          <a:xfrm>
            <a:off x="5080000" y="1676400"/>
            <a:ext cx="2032000" cy="121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SCOPE BY TAG
dynamic scope on Environment + UpdateRing</a:t>
            </a:r>
          </a:p>
        </p:txBody>
      </p:sp>
      <p:cxnSp>
        <p:nvCxnSpPr>
          <p:cNvPr id="11" name="Straight Arrow Connector 10">
            <a:extLst>
              <a:ext uri="{FF2B5EF4-FFF2-40B4-BE49-F238E27FC236}">
                <a16:creationId xmlns:a16="http://schemas.microsoft.com/office/drawing/2014/main" id="{D56523DE-DE95-9EB8-EAFD-A7AC6366E1F3}"/>
              </a:ext>
            </a:extLst>
          </p:cNvPr>
          <p:cNvCxnSpPr/>
          <p:nvPr/>
        </p:nvCxnSpPr>
        <p:spPr>
          <a:xfrm>
            <a:off x="7112000" y="22860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CF643F4D-F156-E670-EE27-C01B72C5C335}"/>
              </a:ext>
            </a:extLst>
          </p:cNvPr>
          <p:cNvSpPr/>
          <p:nvPr/>
        </p:nvSpPr>
        <p:spPr>
          <a:xfrm>
            <a:off x="7315200" y="1676400"/>
            <a:ext cx="2032000" cy="121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ROLL OUT IN RINGS
ring0 → ring1 → ring2; pre/post events call your handlers</a:t>
            </a:r>
          </a:p>
        </p:txBody>
      </p:sp>
      <p:cxnSp>
        <p:nvCxnSpPr>
          <p:cNvPr id="13" name="Straight Arrow Connector 12">
            <a:extLst>
              <a:ext uri="{FF2B5EF4-FFF2-40B4-BE49-F238E27FC236}">
                <a16:creationId xmlns:a16="http://schemas.microsoft.com/office/drawing/2014/main" id="{D5DDFF0E-1530-DC1D-AABA-06F86955C338}"/>
              </a:ext>
            </a:extLst>
          </p:cNvPr>
          <p:cNvCxnSpPr/>
          <p:nvPr/>
        </p:nvCxnSpPr>
        <p:spPr>
          <a:xfrm>
            <a:off x="9347200" y="22860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2CAD3A1E-60E9-4013-72A5-E13B18954D20}"/>
              </a:ext>
            </a:extLst>
          </p:cNvPr>
          <p:cNvSpPr/>
          <p:nvPr/>
        </p:nvSpPr>
        <p:spPr>
          <a:xfrm>
            <a:off x="9550400" y="1676400"/>
            <a:ext cx="2032000" cy="1219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PROVE
compliance in Resource Graph + a fresh IIC order</a:t>
            </a:r>
          </a:p>
        </p:txBody>
      </p:sp>
      <p:sp>
        <p:nvSpPr>
          <p:cNvPr id="15" name="TextBox 14">
            <a:extLst>
              <a:ext uri="{FF2B5EF4-FFF2-40B4-BE49-F238E27FC236}">
                <a16:creationId xmlns:a16="http://schemas.microsoft.com/office/drawing/2014/main" id="{D47DD720-A36F-1536-692D-8232EFA4FBC7}"/>
              </a:ext>
            </a:extLst>
          </p:cNvPr>
          <p:cNvSpPr txBox="1"/>
          <p:nvPr/>
        </p:nvSpPr>
        <p:spPr>
          <a:xfrm>
            <a:off x="609600" y="3124200"/>
            <a:ext cx="109728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IIC HYBRID ORDERS RINGS</a:t>
            </a:r>
          </a:p>
        </p:txBody>
      </p:sp>
      <p:sp>
        <p:nvSpPr>
          <p:cNvPr id="16" name="Rectangle: Rounded Corners 15">
            <a:extLst>
              <a:ext uri="{FF2B5EF4-FFF2-40B4-BE49-F238E27FC236}">
                <a16:creationId xmlns:a16="http://schemas.microsoft.com/office/drawing/2014/main" id="{6F416736-834C-F132-395B-EECDDDA33BD6}"/>
              </a:ext>
            </a:extLst>
          </p:cNvPr>
          <p:cNvSpPr/>
          <p:nvPr/>
        </p:nvSpPr>
        <p:spPr>
          <a:xfrm>
            <a:off x="609600" y="3403600"/>
            <a:ext cx="3556000" cy="10668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ring0 · canary
dev EC2 machines + standalone demo guests
first window</a:t>
            </a:r>
          </a:p>
        </p:txBody>
      </p:sp>
      <p:sp>
        <p:nvSpPr>
          <p:cNvPr id="17" name="Rectangle: Rounded Corners 16">
            <a:extLst>
              <a:ext uri="{FF2B5EF4-FFF2-40B4-BE49-F238E27FC236}">
                <a16:creationId xmlns:a16="http://schemas.microsoft.com/office/drawing/2014/main" id="{48719361-7AEB-F63A-D8D3-C1F7065DCAC7}"/>
              </a:ext>
            </a:extLst>
          </p:cNvPr>
          <p:cNvSpPr/>
          <p:nvPr/>
        </p:nvSpPr>
        <p:spPr>
          <a:xfrm>
            <a:off x="4318000" y="3403600"/>
            <a:ext cx="3556000" cy="10668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ring1
production web, data and SQL
after ring0 passes</a:t>
            </a:r>
          </a:p>
        </p:txBody>
      </p:sp>
      <p:sp>
        <p:nvSpPr>
          <p:cNvPr id="18" name="Rectangle: Rounded Corners 17">
            <a:extLst>
              <a:ext uri="{FF2B5EF4-FFF2-40B4-BE49-F238E27FC236}">
                <a16:creationId xmlns:a16="http://schemas.microsoft.com/office/drawing/2014/main" id="{6B7C612E-CEF6-77AF-0347-49B78E16A72F}"/>
              </a:ext>
            </a:extLst>
          </p:cNvPr>
          <p:cNvSpPr/>
          <p:nvPr/>
        </p:nvSpPr>
        <p:spPr>
          <a:xfrm>
            <a:off x="8026400" y="3403600"/>
            <a:ext cx="3556000" cy="10668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ring2 · the IIC workers
one estate per window
each window proved by a fresh order</a:t>
            </a:r>
          </a:p>
        </p:txBody>
      </p:sp>
      <p:cxnSp>
        <p:nvCxnSpPr>
          <p:cNvPr id="19" name="Straight Arrow Connector 18">
            <a:extLst>
              <a:ext uri="{FF2B5EF4-FFF2-40B4-BE49-F238E27FC236}">
                <a16:creationId xmlns:a16="http://schemas.microsoft.com/office/drawing/2014/main" id="{1EB17C41-33CC-7718-C9F9-27D53FB8A129}"/>
              </a:ext>
            </a:extLst>
          </p:cNvPr>
          <p:cNvCxnSpPr/>
          <p:nvPr/>
        </p:nvCxnSpPr>
        <p:spPr>
          <a:xfrm>
            <a:off x="4165600" y="3937000"/>
            <a:ext cx="152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3BBD13C-3EA4-73DD-7D90-1A19FD49E181}"/>
              </a:ext>
            </a:extLst>
          </p:cNvPr>
          <p:cNvCxnSpPr/>
          <p:nvPr/>
        </p:nvCxnSpPr>
        <p:spPr>
          <a:xfrm>
            <a:off x="7874000" y="3937000"/>
            <a:ext cx="152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12D5B5CC-7394-4A74-C01A-A64372E3B1A1}"/>
              </a:ext>
            </a:extLst>
          </p:cNvPr>
          <p:cNvSpPr txBox="1"/>
          <p:nvPr/>
        </p:nvSpPr>
        <p:spPr>
          <a:xfrm>
            <a:off x="609600" y="4673600"/>
            <a:ext cx="10972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Hyper-V cluster hosts are assessed and reported here, but patched with cluster-aware updating, outside these rings.</a:t>
            </a:r>
          </a:p>
        </p:txBody>
      </p:sp>
      <p:sp>
        <p:nvSpPr>
          <p:cNvPr id="22" name="Rectangle 21">
            <a:extLst>
              <a:ext uri="{FF2B5EF4-FFF2-40B4-BE49-F238E27FC236}">
                <a16:creationId xmlns:a16="http://schemas.microsoft.com/office/drawing/2014/main" id="{B6166E87-B370-00ED-FB1A-DF4916CB589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6E67819-EA1A-E3D1-1FFD-477AD773B7A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 completed patch run is not recovery. The proof is fresh compliance and a working service.</a:t>
            </a:r>
          </a:p>
        </p:txBody>
      </p:sp>
    </p:spTree>
    <p:extLst>
      <p:ext uri="{BB962C8B-B14F-4D97-AF65-F5344CB8AC3E}">
        <p14:creationId xmlns:p14="http://schemas.microsoft.com/office/powerpoint/2010/main" val="1342882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573AA6-817F-9E77-BA9C-CCFDE489920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619F0E0-6826-AC0D-16F2-DC45B50A805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0195E1F-1FC2-FF86-E1BA-0BDEB9726AF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End of support: Extended Security Updates through Arc</a:t>
            </a:r>
          </a:p>
        </p:txBody>
      </p:sp>
      <p:sp>
        <p:nvSpPr>
          <p:cNvPr id="5" name="Rectangle 4">
            <a:extLst>
              <a:ext uri="{FF2B5EF4-FFF2-40B4-BE49-F238E27FC236}">
                <a16:creationId xmlns:a16="http://schemas.microsoft.com/office/drawing/2014/main" id="{D9743CAC-C1E1-7AEC-306D-7328A0C6EA0C}"/>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1022FBB-88CE-9B2A-B75A-3797C9965908}"/>
              </a:ext>
            </a:extLst>
          </p:cNvPr>
          <p:cNvSpPr/>
          <p:nvPr/>
        </p:nvSpPr>
        <p:spPr>
          <a:xfrm>
            <a:off x="609600" y="1676400"/>
            <a:ext cx="5334000" cy="28194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F5078EA7-8533-17B6-D35B-905D0F2F95B3}"/>
              </a:ext>
            </a:extLst>
          </p:cNvPr>
          <p:cNvSpPr/>
          <p:nvPr/>
        </p:nvSpPr>
        <p:spPr>
          <a:xfrm>
            <a:off x="6248400" y="1676400"/>
            <a:ext cx="5334000" cy="28194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8F39842D-B352-7411-5C0B-79BA898A7357}"/>
              </a:ext>
            </a:extLst>
          </p:cNvPr>
          <p:cNvSpPr txBox="1"/>
          <p:nvPr/>
        </p:nvSpPr>
        <p:spPr>
          <a:xfrm>
            <a:off x="863600" y="1803400"/>
            <a:ext cx="4826000" cy="284693"/>
          </a:xfrm>
          <a:prstGeom prst="rect">
            <a:avLst/>
          </a:prstGeom>
          <a:noFill/>
        </p:spPr>
        <p:txBody>
          <a:bodyPr vert="horz" wrap="square" lIns="25400" rIns="25400" rtlCol="0">
            <a:spAutoFit/>
          </a:bodyPr>
          <a:lstStyle/>
          <a:p>
            <a:r>
              <a:rPr lang="en-US" sz="1250" b="1">
                <a:solidFill>
                  <a:srgbClr val="F0786E"/>
                </a:solidFill>
                <a:latin typeface="Calibri" panose="020F0502020204030204" pitchFamily="34" charset="0"/>
              </a:rPr>
              <a:t>WINDOWS SERVER 2012 / 2012 R2 · SUPPORT ENDED</a:t>
            </a:r>
          </a:p>
        </p:txBody>
      </p:sp>
      <p:sp>
        <p:nvSpPr>
          <p:cNvPr id="9" name="TextBox 8">
            <a:extLst>
              <a:ext uri="{FF2B5EF4-FFF2-40B4-BE49-F238E27FC236}">
                <a16:creationId xmlns:a16="http://schemas.microsoft.com/office/drawing/2014/main" id="{E5AD0165-94FA-7CA3-D075-23820B8AB42E}"/>
              </a:ext>
            </a:extLst>
          </p:cNvPr>
          <p:cNvSpPr txBox="1"/>
          <p:nvPr/>
        </p:nvSpPr>
        <p:spPr>
          <a:xfrm>
            <a:off x="6502400" y="1803400"/>
            <a:ext cx="4826000" cy="292388"/>
          </a:xfrm>
          <a:prstGeom prst="rect">
            <a:avLst/>
          </a:prstGeom>
          <a:noFill/>
        </p:spPr>
        <p:txBody>
          <a:bodyPr vert="horz" wrap="square" lIns="25400" rIns="25400" rtlCol="0">
            <a:spAutoFit/>
          </a:bodyPr>
          <a:lstStyle/>
          <a:p>
            <a:r>
              <a:rPr lang="en-US" sz="1300" b="1">
                <a:solidFill>
                  <a:srgbClr val="F09E5A"/>
                </a:solidFill>
                <a:latin typeface="Calibri" panose="020F0502020204030204" pitchFamily="34" charset="0"/>
              </a:rPr>
              <a:t>WINDOWS SERVER 2016 · PLAN NOW</a:t>
            </a:r>
          </a:p>
        </p:txBody>
      </p:sp>
      <p:sp>
        <p:nvSpPr>
          <p:cNvPr id="10" name="TextBox 9">
            <a:extLst>
              <a:ext uri="{FF2B5EF4-FFF2-40B4-BE49-F238E27FC236}">
                <a16:creationId xmlns:a16="http://schemas.microsoft.com/office/drawing/2014/main" id="{DB7F8547-EAB5-B199-DA11-1CC7598FC130}"/>
              </a:ext>
            </a:extLst>
          </p:cNvPr>
          <p:cNvSpPr txBox="1"/>
          <p:nvPr/>
        </p:nvSpPr>
        <p:spPr>
          <a:xfrm>
            <a:off x="863600" y="2108200"/>
            <a:ext cx="4826000" cy="381000"/>
          </a:xfrm>
          <a:prstGeom prst="rect">
            <a:avLst/>
          </a:prstGeom>
          <a:noFill/>
        </p:spPr>
        <p:txBody>
          <a:bodyPr vert="horz" wrap="square" lIns="25400" rIns="25400" rtlCol="0">
            <a:spAutoFit/>
          </a:bodyPr>
          <a:lstStyle/>
          <a:p>
            <a:r>
              <a:rPr lang="en-US" sz="1900" b="1">
                <a:solidFill>
                  <a:srgbClr val="EAF0F7"/>
                </a:solidFill>
                <a:latin typeface="Calibri" panose="020F0502020204030204" pitchFamily="34" charset="0"/>
              </a:rPr>
              <a:t>ESUs end October 13, 2026</a:t>
            </a:r>
          </a:p>
        </p:txBody>
      </p:sp>
      <p:sp>
        <p:nvSpPr>
          <p:cNvPr id="11" name="TextBox 10">
            <a:extLst>
              <a:ext uri="{FF2B5EF4-FFF2-40B4-BE49-F238E27FC236}">
                <a16:creationId xmlns:a16="http://schemas.microsoft.com/office/drawing/2014/main" id="{6AD04E03-2DDF-D6F2-659D-C220C16F3D0C}"/>
              </a:ext>
            </a:extLst>
          </p:cNvPr>
          <p:cNvSpPr txBox="1"/>
          <p:nvPr/>
        </p:nvSpPr>
        <p:spPr>
          <a:xfrm>
            <a:off x="6502400" y="2108200"/>
            <a:ext cx="4826000" cy="381000"/>
          </a:xfrm>
          <a:prstGeom prst="rect">
            <a:avLst/>
          </a:prstGeom>
          <a:noFill/>
        </p:spPr>
        <p:txBody>
          <a:bodyPr vert="horz" wrap="square" lIns="25400" rIns="25400" rtlCol="0">
            <a:spAutoFit/>
          </a:bodyPr>
          <a:lstStyle/>
          <a:p>
            <a:r>
              <a:rPr lang="en-US" sz="1900" b="1">
                <a:solidFill>
                  <a:srgbClr val="EAF0F7"/>
                </a:solidFill>
                <a:latin typeface="Calibri" panose="020F0502020204030204" pitchFamily="34" charset="0"/>
              </a:rPr>
              <a:t>Extended support ends January 12, 2027</a:t>
            </a:r>
          </a:p>
        </p:txBody>
      </p:sp>
      <p:sp>
        <p:nvSpPr>
          <p:cNvPr id="12" name="TextBox 11">
            <a:extLst>
              <a:ext uri="{FF2B5EF4-FFF2-40B4-BE49-F238E27FC236}">
                <a16:creationId xmlns:a16="http://schemas.microsoft.com/office/drawing/2014/main" id="{E398CFB6-48B3-E615-A4F2-BB0D7310A599}"/>
              </a:ext>
            </a:extLst>
          </p:cNvPr>
          <p:cNvSpPr txBox="1"/>
          <p:nvPr/>
        </p:nvSpPr>
        <p:spPr>
          <a:xfrm>
            <a:off x="863600" y="2616200"/>
            <a:ext cx="4826000" cy="1338828"/>
          </a:xfrm>
          <a:prstGeom prst="rect">
            <a:avLst/>
          </a:prstGeom>
          <a:noFill/>
        </p:spPr>
        <p:txBody>
          <a:bodyPr vert="horz" wrap="square" lIns="25400" rIns="25400" rtlCol="0">
            <a:spAutoFit/>
          </a:bodyPr>
          <a:lstStyle/>
          <a:p>
            <a:r>
              <a:rPr lang="en-US" sz="1350">
                <a:solidFill>
                  <a:srgbClr val="EAF0F7"/>
                </a:solidFill>
                <a:latin typeface="Calibri" panose="020F0502020204030204" pitchFamily="34" charset="0"/>
              </a:rPr>
              <a:t>The final ESU year. Hypothetical 4-vCPU Standard VM, billed at the 8-core minimum:
8 × $0.00648 × 730 h ≈ $38 a month.
Enrolling late back-bills to the start of the ESU term. After October 13 there are no more security updates: upgrade or migrate.</a:t>
            </a:r>
          </a:p>
        </p:txBody>
      </p:sp>
      <p:sp>
        <p:nvSpPr>
          <p:cNvPr id="13" name="TextBox 12">
            <a:extLst>
              <a:ext uri="{FF2B5EF4-FFF2-40B4-BE49-F238E27FC236}">
                <a16:creationId xmlns:a16="http://schemas.microsoft.com/office/drawing/2014/main" id="{221C0D16-60AE-068C-1402-53EC73663DED}"/>
              </a:ext>
            </a:extLst>
          </p:cNvPr>
          <p:cNvSpPr txBox="1"/>
          <p:nvPr/>
        </p:nvSpPr>
        <p:spPr>
          <a:xfrm>
            <a:off x="6502400" y="2616200"/>
            <a:ext cx="4826000" cy="1131079"/>
          </a:xfrm>
          <a:prstGeom prst="rect">
            <a:avLst/>
          </a:prstGeom>
          <a:noFill/>
        </p:spPr>
        <p:txBody>
          <a:bodyPr vert="horz" wrap="square" lIns="25400" rIns="25400" rtlCol="0">
            <a:spAutoFit/>
          </a:bodyPr>
          <a:lstStyle/>
          <a:p>
            <a:r>
              <a:rPr lang="en-US" sz="1350">
                <a:solidFill>
                  <a:srgbClr val="EAF0F7"/>
                </a:solidFill>
                <a:latin typeface="Calibri" panose="020F0502020204030204" pitchFamily="34" charset="0"/>
              </a:rPr>
              <a:t>ESUs through Arc can be set up now (since August 3, 2026); billing starts January 13, 2027. The same 8-core Standard VM:
8 × $0.007132 × 730 h ≈ $42 a month, for up to three years.
Stop paying when you upgrade.</a:t>
            </a:r>
          </a:p>
        </p:txBody>
      </p:sp>
      <p:sp>
        <p:nvSpPr>
          <p:cNvPr id="14" name="Rectangle: Rounded Corners 13">
            <a:extLst>
              <a:ext uri="{FF2B5EF4-FFF2-40B4-BE49-F238E27FC236}">
                <a16:creationId xmlns:a16="http://schemas.microsoft.com/office/drawing/2014/main" id="{FE6CB56B-5AAC-66ED-3C8B-74EF4E3E9982}"/>
              </a:ext>
            </a:extLst>
          </p:cNvPr>
          <p:cNvSpPr/>
          <p:nvPr/>
        </p:nvSpPr>
        <p:spPr>
          <a:xfrm>
            <a:off x="609600" y="4699000"/>
            <a:ext cx="5334000" cy="7620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ESU-enrolled servers get Update Manager at no extra charge
(otherwise $5 per Arc server per month)</a:t>
            </a:r>
          </a:p>
        </p:txBody>
      </p:sp>
      <p:sp>
        <p:nvSpPr>
          <p:cNvPr id="15" name="Rectangle: Rounded Corners 14">
            <a:extLst>
              <a:ext uri="{FF2B5EF4-FFF2-40B4-BE49-F238E27FC236}">
                <a16:creationId xmlns:a16="http://schemas.microsoft.com/office/drawing/2014/main" id="{C56141BD-B492-BAD7-2F71-44C351402747}"/>
              </a:ext>
            </a:extLst>
          </p:cNvPr>
          <p:cNvSpPr/>
          <p:nvPr/>
        </p:nvSpPr>
        <p:spPr>
          <a:xfrm>
            <a:off x="6248400" y="4699000"/>
            <a:ext cx="5334000" cy="762000"/>
          </a:xfrm>
          <a:prstGeom prst="roundRect">
            <a:avLst/>
          </a:prstGeom>
          <a:solidFill>
            <a:srgbClr val="232E41"/>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Needs Software Assurance or an equivalent subscription
virtual cores (min 8 per VM) or physical cores (min 16)</a:t>
            </a:r>
          </a:p>
        </p:txBody>
      </p:sp>
      <p:sp>
        <p:nvSpPr>
          <p:cNvPr id="16" name="Rectangle 15">
            <a:extLst>
              <a:ext uri="{FF2B5EF4-FFF2-40B4-BE49-F238E27FC236}">
                <a16:creationId xmlns:a16="http://schemas.microsoft.com/office/drawing/2014/main" id="{EE2C1D5D-C672-B5B0-40FD-94387350E8E5}"/>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8419DD0-C379-62A4-005F-51AD6CCBE48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Illustrative US list prices, Azure Retail Prices API, September 26, 2026. ESUs are a bridge to an upgrade, not a destination.</a:t>
            </a:r>
          </a:p>
        </p:txBody>
      </p:sp>
    </p:spTree>
    <p:extLst>
      <p:ext uri="{BB962C8B-B14F-4D97-AF65-F5344CB8AC3E}">
        <p14:creationId xmlns:p14="http://schemas.microsoft.com/office/powerpoint/2010/main" val="13272882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2180BF-E182-F37C-AA6F-FAB452961D4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E1D0280-3CE7-70EF-E5A3-43862B66BED1}"/>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121F706-8EA2-39DD-95BB-DA6A642BDC27}"/>
              </a:ext>
            </a:extLst>
          </p:cNvPr>
          <p:cNvSpPr txBox="1"/>
          <p:nvPr/>
        </p:nvSpPr>
        <p:spPr>
          <a:xfrm>
            <a:off x="762000" y="355600"/>
            <a:ext cx="108966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DEMO: Update Manager across every estate: assess, schedule, patch, prove</a:t>
            </a:r>
          </a:p>
        </p:txBody>
      </p:sp>
      <p:sp>
        <p:nvSpPr>
          <p:cNvPr id="5" name="Rectangle 4">
            <a:extLst>
              <a:ext uri="{FF2B5EF4-FFF2-40B4-BE49-F238E27FC236}">
                <a16:creationId xmlns:a16="http://schemas.microsoft.com/office/drawing/2014/main" id="{F643674E-F32E-0C31-7445-D3E6B6836EFE}"/>
              </a:ext>
            </a:extLst>
          </p:cNvPr>
          <p:cNvSpPr/>
          <p:nvPr/>
        </p:nvSpPr>
        <p:spPr>
          <a:xfrm>
            <a:off x="558800" y="381000"/>
            <a:ext cx="63500" cy="6604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B24998E-1C4C-2908-F302-182ED375FD92}"/>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B21FAA9F-7D9E-8040-4710-EBC1239759B8}"/>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1BD809EC-6639-443B-0FD2-2D88C6AE16AE}"/>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EC6A1E83-E1BE-2C22-B9E1-172F7F5C7B6A}"/>
              </a:ext>
            </a:extLst>
          </p:cNvPr>
          <p:cNvSpPr txBox="1"/>
          <p:nvPr/>
        </p:nvSpPr>
        <p:spPr>
          <a:xfrm>
            <a:off x="1295400" y="2209800"/>
            <a:ext cx="4826000" cy="584775"/>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One view: pending updates for Azure, on-premises and AWS</a:t>
            </a:r>
          </a:p>
        </p:txBody>
      </p:sp>
      <p:sp>
        <p:nvSpPr>
          <p:cNvPr id="10" name="Rectangle: Rounded Corners 9">
            <a:extLst>
              <a:ext uri="{FF2B5EF4-FFF2-40B4-BE49-F238E27FC236}">
                <a16:creationId xmlns:a16="http://schemas.microsoft.com/office/drawing/2014/main" id="{E91C553C-6FFE-8547-AFBE-4B00E8A86BA8}"/>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79D68153-F70D-25FE-8196-6D4A05708BA1}"/>
              </a:ext>
            </a:extLst>
          </p:cNvPr>
          <p:cNvSpPr txBox="1"/>
          <p:nvPr/>
        </p:nvSpPr>
        <p:spPr>
          <a:xfrm>
            <a:off x="1295400" y="2971800"/>
            <a:ext cx="4826000" cy="584775"/>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How machines get picked: the ring0 schedule and tag scope</a:t>
            </a:r>
          </a:p>
        </p:txBody>
      </p:sp>
      <p:sp>
        <p:nvSpPr>
          <p:cNvPr id="12" name="Rectangle: Rounded Corners 11">
            <a:extLst>
              <a:ext uri="{FF2B5EF4-FFF2-40B4-BE49-F238E27FC236}">
                <a16:creationId xmlns:a16="http://schemas.microsoft.com/office/drawing/2014/main" id="{0E401311-B1CA-3ACD-2AB4-B78CE3EEA554}"/>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551318B9-40D3-D7D7-19D8-378E723075C8}"/>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Run it: patch one on-premises and one AWS canary</a:t>
            </a:r>
          </a:p>
        </p:txBody>
      </p:sp>
      <p:sp>
        <p:nvSpPr>
          <p:cNvPr id="14" name="Rectangle: Rounded Corners 13">
            <a:extLst>
              <a:ext uri="{FF2B5EF4-FFF2-40B4-BE49-F238E27FC236}">
                <a16:creationId xmlns:a16="http://schemas.microsoft.com/office/drawing/2014/main" id="{2CA72705-3083-6855-4A5F-C82C974BCDAF}"/>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BE3CD472-03EB-B4EA-D919-A6A044BB5AB4}"/>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Prove it: history, fresh assessment, a fresh IIC order</a:t>
            </a:r>
          </a:p>
        </p:txBody>
      </p:sp>
      <p:sp>
        <p:nvSpPr>
          <p:cNvPr id="16" name="Rectangle: Rounded Corners 15">
            <a:extLst>
              <a:ext uri="{FF2B5EF4-FFF2-40B4-BE49-F238E27FC236}">
                <a16:creationId xmlns:a16="http://schemas.microsoft.com/office/drawing/2014/main" id="{7012E455-26CB-574B-2D68-9511883FB4C5}"/>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F52507A-898C-46BC-FBD3-14D37234BFF7}"/>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One view across every estate
One schedule, machines picked by tag
Run result, fresh assessment, a working order</a:t>
            </a:r>
          </a:p>
        </p:txBody>
      </p:sp>
      <p:sp>
        <p:nvSpPr>
          <p:cNvPr id="18" name="Rectangle 17">
            <a:extLst>
              <a:ext uri="{FF2B5EF4-FFF2-40B4-BE49-F238E27FC236}">
                <a16:creationId xmlns:a16="http://schemas.microsoft.com/office/drawing/2014/main" id="{763432BD-C030-AA69-F68F-2B3D4EC6170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832C139-9B82-5DCE-097A-58952F45564B}"/>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 patch run proves the run; fresh compliance and a working service prove the outcome.</a:t>
            </a:r>
          </a:p>
        </p:txBody>
      </p:sp>
      <p:sp>
        <p:nvSpPr>
          <p:cNvPr id="20" name="DemoMarkerBar">
            <a:extLst>
              <a:ext uri="{FF2B5EF4-FFF2-40B4-BE49-F238E27FC236}">
                <a16:creationId xmlns:a16="http://schemas.microsoft.com/office/drawing/2014/main" id="{774E55B8-1467-F88C-6FB5-567740903B62}"/>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FD74FB4D-DB98-861C-6E9E-ACBD9058FF34}"/>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33982231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301016-2321-2B2E-B4FA-F3DF3EC60FC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DE86348-DB5B-09C2-3B78-2CF9B0693CA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61E9A2B-EEF6-EA84-8010-4F2A337FC85F}"/>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Keep the Kubernetes cluster the way Git says (GitOps with Flux)</a:t>
            </a:r>
          </a:p>
        </p:txBody>
      </p:sp>
      <p:sp>
        <p:nvSpPr>
          <p:cNvPr id="5" name="Rectangle 4">
            <a:extLst>
              <a:ext uri="{FF2B5EF4-FFF2-40B4-BE49-F238E27FC236}">
                <a16:creationId xmlns:a16="http://schemas.microsoft.com/office/drawing/2014/main" id="{F70643C1-1446-6AB5-3F68-CFCD07924733}"/>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656F82A-0756-5213-0B61-5C7A9FF6E71C}"/>
              </a:ext>
            </a:extLst>
          </p:cNvPr>
          <p:cNvSpPr txBox="1"/>
          <p:nvPr/>
        </p:nvSpPr>
        <p:spPr>
          <a:xfrm>
            <a:off x="609600" y="17272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WHAT IT IS</a:t>
            </a:r>
          </a:p>
        </p:txBody>
      </p:sp>
      <p:sp>
        <p:nvSpPr>
          <p:cNvPr id="7" name="TextBox 6">
            <a:extLst>
              <a:ext uri="{FF2B5EF4-FFF2-40B4-BE49-F238E27FC236}">
                <a16:creationId xmlns:a16="http://schemas.microsoft.com/office/drawing/2014/main" id="{44853F3E-6C66-CFBC-2BC8-EA98CC9FB8A3}"/>
              </a:ext>
            </a:extLst>
          </p:cNvPr>
          <p:cNvSpPr txBox="1"/>
          <p:nvPr/>
        </p:nvSpPr>
        <p:spPr>
          <a:xfrm>
            <a:off x="609600" y="2108200"/>
            <a:ext cx="5207000" cy="230832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  You write how the cluster should look in a Git repository.
•  Arc puts Flux on the EKS cluster we onboarded earlier.
•  Flux keeps the cluster matching Git, and fixes drift on its own.
•  It is the Kubernetes version of "does it stay the way we agreed?"</a:t>
            </a:r>
          </a:p>
        </p:txBody>
      </p:sp>
      <p:sp>
        <p:nvSpPr>
          <p:cNvPr id="8" name="Rectangle: Rounded Corners 7">
            <a:extLst>
              <a:ext uri="{FF2B5EF4-FFF2-40B4-BE49-F238E27FC236}">
                <a16:creationId xmlns:a16="http://schemas.microsoft.com/office/drawing/2014/main" id="{4824E75B-6F59-F324-57A0-E7B6489A36D0}"/>
              </a:ext>
            </a:extLst>
          </p:cNvPr>
          <p:cNvSpPr/>
          <p:nvPr/>
        </p:nvSpPr>
        <p:spPr>
          <a:xfrm>
            <a:off x="6858000" y="1778000"/>
            <a:ext cx="4064000" cy="8890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EAF0F7"/>
                </a:solidFill>
                <a:latin typeface="Calibri" panose="020F0502020204030204" pitchFamily="34" charset="0"/>
              </a:rPr>
              <a:t>Git repository
the desired state</a:t>
            </a:r>
          </a:p>
        </p:txBody>
      </p:sp>
      <p:cxnSp>
        <p:nvCxnSpPr>
          <p:cNvPr id="9" name="Straight Arrow Connector 8">
            <a:extLst>
              <a:ext uri="{FF2B5EF4-FFF2-40B4-BE49-F238E27FC236}">
                <a16:creationId xmlns:a16="http://schemas.microsoft.com/office/drawing/2014/main" id="{EC4E3D96-0F75-45B2-552E-1FF9279A525F}"/>
              </a:ext>
            </a:extLst>
          </p:cNvPr>
          <p:cNvCxnSpPr/>
          <p:nvPr/>
        </p:nvCxnSpPr>
        <p:spPr>
          <a:xfrm>
            <a:off x="8890000" y="2667000"/>
            <a:ext cx="0" cy="584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4E35FC2-7662-D792-3916-432A1D36A333}"/>
              </a:ext>
            </a:extLst>
          </p:cNvPr>
          <p:cNvSpPr txBox="1"/>
          <p:nvPr/>
        </p:nvSpPr>
        <p:spPr>
          <a:xfrm>
            <a:off x="8991600" y="2794000"/>
            <a:ext cx="9144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Flux pulls</a:t>
            </a:r>
          </a:p>
        </p:txBody>
      </p:sp>
      <p:sp>
        <p:nvSpPr>
          <p:cNvPr id="11" name="Rectangle: Rounded Corners 10">
            <a:extLst>
              <a:ext uri="{FF2B5EF4-FFF2-40B4-BE49-F238E27FC236}">
                <a16:creationId xmlns:a16="http://schemas.microsoft.com/office/drawing/2014/main" id="{85FA306A-F708-33FD-1FC9-A6FDF82BC29B}"/>
              </a:ext>
            </a:extLst>
          </p:cNvPr>
          <p:cNvSpPr/>
          <p:nvPr/>
        </p:nvSpPr>
        <p:spPr>
          <a:xfrm>
            <a:off x="6858000" y="3251200"/>
            <a:ext cx="4064000" cy="8890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6FB8F0EB-DD0D-4D06-F376-FCC77C99695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813800" y="3289300"/>
            <a:ext cx="152400" cy="152400"/>
          </a:xfrm>
          <a:prstGeom prst="rect">
            <a:avLst/>
          </a:prstGeom>
        </p:spPr>
      </p:pic>
      <p:sp>
        <p:nvSpPr>
          <p:cNvPr id="14" name="TextBox 13">
            <a:extLst>
              <a:ext uri="{FF2B5EF4-FFF2-40B4-BE49-F238E27FC236}">
                <a16:creationId xmlns:a16="http://schemas.microsoft.com/office/drawing/2014/main" id="{10D4F00D-7490-2BB5-74D5-35D433376FF4}"/>
              </a:ext>
            </a:extLst>
          </p:cNvPr>
          <p:cNvSpPr txBox="1"/>
          <p:nvPr/>
        </p:nvSpPr>
        <p:spPr>
          <a:xfrm>
            <a:off x="6959600" y="3454400"/>
            <a:ext cx="3860800" cy="660400"/>
          </a:xfrm>
          <a:prstGeom prst="rect">
            <a:avLst/>
          </a:prstGeom>
          <a:noFill/>
        </p:spPr>
        <p:txBody>
          <a:bodyPr vert="horz" wrap="square" lIns="25400" tIns="0" rIns="25400" bIns="0" rtlCol="0" anchor="ctr">
            <a:noAutofit/>
          </a:bodyPr>
          <a:lstStyle/>
          <a:p>
            <a:pPr algn="ctr"/>
            <a:r>
              <a:rPr lang="en-US" sz="1400" b="1">
                <a:solidFill>
                  <a:srgbClr val="EAF0F7"/>
                </a:solidFill>
                <a:latin typeface="Calibri" panose="020F0502020204030204" pitchFamily="34" charset="0"/>
              </a:rPr>
              <a:t>Flux on the EKS cluster</a:t>
            </a:r>
          </a:p>
        </p:txBody>
      </p:sp>
      <p:cxnSp>
        <p:nvCxnSpPr>
          <p:cNvPr id="15" name="Straight Arrow Connector 14">
            <a:extLst>
              <a:ext uri="{FF2B5EF4-FFF2-40B4-BE49-F238E27FC236}">
                <a16:creationId xmlns:a16="http://schemas.microsoft.com/office/drawing/2014/main" id="{12C05D2E-745F-D1DC-13C8-80C1273999BE}"/>
              </a:ext>
            </a:extLst>
          </p:cNvPr>
          <p:cNvCxnSpPr/>
          <p:nvPr/>
        </p:nvCxnSpPr>
        <p:spPr>
          <a:xfrm>
            <a:off x="8890000" y="4140200"/>
            <a:ext cx="0" cy="584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283763E-DAD3-7F0F-0458-3E4227EE519C}"/>
              </a:ext>
            </a:extLst>
          </p:cNvPr>
          <p:cNvSpPr txBox="1"/>
          <p:nvPr/>
        </p:nvSpPr>
        <p:spPr>
          <a:xfrm>
            <a:off x="8991600" y="4267200"/>
            <a:ext cx="14478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keeps it matching</a:t>
            </a:r>
          </a:p>
        </p:txBody>
      </p:sp>
      <p:sp>
        <p:nvSpPr>
          <p:cNvPr id="17" name="Rectangle: Rounded Corners 16">
            <a:extLst>
              <a:ext uri="{FF2B5EF4-FFF2-40B4-BE49-F238E27FC236}">
                <a16:creationId xmlns:a16="http://schemas.microsoft.com/office/drawing/2014/main" id="{EA0BB534-8A2F-9F8D-B7E4-236423586A51}"/>
              </a:ext>
            </a:extLst>
          </p:cNvPr>
          <p:cNvSpPr/>
          <p:nvPr/>
        </p:nvSpPr>
        <p:spPr>
          <a:xfrm>
            <a:off x="6858000" y="4724400"/>
            <a:ext cx="40640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EAF0F7"/>
                </a:solidFill>
                <a:latin typeface="Calibri" panose="020F0502020204030204" pitchFamily="34" charset="0"/>
              </a:rPr>
              <a:t>The cluster matches Git</a:t>
            </a:r>
          </a:p>
        </p:txBody>
      </p:sp>
      <p:sp>
        <p:nvSpPr>
          <p:cNvPr id="18" name="TextBox 17">
            <a:extLst>
              <a:ext uri="{FF2B5EF4-FFF2-40B4-BE49-F238E27FC236}">
                <a16:creationId xmlns:a16="http://schemas.microsoft.com/office/drawing/2014/main" id="{ED7E0433-FA73-DBDB-A9F0-6934BE190632}"/>
              </a:ext>
            </a:extLst>
          </p:cNvPr>
          <p:cNvSpPr txBox="1"/>
          <p:nvPr/>
        </p:nvSpPr>
        <p:spPr>
          <a:xfrm>
            <a:off x="6858000" y="5486400"/>
            <a:ext cx="4064000" cy="276999"/>
          </a:xfrm>
          <a:prstGeom prst="rect">
            <a:avLst/>
          </a:prstGeom>
          <a:noFill/>
        </p:spPr>
        <p:txBody>
          <a:bodyPr vert="horz" wrap="square" lIns="25400" rIns="25400" rtlCol="0">
            <a:spAutoFit/>
          </a:bodyPr>
          <a:lstStyle/>
          <a:p>
            <a:r>
              <a:rPr lang="en-US" sz="1200">
                <a:solidFill>
                  <a:srgbClr val="A3B2C4"/>
                </a:solidFill>
                <a:latin typeface="Calibri" panose="020F0502020204030204" pitchFamily="34" charset="0"/>
              </a:rPr>
              <a:t>Azure shows whether it matches.</a:t>
            </a:r>
          </a:p>
        </p:txBody>
      </p:sp>
      <p:sp>
        <p:nvSpPr>
          <p:cNvPr id="19" name="Rectangle 18">
            <a:extLst>
              <a:ext uri="{FF2B5EF4-FFF2-40B4-BE49-F238E27FC236}">
                <a16:creationId xmlns:a16="http://schemas.microsoft.com/office/drawing/2014/main" id="{BDC80217-EB6A-F147-A25A-74EB2D47118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26DD932-0F98-5020-0610-F253C1176DC5}"/>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AWS still owns the EKS cluster; Arc and Flux govern what runs on it.</a:t>
            </a:r>
          </a:p>
        </p:txBody>
      </p:sp>
    </p:spTree>
    <p:extLst>
      <p:ext uri="{BB962C8B-B14F-4D97-AF65-F5344CB8AC3E}">
        <p14:creationId xmlns:p14="http://schemas.microsoft.com/office/powerpoint/2010/main" val="36016016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6F0BAB-0A56-E40F-DCBC-0F338C9168C6}"/>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E769521-9F59-826B-0435-DEDC5A43E1D3}"/>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8E2240-BD15-438E-15C5-ECB22F869891}"/>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manage the already-onboarded EKS cluster with Flux</a:t>
            </a:r>
          </a:p>
        </p:txBody>
      </p:sp>
      <p:sp>
        <p:nvSpPr>
          <p:cNvPr id="5" name="Rectangle 4">
            <a:extLst>
              <a:ext uri="{FF2B5EF4-FFF2-40B4-BE49-F238E27FC236}">
                <a16:creationId xmlns:a16="http://schemas.microsoft.com/office/drawing/2014/main" id="{1FD36227-C313-C91E-1354-F55428C025E5}"/>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7239AEB-6C87-1785-978E-BB52F8D5E3FC}"/>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Question: what becomes manageable once Flux is reconciling it?</a:t>
            </a:r>
          </a:p>
        </p:txBody>
      </p:sp>
      <p:sp>
        <p:nvSpPr>
          <p:cNvPr id="7" name="Rectangle: Rounded Corners 6">
            <a:extLst>
              <a:ext uri="{FF2B5EF4-FFF2-40B4-BE49-F238E27FC236}">
                <a16:creationId xmlns:a16="http://schemas.microsoft.com/office/drawing/2014/main" id="{4EBDF3D5-C21F-E286-72AD-20EF8C90246E}"/>
              </a:ext>
            </a:extLst>
          </p:cNvPr>
          <p:cNvSpPr/>
          <p:nvPr/>
        </p:nvSpPr>
        <p:spPr>
          <a:xfrm>
            <a:off x="609600" y="1943100"/>
            <a:ext cx="2286000" cy="9144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EKS identity
cluster ARN + supported version</a:t>
            </a:r>
          </a:p>
        </p:txBody>
      </p:sp>
      <p:sp>
        <p:nvSpPr>
          <p:cNvPr id="8" name="Rectangle: Rounded Corners 7">
            <a:extLst>
              <a:ext uri="{FF2B5EF4-FFF2-40B4-BE49-F238E27FC236}">
                <a16:creationId xmlns:a16="http://schemas.microsoft.com/office/drawing/2014/main" id="{DE3DC3DF-4658-A4B2-F7A0-10E38E2601B9}"/>
              </a:ext>
            </a:extLst>
          </p:cNvPr>
          <p:cNvSpPr/>
          <p:nvPr/>
        </p:nvSpPr>
        <p:spPr>
          <a:xfrm>
            <a:off x="3505200" y="1943100"/>
            <a:ext cx="2286000" cy="9144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476DE3D-3954-B628-B691-F4C8497DC62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572000" y="1981200"/>
            <a:ext cx="152400" cy="152400"/>
          </a:xfrm>
          <a:prstGeom prst="rect">
            <a:avLst/>
          </a:prstGeom>
        </p:spPr>
      </p:pic>
      <p:sp>
        <p:nvSpPr>
          <p:cNvPr id="11" name="TextBox 10">
            <a:extLst>
              <a:ext uri="{FF2B5EF4-FFF2-40B4-BE49-F238E27FC236}">
                <a16:creationId xmlns:a16="http://schemas.microsoft.com/office/drawing/2014/main" id="{955196BF-8351-7149-888A-9FC2D22CD6A0}"/>
              </a:ext>
            </a:extLst>
          </p:cNvPr>
          <p:cNvSpPr txBox="1"/>
          <p:nvPr/>
        </p:nvSpPr>
        <p:spPr>
          <a:xfrm>
            <a:off x="3606800" y="2146300"/>
            <a:ext cx="2082800" cy="685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Arc identity
connectedClusters resource + agents</a:t>
            </a:r>
          </a:p>
        </p:txBody>
      </p:sp>
      <p:sp>
        <p:nvSpPr>
          <p:cNvPr id="12" name="Rectangle: Rounded Corners 11">
            <a:extLst>
              <a:ext uri="{FF2B5EF4-FFF2-40B4-BE49-F238E27FC236}">
                <a16:creationId xmlns:a16="http://schemas.microsoft.com/office/drawing/2014/main" id="{01179EDD-BF3E-D627-F08E-3D3CD5658157}"/>
              </a:ext>
            </a:extLst>
          </p:cNvPr>
          <p:cNvSpPr/>
          <p:nvPr/>
        </p:nvSpPr>
        <p:spPr>
          <a:xfrm>
            <a:off x="6400800" y="1943100"/>
            <a:ext cx="2286000" cy="914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fr-FR" sz="1250" b="1">
                <a:solidFill>
                  <a:srgbClr val="EAF0F7"/>
                </a:solidFill>
                <a:latin typeface="Calibri" panose="020F0502020204030204" pitchFamily="34" charset="0"/>
              </a:rPr>
              <a:t>Flux status
source revision + compliance</a:t>
            </a:r>
            <a:endParaRPr lang="en-US" sz="1250" b="1">
              <a:solidFill>
                <a:srgbClr val="EAF0F7"/>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C1E068D8-0263-2B6E-AC53-D5FD7E46FA86}"/>
              </a:ext>
            </a:extLst>
          </p:cNvPr>
          <p:cNvSpPr/>
          <p:nvPr/>
        </p:nvSpPr>
        <p:spPr>
          <a:xfrm>
            <a:off x="9296400" y="1943100"/>
            <a:ext cx="2286000" cy="914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8F348485-BC7A-8DE2-4E1C-513FAA4F163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0363200" y="1981200"/>
            <a:ext cx="152400" cy="152400"/>
          </a:xfrm>
          <a:prstGeom prst="rect">
            <a:avLst/>
          </a:prstGeom>
        </p:spPr>
      </p:pic>
      <p:sp>
        <p:nvSpPr>
          <p:cNvPr id="16" name="TextBox 15">
            <a:extLst>
              <a:ext uri="{FF2B5EF4-FFF2-40B4-BE49-F238E27FC236}">
                <a16:creationId xmlns:a16="http://schemas.microsoft.com/office/drawing/2014/main" id="{1A991675-C84F-AECB-802C-5F7C713E8D82}"/>
              </a:ext>
            </a:extLst>
          </p:cNvPr>
          <p:cNvSpPr txBox="1"/>
          <p:nvPr/>
        </p:nvSpPr>
        <p:spPr>
          <a:xfrm>
            <a:off x="9398000" y="2146300"/>
            <a:ext cx="2082800" cy="685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Kubernetes object
cas26-demo ConfigMap</a:t>
            </a:r>
          </a:p>
        </p:txBody>
      </p:sp>
      <p:cxnSp>
        <p:nvCxnSpPr>
          <p:cNvPr id="17" name="Straight Arrow Connector 16">
            <a:extLst>
              <a:ext uri="{FF2B5EF4-FFF2-40B4-BE49-F238E27FC236}">
                <a16:creationId xmlns:a16="http://schemas.microsoft.com/office/drawing/2014/main" id="{1297B1DB-89F3-6BA7-3C0A-4CB9EA98909B}"/>
              </a:ext>
            </a:extLst>
          </p:cNvPr>
          <p:cNvCxnSpPr/>
          <p:nvPr/>
        </p:nvCxnSpPr>
        <p:spPr>
          <a:xfrm>
            <a:off x="2895600" y="2400300"/>
            <a:ext cx="6096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D078C5B3-8B7A-3BF3-2717-C707C4F7538E}"/>
              </a:ext>
            </a:extLst>
          </p:cNvPr>
          <p:cNvSpPr txBox="1"/>
          <p:nvPr/>
        </p:nvSpPr>
        <p:spPr>
          <a:xfrm>
            <a:off x="2933700" y="1968500"/>
            <a:ext cx="5334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match</a:t>
            </a:r>
          </a:p>
        </p:txBody>
      </p:sp>
      <p:cxnSp>
        <p:nvCxnSpPr>
          <p:cNvPr id="19" name="Straight Arrow Connector 18">
            <a:extLst>
              <a:ext uri="{FF2B5EF4-FFF2-40B4-BE49-F238E27FC236}">
                <a16:creationId xmlns:a16="http://schemas.microsoft.com/office/drawing/2014/main" id="{FE71BCF6-23DD-CAEF-4EEB-BD7115C313F0}"/>
              </a:ext>
            </a:extLst>
          </p:cNvPr>
          <p:cNvCxnSpPr/>
          <p:nvPr/>
        </p:nvCxnSpPr>
        <p:spPr>
          <a:xfrm>
            <a:off x="5791200" y="2400300"/>
            <a:ext cx="6096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64DCB1A-5E3A-4D58-02ED-2409229D7B11}"/>
              </a:ext>
            </a:extLst>
          </p:cNvPr>
          <p:cNvSpPr txBox="1"/>
          <p:nvPr/>
        </p:nvSpPr>
        <p:spPr>
          <a:xfrm>
            <a:off x="5753100" y="1968500"/>
            <a:ext cx="685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inspect</a:t>
            </a:r>
          </a:p>
        </p:txBody>
      </p:sp>
      <p:cxnSp>
        <p:nvCxnSpPr>
          <p:cNvPr id="21" name="Straight Arrow Connector 20">
            <a:extLst>
              <a:ext uri="{FF2B5EF4-FFF2-40B4-BE49-F238E27FC236}">
                <a16:creationId xmlns:a16="http://schemas.microsoft.com/office/drawing/2014/main" id="{3EDFEC9B-49E9-086A-91DC-06D0AAFCC46F}"/>
              </a:ext>
            </a:extLst>
          </p:cNvPr>
          <p:cNvCxnSpPr/>
          <p:nvPr/>
        </p:nvCxnSpPr>
        <p:spPr>
          <a:xfrm>
            <a:off x="8686800" y="2400300"/>
            <a:ext cx="6096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9A119B06-F4B6-A83B-DBB1-219D2166EEFE}"/>
              </a:ext>
            </a:extLst>
          </p:cNvPr>
          <p:cNvSpPr txBox="1"/>
          <p:nvPr/>
        </p:nvSpPr>
        <p:spPr>
          <a:xfrm>
            <a:off x="8686800" y="1968500"/>
            <a:ext cx="609600" cy="261610"/>
          </a:xfrm>
          <a:prstGeom prst="rect">
            <a:avLst/>
          </a:prstGeom>
          <a:noFill/>
        </p:spPr>
        <p:txBody>
          <a:bodyPr vert="horz" wrap="square" lIns="25400" rIns="25400" rtlCol="0">
            <a:spAutoFit/>
          </a:bodyPr>
          <a:lstStyle/>
          <a:p>
            <a:pPr algn="ctr"/>
            <a:r>
              <a:rPr lang="en-US" sz="1100" b="1">
                <a:solidFill>
                  <a:srgbClr val="6ED28C"/>
                </a:solidFill>
                <a:latin typeface="Calibri" panose="020F0502020204030204" pitchFamily="34" charset="0"/>
              </a:rPr>
              <a:t>verify</a:t>
            </a:r>
          </a:p>
        </p:txBody>
      </p:sp>
      <p:sp>
        <p:nvSpPr>
          <p:cNvPr id="23" name="Rectangle: Rounded Corners 22">
            <a:extLst>
              <a:ext uri="{FF2B5EF4-FFF2-40B4-BE49-F238E27FC236}">
                <a16:creationId xmlns:a16="http://schemas.microsoft.com/office/drawing/2014/main" id="{A3D78EA2-AD50-F165-AEED-DF617F8ABD51}"/>
              </a:ext>
            </a:extLst>
          </p:cNvPr>
          <p:cNvSpPr/>
          <p:nvPr/>
        </p:nvSpPr>
        <p:spPr>
          <a:xfrm>
            <a:off x="1498600" y="4013200"/>
            <a:ext cx="9194800" cy="10668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RESET BOUNDARY
Retain the CAS26 Flux configuration between sessions. A separately approved reset removes only that configuration and its demo namespace; the EKS cluster, Arc agents and Flux extension are never touched.</a:t>
            </a:r>
          </a:p>
        </p:txBody>
      </p:sp>
      <p:sp>
        <p:nvSpPr>
          <p:cNvPr id="24" name="TextBox 23">
            <a:extLst>
              <a:ext uri="{FF2B5EF4-FFF2-40B4-BE49-F238E27FC236}">
                <a16:creationId xmlns:a16="http://schemas.microsoft.com/office/drawing/2014/main" id="{2857B352-E781-9BA4-CBA9-22250E135869}"/>
              </a:ext>
            </a:extLst>
          </p:cNvPr>
          <p:cNvSpPr txBox="1"/>
          <p:nvPr/>
        </p:nvSpPr>
        <p:spPr>
          <a:xfrm>
            <a:off x="1549400" y="5829300"/>
            <a:ext cx="9093200" cy="276999"/>
          </a:xfrm>
          <a:prstGeom prst="rect">
            <a:avLst/>
          </a:prstGeom>
          <a:noFill/>
        </p:spPr>
        <p:txBody>
          <a:bodyPr vert="horz" wrap="square" lIns="25400" rIns="25400" rtlCol="0">
            <a:spAutoFit/>
          </a:bodyPr>
          <a:lstStyle/>
          <a:p>
            <a:pPr algn="ctr"/>
            <a:r>
              <a:rPr lang="en-US" sz="1200">
                <a:solidFill>
                  <a:srgbClr val="A3B2C4"/>
                </a:solidFill>
                <a:latin typeface="Calibri" panose="020F0502020204030204" pitchFamily="34" charset="0"/>
              </a:rPr>
              <a:t>Verify current reconciliation and the matching object.</a:t>
            </a:r>
          </a:p>
        </p:txBody>
      </p:sp>
      <p:sp>
        <p:nvSpPr>
          <p:cNvPr id="25" name="DemoMarkerBar">
            <a:extLst>
              <a:ext uri="{FF2B5EF4-FFF2-40B4-BE49-F238E27FC236}">
                <a16:creationId xmlns:a16="http://schemas.microsoft.com/office/drawing/2014/main" id="{DAF2F872-AFAA-E17D-AD40-52D06C52A56C}"/>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emoMarkerText">
            <a:extLst>
              <a:ext uri="{FF2B5EF4-FFF2-40B4-BE49-F238E27FC236}">
                <a16:creationId xmlns:a16="http://schemas.microsoft.com/office/drawing/2014/main" id="{D7A98F54-1509-9D1B-F739-62639C19D11C}"/>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4649122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170DB2-F68F-8D4B-432A-C0459CEC547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C23826D-4781-096F-FEF4-F824CF35836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74993AB-A794-F064-E459-2723C7A8479F}"/>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4 · Cost: what does it cost, and how do we keep it in check?</a:t>
            </a:r>
          </a:p>
        </p:txBody>
      </p:sp>
      <p:sp>
        <p:nvSpPr>
          <p:cNvPr id="5" name="Rectangle 4">
            <a:extLst>
              <a:ext uri="{FF2B5EF4-FFF2-40B4-BE49-F238E27FC236}">
                <a16:creationId xmlns:a16="http://schemas.microsoft.com/office/drawing/2014/main" id="{3E081148-46A9-DF0F-FD9C-291E7FAB9208}"/>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23E9D38-E400-E257-893D-668186895F0B}"/>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084F744E-4416-F893-9D88-E5849BA97F0C}"/>
              </a:ext>
            </a:extLst>
          </p:cNvPr>
          <p:cNvSpPr txBox="1"/>
          <p:nvPr/>
        </p:nvSpPr>
        <p:spPr>
          <a:xfrm>
            <a:off x="762000" y="218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What Arc costs: free, paid, and free if you already own it</a:t>
            </a:r>
          </a:p>
        </p:txBody>
      </p:sp>
      <p:sp>
        <p:nvSpPr>
          <p:cNvPr id="8" name="TextBox 7">
            <a:extLst>
              <a:ext uri="{FF2B5EF4-FFF2-40B4-BE49-F238E27FC236}">
                <a16:creationId xmlns:a16="http://schemas.microsoft.com/office/drawing/2014/main" id="{CACC16DB-BABC-41CA-C0A2-9F153B65B7FF}"/>
              </a:ext>
            </a:extLst>
          </p:cNvPr>
          <p:cNvSpPr txBox="1"/>
          <p:nvPr/>
        </p:nvSpPr>
        <p:spPr>
          <a:xfrm>
            <a:off x="762000" y="281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See it and control it: Cost Management, tags, budgets and five levers</a:t>
            </a:r>
          </a:p>
        </p:txBody>
      </p:sp>
      <p:sp>
        <p:nvSpPr>
          <p:cNvPr id="9" name="TextBox 8">
            <a:extLst>
              <a:ext uri="{FF2B5EF4-FFF2-40B4-BE49-F238E27FC236}">
                <a16:creationId xmlns:a16="http://schemas.microsoft.com/office/drawing/2014/main" id="{163F7877-2744-B6C1-A772-10216F69262C}"/>
              </a:ext>
            </a:extLst>
          </p:cNvPr>
          <p:cNvSpPr txBox="1"/>
          <p:nvPr/>
        </p:nvSpPr>
        <p:spPr>
          <a:xfrm>
            <a:off x="762000" y="345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Log transformations: filter data before you pay to store it</a:t>
            </a:r>
          </a:p>
        </p:txBody>
      </p:sp>
      <p:sp>
        <p:nvSpPr>
          <p:cNvPr id="10" name="TextBox 9">
            <a:extLst>
              <a:ext uri="{FF2B5EF4-FFF2-40B4-BE49-F238E27FC236}">
                <a16:creationId xmlns:a16="http://schemas.microsoft.com/office/drawing/2014/main" id="{ED94EC56-34F8-BAEB-23CA-535C67957D89}"/>
              </a:ext>
            </a:extLst>
          </p:cNvPr>
          <p:cNvSpPr txBox="1"/>
          <p:nvPr/>
        </p:nvSpPr>
        <p:spPr>
          <a:xfrm>
            <a:off x="762000" y="408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The full cost of a hybrid service</a:t>
            </a:r>
          </a:p>
        </p:txBody>
      </p:sp>
      <p:sp>
        <p:nvSpPr>
          <p:cNvPr id="11" name="Rectangle: Rounded Corners 10">
            <a:extLst>
              <a:ext uri="{FF2B5EF4-FFF2-40B4-BE49-F238E27FC236}">
                <a16:creationId xmlns:a16="http://schemas.microsoft.com/office/drawing/2014/main" id="{68753E05-5794-4D44-ECA0-86353F66BA91}"/>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2" name="Rectangle: Rounded Corners 11">
            <a:extLst>
              <a:ext uri="{FF2B5EF4-FFF2-40B4-BE49-F238E27FC236}">
                <a16:creationId xmlns:a16="http://schemas.microsoft.com/office/drawing/2014/main" id="{AB0D3A14-9F3C-3288-13EE-0EFF66F5B141}"/>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3" name="Rectangle: Rounded Corners 12">
            <a:extLst>
              <a:ext uri="{FF2B5EF4-FFF2-40B4-BE49-F238E27FC236}">
                <a16:creationId xmlns:a16="http://schemas.microsoft.com/office/drawing/2014/main" id="{805C96C1-AB3D-1485-E36B-C5E7B4CC84FF}"/>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4" name="Rectangle: Rounded Corners 13">
            <a:extLst>
              <a:ext uri="{FF2B5EF4-FFF2-40B4-BE49-F238E27FC236}">
                <a16:creationId xmlns:a16="http://schemas.microsoft.com/office/drawing/2014/main" id="{24F33944-0482-EEA8-9558-276BB58D5F8B}"/>
              </a:ext>
            </a:extLst>
          </p:cNvPr>
          <p:cNvSpPr/>
          <p:nvPr/>
        </p:nvSpPr>
        <p:spPr>
          <a:xfrm>
            <a:off x="73152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4 · Cost</a:t>
            </a:r>
          </a:p>
        </p:txBody>
      </p:sp>
      <p:sp>
        <p:nvSpPr>
          <p:cNvPr id="15" name="Rectangle: Rounded Corners 14">
            <a:extLst>
              <a:ext uri="{FF2B5EF4-FFF2-40B4-BE49-F238E27FC236}">
                <a16:creationId xmlns:a16="http://schemas.microsoft.com/office/drawing/2014/main" id="{7876FEC6-B9BD-9313-EE0F-5FB08E2260C2}"/>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Tree>
    <p:extLst>
      <p:ext uri="{BB962C8B-B14F-4D97-AF65-F5344CB8AC3E}">
        <p14:creationId xmlns:p14="http://schemas.microsoft.com/office/powerpoint/2010/main" val="1635991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DF4A19-8BF2-6996-F014-47BD1517BB6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CABC47E-24E0-9183-E07E-78DB182C372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F754440-EA70-33F7-E5AC-9DC86A4052D1}"/>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What Arc costs: free, paid, and free if you already own it</a:t>
            </a:r>
          </a:p>
        </p:txBody>
      </p:sp>
      <p:sp>
        <p:nvSpPr>
          <p:cNvPr id="5" name="Rectangle 4">
            <a:extLst>
              <a:ext uri="{FF2B5EF4-FFF2-40B4-BE49-F238E27FC236}">
                <a16:creationId xmlns:a16="http://schemas.microsoft.com/office/drawing/2014/main" id="{8A7604E1-C1A7-058A-3A84-4899F3063989}"/>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AA19DC3-6170-5B36-1F3A-F81B70F3CF97}"/>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Connecting to Arc is free. The services you turn on are not, unless you already own the licence.</a:t>
            </a:r>
          </a:p>
        </p:txBody>
      </p:sp>
      <p:sp>
        <p:nvSpPr>
          <p:cNvPr id="7" name="Rectangle: Rounded Corners 6">
            <a:extLst>
              <a:ext uri="{FF2B5EF4-FFF2-40B4-BE49-F238E27FC236}">
                <a16:creationId xmlns:a16="http://schemas.microsoft.com/office/drawing/2014/main" id="{0189806C-862F-399A-5B98-F84F7896DD76}"/>
              </a:ext>
            </a:extLst>
          </p:cNvPr>
          <p:cNvSpPr/>
          <p:nvPr/>
        </p:nvSpPr>
        <p:spPr>
          <a:xfrm>
            <a:off x="609600" y="1727200"/>
            <a:ext cx="3454400" cy="3962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CD518703-1230-4020-1DA8-2EE3DD23DF8B}"/>
              </a:ext>
            </a:extLst>
          </p:cNvPr>
          <p:cNvSpPr txBox="1"/>
          <p:nvPr/>
        </p:nvSpPr>
        <p:spPr>
          <a:xfrm>
            <a:off x="838200" y="1879600"/>
            <a:ext cx="3048000" cy="292388"/>
          </a:xfrm>
          <a:prstGeom prst="rect">
            <a:avLst/>
          </a:prstGeom>
          <a:noFill/>
        </p:spPr>
        <p:txBody>
          <a:bodyPr vert="horz" wrap="square" lIns="25400" rIns="25400" rtlCol="0">
            <a:spAutoFit/>
          </a:bodyPr>
          <a:lstStyle/>
          <a:p>
            <a:r>
              <a:rPr lang="en-US" sz="1300" b="1">
                <a:solidFill>
                  <a:srgbClr val="6ED28C"/>
                </a:solidFill>
                <a:latin typeface="Calibri" panose="020F0502020204030204" pitchFamily="34" charset="0"/>
              </a:rPr>
              <a:t>FREE</a:t>
            </a:r>
          </a:p>
        </p:txBody>
      </p:sp>
      <p:sp>
        <p:nvSpPr>
          <p:cNvPr id="9" name="TextBox 8">
            <a:extLst>
              <a:ext uri="{FF2B5EF4-FFF2-40B4-BE49-F238E27FC236}">
                <a16:creationId xmlns:a16="http://schemas.microsoft.com/office/drawing/2014/main" id="{D3A0A991-62B6-7536-BA76-842D201E0B4F}"/>
              </a:ext>
            </a:extLst>
          </p:cNvPr>
          <p:cNvSpPr txBox="1"/>
          <p:nvPr/>
        </p:nvSpPr>
        <p:spPr>
          <a:xfrm>
            <a:off x="838200" y="2286000"/>
            <a:ext cx="3048000" cy="692497"/>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  Arc itself: inventory, tags, RBAC, Resource Graph
•  SCVMM and VMware VM operations</a:t>
            </a:r>
          </a:p>
        </p:txBody>
      </p:sp>
      <p:sp>
        <p:nvSpPr>
          <p:cNvPr id="10" name="Rectangle: Rounded Corners 9">
            <a:extLst>
              <a:ext uri="{FF2B5EF4-FFF2-40B4-BE49-F238E27FC236}">
                <a16:creationId xmlns:a16="http://schemas.microsoft.com/office/drawing/2014/main" id="{A05E5332-E718-3A88-8EDB-C70DDCF5A1EA}"/>
              </a:ext>
            </a:extLst>
          </p:cNvPr>
          <p:cNvSpPr/>
          <p:nvPr/>
        </p:nvSpPr>
        <p:spPr>
          <a:xfrm>
            <a:off x="4368800" y="1727200"/>
            <a:ext cx="3454400" cy="39624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1" name="TextBox 10">
            <a:extLst>
              <a:ext uri="{FF2B5EF4-FFF2-40B4-BE49-F238E27FC236}">
                <a16:creationId xmlns:a16="http://schemas.microsoft.com/office/drawing/2014/main" id="{F9B403AB-2132-C4CA-1037-83A8FFD845ED}"/>
              </a:ext>
            </a:extLst>
          </p:cNvPr>
          <p:cNvSpPr txBox="1"/>
          <p:nvPr/>
        </p:nvSpPr>
        <p:spPr>
          <a:xfrm>
            <a:off x="4597400" y="1879600"/>
            <a:ext cx="3048000" cy="292388"/>
          </a:xfrm>
          <a:prstGeom prst="rect">
            <a:avLst/>
          </a:prstGeom>
          <a:noFill/>
        </p:spPr>
        <p:txBody>
          <a:bodyPr vert="horz" wrap="square" lIns="25400" rIns="25400" rtlCol="0">
            <a:spAutoFit/>
          </a:bodyPr>
          <a:lstStyle/>
          <a:p>
            <a:r>
              <a:rPr lang="en-US" sz="1300" b="1">
                <a:solidFill>
                  <a:srgbClr val="F09E5A"/>
                </a:solidFill>
                <a:latin typeface="Calibri" panose="020F0502020204030204" pitchFamily="34" charset="0"/>
              </a:rPr>
              <a:t>PAID PER USE</a:t>
            </a:r>
          </a:p>
        </p:txBody>
      </p:sp>
      <p:sp>
        <p:nvSpPr>
          <p:cNvPr id="12" name="TextBox 11">
            <a:extLst>
              <a:ext uri="{FF2B5EF4-FFF2-40B4-BE49-F238E27FC236}">
                <a16:creationId xmlns:a16="http://schemas.microsoft.com/office/drawing/2014/main" id="{41340AB2-68F5-D186-8E0E-5BD45E0424AE}"/>
              </a:ext>
            </a:extLst>
          </p:cNvPr>
          <p:cNvSpPr txBox="1"/>
          <p:nvPr/>
        </p:nvSpPr>
        <p:spPr>
          <a:xfrm>
            <a:off x="4597400" y="2286000"/>
            <a:ext cx="3048000" cy="1492716"/>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  Azure Monitor: data in and kept
•  Defender for Servers: per server
•  Sentinel: data
•  Update Manager: per Arc server per month
•  Machine configuration, change tracking
•  Extended Security Updates</a:t>
            </a:r>
          </a:p>
        </p:txBody>
      </p:sp>
      <p:sp>
        <p:nvSpPr>
          <p:cNvPr id="13" name="Rectangle: Rounded Corners 12">
            <a:extLst>
              <a:ext uri="{FF2B5EF4-FFF2-40B4-BE49-F238E27FC236}">
                <a16:creationId xmlns:a16="http://schemas.microsoft.com/office/drawing/2014/main" id="{F3B6C9A0-3D91-CC1D-A366-E26AA4D8EC1E}"/>
              </a:ext>
            </a:extLst>
          </p:cNvPr>
          <p:cNvSpPr/>
          <p:nvPr/>
        </p:nvSpPr>
        <p:spPr>
          <a:xfrm>
            <a:off x="8128000" y="1727200"/>
            <a:ext cx="3454400" cy="39624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4" name="TextBox 13">
            <a:extLst>
              <a:ext uri="{FF2B5EF4-FFF2-40B4-BE49-F238E27FC236}">
                <a16:creationId xmlns:a16="http://schemas.microsoft.com/office/drawing/2014/main" id="{F2FAE417-8E38-3D36-66DA-5BE86EE39473}"/>
              </a:ext>
            </a:extLst>
          </p:cNvPr>
          <p:cNvSpPr txBox="1"/>
          <p:nvPr/>
        </p:nvSpPr>
        <p:spPr>
          <a:xfrm>
            <a:off x="8356600" y="1879600"/>
            <a:ext cx="3048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FREE IF YOU ALREADY OWN IT</a:t>
            </a:r>
          </a:p>
        </p:txBody>
      </p:sp>
      <p:sp>
        <p:nvSpPr>
          <p:cNvPr id="15" name="TextBox 14">
            <a:extLst>
              <a:ext uri="{FF2B5EF4-FFF2-40B4-BE49-F238E27FC236}">
                <a16:creationId xmlns:a16="http://schemas.microsoft.com/office/drawing/2014/main" id="{F5E09D10-7BF7-8575-2B53-A5BC3BAF4148}"/>
              </a:ext>
            </a:extLst>
          </p:cNvPr>
          <p:cNvSpPr txBox="1"/>
          <p:nvPr/>
        </p:nvSpPr>
        <p:spPr>
          <a:xfrm>
            <a:off x="8356600" y="2286000"/>
            <a:ext cx="3048000" cy="1492716"/>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  Software Assurance or pay-as-you-go Windows Server: Update Manager, change tracking, machine configuration, Windows Admin Center
•  ESU-enrolled servers: Update Manager
•  Defender for Servers Plan 2: Update Manager</a:t>
            </a:r>
          </a:p>
        </p:txBody>
      </p:sp>
      <p:sp>
        <p:nvSpPr>
          <p:cNvPr id="16" name="Rectangle 15">
            <a:extLst>
              <a:ext uri="{FF2B5EF4-FFF2-40B4-BE49-F238E27FC236}">
                <a16:creationId xmlns:a16="http://schemas.microsoft.com/office/drawing/2014/main" id="{A894AF2A-8FDF-6682-6986-9870C2EFCB7B}"/>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32FCB80-269F-977E-1B1B-78D787A19BD2}"/>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Attest your Software Assurance: the discount does not apply until you do.</a:t>
            </a:r>
          </a:p>
        </p:txBody>
      </p:sp>
    </p:spTree>
    <p:extLst>
      <p:ext uri="{BB962C8B-B14F-4D97-AF65-F5344CB8AC3E}">
        <p14:creationId xmlns:p14="http://schemas.microsoft.com/office/powerpoint/2010/main" val="31193543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065FA8-48BA-90A7-B8D4-C63B8FA8373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5371EEB-4EBD-F5B0-6D6C-E0476A2E9E9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C89EF9A-0587-3C66-79A9-E92E6451852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See it and control it: the cost levers</a:t>
            </a:r>
          </a:p>
        </p:txBody>
      </p:sp>
      <p:sp>
        <p:nvSpPr>
          <p:cNvPr id="5" name="Rectangle 4">
            <a:extLst>
              <a:ext uri="{FF2B5EF4-FFF2-40B4-BE49-F238E27FC236}">
                <a16:creationId xmlns:a16="http://schemas.microsoft.com/office/drawing/2014/main" id="{79F85FF0-EC80-7394-46B6-82CA8D5B3FA0}"/>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44BF2B-2C07-50BD-7C9F-0BA4D2657A02}"/>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You cannot control what you cannot see. Tag first.</a:t>
            </a:r>
          </a:p>
        </p:txBody>
      </p:sp>
      <p:sp>
        <p:nvSpPr>
          <p:cNvPr id="7" name="Rectangle: Rounded Corners 6">
            <a:extLst>
              <a:ext uri="{FF2B5EF4-FFF2-40B4-BE49-F238E27FC236}">
                <a16:creationId xmlns:a16="http://schemas.microsoft.com/office/drawing/2014/main" id="{C52F5DF8-D2E1-6DEF-0CD0-BA1D298C7001}"/>
              </a:ext>
            </a:extLst>
          </p:cNvPr>
          <p:cNvSpPr/>
          <p:nvPr/>
        </p:nvSpPr>
        <p:spPr>
          <a:xfrm>
            <a:off x="609600" y="1727200"/>
            <a:ext cx="5334000" cy="3962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326099DD-38B5-4CD6-4D09-7A79F708AFD1}"/>
              </a:ext>
            </a:extLst>
          </p:cNvPr>
          <p:cNvSpPr txBox="1"/>
          <p:nvPr/>
        </p:nvSpPr>
        <p:spPr>
          <a:xfrm>
            <a:off x="863600" y="1879600"/>
            <a:ext cx="4826000" cy="292388"/>
          </a:xfrm>
          <a:prstGeom prst="rect">
            <a:avLst/>
          </a:prstGeom>
          <a:noFill/>
        </p:spPr>
        <p:txBody>
          <a:bodyPr vert="horz" wrap="square" lIns="25400" rIns="25400" rtlCol="0">
            <a:spAutoFit/>
          </a:bodyPr>
          <a:lstStyle/>
          <a:p>
            <a:r>
              <a:rPr lang="en-US" sz="1300" b="1">
                <a:solidFill>
                  <a:srgbClr val="6EA8F0"/>
                </a:solidFill>
                <a:latin typeface="Calibri" panose="020F0502020204030204" pitchFamily="34" charset="0"/>
              </a:rPr>
              <a:t>SEE IT</a:t>
            </a:r>
          </a:p>
        </p:txBody>
      </p:sp>
      <p:sp>
        <p:nvSpPr>
          <p:cNvPr id="9" name="TextBox 8">
            <a:extLst>
              <a:ext uri="{FF2B5EF4-FFF2-40B4-BE49-F238E27FC236}">
                <a16:creationId xmlns:a16="http://schemas.microsoft.com/office/drawing/2014/main" id="{F02EAE98-CA1B-2F08-7E44-0852D35C6818}"/>
              </a:ext>
            </a:extLst>
          </p:cNvPr>
          <p:cNvSpPr txBox="1"/>
          <p:nvPr/>
        </p:nvSpPr>
        <p:spPr>
          <a:xfrm>
            <a:off x="863600" y="2286000"/>
            <a:ext cx="4876800" cy="2031325"/>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  Microsoft Cost Management: one view of Microsoft cloud spend
•  Tags on every resource, enforced by Policy, so cost rolls up by service and owner
•  Budgets and anomaly alerts
•  AWS and on-premises bills from their own tools, joined by the same tags</a:t>
            </a:r>
          </a:p>
        </p:txBody>
      </p:sp>
      <p:sp>
        <p:nvSpPr>
          <p:cNvPr id="10" name="Rectangle: Rounded Corners 9">
            <a:extLst>
              <a:ext uri="{FF2B5EF4-FFF2-40B4-BE49-F238E27FC236}">
                <a16:creationId xmlns:a16="http://schemas.microsoft.com/office/drawing/2014/main" id="{61A148DD-F615-4FF8-2CA4-0C3ABCE6DEFD}"/>
              </a:ext>
            </a:extLst>
          </p:cNvPr>
          <p:cNvSpPr/>
          <p:nvPr/>
        </p:nvSpPr>
        <p:spPr>
          <a:xfrm>
            <a:off x="6248400" y="1727200"/>
            <a:ext cx="5334000" cy="3962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1" name="TextBox 10">
            <a:extLst>
              <a:ext uri="{FF2B5EF4-FFF2-40B4-BE49-F238E27FC236}">
                <a16:creationId xmlns:a16="http://schemas.microsoft.com/office/drawing/2014/main" id="{E3484A2C-4954-28AE-30B9-F1A630BFFB78}"/>
              </a:ext>
            </a:extLst>
          </p:cNvPr>
          <p:cNvSpPr txBox="1"/>
          <p:nvPr/>
        </p:nvSpPr>
        <p:spPr>
          <a:xfrm>
            <a:off x="6502400" y="1879600"/>
            <a:ext cx="4826000" cy="292388"/>
          </a:xfrm>
          <a:prstGeom prst="rect">
            <a:avLst/>
          </a:prstGeom>
          <a:noFill/>
        </p:spPr>
        <p:txBody>
          <a:bodyPr vert="horz" wrap="square" lIns="25400" rIns="25400" rtlCol="0">
            <a:spAutoFit/>
          </a:bodyPr>
          <a:lstStyle/>
          <a:p>
            <a:r>
              <a:rPr lang="en-US" sz="1300" b="1">
                <a:solidFill>
                  <a:srgbClr val="6ED28C"/>
                </a:solidFill>
                <a:latin typeface="Calibri" panose="020F0502020204030204" pitchFamily="34" charset="0"/>
              </a:rPr>
              <a:t>CONTROL IT: FIVE LEVERS</a:t>
            </a:r>
          </a:p>
        </p:txBody>
      </p:sp>
      <p:sp>
        <p:nvSpPr>
          <p:cNvPr id="12" name="TextBox 11">
            <a:extLst>
              <a:ext uri="{FF2B5EF4-FFF2-40B4-BE49-F238E27FC236}">
                <a16:creationId xmlns:a16="http://schemas.microsoft.com/office/drawing/2014/main" id="{D71ACD7F-5563-5965-E45A-FEFACA8D1B40}"/>
              </a:ext>
            </a:extLst>
          </p:cNvPr>
          <p:cNvSpPr txBox="1"/>
          <p:nvPr/>
        </p:nvSpPr>
        <p:spPr>
          <a:xfrm>
            <a:off x="6502400" y="2286000"/>
            <a:ext cx="4876800" cy="2462213"/>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1  Telemetry: collect only what answers a question
2  Licensing: Software Assurance, Azure Hybrid Benefit, pay-as-you-go
3  Commitments: reservations and savings plans for the Azure parts
4  Right-size and clean up: Azure Advisor
5  Guardrails: Policy requires tags and blocks expensive choices</a:t>
            </a:r>
          </a:p>
        </p:txBody>
      </p:sp>
      <p:sp>
        <p:nvSpPr>
          <p:cNvPr id="13" name="Rectangle 12">
            <a:extLst>
              <a:ext uri="{FF2B5EF4-FFF2-40B4-BE49-F238E27FC236}">
                <a16:creationId xmlns:a16="http://schemas.microsoft.com/office/drawing/2014/main" id="{8DC49C94-5D09-CF30-4800-5DD577AD819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16D2413-57E7-E7A5-6D9A-B2785521AD2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Telemetry is one lever of five. Next: pulling it, with log transformations.</a:t>
            </a:r>
          </a:p>
        </p:txBody>
      </p:sp>
    </p:spTree>
    <p:extLst>
      <p:ext uri="{BB962C8B-B14F-4D97-AF65-F5344CB8AC3E}">
        <p14:creationId xmlns:p14="http://schemas.microsoft.com/office/powerpoint/2010/main" val="5982433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9762FF-E2BB-385E-5840-4495E4BA4E6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66BB104-4C6E-BAA7-9D27-3743F7BF5D1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61F1A47-6CCF-22E1-482E-2F75A887DCE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Log transformations</a:t>
            </a:r>
          </a:p>
        </p:txBody>
      </p:sp>
      <p:sp>
        <p:nvSpPr>
          <p:cNvPr id="5" name="Rectangle 4">
            <a:extLst>
              <a:ext uri="{FF2B5EF4-FFF2-40B4-BE49-F238E27FC236}">
                <a16:creationId xmlns:a16="http://schemas.microsoft.com/office/drawing/2014/main" id="{DD213491-9C07-2079-289C-B7E3F26C5114}"/>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9DC6284-41B9-FBD5-8D8E-291AD2C014F2}"/>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Filter data in the DCR before you pay to store it.</a:t>
            </a:r>
          </a:p>
        </p:txBody>
      </p:sp>
      <p:sp>
        <p:nvSpPr>
          <p:cNvPr id="7" name="Rectangle: Rounded Corners 6">
            <a:extLst>
              <a:ext uri="{FF2B5EF4-FFF2-40B4-BE49-F238E27FC236}">
                <a16:creationId xmlns:a16="http://schemas.microsoft.com/office/drawing/2014/main" id="{ADC2B2AC-CC1A-7A8F-6567-AFD516B80A78}"/>
              </a:ext>
            </a:extLst>
          </p:cNvPr>
          <p:cNvSpPr/>
          <p:nvPr/>
        </p:nvSpPr>
        <p:spPr>
          <a:xfrm>
            <a:off x="609600" y="1727200"/>
            <a:ext cx="3810000" cy="5080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Server: events, Syslog, counters</a:t>
            </a:r>
          </a:p>
        </p:txBody>
      </p:sp>
      <p:cxnSp>
        <p:nvCxnSpPr>
          <p:cNvPr id="8" name="Straight Arrow Connector 7">
            <a:extLst>
              <a:ext uri="{FF2B5EF4-FFF2-40B4-BE49-F238E27FC236}">
                <a16:creationId xmlns:a16="http://schemas.microsoft.com/office/drawing/2014/main" id="{8C0AC663-A51B-99B5-1494-A0BE0865E3F5}"/>
              </a:ext>
            </a:extLst>
          </p:cNvPr>
          <p:cNvCxnSpPr/>
          <p:nvPr/>
        </p:nvCxnSpPr>
        <p:spPr>
          <a:xfrm>
            <a:off x="2514600" y="2235200"/>
            <a:ext cx="0" cy="2540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7B038183-5EFD-4F2B-AD76-688AFD8C2750}"/>
              </a:ext>
            </a:extLst>
          </p:cNvPr>
          <p:cNvSpPr/>
          <p:nvPr/>
        </p:nvSpPr>
        <p:spPr>
          <a:xfrm>
            <a:off x="609600" y="2489200"/>
            <a:ext cx="3810000" cy="508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Azure Monitor agent</a:t>
            </a:r>
          </a:p>
        </p:txBody>
      </p:sp>
      <p:cxnSp>
        <p:nvCxnSpPr>
          <p:cNvPr id="10" name="Straight Arrow Connector 9">
            <a:extLst>
              <a:ext uri="{FF2B5EF4-FFF2-40B4-BE49-F238E27FC236}">
                <a16:creationId xmlns:a16="http://schemas.microsoft.com/office/drawing/2014/main" id="{9EFDADC8-6A3C-EAF0-8238-9921FE3FEE45}"/>
              </a:ext>
            </a:extLst>
          </p:cNvPr>
          <p:cNvCxnSpPr/>
          <p:nvPr/>
        </p:nvCxnSpPr>
        <p:spPr>
          <a:xfrm>
            <a:off x="2514600" y="2997200"/>
            <a:ext cx="0" cy="2540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91A66907-2DEE-ADCB-E867-91E641FFD5C0}"/>
              </a:ext>
            </a:extLst>
          </p:cNvPr>
          <p:cNvSpPr/>
          <p:nvPr/>
        </p:nvSpPr>
        <p:spPr>
          <a:xfrm>
            <a:off x="609600" y="3251200"/>
            <a:ext cx="3810000" cy="1397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DCR with a transformation
source | where Level == "Error"
keeps only the rows you need
source | project-away RawData
drops a column nobody queries</a:t>
            </a:r>
          </a:p>
        </p:txBody>
      </p:sp>
      <p:cxnSp>
        <p:nvCxnSpPr>
          <p:cNvPr id="12" name="Straight Arrow Connector 11">
            <a:extLst>
              <a:ext uri="{FF2B5EF4-FFF2-40B4-BE49-F238E27FC236}">
                <a16:creationId xmlns:a16="http://schemas.microsoft.com/office/drawing/2014/main" id="{1D6AF8D6-EECD-5896-45BB-81D2EFE6691A}"/>
              </a:ext>
            </a:extLst>
          </p:cNvPr>
          <p:cNvCxnSpPr/>
          <p:nvPr/>
        </p:nvCxnSpPr>
        <p:spPr>
          <a:xfrm>
            <a:off x="2514600" y="4648200"/>
            <a:ext cx="0" cy="3302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6E3111E-637F-DF4E-FCE6-3FCAE8B8498D}"/>
              </a:ext>
            </a:extLst>
          </p:cNvPr>
          <p:cNvSpPr txBox="1"/>
          <p:nvPr/>
        </p:nvSpPr>
        <p:spPr>
          <a:xfrm>
            <a:off x="2641600" y="4648200"/>
            <a:ext cx="2540000" cy="276999"/>
          </a:xfrm>
          <a:prstGeom prst="rect">
            <a:avLst/>
          </a:prstGeom>
          <a:noFill/>
        </p:spPr>
        <p:txBody>
          <a:bodyPr vert="horz" wrap="square" lIns="25400" rIns="25400" rtlCol="0">
            <a:spAutoFit/>
          </a:bodyPr>
          <a:lstStyle/>
          <a:p>
            <a:r>
              <a:rPr lang="en-US" sz="1200" b="1">
                <a:solidFill>
                  <a:srgbClr val="6ED28C"/>
                </a:solidFill>
                <a:latin typeface="Calibri" panose="020F0502020204030204" pitchFamily="34" charset="0"/>
              </a:rPr>
              <a:t>20 GB in → 8 GB kept</a:t>
            </a:r>
          </a:p>
        </p:txBody>
      </p:sp>
      <p:sp>
        <p:nvSpPr>
          <p:cNvPr id="14" name="Rectangle: Rounded Corners 13">
            <a:extLst>
              <a:ext uri="{FF2B5EF4-FFF2-40B4-BE49-F238E27FC236}">
                <a16:creationId xmlns:a16="http://schemas.microsoft.com/office/drawing/2014/main" id="{E1005820-50E0-EDE2-CBD2-DB6E37DD2F2F}"/>
              </a:ext>
            </a:extLst>
          </p:cNvPr>
          <p:cNvSpPr/>
          <p:nvPr/>
        </p:nvSpPr>
        <p:spPr>
          <a:xfrm>
            <a:off x="609600" y="4978400"/>
            <a:ext cx="3810000" cy="558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Log Analytics table</a:t>
            </a:r>
          </a:p>
        </p:txBody>
      </p:sp>
      <p:sp>
        <p:nvSpPr>
          <p:cNvPr id="15" name="TextBox 14">
            <a:extLst>
              <a:ext uri="{FF2B5EF4-FFF2-40B4-BE49-F238E27FC236}">
                <a16:creationId xmlns:a16="http://schemas.microsoft.com/office/drawing/2014/main" id="{88F603E5-1EC9-7456-A657-027A7CFC5091}"/>
              </a:ext>
            </a:extLst>
          </p:cNvPr>
          <p:cNvSpPr txBox="1"/>
          <p:nvPr/>
        </p:nvSpPr>
        <p:spPr>
          <a:xfrm>
            <a:off x="5080000" y="1778000"/>
            <a:ext cx="6502400" cy="1708160"/>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  Filter rows, drop columns, mask sensitive data.
•  Pick a table plan per table: Analytics (full features), Basic (cheaper, for troubleshooting), Auxiliary (cheapest, for audit logs).
•  The catch: dropping more than half of what comes in adds a small processing charge (not for Analytics tables when Sentinel is on the workspace).</a:t>
            </a:r>
          </a:p>
        </p:txBody>
      </p:sp>
      <p:sp>
        <p:nvSpPr>
          <p:cNvPr id="16" name="Rectangle 15">
            <a:extLst>
              <a:ext uri="{FF2B5EF4-FFF2-40B4-BE49-F238E27FC236}">
                <a16:creationId xmlns:a16="http://schemas.microsoft.com/office/drawing/2014/main" id="{55C60493-883B-0FFA-E6B4-87B2BEEF503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AB629FD-01AE-4045-076E-D9F92383832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Decide what you keep before you pay for it.</a:t>
            </a:r>
          </a:p>
        </p:txBody>
      </p:sp>
    </p:spTree>
    <p:extLst>
      <p:ext uri="{BB962C8B-B14F-4D97-AF65-F5344CB8AC3E}">
        <p14:creationId xmlns:p14="http://schemas.microsoft.com/office/powerpoint/2010/main" val="28375068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9823AF-AEA0-25CE-3717-135C69485B8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D333CCB-9240-479F-86EB-34D0BFF7AE1E}"/>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FCDF4EF-E2D1-3D13-B8D4-7E627EA3D61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The full cost of a hybrid service</a:t>
            </a:r>
          </a:p>
        </p:txBody>
      </p:sp>
      <p:sp>
        <p:nvSpPr>
          <p:cNvPr id="5" name="Rectangle 4">
            <a:extLst>
              <a:ext uri="{FF2B5EF4-FFF2-40B4-BE49-F238E27FC236}">
                <a16:creationId xmlns:a16="http://schemas.microsoft.com/office/drawing/2014/main" id="{A705354F-62F4-9A80-AB4F-05C55B71E6AC}"/>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00B188E-AF35-36D2-F31B-E4380FE5639F}"/>
              </a:ext>
            </a:extLst>
          </p:cNvPr>
          <p:cNvSpPr txBox="1"/>
          <p:nvPr/>
        </p:nvSpPr>
        <p:spPr>
          <a:xfrm>
            <a:off x="609600" y="1943100"/>
            <a:ext cx="26162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CAPABILITY</a:t>
            </a:r>
          </a:p>
        </p:txBody>
      </p:sp>
      <p:sp>
        <p:nvSpPr>
          <p:cNvPr id="7" name="Rectangle: Rounded Corners 6">
            <a:extLst>
              <a:ext uri="{FF2B5EF4-FFF2-40B4-BE49-F238E27FC236}">
                <a16:creationId xmlns:a16="http://schemas.microsoft.com/office/drawing/2014/main" id="{805D6AA8-3010-8175-E867-077EAC283EE2}"/>
              </a:ext>
            </a:extLst>
          </p:cNvPr>
          <p:cNvSpPr/>
          <p:nvPr/>
        </p:nvSpPr>
        <p:spPr>
          <a:xfrm>
            <a:off x="609600" y="2781300"/>
            <a:ext cx="2552700" cy="215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Enabled service
Plan / entitlement
Conditional benefits</a:t>
            </a:r>
          </a:p>
        </p:txBody>
      </p:sp>
      <p:sp>
        <p:nvSpPr>
          <p:cNvPr id="8" name="TextBox 7">
            <a:extLst>
              <a:ext uri="{FF2B5EF4-FFF2-40B4-BE49-F238E27FC236}">
                <a16:creationId xmlns:a16="http://schemas.microsoft.com/office/drawing/2014/main" id="{6001DCBF-AB6B-F17B-FC31-3E56F41317F3}"/>
              </a:ext>
            </a:extLst>
          </p:cNvPr>
          <p:cNvSpPr txBox="1"/>
          <p:nvPr/>
        </p:nvSpPr>
        <p:spPr>
          <a:xfrm>
            <a:off x="3416300" y="1943100"/>
            <a:ext cx="26162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AZURE USAGE</a:t>
            </a:r>
          </a:p>
        </p:txBody>
      </p:sp>
      <p:sp>
        <p:nvSpPr>
          <p:cNvPr id="9" name="Rectangle: Rounded Corners 8">
            <a:extLst>
              <a:ext uri="{FF2B5EF4-FFF2-40B4-BE49-F238E27FC236}">
                <a16:creationId xmlns:a16="http://schemas.microsoft.com/office/drawing/2014/main" id="{B9655D74-0408-3106-537E-57EAAA5A1365}"/>
              </a:ext>
            </a:extLst>
          </p:cNvPr>
          <p:cNvSpPr/>
          <p:nvPr/>
        </p:nvSpPr>
        <p:spPr>
          <a:xfrm>
            <a:off x="3416300" y="2781300"/>
            <a:ext cx="2552700" cy="215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Ingestion / queries
Retention / alerts
Shared allocation</a:t>
            </a:r>
          </a:p>
        </p:txBody>
      </p:sp>
      <p:sp>
        <p:nvSpPr>
          <p:cNvPr id="10" name="TextBox 9">
            <a:extLst>
              <a:ext uri="{FF2B5EF4-FFF2-40B4-BE49-F238E27FC236}">
                <a16:creationId xmlns:a16="http://schemas.microsoft.com/office/drawing/2014/main" id="{F34AFACE-7775-1B35-1F42-33D8DBC97CB0}"/>
              </a:ext>
            </a:extLst>
          </p:cNvPr>
          <p:cNvSpPr txBox="1"/>
          <p:nvPr/>
        </p:nvSpPr>
        <p:spPr>
          <a:xfrm>
            <a:off x="6223000" y="1943100"/>
            <a:ext cx="26162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OTHER INFRASTRUCTURE</a:t>
            </a:r>
          </a:p>
        </p:txBody>
      </p:sp>
      <p:sp>
        <p:nvSpPr>
          <p:cNvPr id="11" name="Rectangle: Rounded Corners 10">
            <a:extLst>
              <a:ext uri="{FF2B5EF4-FFF2-40B4-BE49-F238E27FC236}">
                <a16:creationId xmlns:a16="http://schemas.microsoft.com/office/drawing/2014/main" id="{FFBD5149-F753-6850-218F-6BB0104EF7E7}"/>
              </a:ext>
            </a:extLst>
          </p:cNvPr>
          <p:cNvSpPr/>
          <p:nvPr/>
        </p:nvSpPr>
        <p:spPr>
          <a:xfrm>
            <a:off x="6223000" y="2781300"/>
            <a:ext cx="2552700" cy="215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On-premises hosts
AWS / network costs
Support and licenses</a:t>
            </a:r>
          </a:p>
        </p:txBody>
      </p:sp>
      <p:sp>
        <p:nvSpPr>
          <p:cNvPr id="12" name="TextBox 11">
            <a:extLst>
              <a:ext uri="{FF2B5EF4-FFF2-40B4-BE49-F238E27FC236}">
                <a16:creationId xmlns:a16="http://schemas.microsoft.com/office/drawing/2014/main" id="{FF3D6694-A146-8CCC-E691-E4D392DDF828}"/>
              </a:ext>
            </a:extLst>
          </p:cNvPr>
          <p:cNvSpPr txBox="1"/>
          <p:nvPr/>
        </p:nvSpPr>
        <p:spPr>
          <a:xfrm>
            <a:off x="9029700" y="1943100"/>
            <a:ext cx="26162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OPERATING EFFORT</a:t>
            </a:r>
          </a:p>
        </p:txBody>
      </p:sp>
      <p:sp>
        <p:nvSpPr>
          <p:cNvPr id="13" name="Rectangle: Rounded Corners 12">
            <a:extLst>
              <a:ext uri="{FF2B5EF4-FFF2-40B4-BE49-F238E27FC236}">
                <a16:creationId xmlns:a16="http://schemas.microsoft.com/office/drawing/2014/main" id="{3D935235-10D0-4E00-B8C3-04F7E2498F1F}"/>
              </a:ext>
            </a:extLst>
          </p:cNvPr>
          <p:cNvSpPr/>
          <p:nvPr/>
        </p:nvSpPr>
        <p:spPr>
          <a:xfrm>
            <a:off x="9029700" y="2781300"/>
            <a:ext cx="2552700" cy="215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Administration
Incident response
Duplicate tooling</a:t>
            </a:r>
          </a:p>
        </p:txBody>
      </p:sp>
      <p:sp>
        <p:nvSpPr>
          <p:cNvPr id="14" name="TextBox 13">
            <a:extLst>
              <a:ext uri="{FF2B5EF4-FFF2-40B4-BE49-F238E27FC236}">
                <a16:creationId xmlns:a16="http://schemas.microsoft.com/office/drawing/2014/main" id="{3166B207-58D6-B2F5-4FFA-7861294EC7EF}"/>
              </a:ext>
            </a:extLst>
          </p:cNvPr>
          <p:cNvSpPr txBox="1"/>
          <p:nvPr/>
        </p:nvSpPr>
        <p:spPr>
          <a:xfrm>
            <a:off x="609600" y="5346700"/>
            <a:ext cx="10972800" cy="384721"/>
          </a:xfrm>
          <a:prstGeom prst="rect">
            <a:avLst/>
          </a:prstGeom>
          <a:noFill/>
        </p:spPr>
        <p:txBody>
          <a:bodyPr vert="horz" wrap="square" lIns="25400" rIns="25400" rtlCol="0">
            <a:spAutoFit/>
          </a:bodyPr>
          <a:lstStyle/>
          <a:p>
            <a:r>
              <a:rPr lang="en-US" sz="1900" b="1">
                <a:solidFill>
                  <a:srgbClr val="EAF0F7"/>
                </a:solidFill>
                <a:latin typeface="Calibri" panose="020F0502020204030204" pitchFamily="34" charset="0"/>
              </a:rPr>
              <a:t>Assign an owner and allocation rule to each cost category.</a:t>
            </a:r>
          </a:p>
        </p:txBody>
      </p:sp>
      <p:sp>
        <p:nvSpPr>
          <p:cNvPr id="15" name="Rectangle 14">
            <a:extLst>
              <a:ext uri="{FF2B5EF4-FFF2-40B4-BE49-F238E27FC236}">
                <a16:creationId xmlns:a16="http://schemas.microsoft.com/office/drawing/2014/main" id="{50933028-2DC8-EC46-FFA7-E0B9EE598500}"/>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F4F8603-4744-2EFE-1DD5-6A200C1BB01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Azure billing is one input to total hybrid cost. Verify the applicable entitlement before claiming savings.</a:t>
            </a:r>
          </a:p>
        </p:txBody>
      </p:sp>
    </p:spTree>
    <p:extLst>
      <p:ext uri="{BB962C8B-B14F-4D97-AF65-F5344CB8AC3E}">
        <p14:creationId xmlns:p14="http://schemas.microsoft.com/office/powerpoint/2010/main" val="3005520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9F396C-D722-AAA0-11BF-269E70CF72D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F6FC735-4995-A1B2-886B-87B2C9E1362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0A59DC2-43ED-3811-D39C-355A58D21660}"/>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5 · Adopt the patterns: did the fix work, and what do we keep doing?</a:t>
            </a:r>
          </a:p>
        </p:txBody>
      </p:sp>
      <p:sp>
        <p:nvSpPr>
          <p:cNvPr id="5" name="Rectangle 4">
            <a:extLst>
              <a:ext uri="{FF2B5EF4-FFF2-40B4-BE49-F238E27FC236}">
                <a16:creationId xmlns:a16="http://schemas.microsoft.com/office/drawing/2014/main" id="{1D249CFB-1164-DF0C-6D51-558A4A04B99E}"/>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B299A3F-2F30-60C4-ADE0-1846F2CD2F70}"/>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921CB96E-50C4-88F7-BCDB-D6FD57DF30A6}"/>
              </a:ext>
            </a:extLst>
          </p:cNvPr>
          <p:cNvSpPr txBox="1"/>
          <p:nvPr/>
        </p:nvSpPr>
        <p:spPr>
          <a:xfrm>
            <a:off x="762000" y="218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Letting the system fix things: how much, and how you prove it</a:t>
            </a:r>
          </a:p>
        </p:txBody>
      </p:sp>
      <p:sp>
        <p:nvSpPr>
          <p:cNvPr id="8" name="TextBox 7">
            <a:extLst>
              <a:ext uri="{FF2B5EF4-FFF2-40B4-BE49-F238E27FC236}">
                <a16:creationId xmlns:a16="http://schemas.microsoft.com/office/drawing/2014/main" id="{468759F8-8DC3-F480-4D33-69D927911E57}"/>
              </a:ext>
            </a:extLst>
          </p:cNvPr>
          <p:cNvSpPr txBox="1"/>
          <p:nvPr/>
        </p:nvSpPr>
        <p:spPr>
          <a:xfrm>
            <a:off x="762000" y="281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The playbook: what to adopt</a:t>
            </a:r>
          </a:p>
        </p:txBody>
      </p:sp>
      <p:sp>
        <p:nvSpPr>
          <p:cNvPr id="9" name="TextBox 8">
            <a:extLst>
              <a:ext uri="{FF2B5EF4-FFF2-40B4-BE49-F238E27FC236}">
                <a16:creationId xmlns:a16="http://schemas.microsoft.com/office/drawing/2014/main" id="{5AB374B7-0CB0-2E22-121B-700D2D7A4A9F}"/>
              </a:ext>
            </a:extLst>
          </p:cNvPr>
          <p:cNvSpPr txBox="1"/>
          <p:nvPr/>
        </p:nvSpPr>
        <p:spPr>
          <a:xfrm>
            <a:off x="762000" y="345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What to unlearn</a:t>
            </a:r>
          </a:p>
        </p:txBody>
      </p:sp>
      <p:sp>
        <p:nvSpPr>
          <p:cNvPr id="10" name="TextBox 9">
            <a:extLst>
              <a:ext uri="{FF2B5EF4-FFF2-40B4-BE49-F238E27FC236}">
                <a16:creationId xmlns:a16="http://schemas.microsoft.com/office/drawing/2014/main" id="{9C71D10F-76C8-68FA-0DEC-052AB4E28CDC}"/>
              </a:ext>
            </a:extLst>
          </p:cNvPr>
          <p:cNvSpPr txBox="1"/>
          <p:nvPr/>
        </p:nvSpPr>
        <p:spPr>
          <a:xfrm>
            <a:off x="762000" y="408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Your first thirty days</a:t>
            </a:r>
          </a:p>
        </p:txBody>
      </p:sp>
      <p:sp>
        <p:nvSpPr>
          <p:cNvPr id="11" name="Rectangle: Rounded Corners 10">
            <a:extLst>
              <a:ext uri="{FF2B5EF4-FFF2-40B4-BE49-F238E27FC236}">
                <a16:creationId xmlns:a16="http://schemas.microsoft.com/office/drawing/2014/main" id="{62B621DE-5765-E2E5-F7B7-F0F3CDEF7435}"/>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2" name="Rectangle: Rounded Corners 11">
            <a:extLst>
              <a:ext uri="{FF2B5EF4-FFF2-40B4-BE49-F238E27FC236}">
                <a16:creationId xmlns:a16="http://schemas.microsoft.com/office/drawing/2014/main" id="{B5068EAA-3E62-898B-805C-459916628454}"/>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3" name="Rectangle: Rounded Corners 12">
            <a:extLst>
              <a:ext uri="{FF2B5EF4-FFF2-40B4-BE49-F238E27FC236}">
                <a16:creationId xmlns:a16="http://schemas.microsoft.com/office/drawing/2014/main" id="{84B83BFC-8913-A724-BB26-F11CCE9DA24C}"/>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4" name="Rectangle: Rounded Corners 13">
            <a:extLst>
              <a:ext uri="{FF2B5EF4-FFF2-40B4-BE49-F238E27FC236}">
                <a16:creationId xmlns:a16="http://schemas.microsoft.com/office/drawing/2014/main" id="{DB517C23-5797-4563-04B4-C4B5FF68A129}"/>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5" name="Rectangle: Rounded Corners 14">
            <a:extLst>
              <a:ext uri="{FF2B5EF4-FFF2-40B4-BE49-F238E27FC236}">
                <a16:creationId xmlns:a16="http://schemas.microsoft.com/office/drawing/2014/main" id="{4D161E5A-9991-92E3-6925-91F15198D585}"/>
              </a:ext>
            </a:extLst>
          </p:cNvPr>
          <p:cNvSpPr/>
          <p:nvPr/>
        </p:nvSpPr>
        <p:spPr>
          <a:xfrm>
            <a:off x="95504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5 · Adopt</a:t>
            </a:r>
          </a:p>
        </p:txBody>
      </p:sp>
    </p:spTree>
    <p:extLst>
      <p:ext uri="{BB962C8B-B14F-4D97-AF65-F5344CB8AC3E}">
        <p14:creationId xmlns:p14="http://schemas.microsoft.com/office/powerpoint/2010/main" val="32463868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FCEB59-1258-C84A-CE59-BC6E313DE18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BAABC2A-8A00-5CCB-1BEF-1C443241B63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0FA87DB-E1D6-9068-C7A1-E9C427553145}"/>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Letting the system fix things: how much, and how you prove it</a:t>
            </a:r>
          </a:p>
        </p:txBody>
      </p:sp>
      <p:sp>
        <p:nvSpPr>
          <p:cNvPr id="5" name="Rectangle 4">
            <a:extLst>
              <a:ext uri="{FF2B5EF4-FFF2-40B4-BE49-F238E27FC236}">
                <a16:creationId xmlns:a16="http://schemas.microsoft.com/office/drawing/2014/main" id="{BD520B00-6715-88EF-45D0-436CB5680174}"/>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3F1DAF9-532E-6A2D-CF51-02C2E1B3DE6C}"/>
              </a:ext>
            </a:extLst>
          </p:cNvPr>
          <p:cNvSpPr txBox="1"/>
          <p:nvPr/>
        </p:nvSpPr>
        <p:spPr>
          <a:xfrm>
            <a:off x="609600" y="1041400"/>
            <a:ext cx="10972800" cy="323165"/>
          </a:xfrm>
          <a:prstGeom prst="rect">
            <a:avLst/>
          </a:prstGeom>
          <a:noFill/>
        </p:spPr>
        <p:txBody>
          <a:bodyPr vert="horz" wrap="square" lIns="25400" rIns="25400" rtlCol="0">
            <a:spAutoFit/>
          </a:bodyPr>
          <a:lstStyle/>
          <a:p>
            <a:r>
              <a:rPr lang="en-US" sz="1500">
                <a:solidFill>
                  <a:srgbClr val="A3B2C4"/>
                </a:solidFill>
                <a:latin typeface="Calibri" panose="020F0502020204030204" pitchFamily="34" charset="0"/>
              </a:rPr>
              <a:t>Here we mean fixes the system makes for you (Policy remediation, scheduled patching, Flux), not CI/CD pipelines.</a:t>
            </a:r>
          </a:p>
        </p:txBody>
      </p:sp>
      <p:sp>
        <p:nvSpPr>
          <p:cNvPr id="7" name="Rectangle: Rounded Corners 6">
            <a:extLst>
              <a:ext uri="{FF2B5EF4-FFF2-40B4-BE49-F238E27FC236}">
                <a16:creationId xmlns:a16="http://schemas.microsoft.com/office/drawing/2014/main" id="{74617FF4-2768-AE1D-931E-B9AAB2EA97DB}"/>
              </a:ext>
            </a:extLst>
          </p:cNvPr>
          <p:cNvSpPr/>
          <p:nvPr/>
        </p:nvSpPr>
        <p:spPr>
          <a:xfrm>
            <a:off x="609600" y="1955800"/>
            <a:ext cx="3429000" cy="1168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REPORT ONLY
A person reviews; nothing changes on its own
e.g. a Policy compliance report</a:t>
            </a:r>
          </a:p>
        </p:txBody>
      </p:sp>
      <p:sp>
        <p:nvSpPr>
          <p:cNvPr id="8" name="Rectangle: Rounded Corners 7">
            <a:extLst>
              <a:ext uri="{FF2B5EF4-FFF2-40B4-BE49-F238E27FC236}">
                <a16:creationId xmlns:a16="http://schemas.microsoft.com/office/drawing/2014/main" id="{B4948923-0F0A-E501-D906-62F1EED4C05C}"/>
              </a:ext>
            </a:extLst>
          </p:cNvPr>
          <p:cNvSpPr/>
          <p:nvPr/>
        </p:nvSpPr>
        <p:spPr>
          <a:xfrm>
            <a:off x="4381500" y="1955800"/>
            <a:ext cx="3429000" cy="11684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FIX WITH APPROVAL
The system proposes a fix; a person approves it
e.g. a Policy remediation task, an approved patch ring</a:t>
            </a:r>
          </a:p>
        </p:txBody>
      </p:sp>
      <p:sp>
        <p:nvSpPr>
          <p:cNvPr id="9" name="Rectangle: Rounded Corners 8">
            <a:extLst>
              <a:ext uri="{FF2B5EF4-FFF2-40B4-BE49-F238E27FC236}">
                <a16:creationId xmlns:a16="http://schemas.microsoft.com/office/drawing/2014/main" id="{6364764B-EBC7-22F7-48A5-0013FBEF464A}"/>
              </a:ext>
            </a:extLst>
          </p:cNvPr>
          <p:cNvSpPr/>
          <p:nvPr/>
        </p:nvSpPr>
        <p:spPr>
          <a:xfrm>
            <a:off x="8153400" y="1955800"/>
            <a:ext cx="3429000" cy="1168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FIXES CONTINUOUSLY
The system corrects drift on its own
e.g. Flux keeping the EKS cluster matching Git</a:t>
            </a:r>
          </a:p>
        </p:txBody>
      </p:sp>
      <p:cxnSp>
        <p:nvCxnSpPr>
          <p:cNvPr id="10" name="Straight Arrow Connector 9">
            <a:extLst>
              <a:ext uri="{FF2B5EF4-FFF2-40B4-BE49-F238E27FC236}">
                <a16:creationId xmlns:a16="http://schemas.microsoft.com/office/drawing/2014/main" id="{DCB4C862-B1B3-B7E0-2AC8-784BE7F153BF}"/>
              </a:ext>
            </a:extLst>
          </p:cNvPr>
          <p:cNvCxnSpPr/>
          <p:nvPr/>
        </p:nvCxnSpPr>
        <p:spPr>
          <a:xfrm>
            <a:off x="2324100" y="3124200"/>
            <a:ext cx="0" cy="3556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0F2ED05-08B2-C565-6C44-62FB4C43131E}"/>
              </a:ext>
            </a:extLst>
          </p:cNvPr>
          <p:cNvCxnSpPr/>
          <p:nvPr/>
        </p:nvCxnSpPr>
        <p:spPr>
          <a:xfrm>
            <a:off x="6096000" y="3124200"/>
            <a:ext cx="0" cy="3556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26E7D38-5A89-637B-A520-580D7D2F35F6}"/>
              </a:ext>
            </a:extLst>
          </p:cNvPr>
          <p:cNvCxnSpPr/>
          <p:nvPr/>
        </p:nvCxnSpPr>
        <p:spPr>
          <a:xfrm>
            <a:off x="9867900" y="3124200"/>
            <a:ext cx="0" cy="3556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68056D5-8E94-1197-865F-1FCDC15FCEAA}"/>
              </a:ext>
            </a:extLst>
          </p:cNvPr>
          <p:cNvCxnSpPr/>
          <p:nvPr/>
        </p:nvCxnSpPr>
        <p:spPr>
          <a:xfrm>
            <a:off x="2324100" y="3479800"/>
            <a:ext cx="75438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C78B1962-11CC-9888-A1F3-20BE81DC7421}"/>
              </a:ext>
            </a:extLst>
          </p:cNvPr>
          <p:cNvSpPr/>
          <p:nvPr/>
        </p:nvSpPr>
        <p:spPr>
          <a:xfrm>
            <a:off x="6591300" y="3810000"/>
            <a:ext cx="4991100" cy="838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Verify the resource and the service</a:t>
            </a:r>
          </a:p>
        </p:txBody>
      </p:sp>
      <p:cxnSp>
        <p:nvCxnSpPr>
          <p:cNvPr id="15" name="Straight Arrow Connector 14">
            <a:extLst>
              <a:ext uri="{FF2B5EF4-FFF2-40B4-BE49-F238E27FC236}">
                <a16:creationId xmlns:a16="http://schemas.microsoft.com/office/drawing/2014/main" id="{4E43D007-ED12-C804-99A1-FDD188AE45D8}"/>
              </a:ext>
            </a:extLst>
          </p:cNvPr>
          <p:cNvCxnSpPr/>
          <p:nvPr/>
        </p:nvCxnSpPr>
        <p:spPr>
          <a:xfrm>
            <a:off x="9080500" y="3479800"/>
            <a:ext cx="0" cy="330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23007918-4101-28F3-05AA-5DE9F565942E}"/>
              </a:ext>
            </a:extLst>
          </p:cNvPr>
          <p:cNvSpPr/>
          <p:nvPr/>
        </p:nvSpPr>
        <p:spPr>
          <a:xfrm>
            <a:off x="609600" y="3810000"/>
            <a:ext cx="4572000" cy="8382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Stop the next step · restore where possible · escalate</a:t>
            </a:r>
          </a:p>
        </p:txBody>
      </p:sp>
      <p:cxnSp>
        <p:nvCxnSpPr>
          <p:cNvPr id="17" name="Straight Arrow Connector 16">
            <a:extLst>
              <a:ext uri="{FF2B5EF4-FFF2-40B4-BE49-F238E27FC236}">
                <a16:creationId xmlns:a16="http://schemas.microsoft.com/office/drawing/2014/main" id="{9BC69506-D531-29A1-7ACA-389780920418}"/>
              </a:ext>
            </a:extLst>
          </p:cNvPr>
          <p:cNvCxnSpPr/>
          <p:nvPr/>
        </p:nvCxnSpPr>
        <p:spPr>
          <a:xfrm flipH="1">
            <a:off x="5181600" y="4229100"/>
            <a:ext cx="14097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B625FBC0-8C08-E34C-EA54-2F568B6766DB}"/>
              </a:ext>
            </a:extLst>
          </p:cNvPr>
          <p:cNvSpPr txBox="1"/>
          <p:nvPr/>
        </p:nvSpPr>
        <p:spPr>
          <a:xfrm>
            <a:off x="5308600" y="3860800"/>
            <a:ext cx="11811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failed check</a:t>
            </a:r>
          </a:p>
        </p:txBody>
      </p:sp>
      <p:sp>
        <p:nvSpPr>
          <p:cNvPr id="19" name="Rectangle: Rounded Corners 18">
            <a:extLst>
              <a:ext uri="{FF2B5EF4-FFF2-40B4-BE49-F238E27FC236}">
                <a16:creationId xmlns:a16="http://schemas.microsoft.com/office/drawing/2014/main" id="{5F5FD5C5-6CE4-40F6-B163-73E3264BEDD2}"/>
              </a:ext>
            </a:extLst>
          </p:cNvPr>
          <p:cNvSpPr/>
          <p:nvPr/>
        </p:nvSpPr>
        <p:spPr>
          <a:xfrm>
            <a:off x="6591300" y="5054600"/>
            <a:ext cx="4991100" cy="584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PASS → close the change (or keep watching) and record the evidence</a:t>
            </a:r>
          </a:p>
        </p:txBody>
      </p:sp>
      <p:cxnSp>
        <p:nvCxnSpPr>
          <p:cNvPr id="20" name="Straight Arrow Connector 19">
            <a:extLst>
              <a:ext uri="{FF2B5EF4-FFF2-40B4-BE49-F238E27FC236}">
                <a16:creationId xmlns:a16="http://schemas.microsoft.com/office/drawing/2014/main" id="{69C7DBD0-6D80-3207-0997-EB7E2E97DA51}"/>
              </a:ext>
            </a:extLst>
          </p:cNvPr>
          <p:cNvCxnSpPr/>
          <p:nvPr/>
        </p:nvCxnSpPr>
        <p:spPr>
          <a:xfrm>
            <a:off x="9080500" y="4648200"/>
            <a:ext cx="0" cy="4064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492A2B5-3195-E77F-92CF-189A4392658F}"/>
              </a:ext>
            </a:extLst>
          </p:cNvPr>
          <p:cNvSpPr txBox="1"/>
          <p:nvPr/>
        </p:nvSpPr>
        <p:spPr>
          <a:xfrm>
            <a:off x="9194800" y="4673600"/>
            <a:ext cx="1397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passed check</a:t>
            </a:r>
          </a:p>
        </p:txBody>
      </p:sp>
      <p:sp>
        <p:nvSpPr>
          <p:cNvPr id="22" name="TextBox 21">
            <a:extLst>
              <a:ext uri="{FF2B5EF4-FFF2-40B4-BE49-F238E27FC236}">
                <a16:creationId xmlns:a16="http://schemas.microsoft.com/office/drawing/2014/main" id="{F9C155F6-EB90-D156-48DA-55E7D8A4DAB4}"/>
              </a:ext>
            </a:extLst>
          </p:cNvPr>
          <p:cNvSpPr txBox="1"/>
          <p:nvPr/>
        </p:nvSpPr>
        <p:spPr>
          <a:xfrm>
            <a:off x="609600" y="4978400"/>
            <a:ext cx="55880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How much the system may fix on its own increases left to right.</a:t>
            </a:r>
          </a:p>
        </p:txBody>
      </p:sp>
      <p:sp>
        <p:nvSpPr>
          <p:cNvPr id="23" name="Rectangle 22">
            <a:extLst>
              <a:ext uri="{FF2B5EF4-FFF2-40B4-BE49-F238E27FC236}">
                <a16:creationId xmlns:a16="http://schemas.microsoft.com/office/drawing/2014/main" id="{80243D77-76E8-1322-0558-7D83ED7FC5E3}"/>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D173481-48C3-EFD9-EA85-AE1E860F2DDA}"/>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Before the system fixes anything: name the owner, the permissions, the blast radius, when to stop, and how you prove it worked.</a:t>
            </a:r>
          </a:p>
        </p:txBody>
      </p:sp>
    </p:spTree>
    <p:extLst>
      <p:ext uri="{BB962C8B-B14F-4D97-AF65-F5344CB8AC3E}">
        <p14:creationId xmlns:p14="http://schemas.microsoft.com/office/powerpoint/2010/main" val="42097586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5466F0-08E9-F6B3-A9C4-0B67BCA85B1A}"/>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23CA926-A5CD-6F07-1E56-5CCFC2FBDAD5}"/>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7EB47EB-E9BF-3071-6282-1E84464C30BD}"/>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The playbook: what to adopt</a:t>
            </a:r>
          </a:p>
        </p:txBody>
      </p:sp>
      <p:sp>
        <p:nvSpPr>
          <p:cNvPr id="5" name="Rectangle 4">
            <a:extLst>
              <a:ext uri="{FF2B5EF4-FFF2-40B4-BE49-F238E27FC236}">
                <a16:creationId xmlns:a16="http://schemas.microsoft.com/office/drawing/2014/main" id="{7BAAAF81-370A-339D-E0E0-40ABA755A032}"/>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1DF3D72-A6CC-68B4-BD06-939373A64F7E}"/>
              </a:ext>
            </a:extLst>
          </p:cNvPr>
          <p:cNvSpPr/>
          <p:nvPr/>
        </p:nvSpPr>
        <p:spPr>
          <a:xfrm>
            <a:off x="558800" y="1752600"/>
            <a:ext cx="110871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FABEC1C-387A-8B8E-58AA-B8B1F6D7B986}"/>
              </a:ext>
            </a:extLst>
          </p:cNvPr>
          <p:cNvSpPr txBox="1"/>
          <p:nvPr/>
        </p:nvSpPr>
        <p:spPr>
          <a:xfrm>
            <a:off x="609600" y="1803400"/>
            <a:ext cx="1397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SECTION</a:t>
            </a:r>
          </a:p>
        </p:txBody>
      </p:sp>
      <p:sp>
        <p:nvSpPr>
          <p:cNvPr id="8" name="TextBox 7">
            <a:extLst>
              <a:ext uri="{FF2B5EF4-FFF2-40B4-BE49-F238E27FC236}">
                <a16:creationId xmlns:a16="http://schemas.microsoft.com/office/drawing/2014/main" id="{C45F27D3-8A48-A969-21DA-A7651AA2AE85}"/>
              </a:ext>
            </a:extLst>
          </p:cNvPr>
          <p:cNvSpPr txBox="1"/>
          <p:nvPr/>
        </p:nvSpPr>
        <p:spPr>
          <a:xfrm>
            <a:off x="2006600" y="1803400"/>
            <a:ext cx="2794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PRACTICE</a:t>
            </a:r>
          </a:p>
        </p:txBody>
      </p:sp>
      <p:sp>
        <p:nvSpPr>
          <p:cNvPr id="9" name="TextBox 8">
            <a:extLst>
              <a:ext uri="{FF2B5EF4-FFF2-40B4-BE49-F238E27FC236}">
                <a16:creationId xmlns:a16="http://schemas.microsoft.com/office/drawing/2014/main" id="{7DE6D4A3-8AF3-4D0C-352D-056E594D5692}"/>
              </a:ext>
            </a:extLst>
          </p:cNvPr>
          <p:cNvSpPr txBox="1"/>
          <p:nvPr/>
        </p:nvSpPr>
        <p:spPr>
          <a:xfrm>
            <a:off x="4800600" y="1803400"/>
            <a:ext cx="1905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OWNER</a:t>
            </a:r>
          </a:p>
        </p:txBody>
      </p:sp>
      <p:sp>
        <p:nvSpPr>
          <p:cNvPr id="10" name="TextBox 9">
            <a:extLst>
              <a:ext uri="{FF2B5EF4-FFF2-40B4-BE49-F238E27FC236}">
                <a16:creationId xmlns:a16="http://schemas.microsoft.com/office/drawing/2014/main" id="{82B20509-7CE7-1E6D-E7C5-78094EC84A9B}"/>
              </a:ext>
            </a:extLst>
          </p:cNvPr>
          <p:cNvSpPr txBox="1"/>
          <p:nvPr/>
        </p:nvSpPr>
        <p:spPr>
          <a:xfrm>
            <a:off x="6705600" y="1803400"/>
            <a:ext cx="28575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NEXT ACTION</a:t>
            </a:r>
          </a:p>
        </p:txBody>
      </p:sp>
      <p:sp>
        <p:nvSpPr>
          <p:cNvPr id="11" name="TextBox 10">
            <a:extLst>
              <a:ext uri="{FF2B5EF4-FFF2-40B4-BE49-F238E27FC236}">
                <a16:creationId xmlns:a16="http://schemas.microsoft.com/office/drawing/2014/main" id="{346B3A99-2AE5-FBC3-7F0B-3304EAF1A552}"/>
              </a:ext>
            </a:extLst>
          </p:cNvPr>
          <p:cNvSpPr txBox="1"/>
          <p:nvPr/>
        </p:nvSpPr>
        <p:spPr>
          <a:xfrm>
            <a:off x="9563100" y="1803400"/>
            <a:ext cx="2032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EVIDENCE</a:t>
            </a:r>
          </a:p>
        </p:txBody>
      </p:sp>
      <p:sp>
        <p:nvSpPr>
          <p:cNvPr id="12" name="TextBox 11">
            <a:extLst>
              <a:ext uri="{FF2B5EF4-FFF2-40B4-BE49-F238E27FC236}">
                <a16:creationId xmlns:a16="http://schemas.microsoft.com/office/drawing/2014/main" id="{EE17D382-8625-765D-B041-BEDDF3D2BFEF}"/>
              </a:ext>
            </a:extLst>
          </p:cNvPr>
          <p:cNvSpPr txBox="1"/>
          <p:nvPr/>
        </p:nvSpPr>
        <p:spPr>
          <a:xfrm>
            <a:off x="609600" y="23368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Observe</a:t>
            </a:r>
          </a:p>
        </p:txBody>
      </p:sp>
      <p:sp>
        <p:nvSpPr>
          <p:cNvPr id="13" name="TextBox 12">
            <a:extLst>
              <a:ext uri="{FF2B5EF4-FFF2-40B4-BE49-F238E27FC236}">
                <a16:creationId xmlns:a16="http://schemas.microsoft.com/office/drawing/2014/main" id="{741980A9-EEDB-067F-5AF2-54915038FDB7}"/>
              </a:ext>
            </a:extLst>
          </p:cNvPr>
          <p:cNvSpPr txBox="1"/>
          <p:nvPr/>
        </p:nvSpPr>
        <p:spPr>
          <a:xfrm>
            <a:off x="2006600" y="23368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One place to look; alert on the order, not the machine</a:t>
            </a:r>
          </a:p>
        </p:txBody>
      </p:sp>
      <p:sp>
        <p:nvSpPr>
          <p:cNvPr id="14" name="TextBox 13">
            <a:extLst>
              <a:ext uri="{FF2B5EF4-FFF2-40B4-BE49-F238E27FC236}">
                <a16:creationId xmlns:a16="http://schemas.microsoft.com/office/drawing/2014/main" id="{D5D00181-BA3B-6DB9-A72B-FAA2019E650B}"/>
              </a:ext>
            </a:extLst>
          </p:cNvPr>
          <p:cNvSpPr txBox="1"/>
          <p:nvPr/>
        </p:nvSpPr>
        <p:spPr>
          <a:xfrm>
            <a:off x="4800600" y="2336800"/>
            <a:ext cx="1752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Service owner + monitoring</a:t>
            </a:r>
          </a:p>
        </p:txBody>
      </p:sp>
      <p:sp>
        <p:nvSpPr>
          <p:cNvPr id="15" name="TextBox 14">
            <a:extLst>
              <a:ext uri="{FF2B5EF4-FFF2-40B4-BE49-F238E27FC236}">
                <a16:creationId xmlns:a16="http://schemas.microsoft.com/office/drawing/2014/main" id="{0DC822CD-11CF-EFB3-8BFD-F06793FFD07E}"/>
              </a:ext>
            </a:extLst>
          </p:cNvPr>
          <p:cNvSpPr txBox="1"/>
          <p:nvPr/>
        </p:nvSpPr>
        <p:spPr>
          <a:xfrm>
            <a:off x="6705600" y="2336800"/>
            <a:ext cx="2705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One service view, one outcome alert</a:t>
            </a:r>
          </a:p>
        </p:txBody>
      </p:sp>
      <p:sp>
        <p:nvSpPr>
          <p:cNvPr id="16" name="TextBox 15">
            <a:extLst>
              <a:ext uri="{FF2B5EF4-FFF2-40B4-BE49-F238E27FC236}">
                <a16:creationId xmlns:a16="http://schemas.microsoft.com/office/drawing/2014/main" id="{26E29148-AB53-6C5F-80B4-58D5545FBF6D}"/>
              </a:ext>
            </a:extLst>
          </p:cNvPr>
          <p:cNvSpPr txBox="1"/>
          <p:nvPr/>
        </p:nvSpPr>
        <p:spPr>
          <a:xfrm>
            <a:off x="9563100" y="2336800"/>
            <a:ext cx="1879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 fresh order shows in it</a:t>
            </a:r>
          </a:p>
        </p:txBody>
      </p:sp>
      <p:cxnSp>
        <p:nvCxnSpPr>
          <p:cNvPr id="17" name="Straight Connector 16">
            <a:extLst>
              <a:ext uri="{FF2B5EF4-FFF2-40B4-BE49-F238E27FC236}">
                <a16:creationId xmlns:a16="http://schemas.microsoft.com/office/drawing/2014/main" id="{CDAE36D7-8003-761A-054C-5037BC1F14B6}"/>
              </a:ext>
            </a:extLst>
          </p:cNvPr>
          <p:cNvCxnSpPr/>
          <p:nvPr/>
        </p:nvCxnSpPr>
        <p:spPr>
          <a:xfrm>
            <a:off x="558800" y="30099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1231BCE-6A92-21F2-6D4B-33FC6417F83F}"/>
              </a:ext>
            </a:extLst>
          </p:cNvPr>
          <p:cNvSpPr txBox="1"/>
          <p:nvPr/>
        </p:nvSpPr>
        <p:spPr>
          <a:xfrm>
            <a:off x="609600" y="30480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Secure</a:t>
            </a:r>
          </a:p>
        </p:txBody>
      </p:sp>
      <p:sp>
        <p:nvSpPr>
          <p:cNvPr id="19" name="TextBox 18">
            <a:extLst>
              <a:ext uri="{FF2B5EF4-FFF2-40B4-BE49-F238E27FC236}">
                <a16:creationId xmlns:a16="http://schemas.microsoft.com/office/drawing/2014/main" id="{76CE5BB0-A0B5-01F2-3A92-6E8FC6BA6C35}"/>
              </a:ext>
            </a:extLst>
          </p:cNvPr>
          <p:cNvSpPr txBox="1"/>
          <p:nvPr/>
        </p:nvSpPr>
        <p:spPr>
          <a:xfrm>
            <a:off x="2006600" y="30480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Three key rules + Defender coverage</a:t>
            </a:r>
          </a:p>
        </p:txBody>
      </p:sp>
      <p:sp>
        <p:nvSpPr>
          <p:cNvPr id="20" name="TextBox 19">
            <a:extLst>
              <a:ext uri="{FF2B5EF4-FFF2-40B4-BE49-F238E27FC236}">
                <a16:creationId xmlns:a16="http://schemas.microsoft.com/office/drawing/2014/main" id="{287E7856-5409-5AB1-BB39-B12AA1FB6252}"/>
              </a:ext>
            </a:extLst>
          </p:cNvPr>
          <p:cNvSpPr txBox="1"/>
          <p:nvPr/>
        </p:nvSpPr>
        <p:spPr>
          <a:xfrm>
            <a:off x="4800600" y="3048000"/>
            <a:ext cx="1752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Security lead</a:t>
            </a:r>
          </a:p>
        </p:txBody>
      </p:sp>
      <p:sp>
        <p:nvSpPr>
          <p:cNvPr id="21" name="TextBox 20">
            <a:extLst>
              <a:ext uri="{FF2B5EF4-FFF2-40B4-BE49-F238E27FC236}">
                <a16:creationId xmlns:a16="http://schemas.microsoft.com/office/drawing/2014/main" id="{7C3FF162-E41C-014D-C9D4-1627B8852B21}"/>
              </a:ext>
            </a:extLst>
          </p:cNvPr>
          <p:cNvSpPr txBox="1"/>
          <p:nvPr/>
        </p:nvSpPr>
        <p:spPr>
          <a:xfrm>
            <a:off x="6705600" y="3048000"/>
            <a:ext cx="2705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Check every identity that can change a server</a:t>
            </a:r>
          </a:p>
        </p:txBody>
      </p:sp>
      <p:sp>
        <p:nvSpPr>
          <p:cNvPr id="22" name="TextBox 21">
            <a:extLst>
              <a:ext uri="{FF2B5EF4-FFF2-40B4-BE49-F238E27FC236}">
                <a16:creationId xmlns:a16="http://schemas.microsoft.com/office/drawing/2014/main" id="{3AF9E33A-85C2-4F70-500A-1BAE9D17AF9F}"/>
              </a:ext>
            </a:extLst>
          </p:cNvPr>
          <p:cNvSpPr txBox="1"/>
          <p:nvPr/>
        </p:nvSpPr>
        <p:spPr>
          <a:xfrm>
            <a:off x="9563100" y="3048000"/>
            <a:ext cx="1879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Review record + coverage</a:t>
            </a:r>
          </a:p>
        </p:txBody>
      </p:sp>
      <p:cxnSp>
        <p:nvCxnSpPr>
          <p:cNvPr id="23" name="Straight Connector 22">
            <a:extLst>
              <a:ext uri="{FF2B5EF4-FFF2-40B4-BE49-F238E27FC236}">
                <a16:creationId xmlns:a16="http://schemas.microsoft.com/office/drawing/2014/main" id="{FE738D65-EE37-829A-CEDB-14685F824DDB}"/>
              </a:ext>
            </a:extLst>
          </p:cNvPr>
          <p:cNvCxnSpPr/>
          <p:nvPr/>
        </p:nvCxnSpPr>
        <p:spPr>
          <a:xfrm>
            <a:off x="558800" y="37211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66CD74AC-BE56-8E44-4A8F-B076CD644AC7}"/>
              </a:ext>
            </a:extLst>
          </p:cNvPr>
          <p:cNvSpPr txBox="1"/>
          <p:nvPr/>
        </p:nvSpPr>
        <p:spPr>
          <a:xfrm>
            <a:off x="609600" y="37592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Govern</a:t>
            </a:r>
          </a:p>
        </p:txBody>
      </p:sp>
      <p:sp>
        <p:nvSpPr>
          <p:cNvPr id="25" name="TextBox 24">
            <a:extLst>
              <a:ext uri="{FF2B5EF4-FFF2-40B4-BE49-F238E27FC236}">
                <a16:creationId xmlns:a16="http://schemas.microsoft.com/office/drawing/2014/main" id="{BFE80CC3-32EE-831F-DDFB-FFEC69FF04CC}"/>
              </a:ext>
            </a:extLst>
          </p:cNvPr>
          <p:cNvSpPr txBox="1"/>
          <p:nvPr/>
        </p:nvSpPr>
        <p:spPr>
          <a:xfrm>
            <a:off x="2006600" y="37592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Landing zone, Policy with a standard, one patch process</a:t>
            </a:r>
          </a:p>
        </p:txBody>
      </p:sp>
      <p:sp>
        <p:nvSpPr>
          <p:cNvPr id="26" name="TextBox 25">
            <a:extLst>
              <a:ext uri="{FF2B5EF4-FFF2-40B4-BE49-F238E27FC236}">
                <a16:creationId xmlns:a16="http://schemas.microsoft.com/office/drawing/2014/main" id="{070EFBBB-86A6-75CC-4B72-BEE887A1956F}"/>
              </a:ext>
            </a:extLst>
          </p:cNvPr>
          <p:cNvSpPr txBox="1"/>
          <p:nvPr/>
        </p:nvSpPr>
        <p:spPr>
          <a:xfrm>
            <a:off x="4800600" y="3759200"/>
            <a:ext cx="1752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Governance lead + platform</a:t>
            </a:r>
          </a:p>
        </p:txBody>
      </p:sp>
      <p:sp>
        <p:nvSpPr>
          <p:cNvPr id="27" name="TextBox 26">
            <a:extLst>
              <a:ext uri="{FF2B5EF4-FFF2-40B4-BE49-F238E27FC236}">
                <a16:creationId xmlns:a16="http://schemas.microsoft.com/office/drawing/2014/main" id="{AF9D6A6E-00E7-9F47-7036-A68E3E65B28C}"/>
              </a:ext>
            </a:extLst>
          </p:cNvPr>
          <p:cNvSpPr txBox="1"/>
          <p:nvPr/>
        </p:nvSpPr>
        <p:spPr>
          <a:xfrm>
            <a:off x="6705600" y="3759200"/>
            <a:ext cx="2705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Place resources, assign a standard, tag patch rings</a:t>
            </a:r>
          </a:p>
        </p:txBody>
      </p:sp>
      <p:sp>
        <p:nvSpPr>
          <p:cNvPr id="28" name="TextBox 27">
            <a:extLst>
              <a:ext uri="{FF2B5EF4-FFF2-40B4-BE49-F238E27FC236}">
                <a16:creationId xmlns:a16="http://schemas.microsoft.com/office/drawing/2014/main" id="{E7D7F825-7423-5476-A9E2-5D889D3CCF8B}"/>
              </a:ext>
            </a:extLst>
          </p:cNvPr>
          <p:cNvSpPr txBox="1"/>
          <p:nvPr/>
        </p:nvSpPr>
        <p:spPr>
          <a:xfrm>
            <a:off x="9563100" y="3759200"/>
            <a:ext cx="1879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Compliance + ring results</a:t>
            </a:r>
          </a:p>
        </p:txBody>
      </p:sp>
      <p:cxnSp>
        <p:nvCxnSpPr>
          <p:cNvPr id="29" name="Straight Connector 28">
            <a:extLst>
              <a:ext uri="{FF2B5EF4-FFF2-40B4-BE49-F238E27FC236}">
                <a16:creationId xmlns:a16="http://schemas.microsoft.com/office/drawing/2014/main" id="{80667CF1-D158-4394-1169-16EA293A17C6}"/>
              </a:ext>
            </a:extLst>
          </p:cNvPr>
          <p:cNvCxnSpPr/>
          <p:nvPr/>
        </p:nvCxnSpPr>
        <p:spPr>
          <a:xfrm>
            <a:off x="558800" y="44323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14CB800F-88C2-7B86-F2E0-DEF390AA919B}"/>
              </a:ext>
            </a:extLst>
          </p:cNvPr>
          <p:cNvSpPr txBox="1"/>
          <p:nvPr/>
        </p:nvSpPr>
        <p:spPr>
          <a:xfrm>
            <a:off x="609600" y="44704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Cost</a:t>
            </a:r>
          </a:p>
        </p:txBody>
      </p:sp>
      <p:sp>
        <p:nvSpPr>
          <p:cNvPr id="31" name="TextBox 30">
            <a:extLst>
              <a:ext uri="{FF2B5EF4-FFF2-40B4-BE49-F238E27FC236}">
                <a16:creationId xmlns:a16="http://schemas.microsoft.com/office/drawing/2014/main" id="{495C87AA-5EE5-A95D-E92F-D59171CA130F}"/>
              </a:ext>
            </a:extLst>
          </p:cNvPr>
          <p:cNvSpPr txBox="1"/>
          <p:nvPr/>
        </p:nvSpPr>
        <p:spPr>
          <a:xfrm>
            <a:off x="2006600" y="44704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Tag everything, attest SA, set budgets</a:t>
            </a:r>
          </a:p>
        </p:txBody>
      </p:sp>
      <p:sp>
        <p:nvSpPr>
          <p:cNvPr id="32" name="TextBox 31">
            <a:extLst>
              <a:ext uri="{FF2B5EF4-FFF2-40B4-BE49-F238E27FC236}">
                <a16:creationId xmlns:a16="http://schemas.microsoft.com/office/drawing/2014/main" id="{8773F744-DA70-CA92-FAB9-F544F69C6FF3}"/>
              </a:ext>
            </a:extLst>
          </p:cNvPr>
          <p:cNvSpPr txBox="1"/>
          <p:nvPr/>
        </p:nvSpPr>
        <p:spPr>
          <a:xfrm>
            <a:off x="4800600" y="4470400"/>
            <a:ext cx="1752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FinOps + service owner</a:t>
            </a:r>
          </a:p>
        </p:txBody>
      </p:sp>
      <p:sp>
        <p:nvSpPr>
          <p:cNvPr id="33" name="TextBox 32">
            <a:extLst>
              <a:ext uri="{FF2B5EF4-FFF2-40B4-BE49-F238E27FC236}">
                <a16:creationId xmlns:a16="http://schemas.microsoft.com/office/drawing/2014/main" id="{3FDDD3A2-EC0D-2593-4477-7256FEA94570}"/>
              </a:ext>
            </a:extLst>
          </p:cNvPr>
          <p:cNvSpPr txBox="1"/>
          <p:nvPr/>
        </p:nvSpPr>
        <p:spPr>
          <a:xfrm>
            <a:off x="6705600" y="4470400"/>
            <a:ext cx="2705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Enforce tags, attest SA, one budget per service</a:t>
            </a:r>
          </a:p>
        </p:txBody>
      </p:sp>
      <p:sp>
        <p:nvSpPr>
          <p:cNvPr id="34" name="TextBox 33">
            <a:extLst>
              <a:ext uri="{FF2B5EF4-FFF2-40B4-BE49-F238E27FC236}">
                <a16:creationId xmlns:a16="http://schemas.microsoft.com/office/drawing/2014/main" id="{EEAFD61C-4399-DD7B-6C7E-6840C8E4A8F8}"/>
              </a:ext>
            </a:extLst>
          </p:cNvPr>
          <p:cNvSpPr txBox="1"/>
          <p:nvPr/>
        </p:nvSpPr>
        <p:spPr>
          <a:xfrm>
            <a:off x="9563100" y="4470400"/>
            <a:ext cx="1879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Cost by service + owner</a:t>
            </a:r>
          </a:p>
        </p:txBody>
      </p:sp>
      <p:cxnSp>
        <p:nvCxnSpPr>
          <p:cNvPr id="35" name="Straight Connector 34">
            <a:extLst>
              <a:ext uri="{FF2B5EF4-FFF2-40B4-BE49-F238E27FC236}">
                <a16:creationId xmlns:a16="http://schemas.microsoft.com/office/drawing/2014/main" id="{C074A560-4FC2-D243-A601-9BBEE6C74A01}"/>
              </a:ext>
            </a:extLst>
          </p:cNvPr>
          <p:cNvCxnSpPr/>
          <p:nvPr/>
        </p:nvCxnSpPr>
        <p:spPr>
          <a:xfrm>
            <a:off x="558800" y="51435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5BE4EC83-C6B8-ED41-626E-904257E9BA0F}"/>
              </a:ext>
            </a:extLst>
          </p:cNvPr>
          <p:cNvSpPr txBox="1"/>
          <p:nvPr/>
        </p:nvSpPr>
        <p:spPr>
          <a:xfrm>
            <a:off x="609600" y="51816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Adopt</a:t>
            </a:r>
          </a:p>
        </p:txBody>
      </p:sp>
      <p:sp>
        <p:nvSpPr>
          <p:cNvPr id="37" name="TextBox 36">
            <a:extLst>
              <a:ext uri="{FF2B5EF4-FFF2-40B4-BE49-F238E27FC236}">
                <a16:creationId xmlns:a16="http://schemas.microsoft.com/office/drawing/2014/main" id="{93D18F90-3368-672B-D9CE-504F54E01C3E}"/>
              </a:ext>
            </a:extLst>
          </p:cNvPr>
          <p:cNvSpPr txBox="1"/>
          <p:nvPr/>
        </p:nvSpPr>
        <p:spPr>
          <a:xfrm>
            <a:off x="2006600" y="51816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Let the system fix things only with a proof step</a:t>
            </a:r>
          </a:p>
        </p:txBody>
      </p:sp>
      <p:sp>
        <p:nvSpPr>
          <p:cNvPr id="38" name="TextBox 37">
            <a:extLst>
              <a:ext uri="{FF2B5EF4-FFF2-40B4-BE49-F238E27FC236}">
                <a16:creationId xmlns:a16="http://schemas.microsoft.com/office/drawing/2014/main" id="{78C63133-3E32-630C-D304-B34716A3BE54}"/>
              </a:ext>
            </a:extLst>
          </p:cNvPr>
          <p:cNvSpPr txBox="1"/>
          <p:nvPr/>
        </p:nvSpPr>
        <p:spPr>
          <a:xfrm>
            <a:off x="4800600" y="5181600"/>
            <a:ext cx="1752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Service owner</a:t>
            </a:r>
          </a:p>
        </p:txBody>
      </p:sp>
      <p:sp>
        <p:nvSpPr>
          <p:cNvPr id="39" name="TextBox 38">
            <a:extLst>
              <a:ext uri="{FF2B5EF4-FFF2-40B4-BE49-F238E27FC236}">
                <a16:creationId xmlns:a16="http://schemas.microsoft.com/office/drawing/2014/main" id="{41D83CCE-139F-CEC4-AD2D-2CF3C4E6C1F5}"/>
              </a:ext>
            </a:extLst>
          </p:cNvPr>
          <p:cNvSpPr txBox="1"/>
          <p:nvPr/>
        </p:nvSpPr>
        <p:spPr>
          <a:xfrm>
            <a:off x="6705600" y="5181600"/>
            <a:ext cx="2705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Pick one fix; define how it is verified</a:t>
            </a:r>
          </a:p>
        </p:txBody>
      </p:sp>
      <p:sp>
        <p:nvSpPr>
          <p:cNvPr id="40" name="TextBox 39">
            <a:extLst>
              <a:ext uri="{FF2B5EF4-FFF2-40B4-BE49-F238E27FC236}">
                <a16:creationId xmlns:a16="http://schemas.microsoft.com/office/drawing/2014/main" id="{DF47381A-5D32-6680-356A-70B33206D38F}"/>
              </a:ext>
            </a:extLst>
          </p:cNvPr>
          <p:cNvSpPr txBox="1"/>
          <p:nvPr/>
        </p:nvSpPr>
        <p:spPr>
          <a:xfrm>
            <a:off x="9563100" y="5181600"/>
            <a:ext cx="1879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 fresh order after each change</a:t>
            </a:r>
          </a:p>
        </p:txBody>
      </p:sp>
      <p:cxnSp>
        <p:nvCxnSpPr>
          <p:cNvPr id="41" name="Straight Connector 40">
            <a:extLst>
              <a:ext uri="{FF2B5EF4-FFF2-40B4-BE49-F238E27FC236}">
                <a16:creationId xmlns:a16="http://schemas.microsoft.com/office/drawing/2014/main" id="{770E4123-F064-1CFC-4E1E-A16FBC1E8D03}"/>
              </a:ext>
            </a:extLst>
          </p:cNvPr>
          <p:cNvCxnSpPr/>
          <p:nvPr/>
        </p:nvCxnSpPr>
        <p:spPr>
          <a:xfrm>
            <a:off x="558800" y="5854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0CF75A9C-58D1-BC5E-2AD4-CA37B9CC3AF3}"/>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44C21F38-2DF0-B44E-15CA-7D26695AACD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The whole session in one table: one practice per section.</a:t>
            </a:r>
          </a:p>
        </p:txBody>
      </p:sp>
    </p:spTree>
    <p:extLst>
      <p:ext uri="{BB962C8B-B14F-4D97-AF65-F5344CB8AC3E}">
        <p14:creationId xmlns:p14="http://schemas.microsoft.com/office/powerpoint/2010/main" val="3356568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A5C7DF-2E47-9DB8-A23C-A9092DCBEEA5}"/>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FC0F48C-B6B5-436D-1454-E3EDCD32A29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6D1DE25-71B5-3C4F-487C-82A12625FFC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And what to unlearn</a:t>
            </a:r>
          </a:p>
        </p:txBody>
      </p:sp>
      <p:sp>
        <p:nvSpPr>
          <p:cNvPr id="5" name="Rectangle 4">
            <a:extLst>
              <a:ext uri="{FF2B5EF4-FFF2-40B4-BE49-F238E27FC236}">
                <a16:creationId xmlns:a16="http://schemas.microsoft.com/office/drawing/2014/main" id="{91B79E54-C14E-05F9-E24A-C9FD4CFB97C6}"/>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6504A44-4A27-1DDD-DBB3-BCE66EE78CC7}"/>
              </a:ext>
            </a:extLst>
          </p:cNvPr>
          <p:cNvSpPr/>
          <p:nvPr/>
        </p:nvSpPr>
        <p:spPr>
          <a:xfrm>
            <a:off x="558800" y="1752600"/>
            <a:ext cx="110871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5AC6E6A-6791-86CE-6AD5-4B487EF0849A}"/>
              </a:ext>
            </a:extLst>
          </p:cNvPr>
          <p:cNvSpPr txBox="1"/>
          <p:nvPr/>
        </p:nvSpPr>
        <p:spPr>
          <a:xfrm>
            <a:off x="609600" y="1803400"/>
            <a:ext cx="4826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ASSUMPTION TO RETIRE</a:t>
            </a:r>
          </a:p>
        </p:txBody>
      </p:sp>
      <p:sp>
        <p:nvSpPr>
          <p:cNvPr id="8" name="TextBox 7">
            <a:extLst>
              <a:ext uri="{FF2B5EF4-FFF2-40B4-BE49-F238E27FC236}">
                <a16:creationId xmlns:a16="http://schemas.microsoft.com/office/drawing/2014/main" id="{BECD840E-402F-1878-1C57-D0BD4E20157C}"/>
              </a:ext>
            </a:extLst>
          </p:cNvPr>
          <p:cNvSpPr txBox="1"/>
          <p:nvPr/>
        </p:nvSpPr>
        <p:spPr>
          <a:xfrm>
            <a:off x="5435600" y="1803400"/>
            <a:ext cx="61595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CHECK INSTEAD</a:t>
            </a:r>
          </a:p>
        </p:txBody>
      </p:sp>
      <p:sp>
        <p:nvSpPr>
          <p:cNvPr id="9" name="TextBox 8">
            <a:extLst>
              <a:ext uri="{FF2B5EF4-FFF2-40B4-BE49-F238E27FC236}">
                <a16:creationId xmlns:a16="http://schemas.microsoft.com/office/drawing/2014/main" id="{8B1F951D-F0BC-7518-9651-D4618082B6FE}"/>
              </a:ext>
            </a:extLst>
          </p:cNvPr>
          <p:cNvSpPr txBox="1"/>
          <p:nvPr/>
        </p:nvSpPr>
        <p:spPr>
          <a:xfrm>
            <a:off x="609600" y="23368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Observe: a heartbeat means it works</a:t>
            </a:r>
          </a:p>
        </p:txBody>
      </p:sp>
      <p:sp>
        <p:nvSpPr>
          <p:cNvPr id="10" name="TextBox 9">
            <a:extLst>
              <a:ext uri="{FF2B5EF4-FFF2-40B4-BE49-F238E27FC236}">
                <a16:creationId xmlns:a16="http://schemas.microsoft.com/office/drawing/2014/main" id="{A1EA1EF8-3561-FD7D-4E99-9DE7AE2C6F34}"/>
              </a:ext>
            </a:extLst>
          </p:cNvPr>
          <p:cNvSpPr txBox="1"/>
          <p:nvPr/>
        </p:nvSpPr>
        <p:spPr>
          <a:xfrm>
            <a:off x="5435600" y="23368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Run a fresh order and check its result.</a:t>
            </a:r>
          </a:p>
        </p:txBody>
      </p:sp>
      <p:cxnSp>
        <p:nvCxnSpPr>
          <p:cNvPr id="11" name="Straight Connector 10">
            <a:extLst>
              <a:ext uri="{FF2B5EF4-FFF2-40B4-BE49-F238E27FC236}">
                <a16:creationId xmlns:a16="http://schemas.microsoft.com/office/drawing/2014/main" id="{CD7DCFA5-B3C9-B043-B636-527D4A7A6F37}"/>
              </a:ext>
            </a:extLst>
          </p:cNvPr>
          <p:cNvCxnSpPr/>
          <p:nvPr/>
        </p:nvCxnSpPr>
        <p:spPr>
          <a:xfrm>
            <a:off x="558800" y="30099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B012108-1A36-9742-641E-1C5873B44D9D}"/>
              </a:ext>
            </a:extLst>
          </p:cNvPr>
          <p:cNvSpPr txBox="1"/>
          <p:nvPr/>
        </p:nvSpPr>
        <p:spPr>
          <a:xfrm>
            <a:off x="609600" y="30480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Secure: connected means secured</a:t>
            </a:r>
          </a:p>
        </p:txBody>
      </p:sp>
      <p:sp>
        <p:nvSpPr>
          <p:cNvPr id="13" name="TextBox 12">
            <a:extLst>
              <a:ext uri="{FF2B5EF4-FFF2-40B4-BE49-F238E27FC236}">
                <a16:creationId xmlns:a16="http://schemas.microsoft.com/office/drawing/2014/main" id="{9DEC1C2F-8E8A-421E-AF40-F010AF771492}"/>
              </a:ext>
            </a:extLst>
          </p:cNvPr>
          <p:cNvSpPr txBox="1"/>
          <p:nvPr/>
        </p:nvSpPr>
        <p:spPr>
          <a:xfrm>
            <a:off x="5435600" y="30480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Check who holds which key, and Defender coverage.</a:t>
            </a:r>
          </a:p>
        </p:txBody>
      </p:sp>
      <p:cxnSp>
        <p:nvCxnSpPr>
          <p:cNvPr id="14" name="Straight Connector 13">
            <a:extLst>
              <a:ext uri="{FF2B5EF4-FFF2-40B4-BE49-F238E27FC236}">
                <a16:creationId xmlns:a16="http://schemas.microsoft.com/office/drawing/2014/main" id="{DF4CA9E0-D177-C1D9-A1C7-3F8C91EC8BB7}"/>
              </a:ext>
            </a:extLst>
          </p:cNvPr>
          <p:cNvCxnSpPr/>
          <p:nvPr/>
        </p:nvCxnSpPr>
        <p:spPr>
          <a:xfrm>
            <a:off x="558800" y="37211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77BE9C7-F8EF-0D62-8ED1-D741C07B3D4A}"/>
              </a:ext>
            </a:extLst>
          </p:cNvPr>
          <p:cNvSpPr txBox="1"/>
          <p:nvPr/>
        </p:nvSpPr>
        <p:spPr>
          <a:xfrm>
            <a:off x="609600" y="37592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Govern: an assignment means compliance</a:t>
            </a:r>
          </a:p>
        </p:txBody>
      </p:sp>
      <p:sp>
        <p:nvSpPr>
          <p:cNvPr id="16" name="TextBox 15">
            <a:extLst>
              <a:ext uri="{FF2B5EF4-FFF2-40B4-BE49-F238E27FC236}">
                <a16:creationId xmlns:a16="http://schemas.microsoft.com/office/drawing/2014/main" id="{DEA97774-A5FB-48C5-E3EC-73D512EB9172}"/>
              </a:ext>
            </a:extLst>
          </p:cNvPr>
          <p:cNvSpPr txBox="1"/>
          <p:nvPr/>
        </p:nvSpPr>
        <p:spPr>
          <a:xfrm>
            <a:off x="5435600" y="37592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Inspect evaluation results and required remediation.</a:t>
            </a:r>
          </a:p>
        </p:txBody>
      </p:sp>
      <p:cxnSp>
        <p:nvCxnSpPr>
          <p:cNvPr id="17" name="Straight Connector 16">
            <a:extLst>
              <a:ext uri="{FF2B5EF4-FFF2-40B4-BE49-F238E27FC236}">
                <a16:creationId xmlns:a16="http://schemas.microsoft.com/office/drawing/2014/main" id="{3513C550-3CEE-66A0-C97C-1A12E42FBE81}"/>
              </a:ext>
            </a:extLst>
          </p:cNvPr>
          <p:cNvCxnSpPr/>
          <p:nvPr/>
        </p:nvCxnSpPr>
        <p:spPr>
          <a:xfrm>
            <a:off x="558800" y="44323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C1EC9965-D5EF-317C-2638-44CB5BB30195}"/>
              </a:ext>
            </a:extLst>
          </p:cNvPr>
          <p:cNvSpPr txBox="1"/>
          <p:nvPr/>
        </p:nvSpPr>
        <p:spPr>
          <a:xfrm>
            <a:off x="609600" y="44704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Cost: no bill means free</a:t>
            </a:r>
          </a:p>
        </p:txBody>
      </p:sp>
      <p:sp>
        <p:nvSpPr>
          <p:cNvPr id="19" name="TextBox 18">
            <a:extLst>
              <a:ext uri="{FF2B5EF4-FFF2-40B4-BE49-F238E27FC236}">
                <a16:creationId xmlns:a16="http://schemas.microsoft.com/office/drawing/2014/main" id="{EEAE0CA2-AE06-322D-E901-32E9D1C37B30}"/>
              </a:ext>
            </a:extLst>
          </p:cNvPr>
          <p:cNvSpPr txBox="1"/>
          <p:nvPr/>
        </p:nvSpPr>
        <p:spPr>
          <a:xfrm>
            <a:off x="5435600" y="44704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Find the meter, the licence benefit and the allocation.</a:t>
            </a:r>
          </a:p>
        </p:txBody>
      </p:sp>
      <p:cxnSp>
        <p:nvCxnSpPr>
          <p:cNvPr id="20" name="Straight Connector 19">
            <a:extLst>
              <a:ext uri="{FF2B5EF4-FFF2-40B4-BE49-F238E27FC236}">
                <a16:creationId xmlns:a16="http://schemas.microsoft.com/office/drawing/2014/main" id="{2FC4E2D7-CE65-C2C9-493D-ECB704AD33E4}"/>
              </a:ext>
            </a:extLst>
          </p:cNvPr>
          <p:cNvCxnSpPr/>
          <p:nvPr/>
        </p:nvCxnSpPr>
        <p:spPr>
          <a:xfrm>
            <a:off x="558800" y="51435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5ED2367B-30B1-D328-44C0-6AA383E75354}"/>
              </a:ext>
            </a:extLst>
          </p:cNvPr>
          <p:cNvSpPr txBox="1"/>
          <p:nvPr/>
        </p:nvSpPr>
        <p:spPr>
          <a:xfrm>
            <a:off x="609600" y="51816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Adopt: a finished task means recovery</a:t>
            </a:r>
          </a:p>
        </p:txBody>
      </p:sp>
      <p:sp>
        <p:nvSpPr>
          <p:cNvPr id="22" name="TextBox 21">
            <a:extLst>
              <a:ext uri="{FF2B5EF4-FFF2-40B4-BE49-F238E27FC236}">
                <a16:creationId xmlns:a16="http://schemas.microsoft.com/office/drawing/2014/main" id="{90C59F06-DA19-1606-D272-518D024A2538}"/>
              </a:ext>
            </a:extLst>
          </p:cNvPr>
          <p:cNvSpPr txBox="1"/>
          <p:nvPr/>
        </p:nvSpPr>
        <p:spPr>
          <a:xfrm>
            <a:off x="5435600" y="51816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Verify the intended outcome.</a:t>
            </a:r>
          </a:p>
        </p:txBody>
      </p:sp>
      <p:cxnSp>
        <p:nvCxnSpPr>
          <p:cNvPr id="23" name="Straight Connector 22">
            <a:extLst>
              <a:ext uri="{FF2B5EF4-FFF2-40B4-BE49-F238E27FC236}">
                <a16:creationId xmlns:a16="http://schemas.microsoft.com/office/drawing/2014/main" id="{94E1886C-6951-4FEC-C5FF-D1A059F17EC4}"/>
              </a:ext>
            </a:extLst>
          </p:cNvPr>
          <p:cNvCxnSpPr/>
          <p:nvPr/>
        </p:nvCxnSpPr>
        <p:spPr>
          <a:xfrm>
            <a:off x="558800" y="5854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E7E1AE10-B52F-3DDF-9539-7C5B63013A2B}"/>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681A03A-F711-E402-874C-F7042E30B9E0}"/>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One trap per section, in the order we covered them.</a:t>
            </a:r>
          </a:p>
        </p:txBody>
      </p:sp>
    </p:spTree>
    <p:extLst>
      <p:ext uri="{BB962C8B-B14F-4D97-AF65-F5344CB8AC3E}">
        <p14:creationId xmlns:p14="http://schemas.microsoft.com/office/powerpoint/2010/main" val="10527682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2F8669-4349-9918-FC05-6BC30F401C4A}"/>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2F3B6C-6C0E-F21E-AD21-F6AE04D519D9}"/>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8D8C359-3472-F4BD-BA7A-3EFFA2B71504}"/>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Your first thirty days</a:t>
            </a:r>
          </a:p>
        </p:txBody>
      </p:sp>
      <p:sp>
        <p:nvSpPr>
          <p:cNvPr id="5" name="Rectangle 4">
            <a:extLst>
              <a:ext uri="{FF2B5EF4-FFF2-40B4-BE49-F238E27FC236}">
                <a16:creationId xmlns:a16="http://schemas.microsoft.com/office/drawing/2014/main" id="{8419A76B-EBF7-A900-5860-A220220CBD93}"/>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7B930D9-0A00-7911-7064-6151C5F422A3}"/>
              </a:ext>
            </a:extLst>
          </p:cNvPr>
          <p:cNvSpPr/>
          <p:nvPr/>
        </p:nvSpPr>
        <p:spPr>
          <a:xfrm>
            <a:off x="558800" y="1752600"/>
            <a:ext cx="110871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445518B-BC20-7C72-AD7A-43510464A038}"/>
              </a:ext>
            </a:extLst>
          </p:cNvPr>
          <p:cNvSpPr txBox="1"/>
          <p:nvPr/>
        </p:nvSpPr>
        <p:spPr>
          <a:xfrm>
            <a:off x="609600" y="1803400"/>
            <a:ext cx="1524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WHEN</a:t>
            </a:r>
          </a:p>
        </p:txBody>
      </p:sp>
      <p:sp>
        <p:nvSpPr>
          <p:cNvPr id="8" name="TextBox 7">
            <a:extLst>
              <a:ext uri="{FF2B5EF4-FFF2-40B4-BE49-F238E27FC236}">
                <a16:creationId xmlns:a16="http://schemas.microsoft.com/office/drawing/2014/main" id="{7EC2FF3E-5C5B-40D2-3F93-D7776A504251}"/>
              </a:ext>
            </a:extLst>
          </p:cNvPr>
          <p:cNvSpPr txBox="1"/>
          <p:nvPr/>
        </p:nvSpPr>
        <p:spPr>
          <a:xfrm>
            <a:off x="2133600" y="1803400"/>
            <a:ext cx="4318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FOCUS</a:t>
            </a:r>
          </a:p>
        </p:txBody>
      </p:sp>
      <p:sp>
        <p:nvSpPr>
          <p:cNvPr id="9" name="TextBox 8">
            <a:extLst>
              <a:ext uri="{FF2B5EF4-FFF2-40B4-BE49-F238E27FC236}">
                <a16:creationId xmlns:a16="http://schemas.microsoft.com/office/drawing/2014/main" id="{F608946C-E615-E35B-8028-5D919915F4BA}"/>
              </a:ext>
            </a:extLst>
          </p:cNvPr>
          <p:cNvSpPr txBox="1"/>
          <p:nvPr/>
        </p:nvSpPr>
        <p:spPr>
          <a:xfrm>
            <a:off x="6451600" y="1803400"/>
            <a:ext cx="51435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DELIVERABLE</a:t>
            </a:r>
          </a:p>
        </p:txBody>
      </p:sp>
      <p:sp>
        <p:nvSpPr>
          <p:cNvPr id="10" name="TextBox 9">
            <a:extLst>
              <a:ext uri="{FF2B5EF4-FFF2-40B4-BE49-F238E27FC236}">
                <a16:creationId xmlns:a16="http://schemas.microsoft.com/office/drawing/2014/main" id="{D9BD39B9-2230-7678-6B0E-81F90C1CEEBC}"/>
              </a:ext>
            </a:extLst>
          </p:cNvPr>
          <p:cNvSpPr txBox="1"/>
          <p:nvPr/>
        </p:nvSpPr>
        <p:spPr>
          <a:xfrm>
            <a:off x="609600" y="2336800"/>
            <a:ext cx="1371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Week 1</a:t>
            </a:r>
          </a:p>
        </p:txBody>
      </p:sp>
      <p:sp>
        <p:nvSpPr>
          <p:cNvPr id="11" name="TextBox 10">
            <a:extLst>
              <a:ext uri="{FF2B5EF4-FFF2-40B4-BE49-F238E27FC236}">
                <a16:creationId xmlns:a16="http://schemas.microsoft.com/office/drawing/2014/main" id="{54CF2C5A-77E6-2813-684F-FAD2FD293DB0}"/>
              </a:ext>
            </a:extLst>
          </p:cNvPr>
          <p:cNvSpPr txBox="1"/>
          <p:nvPr/>
        </p:nvSpPr>
        <p:spPr>
          <a:xfrm>
            <a:off x="2133600" y="2336800"/>
            <a:ext cx="4165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Inventory + owners (Govern)</a:t>
            </a:r>
          </a:p>
        </p:txBody>
      </p:sp>
      <p:sp>
        <p:nvSpPr>
          <p:cNvPr id="12" name="TextBox 11">
            <a:extLst>
              <a:ext uri="{FF2B5EF4-FFF2-40B4-BE49-F238E27FC236}">
                <a16:creationId xmlns:a16="http://schemas.microsoft.com/office/drawing/2014/main" id="{F1B68296-85EE-427B-5F05-D50231BFDFBD}"/>
              </a:ext>
            </a:extLst>
          </p:cNvPr>
          <p:cNvSpPr txBox="1"/>
          <p:nvPr/>
        </p:nvSpPr>
        <p:spPr>
          <a:xfrm>
            <a:off x="6451600" y="2336800"/>
            <a:ext cx="4991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Known resources, workloads and responsible teams</a:t>
            </a:r>
          </a:p>
        </p:txBody>
      </p:sp>
      <p:cxnSp>
        <p:nvCxnSpPr>
          <p:cNvPr id="13" name="Straight Connector 12">
            <a:extLst>
              <a:ext uri="{FF2B5EF4-FFF2-40B4-BE49-F238E27FC236}">
                <a16:creationId xmlns:a16="http://schemas.microsoft.com/office/drawing/2014/main" id="{90246641-1811-381F-9A74-3121821DB89D}"/>
              </a:ext>
            </a:extLst>
          </p:cNvPr>
          <p:cNvCxnSpPr/>
          <p:nvPr/>
        </p:nvCxnSpPr>
        <p:spPr>
          <a:xfrm>
            <a:off x="558800" y="3187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68334AB-101B-EC45-7C8B-89D3B45C97AB}"/>
              </a:ext>
            </a:extLst>
          </p:cNvPr>
          <p:cNvSpPr txBox="1"/>
          <p:nvPr/>
        </p:nvSpPr>
        <p:spPr>
          <a:xfrm>
            <a:off x="609600" y="3225800"/>
            <a:ext cx="1371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Week 2</a:t>
            </a:r>
          </a:p>
        </p:txBody>
      </p:sp>
      <p:sp>
        <p:nvSpPr>
          <p:cNvPr id="15" name="TextBox 14">
            <a:extLst>
              <a:ext uri="{FF2B5EF4-FFF2-40B4-BE49-F238E27FC236}">
                <a16:creationId xmlns:a16="http://schemas.microsoft.com/office/drawing/2014/main" id="{D2230193-7896-25F4-3A04-0E73D2D265D8}"/>
              </a:ext>
            </a:extLst>
          </p:cNvPr>
          <p:cNvSpPr txBox="1"/>
          <p:nvPr/>
        </p:nvSpPr>
        <p:spPr>
          <a:xfrm>
            <a:off x="2133600" y="3225800"/>
            <a:ext cx="4165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Access + key rules (Secure), placement + Policy (Govern)</a:t>
            </a:r>
          </a:p>
        </p:txBody>
      </p:sp>
      <p:sp>
        <p:nvSpPr>
          <p:cNvPr id="16" name="TextBox 15">
            <a:extLst>
              <a:ext uri="{FF2B5EF4-FFF2-40B4-BE49-F238E27FC236}">
                <a16:creationId xmlns:a16="http://schemas.microsoft.com/office/drawing/2014/main" id="{C0811C92-F5A4-3351-DCAC-5CE72390DF82}"/>
              </a:ext>
            </a:extLst>
          </p:cNvPr>
          <p:cNvSpPr txBox="1"/>
          <p:nvPr/>
        </p:nvSpPr>
        <p:spPr>
          <a:xfrm>
            <a:off x="6451600" y="3225800"/>
            <a:ext cx="4991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Verified access, a landing-zone scope, a compliance standard assigned</a:t>
            </a:r>
          </a:p>
        </p:txBody>
      </p:sp>
      <p:cxnSp>
        <p:nvCxnSpPr>
          <p:cNvPr id="17" name="Straight Connector 16">
            <a:extLst>
              <a:ext uri="{FF2B5EF4-FFF2-40B4-BE49-F238E27FC236}">
                <a16:creationId xmlns:a16="http://schemas.microsoft.com/office/drawing/2014/main" id="{F06BD9BA-FE16-D274-5D04-E81DC7BD249C}"/>
              </a:ext>
            </a:extLst>
          </p:cNvPr>
          <p:cNvCxnSpPr/>
          <p:nvPr/>
        </p:nvCxnSpPr>
        <p:spPr>
          <a:xfrm>
            <a:off x="558800" y="4076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2D3670B-55CC-49AC-8090-B83FE1A77624}"/>
              </a:ext>
            </a:extLst>
          </p:cNvPr>
          <p:cNvSpPr txBox="1"/>
          <p:nvPr/>
        </p:nvSpPr>
        <p:spPr>
          <a:xfrm>
            <a:off x="609600" y="4114800"/>
            <a:ext cx="1371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Week 3</a:t>
            </a:r>
          </a:p>
        </p:txBody>
      </p:sp>
      <p:sp>
        <p:nvSpPr>
          <p:cNvPr id="19" name="TextBox 18">
            <a:extLst>
              <a:ext uri="{FF2B5EF4-FFF2-40B4-BE49-F238E27FC236}">
                <a16:creationId xmlns:a16="http://schemas.microsoft.com/office/drawing/2014/main" id="{FCFF6658-6182-9582-703A-972A7EEE7714}"/>
              </a:ext>
            </a:extLst>
          </p:cNvPr>
          <p:cNvSpPr txBox="1"/>
          <p:nvPr/>
        </p:nvSpPr>
        <p:spPr>
          <a:xfrm>
            <a:off x="2133600" y="4114800"/>
            <a:ext cx="4165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One service view + one outcome alert (Observe)</a:t>
            </a:r>
          </a:p>
        </p:txBody>
      </p:sp>
      <p:sp>
        <p:nvSpPr>
          <p:cNvPr id="20" name="TextBox 19">
            <a:extLst>
              <a:ext uri="{FF2B5EF4-FFF2-40B4-BE49-F238E27FC236}">
                <a16:creationId xmlns:a16="http://schemas.microsoft.com/office/drawing/2014/main" id="{AF3CB39F-4EBD-F371-3612-C3C95320C6FA}"/>
              </a:ext>
            </a:extLst>
          </p:cNvPr>
          <p:cNvSpPr txBox="1"/>
          <p:nvPr/>
        </p:nvSpPr>
        <p:spPr>
          <a:xfrm>
            <a:off x="6451600" y="4114800"/>
            <a:ext cx="4991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One useful service view and an owned response path</a:t>
            </a:r>
          </a:p>
        </p:txBody>
      </p:sp>
      <p:cxnSp>
        <p:nvCxnSpPr>
          <p:cNvPr id="21" name="Straight Connector 20">
            <a:extLst>
              <a:ext uri="{FF2B5EF4-FFF2-40B4-BE49-F238E27FC236}">
                <a16:creationId xmlns:a16="http://schemas.microsoft.com/office/drawing/2014/main" id="{C3DFCA7D-A01B-3523-33C3-229779214A60}"/>
              </a:ext>
            </a:extLst>
          </p:cNvPr>
          <p:cNvCxnSpPr/>
          <p:nvPr/>
        </p:nvCxnSpPr>
        <p:spPr>
          <a:xfrm>
            <a:off x="558800" y="4965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B22045B-7974-A274-34DF-36105919B619}"/>
              </a:ext>
            </a:extLst>
          </p:cNvPr>
          <p:cNvSpPr txBox="1"/>
          <p:nvPr/>
        </p:nvSpPr>
        <p:spPr>
          <a:xfrm>
            <a:off x="609600" y="5003800"/>
            <a:ext cx="1371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Week 4</a:t>
            </a:r>
          </a:p>
        </p:txBody>
      </p:sp>
      <p:sp>
        <p:nvSpPr>
          <p:cNvPr id="23" name="TextBox 22">
            <a:extLst>
              <a:ext uri="{FF2B5EF4-FFF2-40B4-BE49-F238E27FC236}">
                <a16:creationId xmlns:a16="http://schemas.microsoft.com/office/drawing/2014/main" id="{22469418-51A0-BC91-0DA3-AA4BEAFCE189}"/>
              </a:ext>
            </a:extLst>
          </p:cNvPr>
          <p:cNvSpPr txBox="1"/>
          <p:nvPr/>
        </p:nvSpPr>
        <p:spPr>
          <a:xfrm>
            <a:off x="2133600" y="5003800"/>
            <a:ext cx="4165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Tags + budgets (Cost), one system fix with a proof step (Adopt)</a:t>
            </a:r>
          </a:p>
        </p:txBody>
      </p:sp>
      <p:sp>
        <p:nvSpPr>
          <p:cNvPr id="24" name="TextBox 23">
            <a:extLst>
              <a:ext uri="{FF2B5EF4-FFF2-40B4-BE49-F238E27FC236}">
                <a16:creationId xmlns:a16="http://schemas.microsoft.com/office/drawing/2014/main" id="{03D1CAA2-2FFD-79BE-E184-DD661A8CDAE1}"/>
              </a:ext>
            </a:extLst>
          </p:cNvPr>
          <p:cNvSpPr txBox="1"/>
          <p:nvPr/>
        </p:nvSpPr>
        <p:spPr>
          <a:xfrm>
            <a:off x="6451600" y="5003800"/>
            <a:ext cx="4991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Cost by service and owner; one fix the system makes, proved by a fresh order</a:t>
            </a:r>
          </a:p>
        </p:txBody>
      </p:sp>
      <p:cxnSp>
        <p:nvCxnSpPr>
          <p:cNvPr id="25" name="Straight Connector 24">
            <a:extLst>
              <a:ext uri="{FF2B5EF4-FFF2-40B4-BE49-F238E27FC236}">
                <a16:creationId xmlns:a16="http://schemas.microsoft.com/office/drawing/2014/main" id="{E71356A6-A223-AE76-139B-6851818E7020}"/>
              </a:ext>
            </a:extLst>
          </p:cNvPr>
          <p:cNvCxnSpPr/>
          <p:nvPr/>
        </p:nvCxnSpPr>
        <p:spPr>
          <a:xfrm>
            <a:off x="558800" y="5854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F480E564-8420-CDCE-77BB-D5C795D6F780}"/>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B71A1E0-4FE1-B059-BBF9-082AACD695E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Start with one service and repeat the pattern across the estate.</a:t>
            </a:r>
          </a:p>
        </p:txBody>
      </p:sp>
    </p:spTree>
    <p:extLst>
      <p:ext uri="{BB962C8B-B14F-4D97-AF65-F5344CB8AC3E}">
        <p14:creationId xmlns:p14="http://schemas.microsoft.com/office/powerpoint/2010/main" val="6384907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3" name="TextBox 2"/>
          <p:cNvSpPr txBox="1"/>
          <p:nvPr/>
        </p:nvSpPr>
        <p:spPr>
          <a:xfrm>
            <a:off x="822960" y="1600200"/>
            <a:ext cx="10545775" cy="771750"/>
          </a:xfrm>
          <a:prstGeom prst="rect">
            <a:avLst/>
          </a:prstGeom>
          <a:noFill/>
        </p:spPr>
        <p:txBody>
          <a:bodyPr wrap="square" anchor="t">
            <a:spAutoFit/>
          </a:bodyPr>
          <a:lstStyle/>
          <a:p>
            <a:pPr algn="l">
              <a:lnSpc>
                <a:spcPct val="115000"/>
              </a:lnSpc>
            </a:pPr>
            <a:r>
              <a:rPr sz="4200" b="1">
                <a:solidFill>
                  <a:srgbClr val="EAF0F7"/>
                </a:solidFill>
                <a:latin typeface="Segoe UI"/>
              </a:rPr>
              <a:t>Let's keep the conversation going.</a:t>
            </a:r>
          </a:p>
        </p:txBody>
      </p:sp>
      <p:sp>
        <p:nvSpPr>
          <p:cNvPr id="4" name="Rectangle 3"/>
          <p:cNvSpPr/>
          <p:nvPr/>
        </p:nvSpPr>
        <p:spPr>
          <a:xfrm>
            <a:off x="822960" y="2670048"/>
            <a:ext cx="1005840" cy="50800"/>
          </a:xfrm>
          <a:prstGeom prst="rect">
            <a:avLst/>
          </a:prstGeom>
          <a:solidFill>
            <a:srgbClr val="56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907792"/>
            <a:ext cx="10545775" cy="448200"/>
          </a:xfrm>
          <a:prstGeom prst="rect">
            <a:avLst/>
          </a:prstGeom>
          <a:noFill/>
        </p:spPr>
        <p:txBody>
          <a:bodyPr wrap="square" anchor="t">
            <a:spAutoFit/>
          </a:bodyPr>
          <a:lstStyle/>
          <a:p>
            <a:pPr algn="l">
              <a:lnSpc>
                <a:spcPct val="115000"/>
              </a:lnSpc>
            </a:pPr>
            <a:r>
              <a:rPr sz="2200" b="0">
                <a:solidFill>
                  <a:srgbClr val="56D6E0"/>
                </a:solidFill>
                <a:latin typeface="Segoe UI"/>
              </a:rPr>
              <a:t>Kristopher Turner · This Is My Demo</a:t>
            </a:r>
          </a:p>
        </p:txBody>
      </p:sp>
      <p:sp>
        <p:nvSpPr>
          <p:cNvPr id="6" name="Rounded Rectangle 5"/>
          <p:cNvSpPr/>
          <p:nvPr/>
        </p:nvSpPr>
        <p:spPr>
          <a:xfrm>
            <a:off x="822960" y="3794760"/>
            <a:ext cx="4937760" cy="566928"/>
          </a:xfrm>
          <a:prstGeom prst="roundRect">
            <a:avLst/>
          </a:prstGeom>
          <a:solidFill>
            <a:srgbClr val="1B2434"/>
          </a:solidFill>
          <a:ln w="12700">
            <a:solidFill>
              <a:srgbClr val="56D6E0"/>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900" b="1">
                <a:solidFill>
                  <a:srgbClr val="EAF0F7"/>
                </a:solidFill>
                <a:latin typeface="Segoe UI"/>
              </a:rPr>
              <a:t>thisismydemo.cloud</a:t>
            </a:r>
          </a:p>
        </p:txBody>
      </p:sp>
      <p:sp>
        <p:nvSpPr>
          <p:cNvPr id="7" name="Rounded Rectangle 6"/>
          <p:cNvSpPr/>
          <p:nvPr/>
        </p:nvSpPr>
        <p:spPr>
          <a:xfrm>
            <a:off x="822960" y="4507992"/>
            <a:ext cx="4937760" cy="566928"/>
          </a:xfrm>
          <a:prstGeom prst="roundRect">
            <a:avLst/>
          </a:prstGeom>
          <a:solidFill>
            <a:srgbClr val="1B2434"/>
          </a:solidFill>
          <a:ln w="12700">
            <a:solidFill>
              <a:srgbClr val="56D6E0"/>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900" b="1">
                <a:solidFill>
                  <a:srgbClr val="EAF0F7"/>
                </a:solidFill>
                <a:latin typeface="Segoe UI"/>
              </a:rPr>
              <a:t>github.com/thisismydemo/cas26</a:t>
            </a:r>
          </a:p>
        </p:txBody>
      </p:sp>
      <p:sp>
        <p:nvSpPr>
          <p:cNvPr id="8" name="TextBox 7"/>
          <p:cNvSpPr txBox="1"/>
          <p:nvPr/>
        </p:nvSpPr>
        <p:spPr>
          <a:xfrm>
            <a:off x="822960" y="5312664"/>
            <a:ext cx="10545775" cy="367345"/>
          </a:xfrm>
          <a:prstGeom prst="rect">
            <a:avLst/>
          </a:prstGeom>
          <a:noFill/>
        </p:spPr>
        <p:txBody>
          <a:bodyPr wrap="square" anchor="t">
            <a:spAutoFit/>
          </a:bodyPr>
          <a:lstStyle/>
          <a:p>
            <a:pPr algn="l">
              <a:lnSpc>
                <a:spcPct val="115000"/>
              </a:lnSpc>
            </a:pPr>
            <a:r>
              <a:rPr lang="en-US" sz="1700" b="0">
                <a:solidFill>
                  <a:srgbClr val="EAF0F7"/>
                </a:solidFill>
                <a:latin typeface="Segoe UI"/>
              </a:rPr>
              <a:t>Session materials, commands and implementation notes are in the repository.</a:t>
            </a:r>
            <a:endParaRPr sz="1700" b="0">
              <a:solidFill>
                <a:srgbClr val="EAF0F7"/>
              </a:solidFill>
              <a:latin typeface="Segoe UI"/>
            </a:endParaRPr>
          </a:p>
        </p:txBody>
      </p:sp>
    </p:spTree>
    <p:custDataLst>
      <p:tags r:id="rId1"/>
    </p:custDataLst>
    <p:extLst>
      <p:ext uri="{BB962C8B-B14F-4D97-AF65-F5344CB8AC3E}">
        <p14:creationId xmlns:p14="http://schemas.microsoft.com/office/powerpoint/2010/main" val="23412572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8C2F17-FD9C-F4C1-F0D1-245CDE2975AE}"/>
              </a:ext>
            </a:extLst>
          </p:cNvPr>
          <p:cNvSpPr txBox="1"/>
          <p:nvPr/>
        </p:nvSpPr>
        <p:spPr>
          <a:xfrm>
            <a:off x="685800" y="533400"/>
            <a:ext cx="10820400" cy="276999"/>
          </a:xfrm>
          <a:prstGeom prst="rect">
            <a:avLst/>
          </a:prstGeom>
          <a:noFill/>
        </p:spPr>
        <p:txBody>
          <a:bodyPr vert="horz" wrap="square" lIns="0" tIns="0" rIns="0" bIns="0" rtlCol="0">
            <a:spAutoFit/>
          </a:bodyPr>
          <a:lstStyle/>
          <a:p>
            <a:r>
              <a:rPr lang="en-US" b="1">
                <a:solidFill>
                  <a:srgbClr val="56D6E0"/>
                </a:solidFill>
                <a:latin typeface="Calibri" panose="020F0502020204030204" pitchFamily="34" charset="0"/>
              </a:rPr>
              <a:t>THE COMPLEMENTARY SESSION</a:t>
            </a:r>
          </a:p>
        </p:txBody>
      </p:sp>
      <p:sp>
        <p:nvSpPr>
          <p:cNvPr id="3" name="TextBox 2">
            <a:extLst>
              <a:ext uri="{FF2B5EF4-FFF2-40B4-BE49-F238E27FC236}">
                <a16:creationId xmlns:a16="http://schemas.microsoft.com/office/drawing/2014/main" id="{5AC92B25-84E8-52B9-A25E-810D310E56AF}"/>
              </a:ext>
            </a:extLst>
          </p:cNvPr>
          <p:cNvSpPr txBox="1"/>
          <p:nvPr/>
        </p:nvSpPr>
        <p:spPr>
          <a:xfrm>
            <a:off x="685800" y="1193800"/>
            <a:ext cx="10820400" cy="553998"/>
          </a:xfrm>
          <a:prstGeom prst="rect">
            <a:avLst/>
          </a:prstGeom>
          <a:noFill/>
        </p:spPr>
        <p:txBody>
          <a:bodyPr vert="horz" wrap="square" lIns="0" tIns="0" rIns="0" bIns="0" rtlCol="0">
            <a:spAutoFit/>
          </a:bodyPr>
          <a:lstStyle/>
          <a:p>
            <a:r>
              <a:rPr lang="en-US" sz="3600" b="1">
                <a:solidFill>
                  <a:srgbClr val="EAF0F7"/>
                </a:solidFill>
                <a:latin typeface="Calibri" panose="020F0502020204030204" pitchFamily="34" charset="0"/>
              </a:rPr>
              <a:t>Whole-Service Observability</a:t>
            </a:r>
          </a:p>
        </p:txBody>
      </p:sp>
      <p:sp>
        <p:nvSpPr>
          <p:cNvPr id="4" name="TextBox 3">
            <a:extLst>
              <a:ext uri="{FF2B5EF4-FFF2-40B4-BE49-F238E27FC236}">
                <a16:creationId xmlns:a16="http://schemas.microsoft.com/office/drawing/2014/main" id="{CB6083E1-231B-8186-EF78-8DD6FFBEC49D}"/>
              </a:ext>
            </a:extLst>
          </p:cNvPr>
          <p:cNvSpPr txBox="1"/>
          <p:nvPr/>
        </p:nvSpPr>
        <p:spPr>
          <a:xfrm>
            <a:off x="685800" y="2590800"/>
            <a:ext cx="10820400" cy="369332"/>
          </a:xfrm>
          <a:prstGeom prst="rect">
            <a:avLst/>
          </a:prstGeom>
          <a:noFill/>
        </p:spPr>
        <p:txBody>
          <a:bodyPr vert="horz" wrap="square" lIns="0" tIns="0" rIns="0" bIns="0" rtlCol="0">
            <a:spAutoFit/>
          </a:bodyPr>
          <a:lstStyle/>
          <a:p>
            <a:r>
              <a:rPr lang="en-US" sz="2400">
                <a:solidFill>
                  <a:srgbClr val="EAF0F7"/>
                </a:solidFill>
                <a:latin typeface="Calibri" panose="020F0502020204030204" pitchFamily="34" charset="0"/>
              </a:rPr>
              <a:t>Across Azure, AWS and On-Premises</a:t>
            </a:r>
          </a:p>
        </p:txBody>
      </p:sp>
      <p:sp>
        <p:nvSpPr>
          <p:cNvPr id="5" name="TextBox 4">
            <a:extLst>
              <a:ext uri="{FF2B5EF4-FFF2-40B4-BE49-F238E27FC236}">
                <a16:creationId xmlns:a16="http://schemas.microsoft.com/office/drawing/2014/main" id="{9415D277-7AF0-814D-7DA0-C633AAECD591}"/>
              </a:ext>
            </a:extLst>
          </p:cNvPr>
          <p:cNvSpPr txBox="1"/>
          <p:nvPr/>
        </p:nvSpPr>
        <p:spPr>
          <a:xfrm>
            <a:off x="685800" y="3340100"/>
            <a:ext cx="10820400" cy="353943"/>
          </a:xfrm>
          <a:prstGeom prst="rect">
            <a:avLst/>
          </a:prstGeom>
          <a:noFill/>
        </p:spPr>
        <p:txBody>
          <a:bodyPr vert="horz" wrap="square" lIns="0" tIns="0" rIns="0" bIns="0" rtlCol="0">
            <a:spAutoFit/>
          </a:bodyPr>
          <a:lstStyle/>
          <a:p>
            <a:r>
              <a:rPr lang="en-US" sz="2300" b="1">
                <a:solidFill>
                  <a:srgbClr val="56D6E0"/>
                </a:solidFill>
                <a:latin typeface="Calibri" panose="020F0502020204030204" pitchFamily="34" charset="0"/>
              </a:rPr>
              <a:t>Thu Oct 1 • 10:15 AM • Clarity (CT)</a:t>
            </a:r>
          </a:p>
        </p:txBody>
      </p:sp>
      <p:sp>
        <p:nvSpPr>
          <p:cNvPr id="6" name="TextBox 5">
            <a:extLst>
              <a:ext uri="{FF2B5EF4-FFF2-40B4-BE49-F238E27FC236}">
                <a16:creationId xmlns:a16="http://schemas.microsoft.com/office/drawing/2014/main" id="{00B6E691-A3D1-349B-0E6D-A039A6F7B238}"/>
              </a:ext>
            </a:extLst>
          </p:cNvPr>
          <p:cNvSpPr txBox="1"/>
          <p:nvPr/>
        </p:nvSpPr>
        <p:spPr>
          <a:xfrm>
            <a:off x="685800" y="4102100"/>
            <a:ext cx="10820400" cy="307777"/>
          </a:xfrm>
          <a:prstGeom prst="rect">
            <a:avLst/>
          </a:prstGeom>
          <a:noFill/>
        </p:spPr>
        <p:txBody>
          <a:bodyPr vert="horz" wrap="square" lIns="0" tIns="0" rIns="0" bIns="0" rtlCol="0">
            <a:spAutoFit/>
          </a:bodyPr>
          <a:lstStyle/>
          <a:p>
            <a:r>
              <a:rPr lang="en-US" sz="2000">
                <a:solidFill>
                  <a:srgbClr val="EAF0F7"/>
                </a:solidFill>
                <a:latin typeface="Calibri" panose="020F0502020204030204" pitchFamily="34" charset="0"/>
              </a:rPr>
              <a:t>Kristopher Turner</a:t>
            </a:r>
          </a:p>
        </p:txBody>
      </p:sp>
      <p:sp>
        <p:nvSpPr>
          <p:cNvPr id="7" name="TextBox 6">
            <a:extLst>
              <a:ext uri="{FF2B5EF4-FFF2-40B4-BE49-F238E27FC236}">
                <a16:creationId xmlns:a16="http://schemas.microsoft.com/office/drawing/2014/main" id="{3A661AC2-C821-52B0-A466-76E9BF6BC32E}"/>
              </a:ext>
            </a:extLst>
          </p:cNvPr>
          <p:cNvSpPr txBox="1"/>
          <p:nvPr/>
        </p:nvSpPr>
        <p:spPr>
          <a:xfrm>
            <a:off x="685800" y="4851400"/>
            <a:ext cx="10820400" cy="738664"/>
          </a:xfrm>
          <a:prstGeom prst="rect">
            <a:avLst/>
          </a:prstGeom>
          <a:noFill/>
        </p:spPr>
        <p:txBody>
          <a:bodyPr vert="horz" wrap="square" lIns="0" tIns="0" rIns="0" bIns="0" rtlCol="0">
            <a:spAutoFit/>
          </a:bodyPr>
          <a:lstStyle/>
          <a:p>
            <a:r>
              <a:rPr lang="en-US" sz="2400">
                <a:solidFill>
                  <a:srgbClr val="EAF0F7"/>
                </a:solidFill>
                <a:latin typeface="Calibri" panose="020F0502020204030204" pitchFamily="34" charset="0"/>
              </a:rPr>
              <a:t>Model the service, follow one IIC order across three clouds, explain impact and prove recovery.</a:t>
            </a:r>
          </a:p>
        </p:txBody>
      </p:sp>
      <p:sp>
        <p:nvSpPr>
          <p:cNvPr id="8" name="TextBox 7">
            <a:extLst>
              <a:ext uri="{FF2B5EF4-FFF2-40B4-BE49-F238E27FC236}">
                <a16:creationId xmlns:a16="http://schemas.microsoft.com/office/drawing/2014/main" id="{73F8F590-F52A-1B67-4266-DF6816B0641C}"/>
              </a:ext>
            </a:extLst>
          </p:cNvPr>
          <p:cNvSpPr txBox="1"/>
          <p:nvPr/>
        </p:nvSpPr>
        <p:spPr>
          <a:xfrm>
            <a:off x="685800" y="5829300"/>
            <a:ext cx="108204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Each session stands alone. Together, they connect operations and monitoring.</a:t>
            </a:r>
          </a:p>
        </p:txBody>
      </p:sp>
    </p:spTree>
    <p:custDataLst>
      <p:tags r:id="rId1"/>
    </p:custDataLst>
    <p:extLst>
      <p:ext uri="{BB962C8B-B14F-4D97-AF65-F5344CB8AC3E}">
        <p14:creationId xmlns:p14="http://schemas.microsoft.com/office/powerpoint/2010/main" val="24288734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91C3BE-5BC1-983A-0356-12BD3B71D2B7}"/>
              </a:ext>
            </a:extLst>
          </p:cNvPr>
          <p:cNvSpPr txBox="1"/>
          <p:nvPr/>
        </p:nvSpPr>
        <p:spPr>
          <a:xfrm>
            <a:off x="685800" y="457200"/>
            <a:ext cx="10820400" cy="523220"/>
          </a:xfrm>
          <a:prstGeom prst="rect">
            <a:avLst/>
          </a:prstGeom>
          <a:noFill/>
        </p:spPr>
        <p:txBody>
          <a:bodyPr vert="horz" wrap="square" lIns="0" tIns="0" rIns="0" bIns="0" rtlCol="0">
            <a:spAutoFit/>
          </a:bodyPr>
          <a:lstStyle/>
          <a:p>
            <a:r>
              <a:rPr lang="en-US" sz="3400" b="1">
                <a:solidFill>
                  <a:srgbClr val="EAF0F7"/>
                </a:solidFill>
                <a:latin typeface="Calibri" panose="020F0502020204030204" pitchFamily="34" charset="0"/>
              </a:rPr>
              <a:t>Other sessions worth attending</a:t>
            </a:r>
          </a:p>
        </p:txBody>
      </p:sp>
      <p:sp>
        <p:nvSpPr>
          <p:cNvPr id="3" name="TextBox 2">
            <a:extLst>
              <a:ext uri="{FF2B5EF4-FFF2-40B4-BE49-F238E27FC236}">
                <a16:creationId xmlns:a16="http://schemas.microsoft.com/office/drawing/2014/main" id="{3641A5FD-661E-38E2-0A33-4B6AA29C62DC}"/>
              </a:ext>
            </a:extLst>
          </p:cNvPr>
          <p:cNvSpPr txBox="1"/>
          <p:nvPr/>
        </p:nvSpPr>
        <p:spPr>
          <a:xfrm>
            <a:off x="685800" y="1193800"/>
            <a:ext cx="10820400" cy="276999"/>
          </a:xfrm>
          <a:prstGeom prst="rect">
            <a:avLst/>
          </a:prstGeom>
          <a:noFill/>
        </p:spPr>
        <p:txBody>
          <a:bodyPr vert="horz" wrap="square" lIns="0" tIns="0" rIns="0" bIns="0" rtlCol="0">
            <a:spAutoFit/>
          </a:bodyPr>
          <a:lstStyle/>
          <a:p>
            <a:r>
              <a:rPr lang="en-US">
                <a:solidFill>
                  <a:srgbClr val="EAF0F7"/>
                </a:solidFill>
                <a:latin typeface="Calibri" panose="020F0502020204030204" pitchFamily="34" charset="0"/>
              </a:rPr>
              <a:t>Optional next sessions | All times Central (CT)</a:t>
            </a:r>
          </a:p>
        </p:txBody>
      </p:sp>
      <p:sp>
        <p:nvSpPr>
          <p:cNvPr id="4" name="Rectangle 3">
            <a:extLst>
              <a:ext uri="{FF2B5EF4-FFF2-40B4-BE49-F238E27FC236}">
                <a16:creationId xmlns:a16="http://schemas.microsoft.com/office/drawing/2014/main" id="{D4B3E18F-E23C-99F5-912F-8C6760BA220A}"/>
              </a:ext>
            </a:extLst>
          </p:cNvPr>
          <p:cNvSpPr/>
          <p:nvPr/>
        </p:nvSpPr>
        <p:spPr>
          <a:xfrm>
            <a:off x="685800" y="1816100"/>
            <a:ext cx="10820400" cy="1371600"/>
          </a:xfrm>
          <a:prstGeom prst="rect">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9EB4662-51DF-C5D9-83A8-01CABCB60B18}"/>
              </a:ext>
            </a:extLst>
          </p:cNvPr>
          <p:cNvSpPr txBox="1"/>
          <p:nvPr/>
        </p:nvSpPr>
        <p:spPr>
          <a:xfrm>
            <a:off x="889000" y="1930400"/>
            <a:ext cx="10414000" cy="338554"/>
          </a:xfrm>
          <a:prstGeom prst="rect">
            <a:avLst/>
          </a:prstGeom>
          <a:noFill/>
        </p:spPr>
        <p:txBody>
          <a:bodyPr vert="horz" wrap="square" lIns="0" tIns="0" rIns="0" bIns="0" rtlCol="0">
            <a:spAutoFit/>
          </a:bodyPr>
          <a:lstStyle/>
          <a:p>
            <a:r>
              <a:rPr lang="en-US" sz="2200" b="1">
                <a:solidFill>
                  <a:srgbClr val="EAF0F7"/>
                </a:solidFill>
                <a:latin typeface="Calibri" panose="020F0502020204030204" pitchFamily="34" charset="0"/>
              </a:rPr>
              <a:t>Evaporate your Environment: Move it to the Cloud</a:t>
            </a:r>
          </a:p>
        </p:txBody>
      </p:sp>
      <p:sp>
        <p:nvSpPr>
          <p:cNvPr id="6" name="TextBox 5">
            <a:extLst>
              <a:ext uri="{FF2B5EF4-FFF2-40B4-BE49-F238E27FC236}">
                <a16:creationId xmlns:a16="http://schemas.microsoft.com/office/drawing/2014/main" id="{0DD35AB7-CCC6-A486-D7D7-4D18764433CD}"/>
              </a:ext>
            </a:extLst>
          </p:cNvPr>
          <p:cNvSpPr txBox="1"/>
          <p:nvPr/>
        </p:nvSpPr>
        <p:spPr>
          <a:xfrm>
            <a:off x="889000" y="2679700"/>
            <a:ext cx="10414000" cy="276999"/>
          </a:xfrm>
          <a:prstGeom prst="rect">
            <a:avLst/>
          </a:prstGeom>
          <a:noFill/>
        </p:spPr>
        <p:txBody>
          <a:bodyPr vert="horz" wrap="square" lIns="0" tIns="0" rIns="0" bIns="0" rtlCol="0">
            <a:spAutoFit/>
          </a:bodyPr>
          <a:lstStyle/>
          <a:p>
            <a:r>
              <a:rPr lang="en-US">
                <a:solidFill>
                  <a:srgbClr val="56D6E0"/>
                </a:solidFill>
                <a:latin typeface="Calibri" panose="020F0502020204030204" pitchFamily="34" charset="0"/>
              </a:rPr>
              <a:t>Scott Corio + Chad Lich | Wed Sep 30 • 3:00 PM • Clarity</a:t>
            </a:r>
          </a:p>
        </p:txBody>
      </p:sp>
      <p:sp>
        <p:nvSpPr>
          <p:cNvPr id="7" name="Rectangle 6">
            <a:extLst>
              <a:ext uri="{FF2B5EF4-FFF2-40B4-BE49-F238E27FC236}">
                <a16:creationId xmlns:a16="http://schemas.microsoft.com/office/drawing/2014/main" id="{B88BF396-9E56-AF55-D87F-B9508C92E2A6}"/>
              </a:ext>
            </a:extLst>
          </p:cNvPr>
          <p:cNvSpPr/>
          <p:nvPr/>
        </p:nvSpPr>
        <p:spPr>
          <a:xfrm>
            <a:off x="685800" y="3314700"/>
            <a:ext cx="10820400" cy="1371600"/>
          </a:xfrm>
          <a:prstGeom prst="rect">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2FA36B2-DBF9-4C6D-ECD1-E50E95D6FC71}"/>
              </a:ext>
            </a:extLst>
          </p:cNvPr>
          <p:cNvSpPr txBox="1"/>
          <p:nvPr/>
        </p:nvSpPr>
        <p:spPr>
          <a:xfrm>
            <a:off x="889000" y="3429000"/>
            <a:ext cx="10414000" cy="338554"/>
          </a:xfrm>
          <a:prstGeom prst="rect">
            <a:avLst/>
          </a:prstGeom>
          <a:noFill/>
        </p:spPr>
        <p:txBody>
          <a:bodyPr vert="horz" wrap="square" lIns="0" tIns="0" rIns="0" bIns="0" rtlCol="0">
            <a:spAutoFit/>
          </a:bodyPr>
          <a:lstStyle/>
          <a:p>
            <a:r>
              <a:rPr lang="en-US" sz="2200" b="1">
                <a:solidFill>
                  <a:srgbClr val="EAF0F7"/>
                </a:solidFill>
                <a:latin typeface="Calibri" panose="020F0502020204030204" pitchFamily="34" charset="0"/>
              </a:rPr>
              <a:t>Adaptive Cloud in Action: Azure Arc and Intelligent Operations</a:t>
            </a:r>
          </a:p>
        </p:txBody>
      </p:sp>
      <p:sp>
        <p:nvSpPr>
          <p:cNvPr id="9" name="TextBox 8">
            <a:extLst>
              <a:ext uri="{FF2B5EF4-FFF2-40B4-BE49-F238E27FC236}">
                <a16:creationId xmlns:a16="http://schemas.microsoft.com/office/drawing/2014/main" id="{C2BFD544-F5EB-D65A-3B69-54D1B458796B}"/>
              </a:ext>
            </a:extLst>
          </p:cNvPr>
          <p:cNvSpPr txBox="1"/>
          <p:nvPr/>
        </p:nvSpPr>
        <p:spPr>
          <a:xfrm>
            <a:off x="889000" y="4178300"/>
            <a:ext cx="10414000" cy="276999"/>
          </a:xfrm>
          <a:prstGeom prst="rect">
            <a:avLst/>
          </a:prstGeom>
          <a:noFill/>
        </p:spPr>
        <p:txBody>
          <a:bodyPr vert="horz" wrap="square" lIns="0" tIns="0" rIns="0" bIns="0" rtlCol="0">
            <a:spAutoFit/>
          </a:bodyPr>
          <a:lstStyle/>
          <a:p>
            <a:r>
              <a:rPr lang="en-US">
                <a:solidFill>
                  <a:srgbClr val="56D6E0"/>
                </a:solidFill>
                <a:latin typeface="Calibri" panose="020F0502020204030204" pitchFamily="34" charset="0"/>
              </a:rPr>
              <a:t>Saul Patino | Thu Oct 1 • 3:00 PM • Wonder Ballroom</a:t>
            </a:r>
          </a:p>
        </p:txBody>
      </p:sp>
      <p:sp>
        <p:nvSpPr>
          <p:cNvPr id="10" name="Rectangle 9">
            <a:extLst>
              <a:ext uri="{FF2B5EF4-FFF2-40B4-BE49-F238E27FC236}">
                <a16:creationId xmlns:a16="http://schemas.microsoft.com/office/drawing/2014/main" id="{904F369D-835E-5DD2-29D3-FE777BD81655}"/>
              </a:ext>
            </a:extLst>
          </p:cNvPr>
          <p:cNvSpPr/>
          <p:nvPr/>
        </p:nvSpPr>
        <p:spPr>
          <a:xfrm>
            <a:off x="685800" y="4813300"/>
            <a:ext cx="10820400" cy="1371600"/>
          </a:xfrm>
          <a:prstGeom prst="rect">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2C425DB-89FE-1DE8-223E-18BACFE73C52}"/>
              </a:ext>
            </a:extLst>
          </p:cNvPr>
          <p:cNvSpPr txBox="1"/>
          <p:nvPr/>
        </p:nvSpPr>
        <p:spPr>
          <a:xfrm>
            <a:off x="889000" y="4927600"/>
            <a:ext cx="10414000" cy="338554"/>
          </a:xfrm>
          <a:prstGeom prst="rect">
            <a:avLst/>
          </a:prstGeom>
          <a:noFill/>
        </p:spPr>
        <p:txBody>
          <a:bodyPr vert="horz" wrap="square" lIns="0" tIns="0" rIns="0" bIns="0" rtlCol="0">
            <a:spAutoFit/>
          </a:bodyPr>
          <a:lstStyle/>
          <a:p>
            <a:r>
              <a:rPr lang="en-US" sz="2200" b="1">
                <a:solidFill>
                  <a:srgbClr val="EAF0F7"/>
                </a:solidFill>
                <a:latin typeface="Calibri" panose="020F0502020204030204" pitchFamily="34" charset="0"/>
              </a:rPr>
              <a:t>Integrate Azure Monitor alerts from servers with your ITSM system</a:t>
            </a:r>
          </a:p>
        </p:txBody>
      </p:sp>
      <p:sp>
        <p:nvSpPr>
          <p:cNvPr id="12" name="TextBox 11">
            <a:extLst>
              <a:ext uri="{FF2B5EF4-FFF2-40B4-BE49-F238E27FC236}">
                <a16:creationId xmlns:a16="http://schemas.microsoft.com/office/drawing/2014/main" id="{5F5CF4E3-5FC6-2B47-A6AB-0459C14A7492}"/>
              </a:ext>
            </a:extLst>
          </p:cNvPr>
          <p:cNvSpPr txBox="1"/>
          <p:nvPr/>
        </p:nvSpPr>
        <p:spPr>
          <a:xfrm>
            <a:off x="889000" y="5676900"/>
            <a:ext cx="10414000" cy="276999"/>
          </a:xfrm>
          <a:prstGeom prst="rect">
            <a:avLst/>
          </a:prstGeom>
          <a:noFill/>
        </p:spPr>
        <p:txBody>
          <a:bodyPr vert="horz" wrap="square" lIns="0" tIns="0" rIns="0" bIns="0" rtlCol="0">
            <a:spAutoFit/>
          </a:bodyPr>
          <a:lstStyle/>
          <a:p>
            <a:r>
              <a:rPr lang="en-US">
                <a:solidFill>
                  <a:srgbClr val="56D6E0"/>
                </a:solidFill>
                <a:latin typeface="Calibri" panose="020F0502020204030204" pitchFamily="34" charset="0"/>
              </a:rPr>
              <a:t>John Joyner | Fri Oct 2 • 3:00 PM • Clarity</a:t>
            </a:r>
          </a:p>
        </p:txBody>
      </p:sp>
    </p:spTree>
    <p:custDataLst>
      <p:tags r:id="rId1"/>
    </p:custDataLst>
    <p:extLst>
      <p:ext uri="{BB962C8B-B14F-4D97-AF65-F5344CB8AC3E}">
        <p14:creationId xmlns:p14="http://schemas.microsoft.com/office/powerpoint/2010/main" val="29993465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p:cNvSpPr/>
          <p:nvPr/>
        </p:nvSpPr>
        <p:spPr>
          <a:xfrm>
            <a:off x="822960" y="2377440"/>
            <a:ext cx="1005840" cy="50800"/>
          </a:xfrm>
          <a:prstGeom prst="rect">
            <a:avLst/>
          </a:prstGeom>
          <a:solidFill>
            <a:srgbClr val="56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0545775" cy="965905"/>
          </a:xfrm>
          <a:prstGeom prst="rect">
            <a:avLst/>
          </a:prstGeom>
          <a:noFill/>
        </p:spPr>
        <p:txBody>
          <a:bodyPr wrap="square" anchor="t">
            <a:spAutoFit/>
          </a:bodyPr>
          <a:lstStyle/>
          <a:p>
            <a:pPr algn="l">
              <a:lnSpc>
                <a:spcPct val="115000"/>
              </a:lnSpc>
            </a:pPr>
            <a:r>
              <a:rPr lang="en-US" sz="5400" b="1">
                <a:solidFill>
                  <a:srgbClr val="EAF0F7"/>
                </a:solidFill>
                <a:latin typeface="Segoe UI"/>
              </a:rPr>
              <a:t>Questions?</a:t>
            </a:r>
            <a:endParaRPr sz="5400" b="1">
              <a:solidFill>
                <a:srgbClr val="EAF0F7"/>
              </a:solidFill>
              <a:latin typeface="Segoe UI"/>
            </a:endParaRPr>
          </a:p>
        </p:txBody>
      </p:sp>
      <p:sp>
        <p:nvSpPr>
          <p:cNvPr id="4" name="TextBox 3"/>
          <p:cNvSpPr txBox="1"/>
          <p:nvPr/>
        </p:nvSpPr>
        <p:spPr>
          <a:xfrm>
            <a:off x="822960" y="3977639"/>
            <a:ext cx="10545775" cy="480581"/>
          </a:xfrm>
          <a:prstGeom prst="rect">
            <a:avLst/>
          </a:prstGeom>
          <a:noFill/>
        </p:spPr>
        <p:txBody>
          <a:bodyPr wrap="square" anchor="t">
            <a:spAutoFit/>
          </a:bodyPr>
          <a:lstStyle/>
          <a:p>
            <a:pPr algn="l">
              <a:lnSpc>
                <a:spcPct val="115000"/>
              </a:lnSpc>
            </a:pPr>
            <a:endParaRPr sz="2400" b="0">
              <a:solidFill>
                <a:srgbClr val="B9C9D9"/>
              </a:solidFill>
              <a:latin typeface="Segoe UI"/>
            </a:endParaRPr>
          </a:p>
        </p:txBody>
      </p:sp>
    </p:spTree>
    <p:custDataLst>
      <p:tags r:id="rId1"/>
    </p:custDataLst>
    <p:extLst>
      <p:ext uri="{BB962C8B-B14F-4D97-AF65-F5344CB8AC3E}">
        <p14:creationId xmlns:p14="http://schemas.microsoft.com/office/powerpoint/2010/main" val="22816972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AEFDB7-86C5-7EFC-3802-B325515DF85B}"/>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B04951B-5796-24BE-66E8-06E67001E234}"/>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64A4A4E-1AAB-457B-42B1-DFDEE3ACFDCD}"/>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Thank you — feedback &amp; resources</a:t>
            </a:r>
          </a:p>
        </p:txBody>
      </p:sp>
      <p:sp>
        <p:nvSpPr>
          <p:cNvPr id="5" name="Rectangle 4">
            <a:extLst>
              <a:ext uri="{FF2B5EF4-FFF2-40B4-BE49-F238E27FC236}">
                <a16:creationId xmlns:a16="http://schemas.microsoft.com/office/drawing/2014/main" id="{90FA45EE-1EF8-2E02-695E-10DE065D12F1}"/>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7D610B6-7A89-1503-1F2E-515C8D0C35A4}"/>
              </a:ext>
            </a:extLst>
          </p:cNvPr>
          <p:cNvSpPr txBox="1"/>
          <p:nvPr/>
        </p:nvSpPr>
        <p:spPr>
          <a:xfrm>
            <a:off x="609600" y="1016000"/>
            <a:ext cx="10972800" cy="307777"/>
          </a:xfrm>
          <a:prstGeom prst="rect">
            <a:avLst/>
          </a:prstGeom>
          <a:noFill/>
        </p:spPr>
        <p:txBody>
          <a:bodyPr vert="horz" wrap="square" lIns="25400" rIns="25400" rtlCol="0">
            <a:spAutoFit/>
          </a:bodyPr>
          <a:lstStyle/>
          <a:p>
            <a:r>
              <a:rPr lang="en-US" sz="1400">
                <a:solidFill>
                  <a:srgbClr val="A3B2C4"/>
                </a:solidFill>
                <a:latin typeface="Calibri" panose="020F0502020204030204" pitchFamily="34" charset="0"/>
              </a:rPr>
              <a:t>Hybrid Operations in 2026 — What IT Pros Need to Know</a:t>
            </a:r>
          </a:p>
        </p:txBody>
      </p:sp>
      <p:sp>
        <p:nvSpPr>
          <p:cNvPr id="7" name="Rectangle: Rounded Corners 6">
            <a:extLst>
              <a:ext uri="{FF2B5EF4-FFF2-40B4-BE49-F238E27FC236}">
                <a16:creationId xmlns:a16="http://schemas.microsoft.com/office/drawing/2014/main" id="{9288C72F-4C12-AE23-918D-6A4D8BE16520}"/>
              </a:ext>
            </a:extLst>
          </p:cNvPr>
          <p:cNvSpPr/>
          <p:nvPr/>
        </p:nvSpPr>
        <p:spPr>
          <a:xfrm>
            <a:off x="609600" y="1701800"/>
            <a:ext cx="3810000" cy="4419600"/>
          </a:xfrm>
          <a:prstGeom prst="roundRect">
            <a:avLst/>
          </a:prstGeom>
          <a:solidFill>
            <a:srgbClr val="232E41"/>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3E2AE3F8-3EB6-6CAF-7495-3EA8AE70764A}"/>
              </a:ext>
            </a:extLst>
          </p:cNvPr>
          <p:cNvSpPr txBox="1"/>
          <p:nvPr/>
        </p:nvSpPr>
        <p:spPr>
          <a:xfrm>
            <a:off x="762000" y="1803400"/>
            <a:ext cx="3505200" cy="381000"/>
          </a:xfrm>
          <a:prstGeom prst="rect">
            <a:avLst/>
          </a:prstGeom>
          <a:noFill/>
        </p:spPr>
        <p:txBody>
          <a:bodyPr vert="horz" wrap="square" lIns="25400" rIns="25400" rtlCol="0">
            <a:spAutoFit/>
          </a:bodyPr>
          <a:lstStyle/>
          <a:p>
            <a:pPr algn="ctr"/>
            <a:r>
              <a:rPr lang="en-US" b="1">
                <a:solidFill>
                  <a:srgbClr val="EAF0F7"/>
                </a:solidFill>
                <a:latin typeface="Calibri" panose="020F0502020204030204" pitchFamily="34" charset="0"/>
              </a:rPr>
              <a:t>Help shape the next session</a:t>
            </a:r>
          </a:p>
        </p:txBody>
      </p:sp>
      <p:pic>
        <p:nvPicPr>
          <p:cNvPr id="10" name="Picture 9">
            <a:extLst>
              <a:ext uri="{FF2B5EF4-FFF2-40B4-BE49-F238E27FC236}">
                <a16:creationId xmlns:a16="http://schemas.microsoft.com/office/drawing/2014/main" id="{B59A55F9-A0FD-6569-2EBE-BEC79AE439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44600" y="2311400"/>
            <a:ext cx="2540000" cy="2540000"/>
          </a:xfrm>
          <a:prstGeom prst="rect">
            <a:avLst/>
          </a:prstGeom>
        </p:spPr>
      </p:pic>
      <p:sp>
        <p:nvSpPr>
          <p:cNvPr id="11" name="TextBox 10">
            <a:extLst>
              <a:ext uri="{FF2B5EF4-FFF2-40B4-BE49-F238E27FC236}">
                <a16:creationId xmlns:a16="http://schemas.microsoft.com/office/drawing/2014/main" id="{A27FC048-6D01-6900-309F-FABA42402701}"/>
              </a:ext>
            </a:extLst>
          </p:cNvPr>
          <p:cNvSpPr txBox="1"/>
          <p:nvPr/>
        </p:nvSpPr>
        <p:spPr>
          <a:xfrm>
            <a:off x="762000" y="5003800"/>
            <a:ext cx="3505200" cy="307777"/>
          </a:xfrm>
          <a:prstGeom prst="rect">
            <a:avLst/>
          </a:prstGeom>
          <a:noFill/>
        </p:spPr>
        <p:txBody>
          <a:bodyPr vert="horz" wrap="square" lIns="25400" rIns="25400" rtlCol="0">
            <a:spAutoFit/>
          </a:bodyPr>
          <a:lstStyle/>
          <a:p>
            <a:pPr algn="ctr"/>
            <a:r>
              <a:rPr lang="en-US" sz="1400" b="1">
                <a:solidFill>
                  <a:srgbClr val="EAF0F7"/>
                </a:solidFill>
                <a:latin typeface="Calibri" panose="020F0502020204030204" pitchFamily="34" charset="0"/>
              </a:rPr>
              <a:t>Feedback: Hybrid Operations in 2026</a:t>
            </a:r>
          </a:p>
        </p:txBody>
      </p:sp>
      <p:sp>
        <p:nvSpPr>
          <p:cNvPr id="12" name="TextBox 11">
            <a:extLst>
              <a:ext uri="{FF2B5EF4-FFF2-40B4-BE49-F238E27FC236}">
                <a16:creationId xmlns:a16="http://schemas.microsoft.com/office/drawing/2014/main" id="{4304C6C5-D711-AB89-844D-C147AF924C4B}"/>
              </a:ext>
            </a:extLst>
          </p:cNvPr>
          <p:cNvSpPr txBox="1"/>
          <p:nvPr/>
        </p:nvSpPr>
        <p:spPr>
          <a:xfrm>
            <a:off x="762000" y="5435600"/>
            <a:ext cx="3505200" cy="261610"/>
          </a:xfrm>
          <a:prstGeom prst="rect">
            <a:avLst/>
          </a:prstGeom>
          <a:noFill/>
        </p:spPr>
        <p:txBody>
          <a:bodyPr vert="horz" wrap="square" lIns="25400" rIns="25400" rtlCol="0">
            <a:spAutoFit/>
          </a:bodyPr>
          <a:lstStyle/>
          <a:p>
            <a:pPr algn="ctr"/>
            <a:r>
              <a:rPr lang="en-US" sz="1100">
                <a:solidFill>
                  <a:srgbClr val="EAF0F7"/>
                </a:solidFill>
                <a:latin typeface="Calibri" panose="020F0502020204030204" pitchFamily="34" charset="0"/>
              </a:rPr>
              <a:t>Scan while the slide is visible.</a:t>
            </a:r>
          </a:p>
        </p:txBody>
      </p:sp>
      <p:sp>
        <p:nvSpPr>
          <p:cNvPr id="13" name="Rectangle: Rounded Corners 12">
            <a:extLst>
              <a:ext uri="{FF2B5EF4-FFF2-40B4-BE49-F238E27FC236}">
                <a16:creationId xmlns:a16="http://schemas.microsoft.com/office/drawing/2014/main" id="{0C8F5474-1015-2580-5469-FCD7E40794B8}"/>
              </a:ext>
            </a:extLst>
          </p:cNvPr>
          <p:cNvSpPr/>
          <p:nvPr/>
        </p:nvSpPr>
        <p:spPr>
          <a:xfrm>
            <a:off x="4826000" y="1701800"/>
            <a:ext cx="6756400" cy="4419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4" name="TextBox 13">
            <a:extLst>
              <a:ext uri="{FF2B5EF4-FFF2-40B4-BE49-F238E27FC236}">
                <a16:creationId xmlns:a16="http://schemas.microsoft.com/office/drawing/2014/main" id="{860A8C78-1A7B-AE74-1EBA-E6168268160A}"/>
              </a:ext>
            </a:extLst>
          </p:cNvPr>
          <p:cNvSpPr txBox="1"/>
          <p:nvPr/>
        </p:nvSpPr>
        <p:spPr>
          <a:xfrm>
            <a:off x="5130800" y="1854200"/>
            <a:ext cx="6096000" cy="415498"/>
          </a:xfrm>
          <a:prstGeom prst="rect">
            <a:avLst/>
          </a:prstGeom>
          <a:noFill/>
        </p:spPr>
        <p:txBody>
          <a:bodyPr vert="horz" wrap="square" lIns="25400" rIns="25400" rtlCol="0">
            <a:spAutoFit/>
          </a:bodyPr>
          <a:lstStyle/>
          <a:p>
            <a:r>
              <a:rPr lang="en-US" sz="2100" b="1">
                <a:solidFill>
                  <a:srgbClr val="EAF0F7"/>
                </a:solidFill>
                <a:latin typeface="Calibri" panose="020F0502020204030204" pitchFamily="34" charset="0"/>
              </a:rPr>
              <a:t>Take the resources with you</a:t>
            </a:r>
          </a:p>
        </p:txBody>
      </p:sp>
      <p:sp>
        <p:nvSpPr>
          <p:cNvPr id="15" name="TextBox 14">
            <a:extLst>
              <a:ext uri="{FF2B5EF4-FFF2-40B4-BE49-F238E27FC236}">
                <a16:creationId xmlns:a16="http://schemas.microsoft.com/office/drawing/2014/main" id="{A3F17AB4-023A-C7A2-1620-080CE0DEBD64}"/>
              </a:ext>
            </a:extLst>
          </p:cNvPr>
          <p:cNvSpPr txBox="1"/>
          <p:nvPr/>
        </p:nvSpPr>
        <p:spPr>
          <a:xfrm>
            <a:off x="5130800" y="2438400"/>
            <a:ext cx="6096000" cy="1569660"/>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The public repository includes:
•  session storyboard and decks
•  attendee notes and handouts
•  demo runbooks, queries and console
•  lab design, deployment guidance and references</a:t>
            </a:r>
          </a:p>
        </p:txBody>
      </p:sp>
      <p:sp>
        <p:nvSpPr>
          <p:cNvPr id="16" name="TextBox 15">
            <a:hlinkClick r:id="rId4"/>
            <a:extLst>
              <a:ext uri="{FF2B5EF4-FFF2-40B4-BE49-F238E27FC236}">
                <a16:creationId xmlns:a16="http://schemas.microsoft.com/office/drawing/2014/main" id="{044E5804-9CB7-729B-46A3-4E0CD925FE89}"/>
              </a:ext>
            </a:extLst>
          </p:cNvPr>
          <p:cNvSpPr txBox="1"/>
          <p:nvPr/>
        </p:nvSpPr>
        <p:spPr>
          <a:xfrm>
            <a:off x="5130800" y="4826000"/>
            <a:ext cx="6096000" cy="381000"/>
          </a:xfrm>
          <a:prstGeom prst="rect">
            <a:avLst/>
          </a:prstGeom>
          <a:noFill/>
        </p:spPr>
        <p:txBody>
          <a:bodyPr vert="horz" wrap="square" lIns="25400" rIns="25400" rtlCol="0">
            <a:spAutoFit/>
          </a:bodyPr>
          <a:lstStyle/>
          <a:p>
            <a:r>
              <a:rPr lang="en-US" b="1">
                <a:solidFill>
                  <a:srgbClr val="56D6E0"/>
                </a:solidFill>
                <a:latin typeface="Calibri" panose="020F0502020204030204" pitchFamily="34" charset="0"/>
              </a:rPr>
              <a:t>github.com/thisismydemo/cas26</a:t>
            </a:r>
          </a:p>
        </p:txBody>
      </p:sp>
      <p:sp>
        <p:nvSpPr>
          <p:cNvPr id="17" name="TextBox 16">
            <a:extLst>
              <a:ext uri="{FF2B5EF4-FFF2-40B4-BE49-F238E27FC236}">
                <a16:creationId xmlns:a16="http://schemas.microsoft.com/office/drawing/2014/main" id="{39895705-4886-7354-C245-3F386BB351AF}"/>
              </a:ext>
            </a:extLst>
          </p:cNvPr>
          <p:cNvSpPr txBox="1"/>
          <p:nvPr/>
        </p:nvSpPr>
        <p:spPr>
          <a:xfrm>
            <a:off x="5130800" y="5334000"/>
            <a:ext cx="6096000" cy="461665"/>
          </a:xfrm>
          <a:prstGeom prst="rect">
            <a:avLst/>
          </a:prstGeom>
          <a:noFill/>
        </p:spPr>
        <p:txBody>
          <a:bodyPr vert="horz" wrap="square" lIns="25400" rIns="25400" rtlCol="0">
            <a:spAutoFit/>
          </a:bodyPr>
          <a:lstStyle/>
          <a:p>
            <a:r>
              <a:rPr lang="en-US" sz="1200">
                <a:solidFill>
                  <a:srgbClr val="A3B2C4"/>
                </a:solidFill>
                <a:latin typeface="Calibri" panose="020F0502020204030204" pitchFamily="34" charset="0"/>
              </a:rPr>
              <a:t>Private credentials and environment-specific configuration are not included. Questions, feedback and follow-up are welcome.</a:t>
            </a:r>
          </a:p>
        </p:txBody>
      </p:sp>
    </p:spTree>
    <p:extLst>
      <p:ext uri="{BB962C8B-B14F-4D97-AF65-F5344CB8AC3E}">
        <p14:creationId xmlns:p14="http://schemas.microsoft.com/office/powerpoint/2010/main" val="26685268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NTENT_ID" val="H02"/>
</p:tagLst>
</file>

<file path=ppt/tags/tag2.xml><?xml version="1.0" encoding="utf-8"?>
<p:tagLst xmlns:a="http://schemas.openxmlformats.org/drawingml/2006/main" xmlns:r="http://schemas.openxmlformats.org/officeDocument/2006/relationships" xmlns:p="http://schemas.openxmlformats.org/presentationml/2006/main">
  <p:tag name="CONTENT_ID" val="H02a"/>
</p:tagLst>
</file>

<file path=ppt/tags/tag3.xml><?xml version="1.0" encoding="utf-8"?>
<p:tagLst xmlns:a="http://schemas.openxmlformats.org/drawingml/2006/main" xmlns:r="http://schemas.openxmlformats.org/officeDocument/2006/relationships" xmlns:p="http://schemas.openxmlformats.org/presentationml/2006/main">
  <p:tag name="CONTENT_ID" val="H04"/>
</p:tagLst>
</file>

<file path=ppt/tags/tag4.xml><?xml version="1.0" encoding="utf-8"?>
<p:tagLst xmlns:a="http://schemas.openxmlformats.org/drawingml/2006/main" xmlns:r="http://schemas.openxmlformats.org/officeDocument/2006/relationships" xmlns:p="http://schemas.openxmlformats.org/presentationml/2006/main">
  <p:tag name="CONTENT_ID" val="H10"/>
</p:tagLst>
</file>

<file path=ppt/tags/tag5.xml><?xml version="1.0" encoding="utf-8"?>
<p:tagLst xmlns:a="http://schemas.openxmlformats.org/drawingml/2006/main" xmlns:r="http://schemas.openxmlformats.org/officeDocument/2006/relationships" xmlns:p="http://schemas.openxmlformats.org/presentationml/2006/main">
  <p:tag name="CONTENT_ID" val="H10a"/>
</p:tagLst>
</file>

<file path=ppt/tags/tag6.xml><?xml version="1.0" encoding="utf-8"?>
<p:tagLst xmlns:a="http://schemas.openxmlformats.org/drawingml/2006/main" xmlns:r="http://schemas.openxmlformats.org/officeDocument/2006/relationships" xmlns:p="http://schemas.openxmlformats.org/presentationml/2006/main">
  <p:tag name="CONTENT_ID" val="H10b"/>
</p:tagLst>
</file>

<file path=ppt/tags/tag7.xml><?xml version="1.0" encoding="utf-8"?>
<p:tagLst xmlns:a="http://schemas.openxmlformats.org/drawingml/2006/main" xmlns:r="http://schemas.openxmlformats.org/officeDocument/2006/relationships" xmlns:p="http://schemas.openxmlformats.org/presentationml/2006/main">
  <p:tag name="CONTENT_ID" val="H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18424</Words>
  <Application>Microsoft Office PowerPoint</Application>
  <PresentationFormat>Custom</PresentationFormat>
  <Paragraphs>1215</Paragraphs>
  <Slides>64</Slides>
  <Notes>64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Aptos</vt:lpstr>
      <vt:lpstr>Aptos Display</vt:lpstr>
      <vt:lpstr>Arial</vt:lpstr>
      <vt:lpstr>Calibri</vt:lpstr>
      <vt:lpstr>Segoe UI</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Kristopher Turner</dc:creator>
  <cp:lastModifiedBy>Kristopher Turner</cp:lastModifiedBy>
  <cp:revision>2</cp:revision>
  <dcterms:created xsi:type="dcterms:W3CDTF">2026-09-30T13:41:04Z</dcterms:created>
  <dcterms:modified xsi:type="dcterms:W3CDTF">2026-09-30T13:42:21Z</dcterms:modified>
</cp:coreProperties>
</file>